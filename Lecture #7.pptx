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99" r:id="rId1"/>
  </p:sldMasterIdLst>
  <p:notesMasterIdLst>
    <p:notesMasterId r:id="rId24"/>
  </p:notesMasterIdLst>
  <p:sldIdLst>
    <p:sldId id="256" r:id="rId2"/>
    <p:sldId id="257" r:id="rId3"/>
    <p:sldId id="277" r:id="rId4"/>
    <p:sldId id="275" r:id="rId5"/>
    <p:sldId id="276" r:id="rId6"/>
    <p:sldId id="283" r:id="rId7"/>
    <p:sldId id="282" r:id="rId8"/>
    <p:sldId id="258" r:id="rId9"/>
    <p:sldId id="274" r:id="rId10"/>
    <p:sldId id="278" r:id="rId11"/>
    <p:sldId id="287" r:id="rId12"/>
    <p:sldId id="291" r:id="rId13"/>
    <p:sldId id="279" r:id="rId14"/>
    <p:sldId id="292" r:id="rId15"/>
    <p:sldId id="294" r:id="rId16"/>
    <p:sldId id="293" r:id="rId17"/>
    <p:sldId id="288" r:id="rId18"/>
    <p:sldId id="280" r:id="rId19"/>
    <p:sldId id="295" r:id="rId20"/>
    <p:sldId id="284" r:id="rId21"/>
    <p:sldId id="290" r:id="rId22"/>
    <p:sldId id="29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424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284" autoAdjust="0"/>
  </p:normalViewPr>
  <p:slideViewPr>
    <p:cSldViewPr snapToGrid="0">
      <p:cViewPr varScale="1">
        <p:scale>
          <a:sx n="100" d="100"/>
          <a:sy n="100" d="100"/>
        </p:scale>
        <p:origin x="37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69A107-93FC-4C73-A81C-593CBB10CFEF}" type="datetimeFigureOut">
              <a:rPr lang="en-CA" smtClean="0"/>
              <a:t>2025-11-05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3E61FF-07A4-4C6C-B06F-DD1DA8ACF568}" type="slidenum">
              <a:rPr lang="en-CA" smtClean="0"/>
              <a:t>‹#›</a:t>
            </a:fld>
            <a:endParaRPr lang="en-CA"/>
          </a:p>
        </p:txBody>
      </p:sp>
    </p:spTree>
    <p:extLst>
      <p:ext uri="{BB962C8B-B14F-4D97-AF65-F5344CB8AC3E}">
        <p14:creationId xmlns:p14="http://schemas.microsoft.com/office/powerpoint/2010/main" val="873835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8FF5A-D22E-0407-851E-4D9B06932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01FF3-D918-F61E-5596-779D2D930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44944-08EC-21BD-F9D1-5963113D8F2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F5DE1AC2-52F0-0DAD-0DD4-099944FDC3BD}"/>
              </a:ext>
            </a:extLst>
          </p:cNvPr>
          <p:cNvSpPr>
            <a:spLocks noGrp="1"/>
          </p:cNvSpPr>
          <p:nvPr>
            <p:ph type="sldNum" sz="quarter" idx="5"/>
          </p:nvPr>
        </p:nvSpPr>
        <p:spPr/>
        <p:txBody>
          <a:bodyPr/>
          <a:lstStyle/>
          <a:p>
            <a:fld id="{CE3E61FF-07A4-4C6C-B06F-DD1DA8ACF568}" type="slidenum">
              <a:rPr lang="en-CA" smtClean="0"/>
              <a:t>3</a:t>
            </a:fld>
            <a:endParaRPr lang="en-CA"/>
          </a:p>
        </p:txBody>
      </p:sp>
    </p:spTree>
    <p:extLst>
      <p:ext uri="{BB962C8B-B14F-4D97-AF65-F5344CB8AC3E}">
        <p14:creationId xmlns:p14="http://schemas.microsoft.com/office/powerpoint/2010/main" val="1425073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E3E61FF-07A4-4C6C-B06F-DD1DA8ACF568}" type="slidenum">
              <a:rPr lang="en-CA" smtClean="0"/>
              <a:t>8</a:t>
            </a:fld>
            <a:endParaRPr lang="en-CA"/>
          </a:p>
        </p:txBody>
      </p:sp>
    </p:spTree>
    <p:extLst>
      <p:ext uri="{BB962C8B-B14F-4D97-AF65-F5344CB8AC3E}">
        <p14:creationId xmlns:p14="http://schemas.microsoft.com/office/powerpoint/2010/main" val="3863764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CE3E61FF-07A4-4C6C-B06F-DD1DA8ACF568}" type="slidenum">
              <a:rPr lang="en-CA" smtClean="0"/>
              <a:t>15</a:t>
            </a:fld>
            <a:endParaRPr lang="en-CA"/>
          </a:p>
        </p:txBody>
      </p:sp>
    </p:spTree>
    <p:extLst>
      <p:ext uri="{BB962C8B-B14F-4D97-AF65-F5344CB8AC3E}">
        <p14:creationId xmlns:p14="http://schemas.microsoft.com/office/powerpoint/2010/main" val="2489041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7940B-AEBA-DDBD-929E-837B1EC3D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DC766-DFD6-8A1F-4A4C-DF4535B3A4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12674-A92F-0E91-DD6B-D201F6DF332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B374B73-45C8-CED1-6386-4A89FEB44C22}"/>
              </a:ext>
            </a:extLst>
          </p:cNvPr>
          <p:cNvSpPr>
            <a:spLocks noGrp="1"/>
          </p:cNvSpPr>
          <p:nvPr>
            <p:ph type="sldNum" sz="quarter" idx="5"/>
          </p:nvPr>
        </p:nvSpPr>
        <p:spPr/>
        <p:txBody>
          <a:bodyPr/>
          <a:lstStyle/>
          <a:p>
            <a:fld id="{CE3E61FF-07A4-4C6C-B06F-DD1DA8ACF568}" type="slidenum">
              <a:rPr lang="en-CA" smtClean="0"/>
              <a:t>18</a:t>
            </a:fld>
            <a:endParaRPr lang="en-CA"/>
          </a:p>
        </p:txBody>
      </p:sp>
    </p:spTree>
    <p:extLst>
      <p:ext uri="{BB962C8B-B14F-4D97-AF65-F5344CB8AC3E}">
        <p14:creationId xmlns:p14="http://schemas.microsoft.com/office/powerpoint/2010/main" val="190315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2FE-E00B-4FAF-8F73-F722060EBA12}"/>
              </a:ext>
            </a:extLst>
          </p:cNvPr>
          <p:cNvSpPr>
            <a:spLocks noGrp="1"/>
          </p:cNvSpPr>
          <p:nvPr>
            <p:ph type="ctrTitle"/>
          </p:nvPr>
        </p:nvSpPr>
        <p:spPr>
          <a:xfrm>
            <a:off x="482600" y="978408"/>
            <a:ext cx="10506991" cy="2531555"/>
          </a:xfrm>
          <a:prstGeom prst="rect">
            <a:avLst/>
          </a:prstGeom>
        </p:spPr>
        <p:txBody>
          <a:bodyPr anchor="b"/>
          <a:lstStyle>
            <a:lvl1pPr algn="l">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7C1CCE2-4461-473E-B23C-34C8CCF04B3A}"/>
              </a:ext>
            </a:extLst>
          </p:cNvPr>
          <p:cNvSpPr>
            <a:spLocks noGrp="1"/>
          </p:cNvSpPr>
          <p:nvPr>
            <p:ph type="subTitle" idx="1"/>
          </p:nvPr>
        </p:nvSpPr>
        <p:spPr>
          <a:xfrm>
            <a:off x="482600" y="3602038"/>
            <a:ext cx="10506991" cy="227755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AA551A-CE2F-4E35-A714-B1F04D4B4E8E}"/>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5" name="Footer Placeholder 4">
            <a:extLst>
              <a:ext uri="{FF2B5EF4-FFF2-40B4-BE49-F238E27FC236}">
                <a16:creationId xmlns:a16="http://schemas.microsoft.com/office/drawing/2014/main" id="{26B5C907-6594-4DFF-A32B-449C3BA96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76D75-E9DA-4660-AC52-51BA63FCB94D}"/>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0" name="Straight Connector 9">
            <a:extLst>
              <a:ext uri="{FF2B5EF4-FFF2-40B4-BE49-F238E27FC236}">
                <a16:creationId xmlns:a16="http://schemas.microsoft.com/office/drawing/2014/main" id="{A2EFA84C-D756-4DC7-AA46-68D776F37FA4}"/>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06393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3735-A77F-440D-9448-6AE7C204D377}"/>
              </a:ext>
            </a:extLst>
          </p:cNvPr>
          <p:cNvSpPr>
            <a:spLocks noGrp="1"/>
          </p:cNvSpPr>
          <p:nvPr>
            <p:ph type="title"/>
          </p:nvPr>
        </p:nvSpPr>
        <p:spPr>
          <a:xfrm>
            <a:off x="482600" y="978408"/>
            <a:ext cx="10634472" cy="2157984"/>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276C6EE-D55E-454B-B28C-EC73D1DB4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A2905-6D2E-4319-9521-61452AB8F996}"/>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5" name="Footer Placeholder 4">
            <a:extLst>
              <a:ext uri="{FF2B5EF4-FFF2-40B4-BE49-F238E27FC236}">
                <a16:creationId xmlns:a16="http://schemas.microsoft.com/office/drawing/2014/main" id="{6DAC7550-84E8-49D3-B419-6F5F327DA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D2C6B-EA5D-4D97-BC84-6C860D53636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890066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1B299E6-11CC-4181-86C3-528A13F1F556}"/>
              </a:ext>
              <a:ext uri="{C183D7F6-B498-43B3-948B-1728B52AA6E4}">
                <adec:decorative xmlns:adec="http://schemas.microsoft.com/office/drawing/2017/decorative" val="1"/>
              </a:ext>
            </a:extLst>
          </p:cNvPr>
          <p:cNvSpPr/>
          <p:nvPr/>
        </p:nvSpPr>
        <p:spPr>
          <a:xfrm>
            <a:off x="481007" y="3922232"/>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03473-0A64-4F9F-833B-8D64E39019B1}"/>
              </a:ext>
            </a:extLst>
          </p:cNvPr>
          <p:cNvSpPr>
            <a:spLocks noGrp="1"/>
          </p:cNvSpPr>
          <p:nvPr>
            <p:ph type="title"/>
          </p:nvPr>
        </p:nvSpPr>
        <p:spPr>
          <a:xfrm>
            <a:off x="482600" y="978409"/>
            <a:ext cx="10515600" cy="2716769"/>
          </a:xfrm>
          <a:prstGeom prst="rect">
            <a:avLst/>
          </a:prstGeo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6873736-B424-40F2-B562-6DC10E5EDE4F}"/>
              </a:ext>
            </a:extLst>
          </p:cNvPr>
          <p:cNvSpPr>
            <a:spLocks noGrp="1"/>
          </p:cNvSpPr>
          <p:nvPr>
            <p:ph type="body" idx="1"/>
          </p:nvPr>
        </p:nvSpPr>
        <p:spPr>
          <a:xfrm>
            <a:off x="482600" y="4171445"/>
            <a:ext cx="10515600" cy="1918205"/>
          </a:xfrm>
        </p:spPr>
        <p:txBody>
          <a:bodyPr>
            <a:normAutofit/>
          </a:bodyPr>
          <a:lstStyle>
            <a:lvl1pPr marL="0" indent="0">
              <a:buNone/>
              <a:defRPr lang="en-US" sz="2400" i="1" kern="120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Date Placeholder 3">
            <a:extLst>
              <a:ext uri="{FF2B5EF4-FFF2-40B4-BE49-F238E27FC236}">
                <a16:creationId xmlns:a16="http://schemas.microsoft.com/office/drawing/2014/main" id="{74348851-37C0-478D-B722-D76C817DC49D}"/>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5" name="Footer Placeholder 4">
            <a:extLst>
              <a:ext uri="{FF2B5EF4-FFF2-40B4-BE49-F238E27FC236}">
                <a16:creationId xmlns:a16="http://schemas.microsoft.com/office/drawing/2014/main" id="{263E063E-66CE-4C18-91FA-D14AE052D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66D3D-FD62-470C-BC3C-A03771A32F60}"/>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1" name="Straight Connector 10">
            <a:extLst>
              <a:ext uri="{FF2B5EF4-FFF2-40B4-BE49-F238E27FC236}">
                <a16:creationId xmlns:a16="http://schemas.microsoft.com/office/drawing/2014/main" id="{DDFF0049-0231-4557-A707-569556F0CA83}"/>
              </a:ext>
              <a:ext uri="{C183D7F6-B498-43B3-948B-1728B52AA6E4}">
                <adec:decorative xmlns:adec="http://schemas.microsoft.com/office/drawing/2017/decorative" val="1"/>
              </a:ext>
            </a:extLst>
          </p:cNvPr>
          <p:cNvCxnSpPr>
            <a:cxnSpLocks/>
          </p:cNvCxnSpPr>
          <p:nvPr/>
        </p:nvCxnSpPr>
        <p:spPr>
          <a:xfrm>
            <a:off x="481007" y="3922232"/>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57A0DB1-87C8-4BF4-B2A2-F9CA6ED05AC4}"/>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6C29209-8A8F-48A7-8BA2-AFADA37CBD4F}"/>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34955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66BE9C-AE7C-4C39-9694-C32D6939B965}"/>
              </a:ext>
              <a:ext uri="{C183D7F6-B498-43B3-948B-1728B52AA6E4}">
                <adec:decorative xmlns:adec="http://schemas.microsoft.com/office/drawing/2017/decorative" val="1"/>
              </a:ext>
            </a:extLst>
          </p:cNvPr>
          <p:cNvSpPr/>
          <p:nvPr/>
        </p:nvSpPr>
        <p:spPr>
          <a:xfrm>
            <a:off x="481007" y="483577"/>
            <a:ext cx="11147071" cy="2434824"/>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CC42C-303A-4BDF-990A-2B07967BC9A9}"/>
              </a:ext>
            </a:extLst>
          </p:cNvPr>
          <p:cNvSpPr>
            <a:spLocks noGrp="1"/>
          </p:cNvSpPr>
          <p:nvPr>
            <p:ph type="title"/>
          </p:nvPr>
        </p:nvSpPr>
        <p:spPr>
          <a:xfrm>
            <a:off x="482599" y="978408"/>
            <a:ext cx="11147071" cy="1755263"/>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0C55CEF-353E-4E14-83AD-ACADDC08D943}"/>
              </a:ext>
            </a:extLst>
          </p:cNvPr>
          <p:cNvSpPr>
            <a:spLocks noGrp="1"/>
          </p:cNvSpPr>
          <p:nvPr>
            <p:ph sz="half" idx="1"/>
          </p:nvPr>
        </p:nvSpPr>
        <p:spPr>
          <a:xfrm>
            <a:off x="48260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E55ECEF-9654-4AC1-BF77-7BC602BBD434}"/>
              </a:ext>
            </a:extLst>
          </p:cNvPr>
          <p:cNvSpPr>
            <a:spLocks noGrp="1"/>
          </p:cNvSpPr>
          <p:nvPr>
            <p:ph sz="half" idx="2"/>
          </p:nvPr>
        </p:nvSpPr>
        <p:spPr>
          <a:xfrm>
            <a:off x="621112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4922FC8-BC06-407B-A82B-DA62B33A1CD4}"/>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6" name="Footer Placeholder 5">
            <a:extLst>
              <a:ext uri="{FF2B5EF4-FFF2-40B4-BE49-F238E27FC236}">
                <a16:creationId xmlns:a16="http://schemas.microsoft.com/office/drawing/2014/main" id="{7915B701-4E1F-48AA-8A3C-ED5DD9151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6BCA31-8AC7-46F5-BCAB-41D54DF83D78}"/>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a:extLst>
              <a:ext uri="{FF2B5EF4-FFF2-40B4-BE49-F238E27FC236}">
                <a16:creationId xmlns:a16="http://schemas.microsoft.com/office/drawing/2014/main" id="{21BA86D8-2A29-4A0E-AEA0-39B41C4187DE}"/>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085E13E-918A-4D04-9E84-94148D7C878E}"/>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51486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E892-D975-4DD6-8583-A14DDBE85F0C}"/>
              </a:ext>
            </a:extLst>
          </p:cNvPr>
          <p:cNvSpPr>
            <a:spLocks noGrp="1"/>
          </p:cNvSpPr>
          <p:nvPr>
            <p:ph type="title"/>
          </p:nvPr>
        </p:nvSpPr>
        <p:spPr>
          <a:xfrm>
            <a:off x="484631" y="978407"/>
            <a:ext cx="11145039" cy="1339584"/>
          </a:xfrm>
          <a:prstGeom prst="rect">
            <a:avLst/>
          </a:prstGeo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1F7700-CECC-4881-BE5C-A13CD825B73B}"/>
              </a:ext>
            </a:extLst>
          </p:cNvPr>
          <p:cNvSpPr>
            <a:spLocks noGrp="1"/>
          </p:cNvSpPr>
          <p:nvPr>
            <p:ph type="body" idx="1"/>
          </p:nvPr>
        </p:nvSpPr>
        <p:spPr>
          <a:xfrm>
            <a:off x="484632" y="2500921"/>
            <a:ext cx="5346222" cy="823912"/>
          </a:xfrm>
        </p:spPr>
        <p:txBody>
          <a:bodyPr anchor="b">
            <a:normAutofit/>
          </a:bodyPr>
          <a:lstStyle>
            <a:lvl1pPr marL="0" indent="0">
              <a:buNone/>
              <a:defRPr lang="en-US" sz="2400" b="0" i="1"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Content Placeholder 3">
            <a:extLst>
              <a:ext uri="{FF2B5EF4-FFF2-40B4-BE49-F238E27FC236}">
                <a16:creationId xmlns:a16="http://schemas.microsoft.com/office/drawing/2014/main" id="{4CA50766-520A-44C5-943E-569222B74104}"/>
              </a:ext>
            </a:extLst>
          </p:cNvPr>
          <p:cNvSpPr>
            <a:spLocks noGrp="1"/>
          </p:cNvSpPr>
          <p:nvPr>
            <p:ph sz="half" idx="2"/>
          </p:nvPr>
        </p:nvSpPr>
        <p:spPr>
          <a:xfrm>
            <a:off x="484632" y="3428999"/>
            <a:ext cx="5346222"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72F7E42-976A-4239-8006-D68538D4B71F}"/>
              </a:ext>
            </a:extLst>
          </p:cNvPr>
          <p:cNvSpPr>
            <a:spLocks noGrp="1"/>
          </p:cNvSpPr>
          <p:nvPr>
            <p:ph type="body" sz="quarter" idx="3"/>
          </p:nvPr>
        </p:nvSpPr>
        <p:spPr>
          <a:xfrm>
            <a:off x="6257120" y="2500921"/>
            <a:ext cx="5372551" cy="823912"/>
          </a:xfrm>
        </p:spPr>
        <p:txBody>
          <a:bodyPr anchor="b"/>
          <a:lstStyle>
            <a:lvl1pPr marL="0" indent="0">
              <a:buNone/>
              <a:defRPr lang="en-US" sz="2400" b="0" i="1" kern="120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CA329-951F-4391-ADC5-7EA320B7782F}"/>
              </a:ext>
            </a:extLst>
          </p:cNvPr>
          <p:cNvSpPr>
            <a:spLocks noGrp="1"/>
          </p:cNvSpPr>
          <p:nvPr>
            <p:ph sz="quarter" idx="4"/>
          </p:nvPr>
        </p:nvSpPr>
        <p:spPr>
          <a:xfrm>
            <a:off x="6257120" y="3428999"/>
            <a:ext cx="5372551"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BEC22A-DA46-460C-B865-D928C20AE763}"/>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8" name="Footer Placeholder 7">
            <a:extLst>
              <a:ext uri="{FF2B5EF4-FFF2-40B4-BE49-F238E27FC236}">
                <a16:creationId xmlns:a16="http://schemas.microsoft.com/office/drawing/2014/main" id="{4EB2D647-42C5-4AB7-BB71-3A44065716E7}"/>
              </a:ext>
            </a:extLst>
          </p:cNvPr>
          <p:cNvSpPr>
            <a:spLocks noGrp="1"/>
          </p:cNvSpPr>
          <p:nvPr>
            <p:ph type="ftr" sz="quarter" idx="11"/>
          </p:nvPr>
        </p:nvSpPr>
        <p:spPr>
          <a:xfrm>
            <a:off x="484632" y="6419088"/>
            <a:ext cx="4114800" cy="365125"/>
          </a:xfrm>
        </p:spPr>
        <p:txBody>
          <a:bodyPr/>
          <a:lstStyle/>
          <a:p>
            <a:endParaRPr lang="en-US"/>
          </a:p>
        </p:txBody>
      </p:sp>
      <p:sp>
        <p:nvSpPr>
          <p:cNvPr id="9" name="Slide Number Placeholder 8">
            <a:extLst>
              <a:ext uri="{FF2B5EF4-FFF2-40B4-BE49-F238E27FC236}">
                <a16:creationId xmlns:a16="http://schemas.microsoft.com/office/drawing/2014/main" id="{590B2B67-714C-46DA-85E5-598B4244D3B0}"/>
              </a:ext>
            </a:extLst>
          </p:cNvPr>
          <p:cNvSpPr>
            <a:spLocks noGrp="1"/>
          </p:cNvSpPr>
          <p:nvPr>
            <p:ph type="sldNum" sz="quarter" idx="12"/>
          </p:nvPr>
        </p:nvSpPr>
        <p:spPr>
          <a:xfrm>
            <a:off x="10989591" y="-7190"/>
            <a:ext cx="640080" cy="365125"/>
          </a:xfrm>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187989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D4B6724-AB30-4E7C-BE2B-ECD94FF1B463}"/>
              </a:ext>
              <a:ext uri="{C183D7F6-B498-43B3-948B-1728B52AA6E4}">
                <adec:decorative xmlns:adec="http://schemas.microsoft.com/office/drawing/2017/decorative" val="1"/>
              </a:ext>
            </a:extLst>
          </p:cNvPr>
          <p:cNvSpPr/>
          <p:nvPr/>
        </p:nvSpPr>
        <p:spPr>
          <a:xfrm>
            <a:off x="481007" y="3933311"/>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1D4BAB-2678-4A19-A575-C47CAF1446E5}"/>
              </a:ext>
            </a:extLst>
          </p:cNvPr>
          <p:cNvSpPr>
            <a:spLocks noGrp="1"/>
          </p:cNvSpPr>
          <p:nvPr>
            <p:ph type="title"/>
          </p:nvPr>
        </p:nvSpPr>
        <p:spPr>
          <a:xfrm>
            <a:off x="482600" y="978408"/>
            <a:ext cx="10634472" cy="2591509"/>
          </a:xfrm>
          <a:prstGeom prst="rect">
            <a:avLst/>
          </a:prstGeom>
        </p:spPr>
        <p:txBody>
          <a:bodyPr anchor="b"/>
          <a:lstStyle/>
          <a:p>
            <a:r>
              <a:rPr lang="en-US"/>
              <a:t>Click to edit Master title style</a:t>
            </a:r>
            <a:endParaRPr lang="en-US" dirty="0"/>
          </a:p>
        </p:txBody>
      </p:sp>
      <p:sp>
        <p:nvSpPr>
          <p:cNvPr id="3" name="Date Placeholder 2">
            <a:extLst>
              <a:ext uri="{FF2B5EF4-FFF2-40B4-BE49-F238E27FC236}">
                <a16:creationId xmlns:a16="http://schemas.microsoft.com/office/drawing/2014/main" id="{4047C89E-0ABD-4FD2-924C-894345ADFED8}"/>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4" name="Footer Placeholder 3">
            <a:extLst>
              <a:ext uri="{FF2B5EF4-FFF2-40B4-BE49-F238E27FC236}">
                <a16:creationId xmlns:a16="http://schemas.microsoft.com/office/drawing/2014/main" id="{553026CE-9CC8-403B-88B1-184D16532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B3D616-3C18-401B-A792-E75149FDFC47}"/>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7" name="Straight Connector 6">
            <a:extLst>
              <a:ext uri="{FF2B5EF4-FFF2-40B4-BE49-F238E27FC236}">
                <a16:creationId xmlns:a16="http://schemas.microsoft.com/office/drawing/2014/main" id="{04EC6F70-D800-4067-A36A-5BBFC8018E2D}"/>
              </a:ext>
              <a:ext uri="{C183D7F6-B498-43B3-948B-1728B52AA6E4}">
                <adec:decorative xmlns:adec="http://schemas.microsoft.com/office/drawing/2017/decorative" val="1"/>
              </a:ext>
            </a:extLst>
          </p:cNvPr>
          <p:cNvCxnSpPr>
            <a:cxnSpLocks/>
          </p:cNvCxnSpPr>
          <p:nvPr/>
        </p:nvCxnSpPr>
        <p:spPr>
          <a:xfrm>
            <a:off x="482600" y="393331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2B66CB6-8988-4FBA-8524-726765A5F2AA}"/>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49036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73F84-0C6B-4EF4-9405-C389824999D4}"/>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3" name="Footer Placeholder 2">
            <a:extLst>
              <a:ext uri="{FF2B5EF4-FFF2-40B4-BE49-F238E27FC236}">
                <a16:creationId xmlns:a16="http://schemas.microsoft.com/office/drawing/2014/main" id="{DCCEC807-744E-4C5C-8B15-09AED3E570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BCB19-9F4B-474C-85C1-4A645A971827}"/>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53933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88B0-DD6B-449B-AE32-D3192081E76F}"/>
              </a:ext>
            </a:extLst>
          </p:cNvPr>
          <p:cNvSpPr>
            <a:spLocks noGrp="1"/>
          </p:cNvSpPr>
          <p:nvPr>
            <p:ph type="title"/>
          </p:nvPr>
        </p:nvSpPr>
        <p:spPr>
          <a:xfrm>
            <a:off x="484632" y="978408"/>
            <a:ext cx="4287393" cy="2450592"/>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F22ED6-5B69-4B3B-BF96-3A75F2107FA6}"/>
              </a:ext>
            </a:extLst>
          </p:cNvPr>
          <p:cNvSpPr>
            <a:spLocks noGrp="1"/>
          </p:cNvSpPr>
          <p:nvPr>
            <p:ph idx="1"/>
          </p:nvPr>
        </p:nvSpPr>
        <p:spPr>
          <a:xfrm>
            <a:off x="5183187" y="987425"/>
            <a:ext cx="644648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7704043-D45F-440A-A15D-2718A913E05A}"/>
              </a:ext>
            </a:extLst>
          </p:cNvPr>
          <p:cNvSpPr>
            <a:spLocks noGrp="1"/>
          </p:cNvSpPr>
          <p:nvPr>
            <p:ph type="body" sz="half" idx="2"/>
          </p:nvPr>
        </p:nvSpPr>
        <p:spPr>
          <a:xfrm>
            <a:off x="484632" y="3645074"/>
            <a:ext cx="4287393" cy="2223914"/>
          </a:xfrm>
        </p:spPr>
        <p:txBody>
          <a:bodyPr/>
          <a:lstStyle>
            <a:lvl1pPr marL="0" indent="0">
              <a:buNone/>
              <a:defRPr lang="en-US" sz="2400" i="1"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072DC-7326-43E7-806C-B690C439E8A8}"/>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6" name="Footer Placeholder 5">
            <a:extLst>
              <a:ext uri="{FF2B5EF4-FFF2-40B4-BE49-F238E27FC236}">
                <a16:creationId xmlns:a16="http://schemas.microsoft.com/office/drawing/2014/main" id="{73F89A0F-B8C6-4AA6-A9C4-4A454F422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7A616-A4F2-4FC5-88DE-B4E6BA542895}"/>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868114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773D-D007-4687-BA9C-9F229829B5EF}"/>
              </a:ext>
            </a:extLst>
          </p:cNvPr>
          <p:cNvSpPr>
            <a:spLocks noGrp="1"/>
          </p:cNvSpPr>
          <p:nvPr>
            <p:ph type="title"/>
          </p:nvPr>
        </p:nvSpPr>
        <p:spPr>
          <a:xfrm>
            <a:off x="484632" y="978407"/>
            <a:ext cx="4287393" cy="2450593"/>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A3A75FC-78D2-4EF5-884F-11B7BACF799A}"/>
              </a:ext>
            </a:extLst>
          </p:cNvPr>
          <p:cNvSpPr>
            <a:spLocks noGrp="1"/>
          </p:cNvSpPr>
          <p:nvPr>
            <p:ph type="pic" idx="1"/>
          </p:nvPr>
        </p:nvSpPr>
        <p:spPr>
          <a:xfrm>
            <a:off x="5183187" y="987425"/>
            <a:ext cx="644648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D7CE0BB-D335-4391-A23F-194C575CAF8F}"/>
              </a:ext>
            </a:extLst>
          </p:cNvPr>
          <p:cNvSpPr>
            <a:spLocks noGrp="1"/>
          </p:cNvSpPr>
          <p:nvPr>
            <p:ph type="body" sz="half" idx="2"/>
          </p:nvPr>
        </p:nvSpPr>
        <p:spPr>
          <a:xfrm>
            <a:off x="484632" y="3645074"/>
            <a:ext cx="4287393" cy="2223914"/>
          </a:xfrm>
        </p:spPr>
        <p:txBody>
          <a:bodyPr/>
          <a:lstStyle>
            <a:lvl1pPr marL="0" indent="0">
              <a:buNone/>
              <a:defRPr lang="en-US" sz="240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701E1-B97B-4DA5-B9AD-07B7C12476AE}"/>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6" name="Footer Placeholder 5">
            <a:extLst>
              <a:ext uri="{FF2B5EF4-FFF2-40B4-BE49-F238E27FC236}">
                <a16:creationId xmlns:a16="http://schemas.microsoft.com/office/drawing/2014/main" id="{076D9CF8-F42F-4618-9F26-8BFE56487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A2023-1ECA-4A96-BDC7-F7FA4368BE1B}"/>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43327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999A10-4355-4A13-B008-196B21ABEEAF}"/>
              </a:ext>
              <a:ext uri="{C183D7F6-B498-43B3-948B-1728B52AA6E4}">
                <adec:decorative xmlns:adec="http://schemas.microsoft.com/office/drawing/2017/decorative" val="1"/>
              </a:ext>
            </a:extLst>
          </p:cNvPr>
          <p:cNvSpPr/>
          <p:nvPr/>
        </p:nvSpPr>
        <p:spPr>
          <a:xfrm>
            <a:off x="482600" y="483576"/>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36D448-AFEA-4483-B0E4-002840525CDD}"/>
              </a:ext>
            </a:extLst>
          </p:cNvPr>
          <p:cNvSpPr>
            <a:spLocks noGrp="1"/>
          </p:cNvSpPr>
          <p:nvPr>
            <p:ph type="title"/>
          </p:nvPr>
        </p:nvSpPr>
        <p:spPr>
          <a:xfrm>
            <a:off x="482600" y="978408"/>
            <a:ext cx="10506991" cy="1755263"/>
          </a:xfrm>
          <a:prstGeom prst="rect">
            <a:avLst/>
          </a:prstGeo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F216234-4516-4303-8F60-A8127D89A5E5}"/>
              </a:ext>
            </a:extLst>
          </p:cNvPr>
          <p:cNvSpPr>
            <a:spLocks noGrp="1"/>
          </p:cNvSpPr>
          <p:nvPr>
            <p:ph type="body" orient="vert" idx="1"/>
          </p:nvPr>
        </p:nvSpPr>
        <p:spPr>
          <a:xfrm>
            <a:off x="484192" y="3103131"/>
            <a:ext cx="10506991" cy="30929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6B5D50-A474-462B-A807-DF186B1C2F48}"/>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5" name="Footer Placeholder 4">
            <a:extLst>
              <a:ext uri="{FF2B5EF4-FFF2-40B4-BE49-F238E27FC236}">
                <a16:creationId xmlns:a16="http://schemas.microsoft.com/office/drawing/2014/main" id="{F8BF1DAF-2E2D-46ED-AA3E-3D2FE4039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FC771-EB13-4EB5-A0A2-3968C6ABBD4E}"/>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8" name="Straight Connector 7">
            <a:extLst>
              <a:ext uri="{FF2B5EF4-FFF2-40B4-BE49-F238E27FC236}">
                <a16:creationId xmlns:a16="http://schemas.microsoft.com/office/drawing/2014/main" id="{B3B596B8-8230-4695-8D76-F06AFA8156C3}"/>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53EBF93-5FD9-4F4E-8485-7B937145CD0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68233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6B4D06-C7C6-4949-8EB2-F03ED999A2BB}"/>
              </a:ext>
            </a:extLst>
          </p:cNvPr>
          <p:cNvSpPr>
            <a:spLocks noGrp="1"/>
          </p:cNvSpPr>
          <p:nvPr>
            <p:ph type="title" orient="vert"/>
          </p:nvPr>
        </p:nvSpPr>
        <p:spPr>
          <a:xfrm>
            <a:off x="8041710" y="978408"/>
            <a:ext cx="2947881" cy="5124777"/>
          </a:xfrm>
          <a:prstGeom prst="rect">
            <a:avLst/>
          </a:prstGeo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C921B9D-8C11-4176-AF22-89F972E21284}"/>
              </a:ext>
            </a:extLst>
          </p:cNvPr>
          <p:cNvSpPr>
            <a:spLocks noGrp="1"/>
          </p:cNvSpPr>
          <p:nvPr>
            <p:ph type="body" orient="vert" idx="1"/>
          </p:nvPr>
        </p:nvSpPr>
        <p:spPr>
          <a:xfrm>
            <a:off x="484632" y="978408"/>
            <a:ext cx="7256453" cy="512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AFA9E1C-8E18-4A35-9BD8-427B1D14BB8E}"/>
              </a:ext>
            </a:extLst>
          </p:cNvPr>
          <p:cNvSpPr>
            <a:spLocks noGrp="1"/>
          </p:cNvSpPr>
          <p:nvPr>
            <p:ph type="dt" sz="half" idx="10"/>
          </p:nvPr>
        </p:nvSpPr>
        <p:spPr/>
        <p:txBody>
          <a:bodyPr/>
          <a:lstStyle/>
          <a:p>
            <a:fld id="{81B8F32D-D8B6-4B9E-9CBF-DCAC30B7B93D}" type="datetimeFigureOut">
              <a:rPr lang="en-US" smtClean="0"/>
              <a:t>11/5/2025</a:t>
            </a:fld>
            <a:endParaRPr lang="en-US"/>
          </a:p>
        </p:txBody>
      </p:sp>
      <p:sp>
        <p:nvSpPr>
          <p:cNvPr id="5" name="Footer Placeholder 4">
            <a:extLst>
              <a:ext uri="{FF2B5EF4-FFF2-40B4-BE49-F238E27FC236}">
                <a16:creationId xmlns:a16="http://schemas.microsoft.com/office/drawing/2014/main" id="{2E116CDB-7BB6-4DD2-A626-6DA8E569F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D0403B-439E-449F-83B1-799EEC239A2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2946932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87A535-3CAC-46BC-B2B2-3AE83EC3A561}"/>
              </a:ext>
            </a:extLst>
          </p:cNvPr>
          <p:cNvSpPr>
            <a:spLocks noGrp="1"/>
          </p:cNvSpPr>
          <p:nvPr>
            <p:ph type="title"/>
          </p:nvPr>
        </p:nvSpPr>
        <p:spPr>
          <a:xfrm>
            <a:off x="482600" y="978408"/>
            <a:ext cx="10506991" cy="215309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D8EBDBD-59EC-46ED-BE79-6D37B531D692}"/>
              </a:ext>
            </a:extLst>
          </p:cNvPr>
          <p:cNvSpPr>
            <a:spLocks noGrp="1"/>
          </p:cNvSpPr>
          <p:nvPr>
            <p:ph type="body" idx="1"/>
          </p:nvPr>
        </p:nvSpPr>
        <p:spPr>
          <a:xfrm>
            <a:off x="482600" y="3306870"/>
            <a:ext cx="10506991" cy="257272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5921F5C-FD3D-42C7-90F4-5ECE6FFCFE7F}"/>
              </a:ext>
            </a:extLst>
          </p:cNvPr>
          <p:cNvSpPr>
            <a:spLocks noGrp="1"/>
          </p:cNvSpPr>
          <p:nvPr>
            <p:ph type="dt" sz="half" idx="2"/>
          </p:nvPr>
        </p:nvSpPr>
        <p:spPr>
          <a:xfrm>
            <a:off x="484632" y="100584"/>
            <a:ext cx="2743200" cy="365125"/>
          </a:xfrm>
          <a:prstGeom prst="rect">
            <a:avLst/>
          </a:prstGeom>
        </p:spPr>
        <p:txBody>
          <a:bodyPr vert="horz" lIns="91440" tIns="45720" rIns="91440" bIns="45720" rtlCol="0" anchor="ctr"/>
          <a:lstStyle>
            <a:lvl1pPr algn="l">
              <a:defRPr sz="900">
                <a:solidFill>
                  <a:schemeClr val="tx1"/>
                </a:solidFill>
              </a:defRPr>
            </a:lvl1pPr>
          </a:lstStyle>
          <a:p>
            <a:fld id="{81B8F32D-D8B6-4B9E-9CBF-DCAC30B7B93D}" type="datetimeFigureOut">
              <a:rPr lang="en-US" smtClean="0"/>
              <a:pPr/>
              <a:t>11/5/2025</a:t>
            </a:fld>
            <a:endParaRPr lang="en-US" dirty="0"/>
          </a:p>
        </p:txBody>
      </p:sp>
      <p:sp>
        <p:nvSpPr>
          <p:cNvPr id="5" name="Footer Placeholder 4">
            <a:extLst>
              <a:ext uri="{FF2B5EF4-FFF2-40B4-BE49-F238E27FC236}">
                <a16:creationId xmlns:a16="http://schemas.microsoft.com/office/drawing/2014/main" id="{0FE63D50-6D0B-4963-97B9-A32AE63235B8}"/>
              </a:ext>
            </a:extLst>
          </p:cNvPr>
          <p:cNvSpPr>
            <a:spLocks noGrp="1"/>
          </p:cNvSpPr>
          <p:nvPr>
            <p:ph type="ftr" sz="quarter" idx="3"/>
          </p:nvPr>
        </p:nvSpPr>
        <p:spPr>
          <a:xfrm>
            <a:off x="484632" y="6419088"/>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6B5E08-CAC3-4C87-B143-5F8956AE905D}"/>
              </a:ext>
            </a:extLst>
          </p:cNvPr>
          <p:cNvSpPr>
            <a:spLocks noGrp="1"/>
          </p:cNvSpPr>
          <p:nvPr>
            <p:ph type="sldNum" sz="quarter" idx="4"/>
          </p:nvPr>
        </p:nvSpPr>
        <p:spPr>
          <a:xfrm>
            <a:off x="10989591" y="100584"/>
            <a:ext cx="640080" cy="365125"/>
          </a:xfrm>
          <a:prstGeom prst="rect">
            <a:avLst/>
          </a:prstGeom>
        </p:spPr>
        <p:txBody>
          <a:bodyPr vert="horz" lIns="91440" tIns="45720" rIns="91440" bIns="45720" rtlCol="0" anchor="ctr"/>
          <a:lstStyle>
            <a:lvl1pPr algn="r">
              <a:defRPr sz="900">
                <a:solidFill>
                  <a:schemeClr val="tx1"/>
                </a:solidFill>
              </a:defRPr>
            </a:lvl1pPr>
          </a:lstStyle>
          <a:p>
            <a:fld id="{60553ECD-7F6D-420D-93CA-D8D15EB427AC}" type="slidenum">
              <a:rPr lang="en-US" smtClean="0"/>
              <a:pPr/>
              <a:t>‹#›</a:t>
            </a:fld>
            <a:endParaRPr lang="en-US" dirty="0"/>
          </a:p>
        </p:txBody>
      </p:sp>
      <p:cxnSp>
        <p:nvCxnSpPr>
          <p:cNvPr id="8" name="Straight Connector 7">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04697651"/>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xStyles>
    <p:titleStyle>
      <a:lvl1pPr algn="l" defTabSz="914400" rtl="0" eaLnBrk="1" latinLnBrk="0" hangingPunct="1">
        <a:lnSpc>
          <a:spcPct val="100000"/>
        </a:lnSpc>
        <a:spcBef>
          <a:spcPct val="0"/>
        </a:spcBef>
        <a:buNone/>
        <a:defRPr sz="66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Background Fill">
            <a:extLst>
              <a:ext uri="{FF2B5EF4-FFF2-40B4-BE49-F238E27FC236}">
                <a16:creationId xmlns:a16="http://schemas.microsoft.com/office/drawing/2014/main" id="{B6D694DB-A3FC-4F14-A225-17BEBA44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9525" cap="flat">
            <a:noFill/>
            <a:prstDash val="solid"/>
            <a:miter/>
          </a:ln>
        </p:spPr>
        <p:txBody>
          <a:bodyPr rtlCol="0" anchor="ctr"/>
          <a:lstStyle/>
          <a:p>
            <a:endParaRPr lang="en-US">
              <a:solidFill>
                <a:schemeClr val="tx1"/>
              </a:solidFill>
            </a:endParaRPr>
          </a:p>
        </p:txBody>
      </p:sp>
      <p:pic>
        <p:nvPicPr>
          <p:cNvPr id="4" name="Picture 3">
            <a:extLst>
              <a:ext uri="{FF2B5EF4-FFF2-40B4-BE49-F238E27FC236}">
                <a16:creationId xmlns:a16="http://schemas.microsoft.com/office/drawing/2014/main" id="{FD914C8D-3DB1-C1A7-6E7E-D775B424B8F7}"/>
              </a:ext>
            </a:extLst>
          </p:cNvPr>
          <p:cNvPicPr>
            <a:picLocks noChangeAspect="1"/>
          </p:cNvPicPr>
          <p:nvPr/>
        </p:nvPicPr>
        <p:blipFill>
          <a:blip r:embed="rId2">
            <a:alphaModFix/>
          </a:blip>
          <a:srcRect t="7422" r="-1" b="8287"/>
          <a:stretch>
            <a:fillRect/>
          </a:stretch>
        </p:blipFill>
        <p:spPr>
          <a:xfrm>
            <a:off x="3059" y="10"/>
            <a:ext cx="12188941" cy="6857990"/>
          </a:xfrm>
          <a:prstGeom prst="rect">
            <a:avLst/>
          </a:prstGeom>
          <a:solidFill>
            <a:schemeClr val="accent1"/>
          </a:solidFill>
        </p:spPr>
      </p:pic>
      <p:sp>
        <p:nvSpPr>
          <p:cNvPr id="33" name="Rectangle 32">
            <a:extLst>
              <a:ext uri="{FF2B5EF4-FFF2-40B4-BE49-F238E27FC236}">
                <a16:creationId xmlns:a16="http://schemas.microsoft.com/office/drawing/2014/main" id="{6233B4D5-2565-4CC0-A9B1-C9EA9E9DE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0FB50-B90C-9526-E834-006C790BE732}"/>
              </a:ext>
            </a:extLst>
          </p:cNvPr>
          <p:cNvSpPr>
            <a:spLocks noGrp="1"/>
          </p:cNvSpPr>
          <p:nvPr>
            <p:ph type="ctrTitle"/>
          </p:nvPr>
        </p:nvSpPr>
        <p:spPr>
          <a:xfrm>
            <a:off x="457199" y="1122363"/>
            <a:ext cx="5638801" cy="1868487"/>
          </a:xfrm>
        </p:spPr>
        <p:txBody>
          <a:bodyPr>
            <a:normAutofit/>
          </a:bodyPr>
          <a:lstStyle/>
          <a:p>
            <a:pPr>
              <a:lnSpc>
                <a:spcPct val="90000"/>
              </a:lnSpc>
            </a:pPr>
            <a:r>
              <a:rPr lang="en-CA" sz="5100" dirty="0">
                <a:solidFill>
                  <a:srgbClr val="FFFFFF"/>
                </a:solidFill>
                <a:effectLst>
                  <a:outerShdw blurRad="50800" dist="38100" dir="2700000" algn="tl" rotWithShape="0">
                    <a:prstClr val="black">
                      <a:alpha val="40000"/>
                    </a:prstClr>
                  </a:outerShdw>
                </a:effectLst>
              </a:rPr>
              <a:t>Health Economics</a:t>
            </a:r>
            <a:br>
              <a:rPr lang="en-CA" sz="5100" dirty="0">
                <a:solidFill>
                  <a:srgbClr val="FFFFFF"/>
                </a:solidFill>
                <a:effectLst>
                  <a:outerShdw blurRad="50800" dist="38100" dir="2700000" algn="tl" rotWithShape="0">
                    <a:prstClr val="black">
                      <a:alpha val="40000"/>
                    </a:prstClr>
                  </a:outerShdw>
                </a:effectLst>
              </a:rPr>
            </a:br>
            <a:r>
              <a:rPr lang="en-CA" sz="5100" dirty="0">
                <a:solidFill>
                  <a:srgbClr val="FFFFFF"/>
                </a:solidFill>
                <a:effectLst>
                  <a:outerShdw blurRad="50800" dist="38100" dir="2700000" algn="tl" rotWithShape="0">
                    <a:prstClr val="black">
                      <a:alpha val="40000"/>
                    </a:prstClr>
                  </a:outerShdw>
                </a:effectLst>
              </a:rPr>
              <a:t>Lecture #7</a:t>
            </a:r>
          </a:p>
        </p:txBody>
      </p:sp>
      <p:sp>
        <p:nvSpPr>
          <p:cNvPr id="3" name="Subtitle 2">
            <a:extLst>
              <a:ext uri="{FF2B5EF4-FFF2-40B4-BE49-F238E27FC236}">
                <a16:creationId xmlns:a16="http://schemas.microsoft.com/office/drawing/2014/main" id="{74F9C7FB-3F59-5796-DCA9-B54919671C78}"/>
              </a:ext>
            </a:extLst>
          </p:cNvPr>
          <p:cNvSpPr>
            <a:spLocks noGrp="1"/>
          </p:cNvSpPr>
          <p:nvPr>
            <p:ph type="subTitle" idx="1"/>
          </p:nvPr>
        </p:nvSpPr>
        <p:spPr>
          <a:xfrm>
            <a:off x="457199" y="3623356"/>
            <a:ext cx="5638801" cy="1634443"/>
          </a:xfrm>
        </p:spPr>
        <p:txBody>
          <a:bodyPr>
            <a:normAutofit/>
          </a:bodyPr>
          <a:lstStyle/>
          <a:p>
            <a:r>
              <a:rPr lang="en-CA" b="1" dirty="0">
                <a:ln w="6350">
                  <a:noFill/>
                  <a:prstDash val="solid"/>
                </a:ln>
                <a:solidFill>
                  <a:schemeClr val="bg1"/>
                </a:solidFill>
                <a:effectLst>
                  <a:outerShdw blurRad="50800" dist="38100" dir="5400000" algn="t" rotWithShape="0">
                    <a:prstClr val="black">
                      <a:alpha val="40000"/>
                    </a:prstClr>
                  </a:outerShdw>
                </a:effectLst>
              </a:rPr>
              <a:t>Topic: An Introduction to Health Technology Assessment and </a:t>
            </a:r>
            <a:r>
              <a:rPr lang="en-CA" b="1">
                <a:ln w="6350">
                  <a:noFill/>
                  <a:prstDash val="solid"/>
                </a:ln>
                <a:solidFill>
                  <a:schemeClr val="bg1"/>
                </a:solidFill>
                <a:effectLst>
                  <a:outerShdw blurRad="50800" dist="38100" dir="5400000" algn="t" rotWithShape="0">
                    <a:prstClr val="black">
                      <a:alpha val="40000"/>
                    </a:prstClr>
                  </a:outerShdw>
                </a:effectLst>
              </a:rPr>
              <a:t>Economic Evaluation</a:t>
            </a:r>
            <a:endParaRPr lang="en-CA" b="1" dirty="0">
              <a:ln w="6350">
                <a:noFill/>
                <a:prstDash val="solid"/>
              </a:ln>
              <a:solidFill>
                <a:schemeClr val="bg1"/>
              </a:solidFill>
              <a:effectLst>
                <a:outerShdw blurRad="50800" dist="38100" dir="5400000" algn="t" rotWithShape="0">
                  <a:prstClr val="black">
                    <a:alpha val="40000"/>
                  </a:prstClr>
                </a:outerShdw>
              </a:effectLst>
            </a:endParaRPr>
          </a:p>
        </p:txBody>
      </p:sp>
      <p:cxnSp>
        <p:nvCxnSpPr>
          <p:cNvPr id="34" name="Straight Connector 33">
            <a:extLst>
              <a:ext uri="{FF2B5EF4-FFF2-40B4-BE49-F238E27FC236}">
                <a16:creationId xmlns:a16="http://schemas.microsoft.com/office/drawing/2014/main" id="{6D02D326-F829-4915-A540-3A4D5ADFC3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D528E080-CC35-4F6C-9D3C-949904DC4D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pic>
        <p:nvPicPr>
          <p:cNvPr id="1028" name="Picture 4" descr="image">
            <a:extLst>
              <a:ext uri="{FF2B5EF4-FFF2-40B4-BE49-F238E27FC236}">
                <a16:creationId xmlns:a16="http://schemas.microsoft.com/office/drawing/2014/main" id="{07EDE8EE-97B2-4FFC-8019-3B0C8C737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3241" y="5934750"/>
            <a:ext cx="2857500" cy="8667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EFA484E-AC5D-C709-0DD9-E23DB796CAD2}"/>
              </a:ext>
            </a:extLst>
          </p:cNvPr>
          <p:cNvSpPr txBox="1"/>
          <p:nvPr/>
        </p:nvSpPr>
        <p:spPr>
          <a:xfrm>
            <a:off x="482600" y="6428403"/>
            <a:ext cx="4334072" cy="369332"/>
          </a:xfrm>
          <a:prstGeom prst="rect">
            <a:avLst/>
          </a:prstGeom>
          <a:noFill/>
        </p:spPr>
        <p:txBody>
          <a:bodyPr wrap="none" rtlCol="0">
            <a:spAutoFit/>
          </a:bodyPr>
          <a:lstStyle/>
          <a:p>
            <a:r>
              <a:rPr lang="en-CA" i="1" dirty="0">
                <a:solidFill>
                  <a:schemeClr val="bg1"/>
                </a:solidFill>
              </a:rPr>
              <a:t>Prepared by Jacob Smith, Trent University</a:t>
            </a:r>
          </a:p>
        </p:txBody>
      </p:sp>
    </p:spTree>
    <p:extLst>
      <p:ext uri="{BB962C8B-B14F-4D97-AF65-F5344CB8AC3E}">
        <p14:creationId xmlns:p14="http://schemas.microsoft.com/office/powerpoint/2010/main" val="3267180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5715-D549-5DFA-82EB-2573E410C0DA}"/>
              </a:ext>
            </a:extLst>
          </p:cNvPr>
          <p:cNvSpPr>
            <a:spLocks noGrp="1"/>
          </p:cNvSpPr>
          <p:nvPr>
            <p:ph type="title"/>
          </p:nvPr>
        </p:nvSpPr>
        <p:spPr>
          <a:xfrm>
            <a:off x="482600" y="645033"/>
            <a:ext cx="10280650" cy="840867"/>
          </a:xfrm>
        </p:spPr>
        <p:txBody>
          <a:bodyPr/>
          <a:lstStyle/>
          <a:p>
            <a:r>
              <a:rPr lang="en-CA" dirty="0"/>
              <a:t>Learning Objectives</a:t>
            </a:r>
          </a:p>
        </p:txBody>
      </p:sp>
      <p:sp>
        <p:nvSpPr>
          <p:cNvPr id="3" name="Content Placeholder 2">
            <a:extLst>
              <a:ext uri="{FF2B5EF4-FFF2-40B4-BE49-F238E27FC236}">
                <a16:creationId xmlns:a16="http://schemas.microsoft.com/office/drawing/2014/main" id="{EA804CF6-59F3-1BC6-3F09-48554FD0B0E7}"/>
              </a:ext>
            </a:extLst>
          </p:cNvPr>
          <p:cNvSpPr>
            <a:spLocks noGrp="1"/>
          </p:cNvSpPr>
          <p:nvPr>
            <p:ph idx="1"/>
          </p:nvPr>
        </p:nvSpPr>
        <p:spPr>
          <a:xfrm>
            <a:off x="482600" y="1676400"/>
            <a:ext cx="10506991" cy="4203191"/>
          </a:xfrm>
        </p:spPr>
        <p:txBody>
          <a:bodyPr>
            <a:normAutofit/>
          </a:bodyPr>
          <a:lstStyle/>
          <a:p>
            <a:r>
              <a:rPr lang="en-CA" dirty="0"/>
              <a:t>In this lecture we will discuss:</a:t>
            </a:r>
          </a:p>
          <a:p>
            <a:pPr marL="457200" indent="-457200">
              <a:buFont typeface="+mj-lt"/>
              <a:buAutoNum type="arabicPeriod"/>
            </a:pPr>
            <a:r>
              <a:rPr lang="en-US" dirty="0"/>
              <a:t>An Overview of Economic Evaluation.</a:t>
            </a:r>
          </a:p>
          <a:p>
            <a:pPr marL="457200" indent="-457200">
              <a:buFont typeface="+mj-lt"/>
              <a:buAutoNum type="arabicPeriod"/>
            </a:pPr>
            <a:r>
              <a:rPr lang="en-CA" dirty="0"/>
              <a:t>An Overview of Model Structures: Decision Trees and Markov Models.</a:t>
            </a:r>
            <a:endParaRPr lang="en-US" dirty="0"/>
          </a:p>
          <a:p>
            <a:pPr marL="457200" indent="-457200">
              <a:buFont typeface="+mj-lt"/>
              <a:buAutoNum type="arabicPeriod"/>
            </a:pPr>
            <a:r>
              <a:rPr lang="en-CA" dirty="0"/>
              <a:t>CMA, CEA, CUA, CBA and the ICER</a:t>
            </a:r>
            <a:br>
              <a:rPr lang="en-CA" dirty="0"/>
            </a:br>
            <a:endParaRPr lang="en-CA" dirty="0"/>
          </a:p>
          <a:p>
            <a:endParaRPr lang="en-CA" dirty="0"/>
          </a:p>
          <a:p>
            <a:pPr marL="342900" indent="-342900">
              <a:buFont typeface="Wingdings" panose="05000000000000000000" pitchFamily="2" charset="2"/>
              <a:buChar char="§"/>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p:txBody>
      </p:sp>
      <p:sp>
        <p:nvSpPr>
          <p:cNvPr id="4" name="Rectangle: Rounded Corners 3">
            <a:extLst>
              <a:ext uri="{FF2B5EF4-FFF2-40B4-BE49-F238E27FC236}">
                <a16:creationId xmlns:a16="http://schemas.microsoft.com/office/drawing/2014/main" id="{842C93A9-61D0-70D3-75C4-A43F2AB757B8}"/>
              </a:ext>
            </a:extLst>
          </p:cNvPr>
          <p:cNvSpPr/>
          <p:nvPr/>
        </p:nvSpPr>
        <p:spPr>
          <a:xfrm>
            <a:off x="1588545" y="4739280"/>
            <a:ext cx="9014909" cy="1140311"/>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CA" b="1" i="1" u="sng" dirty="0">
                <a:solidFill>
                  <a:schemeClr val="tx1"/>
                </a:solidFill>
              </a:rPr>
              <a:t>Goal of this Lecture: </a:t>
            </a:r>
          </a:p>
          <a:p>
            <a:pPr marL="285750" indent="-285750">
              <a:buFont typeface="Wingdings" panose="05000000000000000000" pitchFamily="2" charset="2"/>
              <a:buChar char="Ø"/>
            </a:pPr>
            <a:r>
              <a:rPr lang="en-CA" b="1" i="1" dirty="0">
                <a:solidFill>
                  <a:schemeClr val="tx1"/>
                </a:solidFill>
              </a:rPr>
              <a:t>Introduce economic evaluation in health.</a:t>
            </a:r>
          </a:p>
          <a:p>
            <a:pPr marL="285750" indent="-285750">
              <a:buFont typeface="Wingdings" panose="05000000000000000000" pitchFamily="2" charset="2"/>
              <a:buChar char="Ø"/>
            </a:pPr>
            <a:r>
              <a:rPr lang="en-CA" b="1" i="1" dirty="0">
                <a:solidFill>
                  <a:schemeClr val="tx1"/>
                </a:solidFill>
              </a:rPr>
              <a:t>Understand the role of economic evaluation in the decision to fund novel treatments. </a:t>
            </a:r>
          </a:p>
        </p:txBody>
      </p:sp>
    </p:spTree>
    <p:extLst>
      <p:ext uri="{BB962C8B-B14F-4D97-AF65-F5344CB8AC3E}">
        <p14:creationId xmlns:p14="http://schemas.microsoft.com/office/powerpoint/2010/main" val="1175725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12108-91ED-5BEE-F89C-F473813C7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73135-9C81-6B26-1E66-9D8E1F3B99AF}"/>
              </a:ext>
            </a:extLst>
          </p:cNvPr>
          <p:cNvSpPr>
            <a:spLocks noGrp="1"/>
          </p:cNvSpPr>
          <p:nvPr>
            <p:ph type="title"/>
          </p:nvPr>
        </p:nvSpPr>
        <p:spPr/>
        <p:txBody>
          <a:bodyPr/>
          <a:lstStyle/>
          <a:p>
            <a:r>
              <a:rPr lang="en-CA" dirty="0"/>
              <a:t>An Overview of Economic Evaluation</a:t>
            </a:r>
          </a:p>
        </p:txBody>
      </p:sp>
      <p:sp>
        <p:nvSpPr>
          <p:cNvPr id="3" name="Text Placeholder 2">
            <a:extLst>
              <a:ext uri="{FF2B5EF4-FFF2-40B4-BE49-F238E27FC236}">
                <a16:creationId xmlns:a16="http://schemas.microsoft.com/office/drawing/2014/main" id="{063CECBE-BF86-D381-50B9-31076D39F76A}"/>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1005291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A6DA7-C533-A5A3-D2BD-FC261435F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30319-3ACD-782A-C68F-B9336A6127F2}"/>
              </a:ext>
            </a:extLst>
          </p:cNvPr>
          <p:cNvSpPr>
            <a:spLocks noGrp="1"/>
          </p:cNvSpPr>
          <p:nvPr>
            <p:ph type="title"/>
          </p:nvPr>
        </p:nvSpPr>
        <p:spPr>
          <a:xfrm>
            <a:off x="482600" y="597408"/>
            <a:ext cx="10634472" cy="1117092"/>
          </a:xfrm>
        </p:spPr>
        <p:txBody>
          <a:bodyPr/>
          <a:lstStyle/>
          <a:p>
            <a:r>
              <a:rPr lang="en-US" sz="4800" dirty="0"/>
              <a:t>What is Economic Evaluation</a:t>
            </a:r>
            <a:endParaRPr lang="en-CA" sz="4800" dirty="0"/>
          </a:p>
        </p:txBody>
      </p:sp>
      <p:sp>
        <p:nvSpPr>
          <p:cNvPr id="3" name="Content Placeholder 2">
            <a:extLst>
              <a:ext uri="{FF2B5EF4-FFF2-40B4-BE49-F238E27FC236}">
                <a16:creationId xmlns:a16="http://schemas.microsoft.com/office/drawing/2014/main" id="{2742BF1B-5F03-64CC-D52A-CDF64CEA98B2}"/>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US" b="1" dirty="0"/>
              <a:t>Economic evaluation</a:t>
            </a:r>
            <a:r>
              <a:rPr lang="en-US" dirty="0"/>
              <a:t> is the process of systematic identification, measurement and valuation of the inputs and outcomes of two alternative activities, and the subsequent comparative analysis of these.</a:t>
            </a:r>
            <a:br>
              <a:rPr lang="en-US" dirty="0"/>
            </a:br>
            <a:r>
              <a:rPr lang="en-US" dirty="0"/>
              <a:t>-</a:t>
            </a:r>
            <a:r>
              <a:rPr lang="en-US" sz="1200" dirty="0"/>
              <a:t>Drummond, Michael; </a:t>
            </a:r>
            <a:r>
              <a:rPr lang="en-US" sz="1200" dirty="0" err="1"/>
              <a:t>Sculpher</a:t>
            </a:r>
            <a:r>
              <a:rPr lang="en-US" sz="1200" dirty="0"/>
              <a:t>, Mark; Torrance, George; O'Brien, Bernie; Stoddart, Greg (2005). </a:t>
            </a:r>
            <a:r>
              <a:rPr lang="en-US" sz="1200" i="1" dirty="0"/>
              <a:t>Methods for the Economic Evaluation of Health Care </a:t>
            </a:r>
            <a:r>
              <a:rPr lang="en-US" sz="1200" i="1" dirty="0" err="1"/>
              <a:t>Programmes</a:t>
            </a:r>
            <a:r>
              <a:rPr lang="en-US" sz="1200" dirty="0"/>
              <a:t> (3 ed.)</a:t>
            </a:r>
          </a:p>
          <a:p>
            <a:pPr marL="342900" indent="-342900">
              <a:buFont typeface="Wingdings" panose="05000000000000000000" pitchFamily="2" charset="2"/>
              <a:buChar char="§"/>
            </a:pPr>
            <a:r>
              <a:rPr lang="en-US" dirty="0"/>
              <a:t>In the context of health, economic evaluation is used to determine if it makes sense to pay for or fund new drugs and medical technologies.</a:t>
            </a:r>
          </a:p>
          <a:p>
            <a:pPr marL="342900" indent="-342900">
              <a:buFont typeface="Wingdings" panose="05000000000000000000" pitchFamily="2" charset="2"/>
              <a:buChar char="§"/>
            </a:pPr>
            <a:r>
              <a:rPr lang="en-US" dirty="0"/>
              <a:t>Because of this, economic evaluation has played a role in both assessing the value of new medical technologies and marketing them.</a:t>
            </a:r>
            <a:endParaRPr lang="en-CA" dirty="0"/>
          </a:p>
        </p:txBody>
      </p:sp>
    </p:spTree>
    <p:extLst>
      <p:ext uri="{BB962C8B-B14F-4D97-AF65-F5344CB8AC3E}">
        <p14:creationId xmlns:p14="http://schemas.microsoft.com/office/powerpoint/2010/main" val="724007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273F7-3EBC-F663-D588-9DBD19D33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F6529-A234-85B8-B3EF-4D89A818057C}"/>
              </a:ext>
            </a:extLst>
          </p:cNvPr>
          <p:cNvSpPr>
            <a:spLocks noGrp="1"/>
          </p:cNvSpPr>
          <p:nvPr>
            <p:ph type="title"/>
          </p:nvPr>
        </p:nvSpPr>
        <p:spPr>
          <a:xfrm>
            <a:off x="355119" y="534177"/>
            <a:ext cx="10634472" cy="1117092"/>
          </a:xfrm>
        </p:spPr>
        <p:txBody>
          <a:bodyPr/>
          <a:lstStyle/>
          <a:p>
            <a:r>
              <a:rPr lang="en-US" sz="3600" dirty="0"/>
              <a:t>Economic Evaluation and The Life Cycle of a Drug</a:t>
            </a:r>
            <a:endParaRPr lang="en-CA" sz="3600" dirty="0"/>
          </a:p>
        </p:txBody>
      </p:sp>
      <p:cxnSp>
        <p:nvCxnSpPr>
          <p:cNvPr id="5" name="Straight Arrow Connector 4">
            <a:extLst>
              <a:ext uri="{FF2B5EF4-FFF2-40B4-BE49-F238E27FC236}">
                <a16:creationId xmlns:a16="http://schemas.microsoft.com/office/drawing/2014/main" id="{7D71143B-FC53-9C96-6AE5-DFF440FF095C}"/>
              </a:ext>
            </a:extLst>
          </p:cNvPr>
          <p:cNvCxnSpPr>
            <a:cxnSpLocks/>
            <a:stCxn id="7" idx="0"/>
          </p:cNvCxnSpPr>
          <p:nvPr/>
        </p:nvCxnSpPr>
        <p:spPr>
          <a:xfrm>
            <a:off x="826850" y="4280170"/>
            <a:ext cx="11245176" cy="6756"/>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 name="Freeform: Shape 6">
            <a:extLst>
              <a:ext uri="{FF2B5EF4-FFF2-40B4-BE49-F238E27FC236}">
                <a16:creationId xmlns:a16="http://schemas.microsoft.com/office/drawing/2014/main" id="{D0CA3639-9AC7-33A9-D50A-3CD1687AEA1B}"/>
              </a:ext>
            </a:extLst>
          </p:cNvPr>
          <p:cNvSpPr/>
          <p:nvPr/>
        </p:nvSpPr>
        <p:spPr>
          <a:xfrm>
            <a:off x="826850" y="2937755"/>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5CA4C28C-9D69-DEC3-7E0E-CFED6932B135}"/>
              </a:ext>
            </a:extLst>
          </p:cNvPr>
          <p:cNvSpPr txBox="1"/>
          <p:nvPr/>
        </p:nvSpPr>
        <p:spPr>
          <a:xfrm rot="19311110">
            <a:off x="849889" y="2226576"/>
            <a:ext cx="1811363" cy="369332"/>
          </a:xfrm>
          <a:prstGeom prst="rect">
            <a:avLst/>
          </a:prstGeom>
          <a:noFill/>
        </p:spPr>
        <p:txBody>
          <a:bodyPr wrap="square" rtlCol="0">
            <a:spAutoFit/>
          </a:bodyPr>
          <a:lstStyle/>
          <a:p>
            <a:r>
              <a:rPr lang="en-US" i="1" dirty="0"/>
              <a:t>Patent filed</a:t>
            </a:r>
            <a:endParaRPr lang="en-CA" i="1" dirty="0"/>
          </a:p>
        </p:txBody>
      </p:sp>
      <p:sp>
        <p:nvSpPr>
          <p:cNvPr id="10" name="Freeform: Shape 9">
            <a:extLst>
              <a:ext uri="{FF2B5EF4-FFF2-40B4-BE49-F238E27FC236}">
                <a16:creationId xmlns:a16="http://schemas.microsoft.com/office/drawing/2014/main" id="{2E94651D-8AA5-E2FD-D1A4-1C2C0CED7D1C}"/>
              </a:ext>
            </a:extLst>
          </p:cNvPr>
          <p:cNvSpPr/>
          <p:nvPr/>
        </p:nvSpPr>
        <p:spPr>
          <a:xfrm>
            <a:off x="233463" y="293775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Connector 12">
            <a:extLst>
              <a:ext uri="{FF2B5EF4-FFF2-40B4-BE49-F238E27FC236}">
                <a16:creationId xmlns:a16="http://schemas.microsoft.com/office/drawing/2014/main" id="{1AE4963B-9952-E19C-798A-AD19DD3A152D}"/>
              </a:ext>
            </a:extLst>
          </p:cNvPr>
          <p:cNvCxnSpPr>
            <a:cxnSpLocks/>
            <a:endCxn id="7" idx="0"/>
          </p:cNvCxnSpPr>
          <p:nvPr/>
        </p:nvCxnSpPr>
        <p:spPr>
          <a:xfrm>
            <a:off x="233463" y="4280170"/>
            <a:ext cx="593387" cy="0"/>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1D88FB6-BEC5-2849-C1C9-0E33846B94DC}"/>
              </a:ext>
            </a:extLst>
          </p:cNvPr>
          <p:cNvSpPr txBox="1"/>
          <p:nvPr/>
        </p:nvSpPr>
        <p:spPr>
          <a:xfrm rot="19260489">
            <a:off x="318884" y="2322722"/>
            <a:ext cx="1210053" cy="369332"/>
          </a:xfrm>
          <a:prstGeom prst="rect">
            <a:avLst/>
          </a:prstGeom>
          <a:noFill/>
        </p:spPr>
        <p:txBody>
          <a:bodyPr wrap="square" rtlCol="0">
            <a:spAutoFit/>
          </a:bodyPr>
          <a:lstStyle/>
          <a:p>
            <a:r>
              <a:rPr lang="en-US" i="1" dirty="0"/>
              <a:t>Discovery</a:t>
            </a:r>
          </a:p>
        </p:txBody>
      </p:sp>
      <p:sp>
        <p:nvSpPr>
          <p:cNvPr id="16" name="Freeform: Shape 15">
            <a:extLst>
              <a:ext uri="{FF2B5EF4-FFF2-40B4-BE49-F238E27FC236}">
                <a16:creationId xmlns:a16="http://schemas.microsoft.com/office/drawing/2014/main" id="{C63CF1E0-C04F-17C7-512B-1B4EB6514934}"/>
              </a:ext>
            </a:extLst>
          </p:cNvPr>
          <p:cNvSpPr/>
          <p:nvPr/>
        </p:nvSpPr>
        <p:spPr>
          <a:xfrm>
            <a:off x="1575881" y="293288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88383315-8B29-AFF4-FB11-9003ECFD6303}"/>
              </a:ext>
            </a:extLst>
          </p:cNvPr>
          <p:cNvSpPr txBox="1"/>
          <p:nvPr/>
        </p:nvSpPr>
        <p:spPr>
          <a:xfrm rot="19311110">
            <a:off x="1558769" y="2065906"/>
            <a:ext cx="2254124" cy="369332"/>
          </a:xfrm>
          <a:prstGeom prst="rect">
            <a:avLst/>
          </a:prstGeom>
          <a:noFill/>
        </p:spPr>
        <p:txBody>
          <a:bodyPr wrap="square" rtlCol="0">
            <a:spAutoFit/>
          </a:bodyPr>
          <a:lstStyle/>
          <a:p>
            <a:r>
              <a:rPr lang="en-US" i="1" dirty="0"/>
              <a:t>Acute Toxicology</a:t>
            </a:r>
            <a:endParaRPr lang="en-CA" i="1" dirty="0"/>
          </a:p>
        </p:txBody>
      </p:sp>
      <p:sp>
        <p:nvSpPr>
          <p:cNvPr id="18" name="Freeform: Shape 17">
            <a:extLst>
              <a:ext uri="{FF2B5EF4-FFF2-40B4-BE49-F238E27FC236}">
                <a16:creationId xmlns:a16="http://schemas.microsoft.com/office/drawing/2014/main" id="{09BC554C-F5E9-3A00-5636-7CAFC51F959D}"/>
              </a:ext>
            </a:extLst>
          </p:cNvPr>
          <p:cNvSpPr/>
          <p:nvPr/>
        </p:nvSpPr>
        <p:spPr>
          <a:xfrm>
            <a:off x="1979848" y="292424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Freeform: Shape 18">
            <a:extLst>
              <a:ext uri="{FF2B5EF4-FFF2-40B4-BE49-F238E27FC236}">
                <a16:creationId xmlns:a16="http://schemas.microsoft.com/office/drawing/2014/main" id="{12BC37E2-0341-C83A-17A6-70C8299ED7DC}"/>
              </a:ext>
            </a:extLst>
          </p:cNvPr>
          <p:cNvSpPr/>
          <p:nvPr/>
        </p:nvSpPr>
        <p:spPr>
          <a:xfrm>
            <a:off x="2458100" y="293775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2" name="TextBox 21">
            <a:extLst>
              <a:ext uri="{FF2B5EF4-FFF2-40B4-BE49-F238E27FC236}">
                <a16:creationId xmlns:a16="http://schemas.microsoft.com/office/drawing/2014/main" id="{23CFD8FC-B80E-2F23-55B4-47583257EB47}"/>
              </a:ext>
            </a:extLst>
          </p:cNvPr>
          <p:cNvSpPr txBox="1"/>
          <p:nvPr/>
        </p:nvSpPr>
        <p:spPr>
          <a:xfrm rot="19311110">
            <a:off x="2037021" y="2041980"/>
            <a:ext cx="2254124" cy="369332"/>
          </a:xfrm>
          <a:prstGeom prst="rect">
            <a:avLst/>
          </a:prstGeom>
          <a:noFill/>
        </p:spPr>
        <p:txBody>
          <a:bodyPr wrap="square" rtlCol="0">
            <a:spAutoFit/>
          </a:bodyPr>
          <a:lstStyle/>
          <a:p>
            <a:r>
              <a:rPr lang="en-US" i="1" dirty="0"/>
              <a:t>Pharmacology</a:t>
            </a:r>
            <a:endParaRPr lang="en-CA" i="1" dirty="0"/>
          </a:p>
        </p:txBody>
      </p:sp>
      <p:sp>
        <p:nvSpPr>
          <p:cNvPr id="23" name="TextBox 22">
            <a:extLst>
              <a:ext uri="{FF2B5EF4-FFF2-40B4-BE49-F238E27FC236}">
                <a16:creationId xmlns:a16="http://schemas.microsoft.com/office/drawing/2014/main" id="{AFAAF12E-883F-C792-F77E-A87C4565839F}"/>
              </a:ext>
            </a:extLst>
          </p:cNvPr>
          <p:cNvSpPr txBox="1"/>
          <p:nvPr/>
        </p:nvSpPr>
        <p:spPr>
          <a:xfrm rot="19311110">
            <a:off x="2497218" y="2055492"/>
            <a:ext cx="2254124" cy="369332"/>
          </a:xfrm>
          <a:prstGeom prst="rect">
            <a:avLst/>
          </a:prstGeom>
          <a:noFill/>
        </p:spPr>
        <p:txBody>
          <a:bodyPr wrap="square" rtlCol="0">
            <a:spAutoFit/>
          </a:bodyPr>
          <a:lstStyle/>
          <a:p>
            <a:r>
              <a:rPr lang="en-US" i="1" dirty="0"/>
              <a:t>Chronical toxicity</a:t>
            </a:r>
            <a:endParaRPr lang="en-CA" i="1" dirty="0"/>
          </a:p>
        </p:txBody>
      </p:sp>
      <p:sp>
        <p:nvSpPr>
          <p:cNvPr id="24" name="Freeform: Shape 23">
            <a:extLst>
              <a:ext uri="{FF2B5EF4-FFF2-40B4-BE49-F238E27FC236}">
                <a16:creationId xmlns:a16="http://schemas.microsoft.com/office/drawing/2014/main" id="{06C2C252-FD50-3813-DE4B-57C2F0714D2A}"/>
              </a:ext>
            </a:extLst>
          </p:cNvPr>
          <p:cNvSpPr/>
          <p:nvPr/>
        </p:nvSpPr>
        <p:spPr>
          <a:xfrm>
            <a:off x="391465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TextBox 24">
            <a:extLst>
              <a:ext uri="{FF2B5EF4-FFF2-40B4-BE49-F238E27FC236}">
                <a16:creationId xmlns:a16="http://schemas.microsoft.com/office/drawing/2014/main" id="{D59B8DBF-AAB8-38A0-D54B-0AB1B5E8EEE1}"/>
              </a:ext>
            </a:extLst>
          </p:cNvPr>
          <p:cNvSpPr txBox="1"/>
          <p:nvPr/>
        </p:nvSpPr>
        <p:spPr>
          <a:xfrm rot="19311110">
            <a:off x="3910043" y="2024494"/>
            <a:ext cx="2376365" cy="369332"/>
          </a:xfrm>
          <a:prstGeom prst="rect">
            <a:avLst/>
          </a:prstGeom>
          <a:noFill/>
        </p:spPr>
        <p:txBody>
          <a:bodyPr wrap="square" rtlCol="0">
            <a:spAutoFit/>
          </a:bodyPr>
          <a:lstStyle/>
          <a:p>
            <a:r>
              <a:rPr lang="en-US" i="1" dirty="0"/>
              <a:t>Clinical Trials Phase I </a:t>
            </a:r>
            <a:endParaRPr lang="en-CA" i="1" dirty="0"/>
          </a:p>
        </p:txBody>
      </p:sp>
      <p:sp>
        <p:nvSpPr>
          <p:cNvPr id="26" name="Freeform: Shape 25">
            <a:extLst>
              <a:ext uri="{FF2B5EF4-FFF2-40B4-BE49-F238E27FC236}">
                <a16:creationId xmlns:a16="http://schemas.microsoft.com/office/drawing/2014/main" id="{2462CE3C-5C84-49F1-0B89-DA290D846893}"/>
              </a:ext>
            </a:extLst>
          </p:cNvPr>
          <p:cNvSpPr/>
          <p:nvPr/>
        </p:nvSpPr>
        <p:spPr>
          <a:xfrm>
            <a:off x="4534130"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7" name="TextBox 26">
            <a:extLst>
              <a:ext uri="{FF2B5EF4-FFF2-40B4-BE49-F238E27FC236}">
                <a16:creationId xmlns:a16="http://schemas.microsoft.com/office/drawing/2014/main" id="{6CA63193-1AB2-1749-A9E6-DDA5F8523666}"/>
              </a:ext>
            </a:extLst>
          </p:cNvPr>
          <p:cNvSpPr txBox="1"/>
          <p:nvPr/>
        </p:nvSpPr>
        <p:spPr>
          <a:xfrm rot="19311110">
            <a:off x="4526969" y="2031251"/>
            <a:ext cx="2376365" cy="369332"/>
          </a:xfrm>
          <a:prstGeom prst="rect">
            <a:avLst/>
          </a:prstGeom>
          <a:noFill/>
        </p:spPr>
        <p:txBody>
          <a:bodyPr wrap="square" rtlCol="0">
            <a:spAutoFit/>
          </a:bodyPr>
          <a:lstStyle/>
          <a:p>
            <a:r>
              <a:rPr lang="en-US" i="1" dirty="0"/>
              <a:t>Phase II</a:t>
            </a:r>
            <a:endParaRPr lang="en-CA" i="1" dirty="0"/>
          </a:p>
        </p:txBody>
      </p:sp>
      <p:sp>
        <p:nvSpPr>
          <p:cNvPr id="28" name="Freeform: Shape 27">
            <a:extLst>
              <a:ext uri="{FF2B5EF4-FFF2-40B4-BE49-F238E27FC236}">
                <a16:creationId xmlns:a16="http://schemas.microsoft.com/office/drawing/2014/main" id="{59ABC235-4A9B-0DC7-C31A-A2901D59DBC5}"/>
              </a:ext>
            </a:extLst>
          </p:cNvPr>
          <p:cNvSpPr/>
          <p:nvPr/>
        </p:nvSpPr>
        <p:spPr>
          <a:xfrm>
            <a:off x="5036319"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TextBox 28">
            <a:extLst>
              <a:ext uri="{FF2B5EF4-FFF2-40B4-BE49-F238E27FC236}">
                <a16:creationId xmlns:a16="http://schemas.microsoft.com/office/drawing/2014/main" id="{2F7094A8-F539-0173-E16B-40973663E6DA}"/>
              </a:ext>
            </a:extLst>
          </p:cNvPr>
          <p:cNvSpPr txBox="1"/>
          <p:nvPr/>
        </p:nvSpPr>
        <p:spPr>
          <a:xfrm rot="19311110">
            <a:off x="5063697" y="2093245"/>
            <a:ext cx="2376365" cy="369332"/>
          </a:xfrm>
          <a:prstGeom prst="rect">
            <a:avLst/>
          </a:prstGeom>
          <a:noFill/>
        </p:spPr>
        <p:txBody>
          <a:bodyPr wrap="square" rtlCol="0">
            <a:spAutoFit/>
          </a:bodyPr>
          <a:lstStyle/>
          <a:p>
            <a:r>
              <a:rPr lang="en-US" i="1" dirty="0"/>
              <a:t>Phase III</a:t>
            </a:r>
            <a:endParaRPr lang="en-CA" i="1" dirty="0"/>
          </a:p>
        </p:txBody>
      </p:sp>
      <p:sp>
        <p:nvSpPr>
          <p:cNvPr id="34" name="Freeform: Shape 33">
            <a:extLst>
              <a:ext uri="{FF2B5EF4-FFF2-40B4-BE49-F238E27FC236}">
                <a16:creationId xmlns:a16="http://schemas.microsoft.com/office/drawing/2014/main" id="{CAAC7270-3511-708C-6AAA-55A90CAEF437}"/>
              </a:ext>
            </a:extLst>
          </p:cNvPr>
          <p:cNvSpPr/>
          <p:nvPr/>
        </p:nvSpPr>
        <p:spPr>
          <a:xfrm>
            <a:off x="607888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5" name="Freeform: Shape 34">
            <a:extLst>
              <a:ext uri="{FF2B5EF4-FFF2-40B4-BE49-F238E27FC236}">
                <a16:creationId xmlns:a16="http://schemas.microsoft.com/office/drawing/2014/main" id="{FB2D1395-7C92-6D05-C353-FC2A5A96497E}"/>
              </a:ext>
            </a:extLst>
          </p:cNvPr>
          <p:cNvSpPr/>
          <p:nvPr/>
        </p:nvSpPr>
        <p:spPr>
          <a:xfrm>
            <a:off x="6726986"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6" name="Freeform: Shape 35">
            <a:extLst>
              <a:ext uri="{FF2B5EF4-FFF2-40B4-BE49-F238E27FC236}">
                <a16:creationId xmlns:a16="http://schemas.microsoft.com/office/drawing/2014/main" id="{69D40DB5-EBD6-3DE5-AD62-C9F4D82F2BCE}"/>
              </a:ext>
            </a:extLst>
          </p:cNvPr>
          <p:cNvSpPr/>
          <p:nvPr/>
        </p:nvSpPr>
        <p:spPr>
          <a:xfrm>
            <a:off x="7229175"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7" name="TextBox 36">
            <a:extLst>
              <a:ext uri="{FF2B5EF4-FFF2-40B4-BE49-F238E27FC236}">
                <a16:creationId xmlns:a16="http://schemas.microsoft.com/office/drawing/2014/main" id="{45E3B908-A8DB-34C1-3F5D-FFDF1F7B07B4}"/>
              </a:ext>
            </a:extLst>
          </p:cNvPr>
          <p:cNvSpPr txBox="1"/>
          <p:nvPr/>
        </p:nvSpPr>
        <p:spPr>
          <a:xfrm rot="19311110">
            <a:off x="6112171" y="2024493"/>
            <a:ext cx="2376365" cy="369332"/>
          </a:xfrm>
          <a:prstGeom prst="rect">
            <a:avLst/>
          </a:prstGeom>
          <a:noFill/>
        </p:spPr>
        <p:txBody>
          <a:bodyPr wrap="square" rtlCol="0">
            <a:spAutoFit/>
          </a:bodyPr>
          <a:lstStyle/>
          <a:p>
            <a:r>
              <a:rPr lang="en-US" i="1" dirty="0"/>
              <a:t>Registration </a:t>
            </a:r>
            <a:endParaRPr lang="en-CA" i="1" dirty="0"/>
          </a:p>
        </p:txBody>
      </p:sp>
      <p:sp>
        <p:nvSpPr>
          <p:cNvPr id="38" name="TextBox 37">
            <a:extLst>
              <a:ext uri="{FF2B5EF4-FFF2-40B4-BE49-F238E27FC236}">
                <a16:creationId xmlns:a16="http://schemas.microsoft.com/office/drawing/2014/main" id="{521D6302-F30D-A393-3B0A-198B00821CDE}"/>
              </a:ext>
            </a:extLst>
          </p:cNvPr>
          <p:cNvSpPr txBox="1"/>
          <p:nvPr/>
        </p:nvSpPr>
        <p:spPr>
          <a:xfrm rot="19311110">
            <a:off x="6707524" y="2015750"/>
            <a:ext cx="2376365" cy="369332"/>
          </a:xfrm>
          <a:prstGeom prst="rect">
            <a:avLst/>
          </a:prstGeom>
          <a:noFill/>
        </p:spPr>
        <p:txBody>
          <a:bodyPr wrap="square" rtlCol="0">
            <a:spAutoFit/>
          </a:bodyPr>
          <a:lstStyle/>
          <a:p>
            <a:r>
              <a:rPr lang="en-US" i="1" dirty="0"/>
              <a:t>Price</a:t>
            </a:r>
            <a:endParaRPr lang="en-CA" i="1" dirty="0"/>
          </a:p>
        </p:txBody>
      </p:sp>
      <p:sp>
        <p:nvSpPr>
          <p:cNvPr id="39" name="TextBox 38">
            <a:extLst>
              <a:ext uri="{FF2B5EF4-FFF2-40B4-BE49-F238E27FC236}">
                <a16:creationId xmlns:a16="http://schemas.microsoft.com/office/drawing/2014/main" id="{0AF044ED-6DC3-7590-2268-06A8C97DFF08}"/>
              </a:ext>
            </a:extLst>
          </p:cNvPr>
          <p:cNvSpPr txBox="1"/>
          <p:nvPr/>
        </p:nvSpPr>
        <p:spPr>
          <a:xfrm rot="19311110">
            <a:off x="7254972" y="2048738"/>
            <a:ext cx="2376365" cy="369332"/>
          </a:xfrm>
          <a:prstGeom prst="rect">
            <a:avLst/>
          </a:prstGeom>
          <a:noFill/>
        </p:spPr>
        <p:txBody>
          <a:bodyPr wrap="square" rtlCol="0">
            <a:spAutoFit/>
          </a:bodyPr>
          <a:lstStyle/>
          <a:p>
            <a:r>
              <a:rPr lang="en-US" i="1" dirty="0"/>
              <a:t>Drug surveillance</a:t>
            </a:r>
            <a:endParaRPr lang="en-CA" i="1" dirty="0"/>
          </a:p>
        </p:txBody>
      </p:sp>
      <p:sp>
        <p:nvSpPr>
          <p:cNvPr id="41" name="Left Brace 40">
            <a:extLst>
              <a:ext uri="{FF2B5EF4-FFF2-40B4-BE49-F238E27FC236}">
                <a16:creationId xmlns:a16="http://schemas.microsoft.com/office/drawing/2014/main" id="{47F5F3F3-4FFC-FC0A-C99D-3294B53692A5}"/>
              </a:ext>
            </a:extLst>
          </p:cNvPr>
          <p:cNvSpPr/>
          <p:nvPr/>
        </p:nvSpPr>
        <p:spPr>
          <a:xfrm rot="16200000">
            <a:off x="2794219" y="2420952"/>
            <a:ext cx="316239" cy="4250977"/>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2" name="TextBox 41">
            <a:extLst>
              <a:ext uri="{FF2B5EF4-FFF2-40B4-BE49-F238E27FC236}">
                <a16:creationId xmlns:a16="http://schemas.microsoft.com/office/drawing/2014/main" id="{07463CA6-7D9F-2A95-FF14-EA3A52B6A60A}"/>
              </a:ext>
            </a:extLst>
          </p:cNvPr>
          <p:cNvSpPr txBox="1"/>
          <p:nvPr/>
        </p:nvSpPr>
        <p:spPr>
          <a:xfrm>
            <a:off x="2378623" y="4622775"/>
            <a:ext cx="1147430" cy="369332"/>
          </a:xfrm>
          <a:prstGeom prst="rect">
            <a:avLst/>
          </a:prstGeom>
          <a:noFill/>
        </p:spPr>
        <p:txBody>
          <a:bodyPr wrap="none" rtlCol="0">
            <a:spAutoFit/>
          </a:bodyPr>
          <a:lstStyle/>
          <a:p>
            <a:r>
              <a:rPr lang="en-US" dirty="0"/>
              <a:t>Research</a:t>
            </a:r>
            <a:endParaRPr lang="en-CA" dirty="0"/>
          </a:p>
        </p:txBody>
      </p:sp>
      <p:sp>
        <p:nvSpPr>
          <p:cNvPr id="43" name="Left Brace 42">
            <a:extLst>
              <a:ext uri="{FF2B5EF4-FFF2-40B4-BE49-F238E27FC236}">
                <a16:creationId xmlns:a16="http://schemas.microsoft.com/office/drawing/2014/main" id="{3AD879AB-BA7C-73A8-6EF8-23548945E36B}"/>
              </a:ext>
            </a:extLst>
          </p:cNvPr>
          <p:cNvSpPr/>
          <p:nvPr/>
        </p:nvSpPr>
        <p:spPr>
          <a:xfrm rot="16200000">
            <a:off x="6488098" y="3634863"/>
            <a:ext cx="247227" cy="1727113"/>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4" name="TextBox 43">
            <a:extLst>
              <a:ext uri="{FF2B5EF4-FFF2-40B4-BE49-F238E27FC236}">
                <a16:creationId xmlns:a16="http://schemas.microsoft.com/office/drawing/2014/main" id="{1B7D8BA6-CF47-4D5D-BC33-8204813FAE4E}"/>
              </a:ext>
            </a:extLst>
          </p:cNvPr>
          <p:cNvSpPr txBox="1"/>
          <p:nvPr/>
        </p:nvSpPr>
        <p:spPr>
          <a:xfrm>
            <a:off x="5824643" y="4549903"/>
            <a:ext cx="1696362" cy="369332"/>
          </a:xfrm>
          <a:prstGeom prst="rect">
            <a:avLst/>
          </a:prstGeom>
          <a:noFill/>
        </p:spPr>
        <p:txBody>
          <a:bodyPr wrap="none" rtlCol="0">
            <a:spAutoFit/>
          </a:bodyPr>
          <a:lstStyle/>
          <a:p>
            <a:r>
              <a:rPr lang="en-US" dirty="0"/>
              <a:t>Administration</a:t>
            </a:r>
            <a:endParaRPr lang="en-CA" dirty="0"/>
          </a:p>
        </p:txBody>
      </p:sp>
      <p:sp>
        <p:nvSpPr>
          <p:cNvPr id="45" name="Oval 44">
            <a:extLst>
              <a:ext uri="{FF2B5EF4-FFF2-40B4-BE49-F238E27FC236}">
                <a16:creationId xmlns:a16="http://schemas.microsoft.com/office/drawing/2014/main" id="{F9AFC122-9C24-DEAA-34A3-2D0A314E1D16}"/>
              </a:ext>
            </a:extLst>
          </p:cNvPr>
          <p:cNvSpPr/>
          <p:nvPr/>
        </p:nvSpPr>
        <p:spPr>
          <a:xfrm>
            <a:off x="5203406" y="4198475"/>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20F87A6F-3783-26B9-43A3-CC9949D86734}"/>
              </a:ext>
            </a:extLst>
          </p:cNvPr>
          <p:cNvSpPr txBox="1"/>
          <p:nvPr/>
        </p:nvSpPr>
        <p:spPr>
          <a:xfrm>
            <a:off x="11473534" y="4361774"/>
            <a:ext cx="718466" cy="369332"/>
          </a:xfrm>
          <a:prstGeom prst="rect">
            <a:avLst/>
          </a:prstGeom>
          <a:noFill/>
        </p:spPr>
        <p:txBody>
          <a:bodyPr wrap="none" rtlCol="0">
            <a:spAutoFit/>
          </a:bodyPr>
          <a:lstStyle/>
          <a:p>
            <a:r>
              <a:rPr lang="en-US" b="1" i="1" dirty="0"/>
              <a:t>Time</a:t>
            </a:r>
            <a:endParaRPr lang="en-CA" b="1" i="1" dirty="0"/>
          </a:p>
        </p:txBody>
      </p:sp>
      <p:sp>
        <p:nvSpPr>
          <p:cNvPr id="47" name="TextBox 46">
            <a:extLst>
              <a:ext uri="{FF2B5EF4-FFF2-40B4-BE49-F238E27FC236}">
                <a16:creationId xmlns:a16="http://schemas.microsoft.com/office/drawing/2014/main" id="{3F020CC3-D075-A5AE-C729-3BCFCFC2AEFA}"/>
              </a:ext>
            </a:extLst>
          </p:cNvPr>
          <p:cNvSpPr txBox="1"/>
          <p:nvPr/>
        </p:nvSpPr>
        <p:spPr>
          <a:xfrm rot="3757880">
            <a:off x="5121490" y="4586210"/>
            <a:ext cx="1016432" cy="369332"/>
          </a:xfrm>
          <a:prstGeom prst="rect">
            <a:avLst/>
          </a:prstGeom>
          <a:noFill/>
        </p:spPr>
        <p:txBody>
          <a:bodyPr wrap="none" rtlCol="0">
            <a:spAutoFit/>
          </a:bodyPr>
          <a:lstStyle/>
          <a:p>
            <a:r>
              <a:rPr lang="en-US" dirty="0"/>
              <a:t>10 years</a:t>
            </a:r>
            <a:endParaRPr lang="en-CA" dirty="0"/>
          </a:p>
        </p:txBody>
      </p:sp>
      <p:sp>
        <p:nvSpPr>
          <p:cNvPr id="48" name="Oval 47">
            <a:extLst>
              <a:ext uri="{FF2B5EF4-FFF2-40B4-BE49-F238E27FC236}">
                <a16:creationId xmlns:a16="http://schemas.microsoft.com/office/drawing/2014/main" id="{3C08687E-89BD-1E7B-0E2E-BC2B84F461D8}"/>
              </a:ext>
            </a:extLst>
          </p:cNvPr>
          <p:cNvSpPr/>
          <p:nvPr/>
        </p:nvSpPr>
        <p:spPr>
          <a:xfrm>
            <a:off x="7574480" y="4166331"/>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TextBox 48">
            <a:extLst>
              <a:ext uri="{FF2B5EF4-FFF2-40B4-BE49-F238E27FC236}">
                <a16:creationId xmlns:a16="http://schemas.microsoft.com/office/drawing/2014/main" id="{2D1D59ED-5AC2-0B13-8216-99C3AE151E64}"/>
              </a:ext>
            </a:extLst>
          </p:cNvPr>
          <p:cNvSpPr txBox="1"/>
          <p:nvPr/>
        </p:nvSpPr>
        <p:spPr>
          <a:xfrm rot="3757880">
            <a:off x="9535700" y="4606207"/>
            <a:ext cx="1016432" cy="369332"/>
          </a:xfrm>
          <a:prstGeom prst="rect">
            <a:avLst/>
          </a:prstGeom>
          <a:noFill/>
        </p:spPr>
        <p:txBody>
          <a:bodyPr wrap="none" rtlCol="0">
            <a:spAutoFit/>
          </a:bodyPr>
          <a:lstStyle/>
          <a:p>
            <a:r>
              <a:rPr lang="en-US" dirty="0"/>
              <a:t>20 years</a:t>
            </a:r>
            <a:endParaRPr lang="en-CA" dirty="0"/>
          </a:p>
        </p:txBody>
      </p:sp>
      <p:sp>
        <p:nvSpPr>
          <p:cNvPr id="50" name="Oval 49">
            <a:extLst>
              <a:ext uri="{FF2B5EF4-FFF2-40B4-BE49-F238E27FC236}">
                <a16:creationId xmlns:a16="http://schemas.microsoft.com/office/drawing/2014/main" id="{2F6E0BA7-7848-4832-17BF-BF5F5C98389A}"/>
              </a:ext>
            </a:extLst>
          </p:cNvPr>
          <p:cNvSpPr/>
          <p:nvPr/>
        </p:nvSpPr>
        <p:spPr>
          <a:xfrm>
            <a:off x="9667951" y="4182826"/>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TextBox 50">
            <a:extLst>
              <a:ext uri="{FF2B5EF4-FFF2-40B4-BE49-F238E27FC236}">
                <a16:creationId xmlns:a16="http://schemas.microsoft.com/office/drawing/2014/main" id="{98DA3B86-841C-E675-C108-037C5B2D0F5D}"/>
              </a:ext>
            </a:extLst>
          </p:cNvPr>
          <p:cNvSpPr txBox="1"/>
          <p:nvPr/>
        </p:nvSpPr>
        <p:spPr>
          <a:xfrm rot="3757880">
            <a:off x="7562819" y="4702432"/>
            <a:ext cx="1016432" cy="369332"/>
          </a:xfrm>
          <a:prstGeom prst="rect">
            <a:avLst/>
          </a:prstGeom>
          <a:noFill/>
        </p:spPr>
        <p:txBody>
          <a:bodyPr wrap="none" rtlCol="0">
            <a:spAutoFit/>
          </a:bodyPr>
          <a:lstStyle/>
          <a:p>
            <a:r>
              <a:rPr lang="en-US" dirty="0"/>
              <a:t>15 years</a:t>
            </a:r>
            <a:endParaRPr lang="en-CA" dirty="0"/>
          </a:p>
        </p:txBody>
      </p:sp>
      <p:sp>
        <p:nvSpPr>
          <p:cNvPr id="52" name="TextBox 51">
            <a:extLst>
              <a:ext uri="{FF2B5EF4-FFF2-40B4-BE49-F238E27FC236}">
                <a16:creationId xmlns:a16="http://schemas.microsoft.com/office/drawing/2014/main" id="{2F3259AB-D78E-5B68-650F-91295450CE6B}"/>
              </a:ext>
            </a:extLst>
          </p:cNvPr>
          <p:cNvSpPr txBox="1"/>
          <p:nvPr/>
        </p:nvSpPr>
        <p:spPr>
          <a:xfrm>
            <a:off x="9537618" y="3757188"/>
            <a:ext cx="1652825" cy="369332"/>
          </a:xfrm>
          <a:prstGeom prst="rect">
            <a:avLst/>
          </a:prstGeom>
          <a:noFill/>
        </p:spPr>
        <p:txBody>
          <a:bodyPr wrap="none" rtlCol="0">
            <a:spAutoFit/>
          </a:bodyPr>
          <a:lstStyle/>
          <a:p>
            <a:r>
              <a:rPr lang="en-US" i="1" dirty="0"/>
              <a:t>Patent Expires</a:t>
            </a:r>
            <a:endParaRPr lang="en-CA" i="1" dirty="0"/>
          </a:p>
        </p:txBody>
      </p:sp>
    </p:spTree>
    <p:extLst>
      <p:ext uri="{BB962C8B-B14F-4D97-AF65-F5344CB8AC3E}">
        <p14:creationId xmlns:p14="http://schemas.microsoft.com/office/powerpoint/2010/main" val="1855185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DFB4E-D26D-5846-4D0F-3B1227F43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2DF75-07D3-4071-EAC8-AA4656A44E6D}"/>
              </a:ext>
            </a:extLst>
          </p:cNvPr>
          <p:cNvSpPr>
            <a:spLocks noGrp="1"/>
          </p:cNvSpPr>
          <p:nvPr>
            <p:ph type="title"/>
          </p:nvPr>
        </p:nvSpPr>
        <p:spPr>
          <a:xfrm>
            <a:off x="355119" y="534177"/>
            <a:ext cx="10634472" cy="1117092"/>
          </a:xfrm>
        </p:spPr>
        <p:txBody>
          <a:bodyPr/>
          <a:lstStyle/>
          <a:p>
            <a:r>
              <a:rPr lang="en-US" sz="3600" dirty="0"/>
              <a:t>Economic Evaluation and The Life Cycle of a Drug</a:t>
            </a:r>
            <a:endParaRPr lang="en-CA" sz="3600" dirty="0"/>
          </a:p>
        </p:txBody>
      </p:sp>
      <p:cxnSp>
        <p:nvCxnSpPr>
          <p:cNvPr id="5" name="Straight Arrow Connector 4">
            <a:extLst>
              <a:ext uri="{FF2B5EF4-FFF2-40B4-BE49-F238E27FC236}">
                <a16:creationId xmlns:a16="http://schemas.microsoft.com/office/drawing/2014/main" id="{2FAD145F-543B-455C-E30B-9C666F23FEB7}"/>
              </a:ext>
            </a:extLst>
          </p:cNvPr>
          <p:cNvCxnSpPr>
            <a:cxnSpLocks/>
            <a:stCxn id="7" idx="0"/>
          </p:cNvCxnSpPr>
          <p:nvPr/>
        </p:nvCxnSpPr>
        <p:spPr>
          <a:xfrm>
            <a:off x="826850" y="4280170"/>
            <a:ext cx="11245176" cy="6756"/>
          </a:xfrm>
          <a:prstGeom prst="straightConnector1">
            <a:avLst/>
          </a:prstGeom>
          <a:ln w="5715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 name="Freeform: Shape 6">
            <a:extLst>
              <a:ext uri="{FF2B5EF4-FFF2-40B4-BE49-F238E27FC236}">
                <a16:creationId xmlns:a16="http://schemas.microsoft.com/office/drawing/2014/main" id="{F2B96CA9-6D3A-AA81-C607-242D9FEC9158}"/>
              </a:ext>
            </a:extLst>
          </p:cNvPr>
          <p:cNvSpPr/>
          <p:nvPr/>
        </p:nvSpPr>
        <p:spPr>
          <a:xfrm>
            <a:off x="826850" y="2937755"/>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15FC67D8-E75E-3632-AC26-000784641378}"/>
              </a:ext>
            </a:extLst>
          </p:cNvPr>
          <p:cNvSpPr txBox="1"/>
          <p:nvPr/>
        </p:nvSpPr>
        <p:spPr>
          <a:xfrm rot="19311110">
            <a:off x="849889" y="2226576"/>
            <a:ext cx="1811363" cy="369332"/>
          </a:xfrm>
          <a:prstGeom prst="rect">
            <a:avLst/>
          </a:prstGeom>
          <a:noFill/>
        </p:spPr>
        <p:txBody>
          <a:bodyPr wrap="square" rtlCol="0">
            <a:spAutoFit/>
          </a:bodyPr>
          <a:lstStyle/>
          <a:p>
            <a:r>
              <a:rPr lang="en-US" i="1" dirty="0"/>
              <a:t>Patent filed</a:t>
            </a:r>
            <a:endParaRPr lang="en-CA" i="1" dirty="0"/>
          </a:p>
        </p:txBody>
      </p:sp>
      <p:sp>
        <p:nvSpPr>
          <p:cNvPr id="10" name="Freeform: Shape 9">
            <a:extLst>
              <a:ext uri="{FF2B5EF4-FFF2-40B4-BE49-F238E27FC236}">
                <a16:creationId xmlns:a16="http://schemas.microsoft.com/office/drawing/2014/main" id="{4EF8EBE3-FB90-5D7F-E996-84D5B362BD5C}"/>
              </a:ext>
            </a:extLst>
          </p:cNvPr>
          <p:cNvSpPr/>
          <p:nvPr/>
        </p:nvSpPr>
        <p:spPr>
          <a:xfrm>
            <a:off x="233463" y="293775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3" name="Straight Connector 12">
            <a:extLst>
              <a:ext uri="{FF2B5EF4-FFF2-40B4-BE49-F238E27FC236}">
                <a16:creationId xmlns:a16="http://schemas.microsoft.com/office/drawing/2014/main" id="{074F1960-9167-33A6-055C-CDD818E47C39}"/>
              </a:ext>
            </a:extLst>
          </p:cNvPr>
          <p:cNvCxnSpPr>
            <a:cxnSpLocks/>
            <a:endCxn id="7" idx="0"/>
          </p:cNvCxnSpPr>
          <p:nvPr/>
        </p:nvCxnSpPr>
        <p:spPr>
          <a:xfrm>
            <a:off x="233463" y="4280170"/>
            <a:ext cx="593387" cy="0"/>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12237AE-8EAA-6BC4-743A-2D941B8AAC54}"/>
              </a:ext>
            </a:extLst>
          </p:cNvPr>
          <p:cNvSpPr txBox="1"/>
          <p:nvPr/>
        </p:nvSpPr>
        <p:spPr>
          <a:xfrm rot="19260489">
            <a:off x="318884" y="2322722"/>
            <a:ext cx="1210053" cy="369332"/>
          </a:xfrm>
          <a:prstGeom prst="rect">
            <a:avLst/>
          </a:prstGeom>
          <a:noFill/>
        </p:spPr>
        <p:txBody>
          <a:bodyPr wrap="square" rtlCol="0">
            <a:spAutoFit/>
          </a:bodyPr>
          <a:lstStyle/>
          <a:p>
            <a:r>
              <a:rPr lang="en-US" i="1" dirty="0"/>
              <a:t>Discovery</a:t>
            </a:r>
          </a:p>
        </p:txBody>
      </p:sp>
      <p:sp>
        <p:nvSpPr>
          <p:cNvPr id="16" name="Freeform: Shape 15">
            <a:extLst>
              <a:ext uri="{FF2B5EF4-FFF2-40B4-BE49-F238E27FC236}">
                <a16:creationId xmlns:a16="http://schemas.microsoft.com/office/drawing/2014/main" id="{BB99C4E6-76A8-EFE4-A32D-47A59528227D}"/>
              </a:ext>
            </a:extLst>
          </p:cNvPr>
          <p:cNvSpPr/>
          <p:nvPr/>
        </p:nvSpPr>
        <p:spPr>
          <a:xfrm>
            <a:off x="1575881" y="293288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TextBox 16">
            <a:extLst>
              <a:ext uri="{FF2B5EF4-FFF2-40B4-BE49-F238E27FC236}">
                <a16:creationId xmlns:a16="http://schemas.microsoft.com/office/drawing/2014/main" id="{4D0ABEDF-8749-6BD7-EC4C-BD3E617EAE29}"/>
              </a:ext>
            </a:extLst>
          </p:cNvPr>
          <p:cNvSpPr txBox="1"/>
          <p:nvPr/>
        </p:nvSpPr>
        <p:spPr>
          <a:xfrm rot="19311110">
            <a:off x="1558769" y="2065906"/>
            <a:ext cx="2254124" cy="369332"/>
          </a:xfrm>
          <a:prstGeom prst="rect">
            <a:avLst/>
          </a:prstGeom>
          <a:noFill/>
        </p:spPr>
        <p:txBody>
          <a:bodyPr wrap="square" rtlCol="0">
            <a:spAutoFit/>
          </a:bodyPr>
          <a:lstStyle/>
          <a:p>
            <a:r>
              <a:rPr lang="en-US" i="1" dirty="0"/>
              <a:t>Acute Toxicology</a:t>
            </a:r>
            <a:endParaRPr lang="en-CA" i="1" dirty="0"/>
          </a:p>
        </p:txBody>
      </p:sp>
      <p:sp>
        <p:nvSpPr>
          <p:cNvPr id="18" name="Freeform: Shape 17">
            <a:extLst>
              <a:ext uri="{FF2B5EF4-FFF2-40B4-BE49-F238E27FC236}">
                <a16:creationId xmlns:a16="http://schemas.microsoft.com/office/drawing/2014/main" id="{57C3DF88-9F44-6F90-1D3F-07C688F52168}"/>
              </a:ext>
            </a:extLst>
          </p:cNvPr>
          <p:cNvSpPr/>
          <p:nvPr/>
        </p:nvSpPr>
        <p:spPr>
          <a:xfrm>
            <a:off x="1979848" y="2924244"/>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Freeform: Shape 18">
            <a:extLst>
              <a:ext uri="{FF2B5EF4-FFF2-40B4-BE49-F238E27FC236}">
                <a16:creationId xmlns:a16="http://schemas.microsoft.com/office/drawing/2014/main" id="{CD17D67F-DC78-46CF-AD4E-BBA7117BF5FF}"/>
              </a:ext>
            </a:extLst>
          </p:cNvPr>
          <p:cNvSpPr/>
          <p:nvPr/>
        </p:nvSpPr>
        <p:spPr>
          <a:xfrm>
            <a:off x="2458100" y="293775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2" name="TextBox 21">
            <a:extLst>
              <a:ext uri="{FF2B5EF4-FFF2-40B4-BE49-F238E27FC236}">
                <a16:creationId xmlns:a16="http://schemas.microsoft.com/office/drawing/2014/main" id="{3E47CF6C-E80A-2885-DCF7-467D0064BE92}"/>
              </a:ext>
            </a:extLst>
          </p:cNvPr>
          <p:cNvSpPr txBox="1"/>
          <p:nvPr/>
        </p:nvSpPr>
        <p:spPr>
          <a:xfrm rot="19311110">
            <a:off x="2037021" y="2041980"/>
            <a:ext cx="2254124" cy="369332"/>
          </a:xfrm>
          <a:prstGeom prst="rect">
            <a:avLst/>
          </a:prstGeom>
          <a:noFill/>
        </p:spPr>
        <p:txBody>
          <a:bodyPr wrap="square" rtlCol="0">
            <a:spAutoFit/>
          </a:bodyPr>
          <a:lstStyle/>
          <a:p>
            <a:r>
              <a:rPr lang="en-US" i="1" dirty="0"/>
              <a:t>Pharmacology</a:t>
            </a:r>
            <a:endParaRPr lang="en-CA" i="1" dirty="0"/>
          </a:p>
        </p:txBody>
      </p:sp>
      <p:sp>
        <p:nvSpPr>
          <p:cNvPr id="23" name="TextBox 22">
            <a:extLst>
              <a:ext uri="{FF2B5EF4-FFF2-40B4-BE49-F238E27FC236}">
                <a16:creationId xmlns:a16="http://schemas.microsoft.com/office/drawing/2014/main" id="{E1C84E59-7B75-ACCB-9BD8-18F5A41074F4}"/>
              </a:ext>
            </a:extLst>
          </p:cNvPr>
          <p:cNvSpPr txBox="1"/>
          <p:nvPr/>
        </p:nvSpPr>
        <p:spPr>
          <a:xfrm rot="19311110">
            <a:off x="2497218" y="2055492"/>
            <a:ext cx="2254124" cy="369332"/>
          </a:xfrm>
          <a:prstGeom prst="rect">
            <a:avLst/>
          </a:prstGeom>
          <a:noFill/>
        </p:spPr>
        <p:txBody>
          <a:bodyPr wrap="square" rtlCol="0">
            <a:spAutoFit/>
          </a:bodyPr>
          <a:lstStyle/>
          <a:p>
            <a:r>
              <a:rPr lang="en-US" i="1" dirty="0"/>
              <a:t>Chronical toxicity</a:t>
            </a:r>
            <a:endParaRPr lang="en-CA" i="1" dirty="0"/>
          </a:p>
        </p:txBody>
      </p:sp>
      <p:sp>
        <p:nvSpPr>
          <p:cNvPr id="24" name="Freeform: Shape 23">
            <a:extLst>
              <a:ext uri="{FF2B5EF4-FFF2-40B4-BE49-F238E27FC236}">
                <a16:creationId xmlns:a16="http://schemas.microsoft.com/office/drawing/2014/main" id="{63A3BE56-C181-CF6F-99E0-84D8BA943EF3}"/>
              </a:ext>
            </a:extLst>
          </p:cNvPr>
          <p:cNvSpPr/>
          <p:nvPr/>
        </p:nvSpPr>
        <p:spPr>
          <a:xfrm>
            <a:off x="391465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5" name="TextBox 24">
            <a:extLst>
              <a:ext uri="{FF2B5EF4-FFF2-40B4-BE49-F238E27FC236}">
                <a16:creationId xmlns:a16="http://schemas.microsoft.com/office/drawing/2014/main" id="{F466E8F5-A5C4-B9C6-CD12-9DF5B5D67FF3}"/>
              </a:ext>
            </a:extLst>
          </p:cNvPr>
          <p:cNvSpPr txBox="1"/>
          <p:nvPr/>
        </p:nvSpPr>
        <p:spPr>
          <a:xfrm rot="19311110">
            <a:off x="3910043" y="2024494"/>
            <a:ext cx="2376365" cy="369332"/>
          </a:xfrm>
          <a:prstGeom prst="rect">
            <a:avLst/>
          </a:prstGeom>
          <a:noFill/>
        </p:spPr>
        <p:txBody>
          <a:bodyPr wrap="square" rtlCol="0">
            <a:spAutoFit/>
          </a:bodyPr>
          <a:lstStyle/>
          <a:p>
            <a:r>
              <a:rPr lang="en-US" i="1" dirty="0"/>
              <a:t>Clinical Trials Phase I </a:t>
            </a:r>
            <a:endParaRPr lang="en-CA" i="1" dirty="0"/>
          </a:p>
        </p:txBody>
      </p:sp>
      <p:sp>
        <p:nvSpPr>
          <p:cNvPr id="26" name="Freeform: Shape 25">
            <a:extLst>
              <a:ext uri="{FF2B5EF4-FFF2-40B4-BE49-F238E27FC236}">
                <a16:creationId xmlns:a16="http://schemas.microsoft.com/office/drawing/2014/main" id="{3E120897-3897-FFD3-85CF-90AF350AE38A}"/>
              </a:ext>
            </a:extLst>
          </p:cNvPr>
          <p:cNvSpPr/>
          <p:nvPr/>
        </p:nvSpPr>
        <p:spPr>
          <a:xfrm>
            <a:off x="4534130"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7" name="TextBox 26">
            <a:extLst>
              <a:ext uri="{FF2B5EF4-FFF2-40B4-BE49-F238E27FC236}">
                <a16:creationId xmlns:a16="http://schemas.microsoft.com/office/drawing/2014/main" id="{935FB73C-6196-1965-EBEA-D7275D2C9047}"/>
              </a:ext>
            </a:extLst>
          </p:cNvPr>
          <p:cNvSpPr txBox="1"/>
          <p:nvPr/>
        </p:nvSpPr>
        <p:spPr>
          <a:xfrm rot="19311110">
            <a:off x="4526969" y="2031251"/>
            <a:ext cx="2376365" cy="369332"/>
          </a:xfrm>
          <a:prstGeom prst="rect">
            <a:avLst/>
          </a:prstGeom>
          <a:noFill/>
        </p:spPr>
        <p:txBody>
          <a:bodyPr wrap="square" rtlCol="0">
            <a:spAutoFit/>
          </a:bodyPr>
          <a:lstStyle/>
          <a:p>
            <a:r>
              <a:rPr lang="en-US" i="1" dirty="0"/>
              <a:t>Phase II</a:t>
            </a:r>
            <a:endParaRPr lang="en-CA" i="1" dirty="0"/>
          </a:p>
        </p:txBody>
      </p:sp>
      <p:sp>
        <p:nvSpPr>
          <p:cNvPr id="28" name="Freeform: Shape 27">
            <a:extLst>
              <a:ext uri="{FF2B5EF4-FFF2-40B4-BE49-F238E27FC236}">
                <a16:creationId xmlns:a16="http://schemas.microsoft.com/office/drawing/2014/main" id="{09DBDEB4-01B0-F3D4-D30C-7CC9B5591268}"/>
              </a:ext>
            </a:extLst>
          </p:cNvPr>
          <p:cNvSpPr/>
          <p:nvPr/>
        </p:nvSpPr>
        <p:spPr>
          <a:xfrm>
            <a:off x="5036319"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9" name="TextBox 28">
            <a:extLst>
              <a:ext uri="{FF2B5EF4-FFF2-40B4-BE49-F238E27FC236}">
                <a16:creationId xmlns:a16="http://schemas.microsoft.com/office/drawing/2014/main" id="{7C98DB8A-048D-7F3B-4CE2-41255F80FE14}"/>
              </a:ext>
            </a:extLst>
          </p:cNvPr>
          <p:cNvSpPr txBox="1"/>
          <p:nvPr/>
        </p:nvSpPr>
        <p:spPr>
          <a:xfrm rot="19311110">
            <a:off x="5063697" y="2093245"/>
            <a:ext cx="2376365" cy="369332"/>
          </a:xfrm>
          <a:prstGeom prst="rect">
            <a:avLst/>
          </a:prstGeom>
          <a:noFill/>
        </p:spPr>
        <p:txBody>
          <a:bodyPr wrap="square" rtlCol="0">
            <a:spAutoFit/>
          </a:bodyPr>
          <a:lstStyle/>
          <a:p>
            <a:r>
              <a:rPr lang="en-US" i="1" dirty="0"/>
              <a:t>Phase III</a:t>
            </a:r>
            <a:endParaRPr lang="en-CA" i="1" dirty="0"/>
          </a:p>
        </p:txBody>
      </p:sp>
      <p:sp>
        <p:nvSpPr>
          <p:cNvPr id="34" name="Freeform: Shape 33">
            <a:extLst>
              <a:ext uri="{FF2B5EF4-FFF2-40B4-BE49-F238E27FC236}">
                <a16:creationId xmlns:a16="http://schemas.microsoft.com/office/drawing/2014/main" id="{5AC0BEB9-1A64-CB16-84BE-5C49C0808566}"/>
              </a:ext>
            </a:extLst>
          </p:cNvPr>
          <p:cNvSpPr/>
          <p:nvPr/>
        </p:nvSpPr>
        <p:spPr>
          <a:xfrm>
            <a:off x="6078882" y="2924243"/>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5" name="Freeform: Shape 34">
            <a:extLst>
              <a:ext uri="{FF2B5EF4-FFF2-40B4-BE49-F238E27FC236}">
                <a16:creationId xmlns:a16="http://schemas.microsoft.com/office/drawing/2014/main" id="{36193817-BAF9-AAFC-03F5-10DA106B24B2}"/>
              </a:ext>
            </a:extLst>
          </p:cNvPr>
          <p:cNvSpPr/>
          <p:nvPr/>
        </p:nvSpPr>
        <p:spPr>
          <a:xfrm>
            <a:off x="6726986" y="2930999"/>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6" name="Freeform: Shape 35">
            <a:extLst>
              <a:ext uri="{FF2B5EF4-FFF2-40B4-BE49-F238E27FC236}">
                <a16:creationId xmlns:a16="http://schemas.microsoft.com/office/drawing/2014/main" id="{E1BC9A6D-9F89-E969-1C63-993F612832FB}"/>
              </a:ext>
            </a:extLst>
          </p:cNvPr>
          <p:cNvSpPr/>
          <p:nvPr/>
        </p:nvSpPr>
        <p:spPr>
          <a:xfrm>
            <a:off x="7229175" y="2944511"/>
            <a:ext cx="291830" cy="1342415"/>
          </a:xfrm>
          <a:custGeom>
            <a:avLst/>
            <a:gdLst>
              <a:gd name="connsiteX0" fmla="*/ 0 w 525293"/>
              <a:gd name="connsiteY0" fmla="*/ 2130358 h 2130358"/>
              <a:gd name="connsiteX1" fmla="*/ 29183 w 525293"/>
              <a:gd name="connsiteY1" fmla="*/ 749030 h 2130358"/>
              <a:gd name="connsiteX2" fmla="*/ 525293 w 525293"/>
              <a:gd name="connsiteY2" fmla="*/ 0 h 2130358"/>
            </a:gdLst>
            <a:ahLst/>
            <a:cxnLst>
              <a:cxn ang="0">
                <a:pos x="connsiteX0" y="connsiteY0"/>
              </a:cxn>
              <a:cxn ang="0">
                <a:pos x="connsiteX1" y="connsiteY1"/>
              </a:cxn>
              <a:cxn ang="0">
                <a:pos x="connsiteX2" y="connsiteY2"/>
              </a:cxn>
            </a:cxnLst>
            <a:rect l="l" t="t" r="r" b="b"/>
            <a:pathLst>
              <a:path w="525293" h="2130358">
                <a:moveTo>
                  <a:pt x="0" y="2130358"/>
                </a:moveTo>
                <a:lnTo>
                  <a:pt x="29183" y="749030"/>
                </a:lnTo>
                <a:lnTo>
                  <a:pt x="525293" y="0"/>
                </a:lnTo>
              </a:path>
            </a:pathLst>
          </a:cu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7" name="TextBox 36">
            <a:extLst>
              <a:ext uri="{FF2B5EF4-FFF2-40B4-BE49-F238E27FC236}">
                <a16:creationId xmlns:a16="http://schemas.microsoft.com/office/drawing/2014/main" id="{1E137876-2C58-49C5-F15B-8AA34EEC3259}"/>
              </a:ext>
            </a:extLst>
          </p:cNvPr>
          <p:cNvSpPr txBox="1"/>
          <p:nvPr/>
        </p:nvSpPr>
        <p:spPr>
          <a:xfrm rot="19311110">
            <a:off x="6112171" y="2024493"/>
            <a:ext cx="2376365" cy="369332"/>
          </a:xfrm>
          <a:prstGeom prst="rect">
            <a:avLst/>
          </a:prstGeom>
          <a:noFill/>
        </p:spPr>
        <p:txBody>
          <a:bodyPr wrap="square" rtlCol="0">
            <a:spAutoFit/>
          </a:bodyPr>
          <a:lstStyle/>
          <a:p>
            <a:r>
              <a:rPr lang="en-US" b="1" i="1" dirty="0">
                <a:solidFill>
                  <a:srgbClr val="C00000"/>
                </a:solidFill>
              </a:rPr>
              <a:t>Registration</a:t>
            </a:r>
            <a:r>
              <a:rPr lang="en-US" i="1" dirty="0"/>
              <a:t> </a:t>
            </a:r>
            <a:endParaRPr lang="en-CA" i="1" dirty="0"/>
          </a:p>
        </p:txBody>
      </p:sp>
      <p:sp>
        <p:nvSpPr>
          <p:cNvPr id="38" name="TextBox 37">
            <a:extLst>
              <a:ext uri="{FF2B5EF4-FFF2-40B4-BE49-F238E27FC236}">
                <a16:creationId xmlns:a16="http://schemas.microsoft.com/office/drawing/2014/main" id="{3D0903CE-17D0-5112-E9BE-110A92FF5417}"/>
              </a:ext>
            </a:extLst>
          </p:cNvPr>
          <p:cNvSpPr txBox="1"/>
          <p:nvPr/>
        </p:nvSpPr>
        <p:spPr>
          <a:xfrm rot="19311110">
            <a:off x="6707524" y="2015750"/>
            <a:ext cx="2376365" cy="369332"/>
          </a:xfrm>
          <a:prstGeom prst="rect">
            <a:avLst/>
          </a:prstGeom>
          <a:noFill/>
        </p:spPr>
        <p:txBody>
          <a:bodyPr wrap="square" rtlCol="0">
            <a:spAutoFit/>
          </a:bodyPr>
          <a:lstStyle/>
          <a:p>
            <a:r>
              <a:rPr lang="en-US" b="1" i="1" dirty="0">
                <a:solidFill>
                  <a:srgbClr val="C00000"/>
                </a:solidFill>
              </a:rPr>
              <a:t>Price</a:t>
            </a:r>
            <a:endParaRPr lang="en-CA" b="1" i="1" dirty="0">
              <a:solidFill>
                <a:srgbClr val="C00000"/>
              </a:solidFill>
            </a:endParaRPr>
          </a:p>
        </p:txBody>
      </p:sp>
      <p:sp>
        <p:nvSpPr>
          <p:cNvPr id="39" name="TextBox 38">
            <a:extLst>
              <a:ext uri="{FF2B5EF4-FFF2-40B4-BE49-F238E27FC236}">
                <a16:creationId xmlns:a16="http://schemas.microsoft.com/office/drawing/2014/main" id="{15F78C35-47EB-1871-D53C-DB6BA89727AD}"/>
              </a:ext>
            </a:extLst>
          </p:cNvPr>
          <p:cNvSpPr txBox="1"/>
          <p:nvPr/>
        </p:nvSpPr>
        <p:spPr>
          <a:xfrm rot="19311110">
            <a:off x="7254972" y="2048738"/>
            <a:ext cx="2376365" cy="369332"/>
          </a:xfrm>
          <a:prstGeom prst="rect">
            <a:avLst/>
          </a:prstGeom>
          <a:noFill/>
        </p:spPr>
        <p:txBody>
          <a:bodyPr wrap="square" rtlCol="0">
            <a:spAutoFit/>
          </a:bodyPr>
          <a:lstStyle/>
          <a:p>
            <a:r>
              <a:rPr lang="en-US" b="1" i="1" dirty="0">
                <a:solidFill>
                  <a:srgbClr val="C00000"/>
                </a:solidFill>
              </a:rPr>
              <a:t>Drug</a:t>
            </a:r>
            <a:r>
              <a:rPr lang="en-US" b="1" i="1" dirty="0"/>
              <a:t> </a:t>
            </a:r>
            <a:r>
              <a:rPr lang="en-US" b="1" i="1" dirty="0">
                <a:solidFill>
                  <a:srgbClr val="C00000"/>
                </a:solidFill>
              </a:rPr>
              <a:t>surveillance</a:t>
            </a:r>
            <a:endParaRPr lang="en-CA" b="1" i="1" dirty="0">
              <a:solidFill>
                <a:srgbClr val="C00000"/>
              </a:solidFill>
            </a:endParaRPr>
          </a:p>
        </p:txBody>
      </p:sp>
      <p:sp>
        <p:nvSpPr>
          <p:cNvPr id="41" name="Left Brace 40">
            <a:extLst>
              <a:ext uri="{FF2B5EF4-FFF2-40B4-BE49-F238E27FC236}">
                <a16:creationId xmlns:a16="http://schemas.microsoft.com/office/drawing/2014/main" id="{C9C38911-99EB-0761-324E-BCA16C981B7C}"/>
              </a:ext>
            </a:extLst>
          </p:cNvPr>
          <p:cNvSpPr/>
          <p:nvPr/>
        </p:nvSpPr>
        <p:spPr>
          <a:xfrm rot="16200000">
            <a:off x="2794219" y="2420952"/>
            <a:ext cx="316239" cy="4250977"/>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2" name="TextBox 41">
            <a:extLst>
              <a:ext uri="{FF2B5EF4-FFF2-40B4-BE49-F238E27FC236}">
                <a16:creationId xmlns:a16="http://schemas.microsoft.com/office/drawing/2014/main" id="{8C15D036-F885-675B-8E05-AE28D208BAA5}"/>
              </a:ext>
            </a:extLst>
          </p:cNvPr>
          <p:cNvSpPr txBox="1"/>
          <p:nvPr/>
        </p:nvSpPr>
        <p:spPr>
          <a:xfrm>
            <a:off x="2378623" y="4622775"/>
            <a:ext cx="1147430" cy="369332"/>
          </a:xfrm>
          <a:prstGeom prst="rect">
            <a:avLst/>
          </a:prstGeom>
          <a:noFill/>
        </p:spPr>
        <p:txBody>
          <a:bodyPr wrap="none" rtlCol="0">
            <a:spAutoFit/>
          </a:bodyPr>
          <a:lstStyle/>
          <a:p>
            <a:r>
              <a:rPr lang="en-US" dirty="0"/>
              <a:t>Research</a:t>
            </a:r>
            <a:endParaRPr lang="en-CA" dirty="0"/>
          </a:p>
        </p:txBody>
      </p:sp>
      <p:sp>
        <p:nvSpPr>
          <p:cNvPr id="43" name="Left Brace 42">
            <a:extLst>
              <a:ext uri="{FF2B5EF4-FFF2-40B4-BE49-F238E27FC236}">
                <a16:creationId xmlns:a16="http://schemas.microsoft.com/office/drawing/2014/main" id="{061CB162-7545-20BC-1C89-DF19EF42D295}"/>
              </a:ext>
            </a:extLst>
          </p:cNvPr>
          <p:cNvSpPr/>
          <p:nvPr/>
        </p:nvSpPr>
        <p:spPr>
          <a:xfrm rot="16200000">
            <a:off x="6488098" y="3634863"/>
            <a:ext cx="247227" cy="1727113"/>
          </a:xfrm>
          <a:prstGeom prst="lef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44" name="TextBox 43">
            <a:extLst>
              <a:ext uri="{FF2B5EF4-FFF2-40B4-BE49-F238E27FC236}">
                <a16:creationId xmlns:a16="http://schemas.microsoft.com/office/drawing/2014/main" id="{1DDE9A90-0F97-577B-4C4F-8B4185F6C237}"/>
              </a:ext>
            </a:extLst>
          </p:cNvPr>
          <p:cNvSpPr txBox="1"/>
          <p:nvPr/>
        </p:nvSpPr>
        <p:spPr>
          <a:xfrm>
            <a:off x="5824643" y="4549903"/>
            <a:ext cx="1696362" cy="369332"/>
          </a:xfrm>
          <a:prstGeom prst="rect">
            <a:avLst/>
          </a:prstGeom>
          <a:noFill/>
        </p:spPr>
        <p:txBody>
          <a:bodyPr wrap="none" rtlCol="0">
            <a:spAutoFit/>
          </a:bodyPr>
          <a:lstStyle/>
          <a:p>
            <a:r>
              <a:rPr lang="en-US" dirty="0"/>
              <a:t>Administration</a:t>
            </a:r>
            <a:endParaRPr lang="en-CA" dirty="0"/>
          </a:p>
        </p:txBody>
      </p:sp>
      <p:sp>
        <p:nvSpPr>
          <p:cNvPr id="45" name="Oval 44">
            <a:extLst>
              <a:ext uri="{FF2B5EF4-FFF2-40B4-BE49-F238E27FC236}">
                <a16:creationId xmlns:a16="http://schemas.microsoft.com/office/drawing/2014/main" id="{B3E1A353-3CA9-4E17-9487-7E58A5348961}"/>
              </a:ext>
            </a:extLst>
          </p:cNvPr>
          <p:cNvSpPr/>
          <p:nvPr/>
        </p:nvSpPr>
        <p:spPr>
          <a:xfrm>
            <a:off x="5203406" y="4198475"/>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Box 45">
            <a:extLst>
              <a:ext uri="{FF2B5EF4-FFF2-40B4-BE49-F238E27FC236}">
                <a16:creationId xmlns:a16="http://schemas.microsoft.com/office/drawing/2014/main" id="{6E8CFEEE-D989-D778-7583-B224E03A6A4E}"/>
              </a:ext>
            </a:extLst>
          </p:cNvPr>
          <p:cNvSpPr txBox="1"/>
          <p:nvPr/>
        </p:nvSpPr>
        <p:spPr>
          <a:xfrm>
            <a:off x="11473534" y="4361774"/>
            <a:ext cx="718466" cy="369332"/>
          </a:xfrm>
          <a:prstGeom prst="rect">
            <a:avLst/>
          </a:prstGeom>
          <a:noFill/>
        </p:spPr>
        <p:txBody>
          <a:bodyPr wrap="none" rtlCol="0">
            <a:spAutoFit/>
          </a:bodyPr>
          <a:lstStyle/>
          <a:p>
            <a:r>
              <a:rPr lang="en-US" b="1" i="1" dirty="0"/>
              <a:t>Time</a:t>
            </a:r>
            <a:endParaRPr lang="en-CA" b="1" i="1" dirty="0"/>
          </a:p>
        </p:txBody>
      </p:sp>
      <p:sp>
        <p:nvSpPr>
          <p:cNvPr id="47" name="TextBox 46">
            <a:extLst>
              <a:ext uri="{FF2B5EF4-FFF2-40B4-BE49-F238E27FC236}">
                <a16:creationId xmlns:a16="http://schemas.microsoft.com/office/drawing/2014/main" id="{782056C7-4DB3-59D1-A50F-9044D27FAF9C}"/>
              </a:ext>
            </a:extLst>
          </p:cNvPr>
          <p:cNvSpPr txBox="1"/>
          <p:nvPr/>
        </p:nvSpPr>
        <p:spPr>
          <a:xfrm rot="3757880">
            <a:off x="5121490" y="4586210"/>
            <a:ext cx="1016432" cy="369332"/>
          </a:xfrm>
          <a:prstGeom prst="rect">
            <a:avLst/>
          </a:prstGeom>
          <a:noFill/>
        </p:spPr>
        <p:txBody>
          <a:bodyPr wrap="none" rtlCol="0">
            <a:spAutoFit/>
          </a:bodyPr>
          <a:lstStyle/>
          <a:p>
            <a:r>
              <a:rPr lang="en-US" dirty="0"/>
              <a:t>10 years</a:t>
            </a:r>
            <a:endParaRPr lang="en-CA" dirty="0"/>
          </a:p>
        </p:txBody>
      </p:sp>
      <p:sp>
        <p:nvSpPr>
          <p:cNvPr id="48" name="Oval 47">
            <a:extLst>
              <a:ext uri="{FF2B5EF4-FFF2-40B4-BE49-F238E27FC236}">
                <a16:creationId xmlns:a16="http://schemas.microsoft.com/office/drawing/2014/main" id="{36E8A600-FE23-DBC2-9AE0-2AF4058AD83A}"/>
              </a:ext>
            </a:extLst>
          </p:cNvPr>
          <p:cNvSpPr/>
          <p:nvPr/>
        </p:nvSpPr>
        <p:spPr>
          <a:xfrm>
            <a:off x="7574480" y="4166331"/>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TextBox 48">
            <a:extLst>
              <a:ext uri="{FF2B5EF4-FFF2-40B4-BE49-F238E27FC236}">
                <a16:creationId xmlns:a16="http://schemas.microsoft.com/office/drawing/2014/main" id="{C3B30DBB-A3CD-7211-6826-5DB6447E462B}"/>
              </a:ext>
            </a:extLst>
          </p:cNvPr>
          <p:cNvSpPr txBox="1"/>
          <p:nvPr/>
        </p:nvSpPr>
        <p:spPr>
          <a:xfrm rot="3757880">
            <a:off x="9535700" y="4606207"/>
            <a:ext cx="1016432" cy="369332"/>
          </a:xfrm>
          <a:prstGeom prst="rect">
            <a:avLst/>
          </a:prstGeom>
          <a:noFill/>
        </p:spPr>
        <p:txBody>
          <a:bodyPr wrap="none" rtlCol="0">
            <a:spAutoFit/>
          </a:bodyPr>
          <a:lstStyle/>
          <a:p>
            <a:r>
              <a:rPr lang="en-US" dirty="0"/>
              <a:t>20 years</a:t>
            </a:r>
            <a:endParaRPr lang="en-CA" dirty="0"/>
          </a:p>
        </p:txBody>
      </p:sp>
      <p:sp>
        <p:nvSpPr>
          <p:cNvPr id="50" name="Oval 49">
            <a:extLst>
              <a:ext uri="{FF2B5EF4-FFF2-40B4-BE49-F238E27FC236}">
                <a16:creationId xmlns:a16="http://schemas.microsoft.com/office/drawing/2014/main" id="{68504231-5F9D-2967-18A2-E8D48DFEC4F1}"/>
              </a:ext>
            </a:extLst>
          </p:cNvPr>
          <p:cNvSpPr/>
          <p:nvPr/>
        </p:nvSpPr>
        <p:spPr>
          <a:xfrm>
            <a:off x="9667951" y="4182826"/>
            <a:ext cx="175978" cy="176901"/>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TextBox 50">
            <a:extLst>
              <a:ext uri="{FF2B5EF4-FFF2-40B4-BE49-F238E27FC236}">
                <a16:creationId xmlns:a16="http://schemas.microsoft.com/office/drawing/2014/main" id="{F3697740-6FB7-3C27-7135-59E3CB8EF847}"/>
              </a:ext>
            </a:extLst>
          </p:cNvPr>
          <p:cNvSpPr txBox="1"/>
          <p:nvPr/>
        </p:nvSpPr>
        <p:spPr>
          <a:xfrm rot="3757880">
            <a:off x="7562819" y="4702432"/>
            <a:ext cx="1016432" cy="369332"/>
          </a:xfrm>
          <a:prstGeom prst="rect">
            <a:avLst/>
          </a:prstGeom>
          <a:noFill/>
        </p:spPr>
        <p:txBody>
          <a:bodyPr wrap="none" rtlCol="0">
            <a:spAutoFit/>
          </a:bodyPr>
          <a:lstStyle/>
          <a:p>
            <a:r>
              <a:rPr lang="en-US" dirty="0"/>
              <a:t>15 years</a:t>
            </a:r>
            <a:endParaRPr lang="en-CA" dirty="0"/>
          </a:p>
        </p:txBody>
      </p:sp>
      <p:sp>
        <p:nvSpPr>
          <p:cNvPr id="52" name="TextBox 51">
            <a:extLst>
              <a:ext uri="{FF2B5EF4-FFF2-40B4-BE49-F238E27FC236}">
                <a16:creationId xmlns:a16="http://schemas.microsoft.com/office/drawing/2014/main" id="{F09E4FC3-CE49-318B-1685-A9FF58A2CD5D}"/>
              </a:ext>
            </a:extLst>
          </p:cNvPr>
          <p:cNvSpPr txBox="1"/>
          <p:nvPr/>
        </p:nvSpPr>
        <p:spPr>
          <a:xfrm>
            <a:off x="9537618" y="3757188"/>
            <a:ext cx="1652825" cy="369332"/>
          </a:xfrm>
          <a:prstGeom prst="rect">
            <a:avLst/>
          </a:prstGeom>
          <a:noFill/>
        </p:spPr>
        <p:txBody>
          <a:bodyPr wrap="none" rtlCol="0">
            <a:spAutoFit/>
          </a:bodyPr>
          <a:lstStyle/>
          <a:p>
            <a:r>
              <a:rPr lang="en-US" i="1" dirty="0"/>
              <a:t>Patent Expires</a:t>
            </a:r>
            <a:endParaRPr lang="en-CA" i="1" dirty="0"/>
          </a:p>
        </p:txBody>
      </p:sp>
      <p:sp>
        <p:nvSpPr>
          <p:cNvPr id="4" name="TextBox 3">
            <a:extLst>
              <a:ext uri="{FF2B5EF4-FFF2-40B4-BE49-F238E27FC236}">
                <a16:creationId xmlns:a16="http://schemas.microsoft.com/office/drawing/2014/main" id="{F3A299D6-F89D-3174-F1EC-21494B8C0419}"/>
              </a:ext>
            </a:extLst>
          </p:cNvPr>
          <p:cNvSpPr txBox="1"/>
          <p:nvPr/>
        </p:nvSpPr>
        <p:spPr>
          <a:xfrm>
            <a:off x="6847233" y="1409164"/>
            <a:ext cx="2034916" cy="646331"/>
          </a:xfrm>
          <a:prstGeom prst="rect">
            <a:avLst/>
          </a:prstGeom>
          <a:noFill/>
          <a:ln>
            <a:noFill/>
          </a:ln>
        </p:spPr>
        <p:txBody>
          <a:bodyPr wrap="none" rtlCol="0">
            <a:spAutoFit/>
          </a:bodyPr>
          <a:lstStyle/>
          <a:p>
            <a:r>
              <a:rPr lang="en-US" b="1" dirty="0">
                <a:solidFill>
                  <a:srgbClr val="C00000"/>
                </a:solidFill>
              </a:rPr>
              <a:t>Economists Work</a:t>
            </a:r>
            <a:br>
              <a:rPr lang="en-US" b="1" dirty="0">
                <a:solidFill>
                  <a:srgbClr val="C00000"/>
                </a:solidFill>
              </a:rPr>
            </a:br>
            <a:r>
              <a:rPr lang="en-US" b="1" dirty="0">
                <a:solidFill>
                  <a:srgbClr val="C00000"/>
                </a:solidFill>
              </a:rPr>
              <a:t>Here!</a:t>
            </a:r>
            <a:endParaRPr lang="en-CA" b="1" dirty="0">
              <a:solidFill>
                <a:srgbClr val="C00000"/>
              </a:solidFill>
            </a:endParaRPr>
          </a:p>
        </p:txBody>
      </p:sp>
    </p:spTree>
    <p:extLst>
      <p:ext uri="{BB962C8B-B14F-4D97-AF65-F5344CB8AC3E}">
        <p14:creationId xmlns:p14="http://schemas.microsoft.com/office/powerpoint/2010/main" val="322860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67433-8182-B9CA-ADEA-484D44AE74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88898E-D6EA-399A-DCA1-29B6D08F58EC}"/>
              </a:ext>
            </a:extLst>
          </p:cNvPr>
          <p:cNvSpPr>
            <a:spLocks noGrp="1"/>
          </p:cNvSpPr>
          <p:nvPr>
            <p:ph type="title"/>
          </p:nvPr>
        </p:nvSpPr>
        <p:spPr>
          <a:xfrm>
            <a:off x="321582" y="240257"/>
            <a:ext cx="11870418" cy="1117092"/>
          </a:xfrm>
        </p:spPr>
        <p:txBody>
          <a:bodyPr/>
          <a:lstStyle/>
          <a:p>
            <a:r>
              <a:rPr lang="en-US" sz="4800" dirty="0"/>
              <a:t>Who does Economic Evaluation?</a:t>
            </a:r>
            <a:endParaRPr lang="en-CA" sz="4800" dirty="0"/>
          </a:p>
        </p:txBody>
      </p:sp>
      <p:sp>
        <p:nvSpPr>
          <p:cNvPr id="3" name="Content Placeholder 2">
            <a:extLst>
              <a:ext uri="{FF2B5EF4-FFF2-40B4-BE49-F238E27FC236}">
                <a16:creationId xmlns:a16="http://schemas.microsoft.com/office/drawing/2014/main" id="{228C76CF-5EED-00A9-BE6C-5120AE4A8CE2}"/>
              </a:ext>
            </a:extLst>
          </p:cNvPr>
          <p:cNvSpPr>
            <a:spLocks noGrp="1"/>
          </p:cNvSpPr>
          <p:nvPr>
            <p:ph idx="1"/>
          </p:nvPr>
        </p:nvSpPr>
        <p:spPr>
          <a:xfrm>
            <a:off x="321582" y="1197851"/>
            <a:ext cx="10506991" cy="4360737"/>
          </a:xfrm>
        </p:spPr>
        <p:txBody>
          <a:bodyPr>
            <a:normAutofit/>
          </a:bodyPr>
          <a:lstStyle/>
          <a:p>
            <a:pPr marL="342900" indent="-342900">
              <a:buFont typeface="Wingdings" panose="05000000000000000000" pitchFamily="2" charset="2"/>
              <a:buChar char="§"/>
            </a:pPr>
            <a:r>
              <a:rPr lang="en-US" dirty="0"/>
              <a:t>Economic Evaluation is often used to tell a story of if a drug is </a:t>
            </a:r>
            <a:r>
              <a:rPr lang="en-US" b="1" dirty="0"/>
              <a:t>cost effective</a:t>
            </a:r>
            <a:r>
              <a:rPr lang="en-US" dirty="0"/>
              <a:t>. Meaning: “does this new drug more effective and/or cheaper than current treatments on the market”.</a:t>
            </a:r>
          </a:p>
          <a:p>
            <a:pPr marL="342900" indent="-342900">
              <a:buFont typeface="Wingdings" panose="05000000000000000000" pitchFamily="2" charset="2"/>
              <a:buChar char="§"/>
            </a:pPr>
            <a:r>
              <a:rPr lang="en-CA" dirty="0"/>
              <a:t>Often Drug R&amp;D firms will submit Economic Evaluations to governments or 3</a:t>
            </a:r>
            <a:r>
              <a:rPr lang="en-CA" baseline="30000" dirty="0"/>
              <a:t>rd</a:t>
            </a:r>
            <a:r>
              <a:rPr lang="en-CA" dirty="0"/>
              <a:t> party payers (i.e. insurance companies) when applying for funding.</a:t>
            </a:r>
          </a:p>
          <a:p>
            <a:pPr marL="342900" indent="-342900">
              <a:buFont typeface="Wingdings" panose="05000000000000000000" pitchFamily="2" charset="2"/>
              <a:buChar char="§"/>
            </a:pPr>
            <a:r>
              <a:rPr lang="en-CA" dirty="0"/>
              <a:t>Because of this “marketing” aspect of economic evaluation assessors must carefully review submitted results and model structures to see if their assessment is accurate.</a:t>
            </a:r>
          </a:p>
          <a:p>
            <a:pPr marL="342900" indent="-342900">
              <a:buFont typeface="Wingdings" panose="05000000000000000000" pitchFamily="2" charset="2"/>
              <a:buChar char="§"/>
            </a:pPr>
            <a:r>
              <a:rPr lang="en-CA" dirty="0"/>
              <a:t>Still, a large majority of economic evaluation work is done by independent researchers.</a:t>
            </a:r>
            <a:endParaRPr lang="en-US" dirty="0"/>
          </a:p>
        </p:txBody>
      </p:sp>
    </p:spTree>
    <p:extLst>
      <p:ext uri="{BB962C8B-B14F-4D97-AF65-F5344CB8AC3E}">
        <p14:creationId xmlns:p14="http://schemas.microsoft.com/office/powerpoint/2010/main" val="152780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98056-0EB6-1F9E-7D25-800D155C5359}"/>
              </a:ext>
            </a:extLst>
          </p:cNvPr>
          <p:cNvSpPr>
            <a:spLocks noGrp="1"/>
          </p:cNvSpPr>
          <p:nvPr>
            <p:ph type="title"/>
          </p:nvPr>
        </p:nvSpPr>
        <p:spPr/>
        <p:txBody>
          <a:bodyPr/>
          <a:lstStyle/>
          <a:p>
            <a:r>
              <a:rPr lang="en-CA" dirty="0"/>
              <a:t>An Overview of Model Structures: Decision Trees and Markov Models.</a:t>
            </a:r>
            <a:endParaRPr lang="en-US" dirty="0"/>
          </a:p>
        </p:txBody>
      </p:sp>
      <p:sp>
        <p:nvSpPr>
          <p:cNvPr id="3" name="Text Placeholder 2">
            <a:extLst>
              <a:ext uri="{FF2B5EF4-FFF2-40B4-BE49-F238E27FC236}">
                <a16:creationId xmlns:a16="http://schemas.microsoft.com/office/drawing/2014/main" id="{50B3E2BB-99CF-7281-13AC-89D064C1BBDD}"/>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157542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B3AB9-9FB9-8445-5223-913CE9666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E227F-65E0-AEF5-62B6-8DD56D0F146F}"/>
              </a:ext>
            </a:extLst>
          </p:cNvPr>
          <p:cNvSpPr>
            <a:spLocks noGrp="1"/>
          </p:cNvSpPr>
          <p:nvPr>
            <p:ph type="title"/>
          </p:nvPr>
        </p:nvSpPr>
        <p:spPr>
          <a:xfrm>
            <a:off x="482600" y="597408"/>
            <a:ext cx="10634472" cy="1117092"/>
          </a:xfrm>
        </p:spPr>
        <p:txBody>
          <a:bodyPr/>
          <a:lstStyle/>
          <a:p>
            <a:r>
              <a:rPr lang="en-US" sz="4800" dirty="0"/>
              <a:t>Model Structures</a:t>
            </a:r>
            <a:endParaRPr lang="en-CA" sz="4800" dirty="0"/>
          </a:p>
        </p:txBody>
      </p:sp>
      <p:sp>
        <p:nvSpPr>
          <p:cNvPr id="3" name="Content Placeholder 2">
            <a:extLst>
              <a:ext uri="{FF2B5EF4-FFF2-40B4-BE49-F238E27FC236}">
                <a16:creationId xmlns:a16="http://schemas.microsoft.com/office/drawing/2014/main" id="{9129EAC9-DEEC-065B-393F-46D8889C9554}"/>
              </a:ext>
            </a:extLst>
          </p:cNvPr>
          <p:cNvSpPr>
            <a:spLocks noGrp="1"/>
          </p:cNvSpPr>
          <p:nvPr>
            <p:ph idx="1"/>
          </p:nvPr>
        </p:nvSpPr>
        <p:spPr>
          <a:xfrm>
            <a:off x="482600" y="1612359"/>
            <a:ext cx="10795000" cy="4548296"/>
          </a:xfrm>
        </p:spPr>
        <p:txBody>
          <a:bodyPr>
            <a:normAutofit lnSpcReduction="10000"/>
          </a:bodyPr>
          <a:lstStyle/>
          <a:p>
            <a:pPr marL="342900" indent="-342900">
              <a:buFont typeface="Wingdings" panose="05000000000000000000" pitchFamily="2" charset="2"/>
              <a:buChar char="§"/>
            </a:pPr>
            <a:r>
              <a:rPr lang="en-US" dirty="0"/>
              <a:t>To conduct an economic evaluation of a health intervention knowledge of the clinical pathway and risks faced by patients is required.</a:t>
            </a:r>
          </a:p>
          <a:p>
            <a:pPr marL="342900" indent="-342900">
              <a:buFont typeface="Wingdings" panose="05000000000000000000" pitchFamily="2" charset="2"/>
              <a:buChar char="§"/>
            </a:pPr>
            <a:r>
              <a:rPr lang="en-US" dirty="0"/>
              <a:t>There are two main model structures which will be analyzed here are:</a:t>
            </a:r>
            <a:endParaRPr lang="en-CA" dirty="0"/>
          </a:p>
          <a:p>
            <a:pPr marL="1143000" lvl="1" indent="-457200">
              <a:buFont typeface="+mj-lt"/>
              <a:buAutoNum type="arabicPeriod"/>
            </a:pPr>
            <a:r>
              <a:rPr lang="en-CA" dirty="0"/>
              <a:t>Decision Tree Models.</a:t>
            </a:r>
          </a:p>
          <a:p>
            <a:pPr marL="1143000" lvl="1" indent="-457200">
              <a:buFont typeface="+mj-lt"/>
              <a:buAutoNum type="arabicPeriod"/>
            </a:pPr>
            <a:r>
              <a:rPr lang="en-CA" dirty="0"/>
              <a:t>Cohort/Markov Models.</a:t>
            </a:r>
            <a:endParaRPr lang="en-US" dirty="0"/>
          </a:p>
          <a:p>
            <a:pPr marL="457200" indent="-457200">
              <a:buFont typeface="Wingdings" panose="05000000000000000000" pitchFamily="2" charset="2"/>
              <a:buChar char="§"/>
            </a:pPr>
            <a:r>
              <a:rPr lang="en-US" dirty="0"/>
              <a:t>The model centric approach, tells us about the timing and sequence that costs and benefits are realized. </a:t>
            </a:r>
          </a:p>
          <a:p>
            <a:pPr marL="457200" indent="-457200">
              <a:buFont typeface="Wingdings" panose="05000000000000000000" pitchFamily="2" charset="2"/>
              <a:buChar char="§"/>
            </a:pPr>
            <a:r>
              <a:rPr lang="en-US" dirty="0"/>
              <a:t>There are other model structures used in economic evaluation (such as </a:t>
            </a:r>
            <a:r>
              <a:rPr lang="en-US" b="1" dirty="0"/>
              <a:t>microsimulations</a:t>
            </a:r>
            <a:r>
              <a:rPr lang="en-US" dirty="0"/>
              <a:t>) but their discussion is beyond the scope of this course.</a:t>
            </a:r>
          </a:p>
          <a:p>
            <a:pPr marL="457200" indent="-457200">
              <a:buFont typeface="Wingdings" panose="05000000000000000000" pitchFamily="2" charset="2"/>
              <a:buChar char="§"/>
            </a:pPr>
            <a:r>
              <a:rPr lang="en-US" dirty="0"/>
              <a:t>NOTE: We will not discuss how to compute these models (this is saved for next class)</a:t>
            </a:r>
            <a:endParaRPr lang="en-CA" dirty="0"/>
          </a:p>
        </p:txBody>
      </p:sp>
    </p:spTree>
    <p:extLst>
      <p:ext uri="{BB962C8B-B14F-4D97-AF65-F5344CB8AC3E}">
        <p14:creationId xmlns:p14="http://schemas.microsoft.com/office/powerpoint/2010/main" val="2157492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89C7A-4643-F2A2-0598-7F9C4A1E928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AFEDC01-BDB0-58AD-3759-B7FBB3D53B67}"/>
              </a:ext>
            </a:extLst>
          </p:cNvPr>
          <p:cNvPicPr>
            <a:picLocks noChangeAspect="1"/>
          </p:cNvPicPr>
          <p:nvPr/>
        </p:nvPicPr>
        <p:blipFill>
          <a:blip r:embed="rId2"/>
          <a:stretch>
            <a:fillRect/>
          </a:stretch>
        </p:blipFill>
        <p:spPr>
          <a:xfrm>
            <a:off x="248567" y="1155954"/>
            <a:ext cx="5615924" cy="4845790"/>
          </a:xfrm>
          <a:prstGeom prst="rect">
            <a:avLst/>
          </a:prstGeom>
        </p:spPr>
      </p:pic>
      <p:sp>
        <p:nvSpPr>
          <p:cNvPr id="2" name="Title 1">
            <a:extLst>
              <a:ext uri="{FF2B5EF4-FFF2-40B4-BE49-F238E27FC236}">
                <a16:creationId xmlns:a16="http://schemas.microsoft.com/office/drawing/2014/main" id="{85DC94F3-FBA7-2DB9-7209-66449EBDFDFC}"/>
              </a:ext>
            </a:extLst>
          </p:cNvPr>
          <p:cNvSpPr>
            <a:spLocks noGrp="1"/>
          </p:cNvSpPr>
          <p:nvPr>
            <p:ph type="title"/>
          </p:nvPr>
        </p:nvSpPr>
        <p:spPr>
          <a:xfrm>
            <a:off x="362527" y="122541"/>
            <a:ext cx="10634472" cy="1117092"/>
          </a:xfrm>
        </p:spPr>
        <p:txBody>
          <a:bodyPr/>
          <a:lstStyle/>
          <a:p>
            <a:r>
              <a:rPr lang="en-US" sz="4800" dirty="0"/>
              <a:t>Decision Tree Models</a:t>
            </a:r>
            <a:endParaRPr lang="en-CA" sz="4800" dirty="0"/>
          </a:p>
        </p:txBody>
      </p:sp>
      <p:sp>
        <p:nvSpPr>
          <p:cNvPr id="3" name="Content Placeholder 2">
            <a:extLst>
              <a:ext uri="{FF2B5EF4-FFF2-40B4-BE49-F238E27FC236}">
                <a16:creationId xmlns:a16="http://schemas.microsoft.com/office/drawing/2014/main" id="{31233C8B-F182-F6DF-1E80-BD2E0B04DE9B}"/>
              </a:ext>
            </a:extLst>
          </p:cNvPr>
          <p:cNvSpPr>
            <a:spLocks noGrp="1"/>
          </p:cNvSpPr>
          <p:nvPr>
            <p:ph idx="1"/>
          </p:nvPr>
        </p:nvSpPr>
        <p:spPr>
          <a:xfrm>
            <a:off x="5799836" y="1652443"/>
            <a:ext cx="6279045" cy="3936491"/>
          </a:xfrm>
        </p:spPr>
        <p:txBody>
          <a:bodyPr/>
          <a:lstStyle/>
          <a:p>
            <a:pPr marL="342900" indent="-342900">
              <a:buFont typeface="Wingdings" panose="05000000000000000000" pitchFamily="2" charset="2"/>
              <a:buChar char="§"/>
            </a:pPr>
            <a:r>
              <a:rPr lang="en-US" dirty="0"/>
              <a:t>Decision trees are visual representations of the choice environment seen from the perspective of medical decision makers treating patients.</a:t>
            </a:r>
            <a:endParaRPr lang="en-CA" dirty="0"/>
          </a:p>
          <a:p>
            <a:pPr marL="342900" indent="-342900">
              <a:buFont typeface="Wingdings" panose="05000000000000000000" pitchFamily="2" charset="2"/>
              <a:buChar char="§"/>
            </a:pPr>
            <a:r>
              <a:rPr lang="en-CA" dirty="0"/>
              <a:t>As a Style guide:</a:t>
            </a:r>
          </a:p>
          <a:p>
            <a:pPr marL="1028700" lvl="1" indent="-342900"/>
            <a:r>
              <a:rPr lang="en-CA" dirty="0"/>
              <a:t>Squares represent “decision nodes”.</a:t>
            </a:r>
          </a:p>
          <a:p>
            <a:pPr marL="1028700" lvl="1" indent="-342900"/>
            <a:r>
              <a:rPr lang="en-CA" dirty="0"/>
              <a:t>Circles represent “chance nodes”</a:t>
            </a:r>
          </a:p>
          <a:p>
            <a:pPr marL="1028700" lvl="1" indent="-342900"/>
            <a:r>
              <a:rPr lang="en-CA" dirty="0"/>
              <a:t>Triangles represent “Terminal Nodes”</a:t>
            </a:r>
          </a:p>
          <a:p>
            <a:pPr marL="1028700" lvl="1" indent="-342900"/>
            <a:r>
              <a:rPr lang="en-CA" dirty="0"/>
              <a:t>Branches tell us  the possible paths to different outcomes.</a:t>
            </a:r>
            <a:endParaRPr lang="en-US" dirty="0"/>
          </a:p>
        </p:txBody>
      </p:sp>
      <p:sp>
        <p:nvSpPr>
          <p:cNvPr id="7" name="TextBox 6">
            <a:extLst>
              <a:ext uri="{FF2B5EF4-FFF2-40B4-BE49-F238E27FC236}">
                <a16:creationId xmlns:a16="http://schemas.microsoft.com/office/drawing/2014/main" id="{8EAA289B-71FF-402B-A4B2-1D8A68CE10B3}"/>
              </a:ext>
            </a:extLst>
          </p:cNvPr>
          <p:cNvSpPr txBox="1"/>
          <p:nvPr/>
        </p:nvSpPr>
        <p:spPr>
          <a:xfrm>
            <a:off x="642217" y="5920541"/>
            <a:ext cx="3782002" cy="430887"/>
          </a:xfrm>
          <a:prstGeom prst="rect">
            <a:avLst/>
          </a:prstGeom>
          <a:noFill/>
        </p:spPr>
        <p:txBody>
          <a:bodyPr wrap="square" rtlCol="0">
            <a:spAutoFit/>
          </a:bodyPr>
          <a:lstStyle/>
          <a:p>
            <a:r>
              <a:rPr lang="en-CA" sz="1100" dirty="0"/>
              <a:t>Decision tree model from: Arlandis-Guzman, S., </a:t>
            </a:r>
            <a:r>
              <a:rPr lang="en-CA" sz="1100" dirty="0" err="1"/>
              <a:t>Errando</a:t>
            </a:r>
            <a:r>
              <a:rPr lang="en-CA" sz="1100" dirty="0"/>
              <a:t>-Smet, C., </a:t>
            </a:r>
            <a:r>
              <a:rPr lang="en-CA" sz="1100" dirty="0" err="1"/>
              <a:t>Trocio</a:t>
            </a:r>
            <a:r>
              <a:rPr lang="en-CA" sz="1100" dirty="0"/>
              <a:t>, J., </a:t>
            </a:r>
            <a:r>
              <a:rPr lang="en-CA" sz="1100" dirty="0" err="1"/>
              <a:t>Arumi</a:t>
            </a:r>
            <a:r>
              <a:rPr lang="en-CA" sz="1100" dirty="0"/>
              <a:t>, D., &amp; Rejas, J. (2011). </a:t>
            </a:r>
          </a:p>
        </p:txBody>
      </p:sp>
    </p:spTree>
    <p:extLst>
      <p:ext uri="{BB962C8B-B14F-4D97-AF65-F5344CB8AC3E}">
        <p14:creationId xmlns:p14="http://schemas.microsoft.com/office/powerpoint/2010/main" val="2779689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96D09-8A43-2977-D5A8-8C8DEC0B91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EF06E-C558-285A-B5CF-41B90E12B89A}"/>
              </a:ext>
            </a:extLst>
          </p:cNvPr>
          <p:cNvSpPr>
            <a:spLocks noGrp="1"/>
          </p:cNvSpPr>
          <p:nvPr>
            <p:ph type="title"/>
          </p:nvPr>
        </p:nvSpPr>
        <p:spPr>
          <a:xfrm>
            <a:off x="482600" y="597408"/>
            <a:ext cx="10634472" cy="1117092"/>
          </a:xfrm>
        </p:spPr>
        <p:txBody>
          <a:bodyPr/>
          <a:lstStyle/>
          <a:p>
            <a:r>
              <a:rPr lang="en-US" sz="4800" dirty="0"/>
              <a:t>Some Rules for Decision Tree Design</a:t>
            </a:r>
            <a:endParaRPr lang="en-CA" sz="4800" dirty="0"/>
          </a:p>
        </p:txBody>
      </p:sp>
      <p:sp>
        <p:nvSpPr>
          <p:cNvPr id="3" name="Content Placeholder 2">
            <a:extLst>
              <a:ext uri="{FF2B5EF4-FFF2-40B4-BE49-F238E27FC236}">
                <a16:creationId xmlns:a16="http://schemas.microsoft.com/office/drawing/2014/main" id="{2213EB46-6CD8-983A-E777-13826BAD6667}"/>
              </a:ext>
            </a:extLst>
          </p:cNvPr>
          <p:cNvSpPr>
            <a:spLocks noGrp="1"/>
          </p:cNvSpPr>
          <p:nvPr>
            <p:ph idx="1"/>
          </p:nvPr>
        </p:nvSpPr>
        <p:spPr>
          <a:xfrm>
            <a:off x="6373091" y="1943100"/>
            <a:ext cx="4616500" cy="3936491"/>
          </a:xfrm>
        </p:spPr>
        <p:txBody>
          <a:bodyPr>
            <a:normAutofit fontScale="70000" lnSpcReduction="20000"/>
          </a:bodyPr>
          <a:lstStyle/>
          <a:p>
            <a:r>
              <a:rPr lang="en-CA" dirty="0"/>
              <a:t>In terms of a “Theory of Decision Trees” there's not a lot to know but there are some rules.</a:t>
            </a:r>
          </a:p>
          <a:p>
            <a:r>
              <a:rPr lang="en-CA" u="sng" dirty="0"/>
              <a:t>Rule #1:</a:t>
            </a:r>
            <a:r>
              <a:rPr lang="en-CA" dirty="0"/>
              <a:t> Decision Nodes Should not come after chance nodes if an initial decision has already been made (Best Response Principle).</a:t>
            </a:r>
          </a:p>
          <a:p>
            <a:r>
              <a:rPr lang="en-CA" i="1" dirty="0"/>
              <a:t>[NOTE: Any decision node that comes after a chance node has a single branch].</a:t>
            </a:r>
          </a:p>
          <a:p>
            <a:r>
              <a:rPr lang="en-CA" u="sng" dirty="0"/>
              <a:t>Rule #2:</a:t>
            </a:r>
            <a:r>
              <a:rPr lang="en-CA" dirty="0"/>
              <a:t> If a chance node occurs before the a time when an initial decision must be made and the state of the world is observable a decision is not made until this uncertainty is resolved. (Kreps’ Fundamental Rule for Decision Trees)</a:t>
            </a:r>
          </a:p>
        </p:txBody>
      </p:sp>
      <p:pic>
        <p:nvPicPr>
          <p:cNvPr id="5" name="Picture 4">
            <a:extLst>
              <a:ext uri="{FF2B5EF4-FFF2-40B4-BE49-F238E27FC236}">
                <a16:creationId xmlns:a16="http://schemas.microsoft.com/office/drawing/2014/main" id="{A63F6122-2020-B31F-CD02-F304D7CA7E6E}"/>
              </a:ext>
            </a:extLst>
          </p:cNvPr>
          <p:cNvPicPr>
            <a:picLocks noChangeAspect="1"/>
          </p:cNvPicPr>
          <p:nvPr/>
        </p:nvPicPr>
        <p:blipFill>
          <a:blip r:embed="rId2"/>
          <a:stretch>
            <a:fillRect/>
          </a:stretch>
        </p:blipFill>
        <p:spPr>
          <a:xfrm>
            <a:off x="260903" y="1943100"/>
            <a:ext cx="6062165" cy="3286125"/>
          </a:xfrm>
          <a:prstGeom prst="rect">
            <a:avLst/>
          </a:prstGeom>
        </p:spPr>
      </p:pic>
    </p:spTree>
    <p:extLst>
      <p:ext uri="{BB962C8B-B14F-4D97-AF65-F5344CB8AC3E}">
        <p14:creationId xmlns:p14="http://schemas.microsoft.com/office/powerpoint/2010/main" val="717125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C3639-D007-A5FD-0200-47BD11370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96A57-10D9-1432-15D5-00D79C1818E5}"/>
              </a:ext>
            </a:extLst>
          </p:cNvPr>
          <p:cNvSpPr>
            <a:spLocks noGrp="1"/>
          </p:cNvSpPr>
          <p:nvPr>
            <p:ph type="title"/>
          </p:nvPr>
        </p:nvSpPr>
        <p:spPr>
          <a:xfrm>
            <a:off x="439588" y="252939"/>
            <a:ext cx="11465744" cy="1117092"/>
          </a:xfrm>
        </p:spPr>
        <p:txBody>
          <a:bodyPr/>
          <a:lstStyle/>
          <a:p>
            <a:r>
              <a:rPr lang="en-US" sz="4800" dirty="0"/>
              <a:t>Decision Trees as Expected Value</a:t>
            </a:r>
            <a:endParaRPr lang="en-CA" sz="4800" dirty="0"/>
          </a:p>
        </p:txBody>
      </p:sp>
      <p:sp>
        <p:nvSpPr>
          <p:cNvPr id="3" name="Content Placeholder 2">
            <a:extLst>
              <a:ext uri="{FF2B5EF4-FFF2-40B4-BE49-F238E27FC236}">
                <a16:creationId xmlns:a16="http://schemas.microsoft.com/office/drawing/2014/main" id="{AF542269-2E23-7E27-2AC5-D1F4C8077F85}"/>
              </a:ext>
            </a:extLst>
          </p:cNvPr>
          <p:cNvSpPr>
            <a:spLocks noGrp="1"/>
          </p:cNvSpPr>
          <p:nvPr>
            <p:ph idx="1"/>
          </p:nvPr>
        </p:nvSpPr>
        <p:spPr>
          <a:xfrm>
            <a:off x="499624" y="1215941"/>
            <a:ext cx="10444933" cy="1952585"/>
          </a:xfrm>
        </p:spPr>
        <p:txBody>
          <a:bodyPr>
            <a:normAutofit fontScale="92500" lnSpcReduction="20000"/>
          </a:bodyPr>
          <a:lstStyle/>
          <a:p>
            <a:pPr marL="342900" indent="-342900">
              <a:buFont typeface="Wingdings" panose="05000000000000000000" pitchFamily="2" charset="2"/>
              <a:buChar char="§"/>
            </a:pPr>
            <a:r>
              <a:rPr lang="en-US" dirty="0"/>
              <a:t>Decision trees are graphical representations of expected value equations.</a:t>
            </a:r>
          </a:p>
          <a:p>
            <a:pPr marL="342900" indent="-342900">
              <a:buFont typeface="Wingdings" panose="05000000000000000000" pitchFamily="2" charset="2"/>
              <a:buChar char="§"/>
            </a:pPr>
            <a:r>
              <a:rPr lang="en-US" dirty="0"/>
              <a:t>As an Example:</a:t>
            </a:r>
            <a:br>
              <a:rPr lang="en-US" dirty="0"/>
            </a:br>
            <a:r>
              <a:rPr lang="en-US" dirty="0"/>
              <a:t>Suppose a doctor can treat a sick patient with two different drugs. Drug A has a 50% chance of curing the patient with no side effects a 20% chance of curing the patient with side effects and a 30% chance of doing nothing. Drug B has a 80% chance of curing the patient with side effects and 20% chance of doing nothing</a:t>
            </a:r>
            <a:endParaRPr lang="en-CA" dirty="0"/>
          </a:p>
        </p:txBody>
      </p:sp>
      <p:sp>
        <p:nvSpPr>
          <p:cNvPr id="48" name="Oval 47">
            <a:extLst>
              <a:ext uri="{FF2B5EF4-FFF2-40B4-BE49-F238E27FC236}">
                <a16:creationId xmlns:a16="http://schemas.microsoft.com/office/drawing/2014/main" id="{80B391AA-E5C8-5B52-75EF-64ED7AC65A83}"/>
              </a:ext>
            </a:extLst>
          </p:cNvPr>
          <p:cNvSpPr/>
          <p:nvPr/>
        </p:nvSpPr>
        <p:spPr>
          <a:xfrm>
            <a:off x="1958109" y="4045527"/>
            <a:ext cx="434109" cy="443346"/>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Oval 51">
            <a:extLst>
              <a:ext uri="{FF2B5EF4-FFF2-40B4-BE49-F238E27FC236}">
                <a16:creationId xmlns:a16="http://schemas.microsoft.com/office/drawing/2014/main" id="{07290406-E4E9-D18E-438C-7966E3D0A0B1}"/>
              </a:ext>
            </a:extLst>
          </p:cNvPr>
          <p:cNvSpPr/>
          <p:nvPr/>
        </p:nvSpPr>
        <p:spPr>
          <a:xfrm>
            <a:off x="2041236" y="5357091"/>
            <a:ext cx="434109" cy="443346"/>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cxnSp>
        <p:nvCxnSpPr>
          <p:cNvPr id="55" name="Straight Connector 54">
            <a:extLst>
              <a:ext uri="{FF2B5EF4-FFF2-40B4-BE49-F238E27FC236}">
                <a16:creationId xmlns:a16="http://schemas.microsoft.com/office/drawing/2014/main" id="{69E207A2-55B7-3240-2AC1-A3367E7DDE6D}"/>
              </a:ext>
            </a:extLst>
          </p:cNvPr>
          <p:cNvCxnSpPr>
            <a:cxnSpLocks/>
            <a:stCxn id="48" idx="6"/>
          </p:cNvCxnSpPr>
          <p:nvPr/>
        </p:nvCxnSpPr>
        <p:spPr>
          <a:xfrm flipV="1">
            <a:off x="2392218" y="3493912"/>
            <a:ext cx="1435989" cy="77328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B712ED5-C9D2-EF02-B8F7-8208D537F653}"/>
              </a:ext>
            </a:extLst>
          </p:cNvPr>
          <p:cNvCxnSpPr>
            <a:cxnSpLocks/>
            <a:stCxn id="48" idx="6"/>
          </p:cNvCxnSpPr>
          <p:nvPr/>
        </p:nvCxnSpPr>
        <p:spPr>
          <a:xfrm flipV="1">
            <a:off x="2392218" y="4263911"/>
            <a:ext cx="1533237" cy="3289"/>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351CE4A-DF4D-E41F-AB0B-D97567697C5D}"/>
              </a:ext>
            </a:extLst>
          </p:cNvPr>
          <p:cNvCxnSpPr>
            <a:cxnSpLocks/>
            <a:stCxn id="48" idx="6"/>
          </p:cNvCxnSpPr>
          <p:nvPr/>
        </p:nvCxnSpPr>
        <p:spPr>
          <a:xfrm>
            <a:off x="2392218" y="4267200"/>
            <a:ext cx="1533237" cy="44334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FF2C822A-D510-8E80-2E13-C2526452E9C0}"/>
              </a:ext>
            </a:extLst>
          </p:cNvPr>
          <p:cNvCxnSpPr>
            <a:cxnSpLocks/>
            <a:stCxn id="52" idx="6"/>
          </p:cNvCxnSpPr>
          <p:nvPr/>
        </p:nvCxnSpPr>
        <p:spPr>
          <a:xfrm flipV="1">
            <a:off x="2475345" y="5179003"/>
            <a:ext cx="1450110" cy="399761"/>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5EBDA81-6C8B-3DB8-9B39-7E9CA3721CB0}"/>
              </a:ext>
            </a:extLst>
          </p:cNvPr>
          <p:cNvCxnSpPr>
            <a:cxnSpLocks/>
            <a:stCxn id="52" idx="6"/>
          </p:cNvCxnSpPr>
          <p:nvPr/>
        </p:nvCxnSpPr>
        <p:spPr>
          <a:xfrm>
            <a:off x="2475345" y="5578764"/>
            <a:ext cx="1450110" cy="50047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AFE14259-AD3C-1D82-DC02-4B55DB13035F}"/>
              </a:ext>
            </a:extLst>
          </p:cNvPr>
          <p:cNvSpPr txBox="1"/>
          <p:nvPr/>
        </p:nvSpPr>
        <p:spPr>
          <a:xfrm>
            <a:off x="3860801" y="3320143"/>
            <a:ext cx="2473562" cy="369332"/>
          </a:xfrm>
          <a:prstGeom prst="rect">
            <a:avLst/>
          </a:prstGeom>
          <a:noFill/>
        </p:spPr>
        <p:txBody>
          <a:bodyPr wrap="none" rtlCol="0">
            <a:spAutoFit/>
          </a:bodyPr>
          <a:lstStyle/>
          <a:p>
            <a:r>
              <a:rPr lang="en-US" dirty="0" err="1"/>
              <a:t>Cured+No</a:t>
            </a:r>
            <a:r>
              <a:rPr lang="en-US" dirty="0"/>
              <a:t> Side Effects</a:t>
            </a:r>
            <a:endParaRPr lang="en-CA" dirty="0"/>
          </a:p>
        </p:txBody>
      </p:sp>
      <p:sp>
        <p:nvSpPr>
          <p:cNvPr id="78" name="TextBox 77">
            <a:extLst>
              <a:ext uri="{FF2B5EF4-FFF2-40B4-BE49-F238E27FC236}">
                <a16:creationId xmlns:a16="http://schemas.microsoft.com/office/drawing/2014/main" id="{7488381A-F9B5-CA39-E301-F7D5CF058A7B}"/>
              </a:ext>
            </a:extLst>
          </p:cNvPr>
          <p:cNvSpPr txBox="1"/>
          <p:nvPr/>
        </p:nvSpPr>
        <p:spPr>
          <a:xfrm>
            <a:off x="3860801" y="4020416"/>
            <a:ext cx="2117696" cy="369332"/>
          </a:xfrm>
          <a:prstGeom prst="rect">
            <a:avLst/>
          </a:prstGeom>
          <a:noFill/>
        </p:spPr>
        <p:txBody>
          <a:bodyPr wrap="none" rtlCol="0">
            <a:spAutoFit/>
          </a:bodyPr>
          <a:lstStyle/>
          <a:p>
            <a:r>
              <a:rPr lang="en-US" dirty="0" err="1"/>
              <a:t>Cured+Side</a:t>
            </a:r>
            <a:r>
              <a:rPr lang="en-US" dirty="0"/>
              <a:t> Effects</a:t>
            </a:r>
            <a:endParaRPr lang="en-CA" dirty="0"/>
          </a:p>
        </p:txBody>
      </p:sp>
      <p:sp>
        <p:nvSpPr>
          <p:cNvPr id="79" name="TextBox 78">
            <a:extLst>
              <a:ext uri="{FF2B5EF4-FFF2-40B4-BE49-F238E27FC236}">
                <a16:creationId xmlns:a16="http://schemas.microsoft.com/office/drawing/2014/main" id="{A527DF33-7CBF-F126-1A57-9C0335C20826}"/>
              </a:ext>
            </a:extLst>
          </p:cNvPr>
          <p:cNvSpPr txBox="1"/>
          <p:nvPr/>
        </p:nvSpPr>
        <p:spPr>
          <a:xfrm>
            <a:off x="3907834" y="4479820"/>
            <a:ext cx="1011815" cy="369332"/>
          </a:xfrm>
          <a:prstGeom prst="rect">
            <a:avLst/>
          </a:prstGeom>
          <a:noFill/>
        </p:spPr>
        <p:txBody>
          <a:bodyPr wrap="none" rtlCol="0">
            <a:spAutoFit/>
          </a:bodyPr>
          <a:lstStyle/>
          <a:p>
            <a:r>
              <a:rPr lang="en-US" dirty="0"/>
              <a:t>Nothing</a:t>
            </a:r>
            <a:endParaRPr lang="en-CA" dirty="0"/>
          </a:p>
        </p:txBody>
      </p:sp>
      <p:sp>
        <p:nvSpPr>
          <p:cNvPr id="82" name="TextBox 81">
            <a:extLst>
              <a:ext uri="{FF2B5EF4-FFF2-40B4-BE49-F238E27FC236}">
                <a16:creationId xmlns:a16="http://schemas.microsoft.com/office/drawing/2014/main" id="{0B29469D-9A27-AE1F-7124-2A68C7DFEFD8}"/>
              </a:ext>
            </a:extLst>
          </p:cNvPr>
          <p:cNvSpPr txBox="1"/>
          <p:nvPr/>
        </p:nvSpPr>
        <p:spPr>
          <a:xfrm>
            <a:off x="3860801" y="4964184"/>
            <a:ext cx="2117696" cy="369332"/>
          </a:xfrm>
          <a:prstGeom prst="rect">
            <a:avLst/>
          </a:prstGeom>
          <a:noFill/>
        </p:spPr>
        <p:txBody>
          <a:bodyPr wrap="none" rtlCol="0">
            <a:spAutoFit/>
          </a:bodyPr>
          <a:lstStyle/>
          <a:p>
            <a:r>
              <a:rPr lang="en-US" dirty="0" err="1"/>
              <a:t>Cured+Side</a:t>
            </a:r>
            <a:r>
              <a:rPr lang="en-US" dirty="0"/>
              <a:t> Effects</a:t>
            </a:r>
            <a:endParaRPr lang="en-CA" dirty="0"/>
          </a:p>
        </p:txBody>
      </p:sp>
      <p:sp>
        <p:nvSpPr>
          <p:cNvPr id="84" name="TextBox 83">
            <a:extLst>
              <a:ext uri="{FF2B5EF4-FFF2-40B4-BE49-F238E27FC236}">
                <a16:creationId xmlns:a16="http://schemas.microsoft.com/office/drawing/2014/main" id="{3F91E044-3DEE-93B1-57D5-0B723A92BD38}"/>
              </a:ext>
            </a:extLst>
          </p:cNvPr>
          <p:cNvSpPr txBox="1"/>
          <p:nvPr/>
        </p:nvSpPr>
        <p:spPr>
          <a:xfrm>
            <a:off x="3853656" y="5884500"/>
            <a:ext cx="1011815" cy="369332"/>
          </a:xfrm>
          <a:prstGeom prst="rect">
            <a:avLst/>
          </a:prstGeom>
          <a:noFill/>
        </p:spPr>
        <p:txBody>
          <a:bodyPr wrap="none" rtlCol="0">
            <a:spAutoFit/>
          </a:bodyPr>
          <a:lstStyle/>
          <a:p>
            <a:r>
              <a:rPr lang="en-US" dirty="0"/>
              <a:t>Nothing</a:t>
            </a:r>
            <a:endParaRPr lang="en-CA" dirty="0"/>
          </a:p>
        </p:txBody>
      </p:sp>
      <p:sp>
        <p:nvSpPr>
          <p:cNvPr id="85" name="TextBox 84">
            <a:extLst>
              <a:ext uri="{FF2B5EF4-FFF2-40B4-BE49-F238E27FC236}">
                <a16:creationId xmlns:a16="http://schemas.microsoft.com/office/drawing/2014/main" id="{C50B6952-8E8D-DD90-9457-C715D6A6374C}"/>
              </a:ext>
            </a:extLst>
          </p:cNvPr>
          <p:cNvSpPr txBox="1"/>
          <p:nvPr/>
        </p:nvSpPr>
        <p:spPr>
          <a:xfrm>
            <a:off x="2630594" y="3403101"/>
            <a:ext cx="479618" cy="369332"/>
          </a:xfrm>
          <a:prstGeom prst="rect">
            <a:avLst/>
          </a:prstGeom>
          <a:noFill/>
        </p:spPr>
        <p:txBody>
          <a:bodyPr wrap="none" rtlCol="0">
            <a:spAutoFit/>
          </a:bodyPr>
          <a:lstStyle/>
          <a:p>
            <a:r>
              <a:rPr lang="en-US" dirty="0"/>
              <a:t>0.5</a:t>
            </a:r>
            <a:endParaRPr lang="en-CA" dirty="0"/>
          </a:p>
        </p:txBody>
      </p:sp>
      <p:sp>
        <p:nvSpPr>
          <p:cNvPr id="86" name="TextBox 85">
            <a:extLst>
              <a:ext uri="{FF2B5EF4-FFF2-40B4-BE49-F238E27FC236}">
                <a16:creationId xmlns:a16="http://schemas.microsoft.com/office/drawing/2014/main" id="{F368E1A4-CA40-067B-05C1-209D5975720C}"/>
              </a:ext>
            </a:extLst>
          </p:cNvPr>
          <p:cNvSpPr txBox="1"/>
          <p:nvPr/>
        </p:nvSpPr>
        <p:spPr>
          <a:xfrm>
            <a:off x="3137921" y="3824039"/>
            <a:ext cx="479618" cy="369332"/>
          </a:xfrm>
          <a:prstGeom prst="rect">
            <a:avLst/>
          </a:prstGeom>
          <a:noFill/>
        </p:spPr>
        <p:txBody>
          <a:bodyPr wrap="none" rtlCol="0">
            <a:spAutoFit/>
          </a:bodyPr>
          <a:lstStyle/>
          <a:p>
            <a:r>
              <a:rPr lang="en-US" dirty="0"/>
              <a:t>0.2</a:t>
            </a:r>
            <a:endParaRPr lang="en-CA" dirty="0"/>
          </a:p>
        </p:txBody>
      </p:sp>
      <p:sp>
        <p:nvSpPr>
          <p:cNvPr id="87" name="TextBox 86">
            <a:extLst>
              <a:ext uri="{FF2B5EF4-FFF2-40B4-BE49-F238E27FC236}">
                <a16:creationId xmlns:a16="http://schemas.microsoft.com/office/drawing/2014/main" id="{640E1405-1DEB-B251-AB8A-5FAA944E6B6F}"/>
              </a:ext>
            </a:extLst>
          </p:cNvPr>
          <p:cNvSpPr txBox="1"/>
          <p:nvPr/>
        </p:nvSpPr>
        <p:spPr>
          <a:xfrm>
            <a:off x="2910217" y="4503934"/>
            <a:ext cx="479618" cy="369332"/>
          </a:xfrm>
          <a:prstGeom prst="rect">
            <a:avLst/>
          </a:prstGeom>
          <a:noFill/>
        </p:spPr>
        <p:txBody>
          <a:bodyPr wrap="none" rtlCol="0">
            <a:spAutoFit/>
          </a:bodyPr>
          <a:lstStyle/>
          <a:p>
            <a:r>
              <a:rPr lang="en-US" dirty="0"/>
              <a:t>0.3</a:t>
            </a:r>
            <a:endParaRPr lang="en-CA" dirty="0"/>
          </a:p>
        </p:txBody>
      </p:sp>
      <p:sp>
        <p:nvSpPr>
          <p:cNvPr id="88" name="TextBox 87">
            <a:extLst>
              <a:ext uri="{FF2B5EF4-FFF2-40B4-BE49-F238E27FC236}">
                <a16:creationId xmlns:a16="http://schemas.microsoft.com/office/drawing/2014/main" id="{287AED9B-D9C8-A205-6B47-282A6E8F0BEF}"/>
              </a:ext>
            </a:extLst>
          </p:cNvPr>
          <p:cNvSpPr txBox="1"/>
          <p:nvPr/>
        </p:nvSpPr>
        <p:spPr>
          <a:xfrm>
            <a:off x="2720782" y="5016283"/>
            <a:ext cx="479618" cy="369332"/>
          </a:xfrm>
          <a:prstGeom prst="rect">
            <a:avLst/>
          </a:prstGeom>
          <a:noFill/>
        </p:spPr>
        <p:txBody>
          <a:bodyPr wrap="none" rtlCol="0">
            <a:spAutoFit/>
          </a:bodyPr>
          <a:lstStyle/>
          <a:p>
            <a:r>
              <a:rPr lang="en-US" dirty="0"/>
              <a:t>0.8</a:t>
            </a:r>
            <a:endParaRPr lang="en-CA" dirty="0"/>
          </a:p>
        </p:txBody>
      </p:sp>
      <p:sp>
        <p:nvSpPr>
          <p:cNvPr id="89" name="TextBox 88">
            <a:extLst>
              <a:ext uri="{FF2B5EF4-FFF2-40B4-BE49-F238E27FC236}">
                <a16:creationId xmlns:a16="http://schemas.microsoft.com/office/drawing/2014/main" id="{55511F4E-E64C-FF1D-0780-E00A454320DC}"/>
              </a:ext>
            </a:extLst>
          </p:cNvPr>
          <p:cNvSpPr txBox="1"/>
          <p:nvPr/>
        </p:nvSpPr>
        <p:spPr>
          <a:xfrm>
            <a:off x="2670498" y="5785376"/>
            <a:ext cx="479618" cy="369332"/>
          </a:xfrm>
          <a:prstGeom prst="rect">
            <a:avLst/>
          </a:prstGeom>
          <a:noFill/>
        </p:spPr>
        <p:txBody>
          <a:bodyPr wrap="none" rtlCol="0">
            <a:spAutoFit/>
          </a:bodyPr>
          <a:lstStyle/>
          <a:p>
            <a:r>
              <a:rPr lang="en-US" dirty="0"/>
              <a:t>0.2</a:t>
            </a:r>
            <a:endParaRPr lang="en-CA" dirty="0"/>
          </a:p>
        </p:txBody>
      </p: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1210D08B-6B07-C6B9-1969-7AEFFAE7E253}"/>
                  </a:ext>
                </a:extLst>
              </p:cNvPr>
              <p:cNvSpPr txBox="1"/>
              <p:nvPr/>
            </p:nvSpPr>
            <p:spPr>
              <a:xfrm>
                <a:off x="6784146" y="3860861"/>
                <a:ext cx="46131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r>
                        <a:rPr lang="en-US" b="0" i="1" smtClean="0">
                          <a:latin typeface="Cambria Math" panose="02040503050406030204" pitchFamily="18" charset="0"/>
                        </a:rPr>
                        <m:t>=0.5</m:t>
                      </m:r>
                      <m:r>
                        <a:rPr lang="en-US" b="0" i="1" smtClean="0">
                          <a:latin typeface="Cambria Math" panose="02040503050406030204" pitchFamily="18" charset="0"/>
                        </a:rPr>
                        <m:t>𝑢</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𝑁𝑆𝐸</m:t>
                              </m:r>
                            </m:sub>
                          </m:sSub>
                        </m:e>
                      </m:d>
                      <m:r>
                        <a:rPr lang="en-US" b="0" i="1" smtClean="0">
                          <a:latin typeface="Cambria Math" panose="02040503050406030204" pitchFamily="18" charset="0"/>
                        </a:rPr>
                        <m:t>+0.2</m:t>
                      </m:r>
                      <m:r>
                        <a:rPr lang="en-US" b="0" i="1" smtClean="0">
                          <a:latin typeface="Cambria Math" panose="02040503050406030204" pitchFamily="18" charset="0"/>
                        </a:rPr>
                        <m:t>𝑢</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𝑆𝐸</m:t>
                              </m:r>
                            </m:sub>
                          </m:sSub>
                        </m:e>
                      </m:d>
                      <m:r>
                        <a:rPr lang="en-US" b="0" i="1" smtClean="0">
                          <a:latin typeface="Cambria Math" panose="02040503050406030204" pitchFamily="18" charset="0"/>
                        </a:rPr>
                        <m:t>+0.3</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𝑆𝑖𝑐𝑘</m:t>
                      </m:r>
                      <m:r>
                        <a:rPr lang="en-US" b="0" i="1" smtClean="0">
                          <a:latin typeface="Cambria Math" panose="02040503050406030204" pitchFamily="18" charset="0"/>
                        </a:rPr>
                        <m:t>)</m:t>
                      </m:r>
                    </m:oMath>
                  </m:oMathPara>
                </a14:m>
                <a:endParaRPr lang="en-CA" dirty="0"/>
              </a:p>
            </p:txBody>
          </p:sp>
        </mc:Choice>
        <mc:Fallback xmlns="">
          <p:sp>
            <p:nvSpPr>
              <p:cNvPr id="92" name="TextBox 91">
                <a:extLst>
                  <a:ext uri="{FF2B5EF4-FFF2-40B4-BE49-F238E27FC236}">
                    <a16:creationId xmlns:a16="http://schemas.microsoft.com/office/drawing/2014/main" id="{1210D08B-6B07-C6B9-1969-7AEFFAE7E253}"/>
                  </a:ext>
                </a:extLst>
              </p:cNvPr>
              <p:cNvSpPr txBox="1">
                <a:spLocks noRot="1" noChangeAspect="1" noMove="1" noResize="1" noEditPoints="1" noAdjustHandles="1" noChangeArrowheads="1" noChangeShapeType="1" noTextEdit="1"/>
              </p:cNvSpPr>
              <p:nvPr/>
            </p:nvSpPr>
            <p:spPr>
              <a:xfrm>
                <a:off x="6784146" y="3860861"/>
                <a:ext cx="4613186" cy="369332"/>
              </a:xfrm>
              <a:prstGeom prst="rect">
                <a:avLst/>
              </a:prstGeom>
              <a:blipFill>
                <a:blip r:embed="rId2"/>
                <a:stretch>
                  <a:fillRect b="-1639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0A8FF0D0-60A1-B762-D158-A11312F2CC14}"/>
                  </a:ext>
                </a:extLst>
              </p:cNvPr>
              <p:cNvSpPr txBox="1"/>
              <p:nvPr/>
            </p:nvSpPr>
            <p:spPr>
              <a:xfrm>
                <a:off x="6941957" y="5082371"/>
                <a:ext cx="32508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𝐵</m:t>
                          </m:r>
                        </m:sub>
                      </m:sSub>
                      <m:r>
                        <a:rPr lang="en-US" b="0" i="1" smtClean="0">
                          <a:latin typeface="Cambria Math" panose="02040503050406030204" pitchFamily="18" charset="0"/>
                        </a:rPr>
                        <m:t>=0.8</m:t>
                      </m:r>
                      <m:r>
                        <a:rPr lang="en-US" b="0" i="1" smtClean="0">
                          <a:latin typeface="Cambria Math" panose="02040503050406030204" pitchFamily="18" charset="0"/>
                        </a:rPr>
                        <m:t>𝑢</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𝑆𝐸</m:t>
                              </m:r>
                            </m:sub>
                          </m:sSub>
                        </m:e>
                      </m:d>
                      <m:r>
                        <a:rPr lang="en-US" b="0" i="1" smtClean="0">
                          <a:latin typeface="Cambria Math" panose="02040503050406030204" pitchFamily="18" charset="0"/>
                        </a:rPr>
                        <m:t>+0.2</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𝑆𝑖𝑐𝑘</m:t>
                      </m:r>
                      <m:r>
                        <a:rPr lang="en-US" b="0" i="1" smtClean="0">
                          <a:latin typeface="Cambria Math" panose="02040503050406030204" pitchFamily="18" charset="0"/>
                        </a:rPr>
                        <m:t>)</m:t>
                      </m:r>
                    </m:oMath>
                  </m:oMathPara>
                </a14:m>
                <a:endParaRPr lang="en-CA" dirty="0"/>
              </a:p>
            </p:txBody>
          </p:sp>
        </mc:Choice>
        <mc:Fallback xmlns="">
          <p:sp>
            <p:nvSpPr>
              <p:cNvPr id="93" name="TextBox 92">
                <a:extLst>
                  <a:ext uri="{FF2B5EF4-FFF2-40B4-BE49-F238E27FC236}">
                    <a16:creationId xmlns:a16="http://schemas.microsoft.com/office/drawing/2014/main" id="{0A8FF0D0-60A1-B762-D158-A11312F2CC14}"/>
                  </a:ext>
                </a:extLst>
              </p:cNvPr>
              <p:cNvSpPr txBox="1">
                <a:spLocks noRot="1" noChangeAspect="1" noMove="1" noResize="1" noEditPoints="1" noAdjustHandles="1" noChangeArrowheads="1" noChangeShapeType="1" noTextEdit="1"/>
              </p:cNvSpPr>
              <p:nvPr/>
            </p:nvSpPr>
            <p:spPr>
              <a:xfrm>
                <a:off x="6941957" y="5082371"/>
                <a:ext cx="3250890" cy="369332"/>
              </a:xfrm>
              <a:prstGeom prst="rect">
                <a:avLst/>
              </a:prstGeom>
              <a:blipFill>
                <a:blip r:embed="rId3"/>
                <a:stretch>
                  <a:fillRect b="-16667"/>
                </a:stretch>
              </a:blipFill>
            </p:spPr>
            <p:txBody>
              <a:bodyPr/>
              <a:lstStyle/>
              <a:p>
                <a:r>
                  <a:rPr lang="en-CA">
                    <a:noFill/>
                  </a:rPr>
                  <a:t> </a:t>
                </a:r>
              </a:p>
            </p:txBody>
          </p:sp>
        </mc:Fallback>
      </mc:AlternateContent>
      <p:sp>
        <p:nvSpPr>
          <p:cNvPr id="94" name="Right Brace 93">
            <a:extLst>
              <a:ext uri="{FF2B5EF4-FFF2-40B4-BE49-F238E27FC236}">
                <a16:creationId xmlns:a16="http://schemas.microsoft.com/office/drawing/2014/main" id="{31388587-0853-5116-BDB4-9A1DD29A8B40}"/>
              </a:ext>
            </a:extLst>
          </p:cNvPr>
          <p:cNvSpPr/>
          <p:nvPr/>
        </p:nvSpPr>
        <p:spPr>
          <a:xfrm>
            <a:off x="6172459" y="3168526"/>
            <a:ext cx="895927" cy="2910716"/>
          </a:xfrm>
          <a:prstGeom prst="rightBrace">
            <a:avLst/>
          </a:prstGeom>
          <a:ln w="571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95" name="Rectangle 94">
            <a:extLst>
              <a:ext uri="{FF2B5EF4-FFF2-40B4-BE49-F238E27FC236}">
                <a16:creationId xmlns:a16="http://schemas.microsoft.com/office/drawing/2014/main" id="{75B92D37-7C5E-7EEC-A3F3-3D82ACECBB68}"/>
              </a:ext>
            </a:extLst>
          </p:cNvPr>
          <p:cNvSpPr/>
          <p:nvPr/>
        </p:nvSpPr>
        <p:spPr>
          <a:xfrm>
            <a:off x="360218" y="4784436"/>
            <a:ext cx="479618" cy="461819"/>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97" name="Straight Connector 96">
            <a:extLst>
              <a:ext uri="{FF2B5EF4-FFF2-40B4-BE49-F238E27FC236}">
                <a16:creationId xmlns:a16="http://schemas.microsoft.com/office/drawing/2014/main" id="{FD89804C-D336-6A0A-F1DE-480FA6634A2C}"/>
              </a:ext>
            </a:extLst>
          </p:cNvPr>
          <p:cNvCxnSpPr>
            <a:cxnSpLocks/>
            <a:stCxn id="95" idx="3"/>
            <a:endCxn id="48" idx="2"/>
          </p:cNvCxnSpPr>
          <p:nvPr/>
        </p:nvCxnSpPr>
        <p:spPr>
          <a:xfrm flipV="1">
            <a:off x="839836" y="4267200"/>
            <a:ext cx="1118273" cy="74814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FDBDE12-BC51-0FB0-E868-BF1BDF00E5CA}"/>
              </a:ext>
            </a:extLst>
          </p:cNvPr>
          <p:cNvCxnSpPr>
            <a:cxnSpLocks/>
            <a:stCxn id="95" idx="3"/>
            <a:endCxn id="52" idx="2"/>
          </p:cNvCxnSpPr>
          <p:nvPr/>
        </p:nvCxnSpPr>
        <p:spPr>
          <a:xfrm>
            <a:off x="839836" y="5015346"/>
            <a:ext cx="1201400" cy="56341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5AD078EF-792E-F552-4D96-8B9D240345FC}"/>
              </a:ext>
            </a:extLst>
          </p:cNvPr>
          <p:cNvSpPr txBox="1"/>
          <p:nvPr/>
        </p:nvSpPr>
        <p:spPr>
          <a:xfrm>
            <a:off x="876291" y="3990110"/>
            <a:ext cx="910827" cy="369332"/>
          </a:xfrm>
          <a:prstGeom prst="rect">
            <a:avLst/>
          </a:prstGeom>
          <a:noFill/>
        </p:spPr>
        <p:txBody>
          <a:bodyPr wrap="none" rtlCol="0">
            <a:spAutoFit/>
          </a:bodyPr>
          <a:lstStyle/>
          <a:p>
            <a:r>
              <a:rPr lang="en-US" dirty="0"/>
              <a:t>Drug A</a:t>
            </a:r>
            <a:endParaRPr lang="en-CA" dirty="0"/>
          </a:p>
        </p:txBody>
      </p:sp>
      <p:sp>
        <p:nvSpPr>
          <p:cNvPr id="102" name="TextBox 101">
            <a:extLst>
              <a:ext uri="{FF2B5EF4-FFF2-40B4-BE49-F238E27FC236}">
                <a16:creationId xmlns:a16="http://schemas.microsoft.com/office/drawing/2014/main" id="{70426CE9-DB87-ABC4-8D66-BEE45509B294}"/>
              </a:ext>
            </a:extLst>
          </p:cNvPr>
          <p:cNvSpPr txBox="1"/>
          <p:nvPr/>
        </p:nvSpPr>
        <p:spPr>
          <a:xfrm>
            <a:off x="756218" y="5440342"/>
            <a:ext cx="891591" cy="369332"/>
          </a:xfrm>
          <a:prstGeom prst="rect">
            <a:avLst/>
          </a:prstGeom>
          <a:noFill/>
        </p:spPr>
        <p:txBody>
          <a:bodyPr wrap="none" rtlCol="0">
            <a:spAutoFit/>
          </a:bodyPr>
          <a:lstStyle/>
          <a:p>
            <a:r>
              <a:rPr lang="en-US" dirty="0"/>
              <a:t>Drug B</a:t>
            </a:r>
            <a:endParaRPr lang="en-CA" dirty="0"/>
          </a:p>
        </p:txBody>
      </p:sp>
    </p:spTree>
    <p:extLst>
      <p:ext uri="{BB962C8B-B14F-4D97-AF65-F5344CB8AC3E}">
        <p14:creationId xmlns:p14="http://schemas.microsoft.com/office/powerpoint/2010/main" val="2227710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4A69E-D542-260A-D335-F0A0C8012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6E888-5E4B-2E03-F939-812C170C8C10}"/>
              </a:ext>
            </a:extLst>
          </p:cNvPr>
          <p:cNvSpPr>
            <a:spLocks noGrp="1"/>
          </p:cNvSpPr>
          <p:nvPr>
            <p:ph type="title"/>
          </p:nvPr>
        </p:nvSpPr>
        <p:spPr>
          <a:xfrm>
            <a:off x="482600" y="597408"/>
            <a:ext cx="10634472" cy="1117092"/>
          </a:xfrm>
        </p:spPr>
        <p:txBody>
          <a:bodyPr/>
          <a:lstStyle/>
          <a:p>
            <a:r>
              <a:rPr lang="en-US" sz="4800" dirty="0"/>
              <a:t>Markov Models</a:t>
            </a:r>
            <a:endParaRPr lang="en-CA" sz="48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774B2A-D7B0-5833-C721-557EE184B3FD}"/>
                  </a:ext>
                </a:extLst>
              </p:cNvPr>
              <p:cNvSpPr>
                <a:spLocks noGrp="1"/>
              </p:cNvSpPr>
              <p:nvPr>
                <p:ph idx="1"/>
              </p:nvPr>
            </p:nvSpPr>
            <p:spPr>
              <a:xfrm>
                <a:off x="482600" y="1943100"/>
                <a:ext cx="10506991" cy="3936491"/>
              </a:xfrm>
            </p:spPr>
            <p:txBody>
              <a:bodyPr>
                <a:normAutofit lnSpcReduction="10000"/>
              </a:bodyPr>
              <a:lstStyle/>
              <a:p>
                <a:pPr marL="342900" indent="-342900">
                  <a:buFont typeface="Wingdings" panose="05000000000000000000" pitchFamily="2" charset="2"/>
                  <a:buChar char="§"/>
                </a:pPr>
                <a:r>
                  <a:rPr lang="en-US" dirty="0"/>
                  <a:t>Markov Models are used when there is uncertainty that repeats over time. </a:t>
                </a:r>
              </a:p>
              <a:p>
                <a:pPr marL="342900" indent="-342900">
                  <a:buFont typeface="Wingdings" panose="05000000000000000000" pitchFamily="2" charset="2"/>
                  <a:buChar char="§"/>
                </a:pPr>
                <a:r>
                  <a:rPr lang="en-US" dirty="0"/>
                  <a:t>The structure of a Markov model is where a physician must decide how to treat a particular population where </a:t>
                </a:r>
                <a:r>
                  <a:rPr lang="en-US" dirty="0" err="1"/>
                  <a:t>indivdiuals</a:t>
                </a:r>
                <a:r>
                  <a:rPr lang="en-US" dirty="0"/>
                  <a:t> states follow a </a:t>
                </a:r>
                <a:r>
                  <a:rPr lang="en-US" b="1" dirty="0"/>
                  <a:t>Markov Process</a:t>
                </a:r>
                <a:r>
                  <a:rPr lang="en-US" dirty="0"/>
                  <a:t>.</a:t>
                </a:r>
              </a:p>
              <a:p>
                <a:pPr marL="342900" indent="-342900">
                  <a:buFont typeface="Wingdings" panose="05000000000000000000" pitchFamily="2" charset="2"/>
                  <a:buChar char="§"/>
                </a:pPr>
                <a:r>
                  <a:rPr lang="en-US" dirty="0"/>
                  <a:t>A Markov process is a mathematical model for a sequence of possible events in which the probability of each event depends only on the state attained in the previous event.</a:t>
                </a:r>
              </a:p>
              <a:p>
                <a:pPr marL="342900" indent="-342900">
                  <a:buFont typeface="Wingdings" panose="05000000000000000000" pitchFamily="2" charset="2"/>
                  <a:buChar char="§"/>
                </a:pPr>
                <a:r>
                  <a:rPr lang="en-US" dirty="0"/>
                  <a:t>I.e. individuals can be in one of three states: Healthy, Sick or Dead. </a:t>
                </a:r>
                <a14:m>
                  <m:oMath xmlns:m="http://schemas.openxmlformats.org/officeDocument/2006/math">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h</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𝑠</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𝑑</m:t>
                            </m:r>
                          </m:sub>
                          <m:sup>
                            <m:r>
                              <a:rPr lang="en-US" b="0" i="1" smtClean="0">
                                <a:latin typeface="Cambria Math" panose="02040503050406030204" pitchFamily="18" charset="0"/>
                              </a:rPr>
                              <m:t>𝑖</m:t>
                            </m:r>
                          </m:sup>
                        </m:sSubSup>
                      </m:e>
                    </m:d>
                  </m:oMath>
                </a14:m>
                <a:r>
                  <a:rPr lang="en-US" dirty="0"/>
                  <a:t> represents the probability individual in state </a:t>
                </a:r>
                <a14:m>
                  <m:oMath xmlns:m="http://schemas.openxmlformats.org/officeDocument/2006/math">
                    <m:r>
                      <a:rPr lang="en-US" b="0" i="1" smtClean="0">
                        <a:latin typeface="Cambria Math" panose="02040503050406030204" pitchFamily="18" charset="0"/>
                      </a:rPr>
                      <m:t>𝑖</m:t>
                    </m:r>
                  </m:oMath>
                </a14:m>
                <a:r>
                  <a:rPr lang="en-US" dirty="0"/>
                  <a:t> transitions to healthy sick or dead states.</a:t>
                </a:r>
              </a:p>
            </p:txBody>
          </p:sp>
        </mc:Choice>
        <mc:Fallback>
          <p:sp>
            <p:nvSpPr>
              <p:cNvPr id="3" name="Content Placeholder 2">
                <a:extLst>
                  <a:ext uri="{FF2B5EF4-FFF2-40B4-BE49-F238E27FC236}">
                    <a16:creationId xmlns:a16="http://schemas.microsoft.com/office/drawing/2014/main" id="{AB774B2A-D7B0-5833-C721-557EE184B3FD}"/>
                  </a:ext>
                </a:extLst>
              </p:cNvPr>
              <p:cNvSpPr>
                <a:spLocks noGrp="1" noRot="1" noChangeAspect="1" noMove="1" noResize="1" noEditPoints="1" noAdjustHandles="1" noChangeArrowheads="1" noChangeShapeType="1" noTextEdit="1"/>
              </p:cNvSpPr>
              <p:nvPr>
                <p:ph idx="1"/>
              </p:nvPr>
            </p:nvSpPr>
            <p:spPr>
              <a:xfrm>
                <a:off x="482600" y="1943100"/>
                <a:ext cx="10506991" cy="3936491"/>
              </a:xfrm>
              <a:blipFill>
                <a:blip r:embed="rId2"/>
                <a:stretch>
                  <a:fillRect l="-754" t="-2171" b="-465"/>
                </a:stretch>
              </a:blipFill>
            </p:spPr>
            <p:txBody>
              <a:bodyPr/>
              <a:lstStyle/>
              <a:p>
                <a:r>
                  <a:rPr lang="en-CA">
                    <a:noFill/>
                  </a:rPr>
                  <a:t> </a:t>
                </a:r>
              </a:p>
            </p:txBody>
          </p:sp>
        </mc:Fallback>
      </mc:AlternateContent>
    </p:spTree>
    <p:extLst>
      <p:ext uri="{BB962C8B-B14F-4D97-AF65-F5344CB8AC3E}">
        <p14:creationId xmlns:p14="http://schemas.microsoft.com/office/powerpoint/2010/main" val="216994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53C48-FD3D-8EB8-E2F2-93DDE644D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CFC99-BF5D-193F-010B-4CD5ADB069EB}"/>
              </a:ext>
            </a:extLst>
          </p:cNvPr>
          <p:cNvSpPr>
            <a:spLocks noGrp="1"/>
          </p:cNvSpPr>
          <p:nvPr>
            <p:ph type="title"/>
          </p:nvPr>
        </p:nvSpPr>
        <p:spPr>
          <a:xfrm>
            <a:off x="482600" y="597408"/>
            <a:ext cx="10634472" cy="1117092"/>
          </a:xfrm>
        </p:spPr>
        <p:txBody>
          <a:bodyPr/>
          <a:lstStyle/>
          <a:p>
            <a:r>
              <a:rPr lang="en-US" sz="4800" dirty="0"/>
              <a:t>Markov Process Example:</a:t>
            </a:r>
            <a:endParaRPr lang="en-CA" sz="4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6632AB-5AAE-5BC9-CBE2-68A143B37C43}"/>
                  </a:ext>
                </a:extLst>
              </p:cNvPr>
              <p:cNvSpPr>
                <a:spLocks noGrp="1"/>
              </p:cNvSpPr>
              <p:nvPr>
                <p:ph idx="1"/>
              </p:nvPr>
            </p:nvSpPr>
            <p:spPr>
              <a:xfrm>
                <a:off x="482600" y="1403928"/>
                <a:ext cx="10942782" cy="4475664"/>
              </a:xfrm>
            </p:spPr>
            <p:txBody>
              <a:bodyPr/>
              <a:lstStyle/>
              <a:p>
                <a:pPr marL="342900" indent="-342900">
                  <a:buFont typeface="Wingdings" panose="05000000000000000000" pitchFamily="2" charset="2"/>
                  <a:buChar char="§"/>
                </a:pPr>
                <a:r>
                  <a:rPr lang="en-US" dirty="0"/>
                  <a:t>Suppose we have a population of 1000 individuals.</a:t>
                </a:r>
              </a:p>
              <a:p>
                <a:pPr marL="342900" indent="-342900">
                  <a:buFont typeface="Wingdings" panose="05000000000000000000" pitchFamily="2" charset="2"/>
                  <a:buChar char="§"/>
                </a:pPr>
                <a:r>
                  <a:rPr lang="en-US" dirty="0"/>
                  <a:t>In each period individuals can be in one of three states and face a risk of transitioning to the  Healthy, Sick or Dead state next period.</a:t>
                </a:r>
              </a:p>
              <a:p>
                <a:pPr marL="342900" indent="-342900">
                  <a:buFont typeface="Wingdings" panose="05000000000000000000" pitchFamily="2" charset="2"/>
                  <a:buChar char="§"/>
                </a:pPr>
                <a14:m>
                  <m:oMath xmlns:m="http://schemas.openxmlformats.org/officeDocument/2006/math">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h</m:t>
                            </m:r>
                          </m:sub>
                          <m:sup>
                            <m:r>
                              <a:rPr lang="en-US" i="1">
                                <a:latin typeface="Cambria Math" panose="02040503050406030204" pitchFamily="18" charset="0"/>
                              </a:rPr>
                              <m:t>𝑖</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𝑠</m:t>
                            </m:r>
                          </m:sub>
                          <m:sup>
                            <m:r>
                              <a:rPr lang="en-US" i="1">
                                <a:latin typeface="Cambria Math" panose="02040503050406030204" pitchFamily="18" charset="0"/>
                              </a:rPr>
                              <m:t>𝑖</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𝑑</m:t>
                            </m:r>
                          </m:sub>
                          <m:sup>
                            <m:r>
                              <a:rPr lang="en-US" i="1">
                                <a:latin typeface="Cambria Math" panose="02040503050406030204" pitchFamily="18" charset="0"/>
                              </a:rPr>
                              <m:t>𝑖</m:t>
                            </m:r>
                          </m:sup>
                        </m:sSubSup>
                      </m:e>
                    </m:d>
                  </m:oMath>
                </a14:m>
                <a:r>
                  <a:rPr lang="en-US" dirty="0"/>
                  <a:t> represents a </a:t>
                </a:r>
                <a:r>
                  <a:rPr lang="en-US" b="1" dirty="0"/>
                  <a:t>vector</a:t>
                </a:r>
                <a:r>
                  <a:rPr lang="en-US" dirty="0"/>
                  <a:t> or ordered list or probabilities that individual who is in state </a:t>
                </a:r>
                <a14:m>
                  <m:oMath xmlns:m="http://schemas.openxmlformats.org/officeDocument/2006/math">
                    <m:r>
                      <a:rPr lang="en-US" b="0" i="1" smtClean="0">
                        <a:latin typeface="Cambria Math" panose="02040503050406030204" pitchFamily="18" charset="0"/>
                      </a:rPr>
                      <m:t>𝑖</m:t>
                    </m:r>
                  </m:oMath>
                </a14:m>
                <a:r>
                  <a:rPr lang="en-US" dirty="0"/>
                  <a:t> (either healthy, sick or dead) becomes healthy sick or dead next period. These probabilities sum to 1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h</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𝑠</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𝑑</m:t>
                        </m:r>
                      </m:sub>
                      <m:sup>
                        <m:r>
                          <a:rPr lang="en-US" b="0" i="1" smtClean="0">
                            <a:latin typeface="Cambria Math" panose="02040503050406030204" pitchFamily="18" charset="0"/>
                          </a:rPr>
                          <m:t>𝑖</m:t>
                        </m:r>
                      </m:sup>
                    </m:sSubSup>
                  </m:oMath>
                </a14:m>
                <a:r>
                  <a:rPr lang="en-US" dirty="0"/>
                  <a:t> for any individual.</a:t>
                </a:r>
              </a:p>
              <a:p>
                <a:pPr marL="342900" indent="-342900">
                  <a:buFont typeface="Wingdings" panose="05000000000000000000" pitchFamily="2" charset="2"/>
                  <a:buChar char="§"/>
                </a:pPr>
                <a:r>
                  <a:rPr lang="en-US" dirty="0"/>
                  <a:t>i.e.</a:t>
                </a:r>
                <a:br>
                  <a:rPr lang="en-US" dirty="0"/>
                </a:br>
                <a:r>
                  <a:rPr lang="en-US" dirty="0"/>
                  <a:t>Healthy </a:t>
                </a:r>
                <a:r>
                  <a:rPr lang="en-US" dirty="0" err="1"/>
                  <a:t>indivdiuals</a:t>
                </a:r>
                <a:r>
                  <a:rPr lang="en-US" dirty="0"/>
                  <a:t> face </a:t>
                </a:r>
                <a14:m>
                  <m:oMath xmlns:m="http://schemas.openxmlformats.org/officeDocument/2006/math">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h</m:t>
                            </m:r>
                          </m:sub>
                          <m:sup>
                            <m:r>
                              <a:rPr lang="en-US" b="0" i="1" smtClean="0">
                                <a:latin typeface="Cambria Math" panose="02040503050406030204" pitchFamily="18" charset="0"/>
                              </a:rPr>
                              <m:t>𝐻</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𝑠</m:t>
                            </m:r>
                          </m:sub>
                          <m:sup>
                            <m:r>
                              <a:rPr lang="en-US" b="0" i="1" smtClean="0">
                                <a:latin typeface="Cambria Math" panose="02040503050406030204" pitchFamily="18" charset="0"/>
                              </a:rPr>
                              <m:t>𝐻</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𝑑</m:t>
                            </m:r>
                          </m:sub>
                          <m:sup>
                            <m:r>
                              <a:rPr lang="en-US" b="0" i="1" smtClean="0">
                                <a:latin typeface="Cambria Math" panose="02040503050406030204" pitchFamily="18" charset="0"/>
                              </a:rPr>
                              <m:t>𝐻</m:t>
                            </m:r>
                          </m:sup>
                        </m:sSub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0.7,0.2,</m:t>
                        </m:r>
                        <m:r>
                          <a:rPr lang="en-US" b="0" i="0" smtClean="0">
                            <a:latin typeface="Cambria Math" panose="02040503050406030204" pitchFamily="18" charset="0"/>
                          </a:rPr>
                          <m:t>0.1</m:t>
                        </m:r>
                      </m:e>
                    </m:d>
                  </m:oMath>
                </a14:m>
                <a:br>
                  <a:rPr lang="en-US" b="0" dirty="0"/>
                </a:br>
                <a:r>
                  <a:rPr lang="en-US" b="0" dirty="0"/>
                  <a:t>Sick individuals face </a:t>
                </a:r>
                <a14:m>
                  <m:oMath xmlns:m="http://schemas.openxmlformats.org/officeDocument/2006/math">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h</m:t>
                            </m:r>
                          </m:sub>
                          <m:sup>
                            <m:r>
                              <a:rPr lang="en-US" b="0" i="1" smtClean="0">
                                <a:latin typeface="Cambria Math" panose="02040503050406030204" pitchFamily="18" charset="0"/>
                              </a:rPr>
                              <m:t>𝑆</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𝑠</m:t>
                            </m:r>
                          </m:sub>
                          <m:sup>
                            <m:r>
                              <a:rPr lang="en-US" b="0" i="1" smtClean="0">
                                <a:latin typeface="Cambria Math" panose="02040503050406030204" pitchFamily="18" charset="0"/>
                              </a:rPr>
                              <m:t>𝑆</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𝑑</m:t>
                            </m:r>
                          </m:sub>
                          <m:sup>
                            <m:r>
                              <a:rPr lang="en-US" b="0" i="1" smtClean="0">
                                <a:latin typeface="Cambria Math" panose="02040503050406030204" pitchFamily="18" charset="0"/>
                              </a:rPr>
                              <m:t>𝐷</m:t>
                            </m:r>
                          </m:sup>
                        </m:sSub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0,0.9,0.1</m:t>
                        </m:r>
                      </m:e>
                    </m:d>
                  </m:oMath>
                </a14:m>
                <a:br>
                  <a:rPr lang="en-US" dirty="0"/>
                </a:br>
                <a:r>
                  <a:rPr lang="en-US" dirty="0"/>
                  <a:t>Dead </a:t>
                </a:r>
                <a:r>
                  <a:rPr lang="en-US" dirty="0" err="1"/>
                  <a:t>indviduals</a:t>
                </a:r>
                <a:r>
                  <a:rPr lang="en-US" dirty="0"/>
                  <a:t> face </a:t>
                </a:r>
                <a14:m>
                  <m:oMath xmlns:m="http://schemas.openxmlformats.org/officeDocument/2006/math">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h</m:t>
                            </m:r>
                          </m:sub>
                          <m:sup>
                            <m:r>
                              <a:rPr lang="en-US" b="0" i="1" smtClean="0">
                                <a:latin typeface="Cambria Math" panose="02040503050406030204" pitchFamily="18" charset="0"/>
                              </a:rPr>
                              <m:t>𝐷</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𝑆</m:t>
                            </m:r>
                          </m:sub>
                          <m:sup>
                            <m:r>
                              <a:rPr lang="en-US" b="0" i="1" smtClean="0">
                                <a:latin typeface="Cambria Math" panose="02040503050406030204" pitchFamily="18" charset="0"/>
                              </a:rPr>
                              <m:t>𝐷</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𝑑</m:t>
                            </m:r>
                          </m:sub>
                          <m:sup>
                            <m:r>
                              <a:rPr lang="en-US" b="0" i="1" smtClean="0">
                                <a:latin typeface="Cambria Math" panose="02040503050406030204" pitchFamily="18" charset="0"/>
                              </a:rPr>
                              <m:t>𝐷</m:t>
                            </m:r>
                          </m:sup>
                        </m:sSubSup>
                      </m:e>
                    </m:d>
                    <m:r>
                      <a:rPr lang="en-US" b="0" i="1" smtClean="0">
                        <a:latin typeface="Cambria Math" panose="02040503050406030204" pitchFamily="18" charset="0"/>
                      </a:rPr>
                      <m:t>=(0,0,1)</m:t>
                    </m:r>
                  </m:oMath>
                </a14:m>
                <a:endParaRPr lang="en-US" dirty="0"/>
              </a:p>
              <a:p>
                <a:pPr marL="342900" indent="-342900">
                  <a:buFont typeface="Wingdings" panose="05000000000000000000" pitchFamily="2" charset="2"/>
                  <a:buChar char="§"/>
                </a:pPr>
                <a:endParaRPr lang="en-CA" dirty="0"/>
              </a:p>
            </p:txBody>
          </p:sp>
        </mc:Choice>
        <mc:Fallback xmlns="">
          <p:sp>
            <p:nvSpPr>
              <p:cNvPr id="3" name="Content Placeholder 2">
                <a:extLst>
                  <a:ext uri="{FF2B5EF4-FFF2-40B4-BE49-F238E27FC236}">
                    <a16:creationId xmlns:a16="http://schemas.microsoft.com/office/drawing/2014/main" id="{2A6632AB-5AAE-5BC9-CBE2-68A143B37C43}"/>
                  </a:ext>
                </a:extLst>
              </p:cNvPr>
              <p:cNvSpPr>
                <a:spLocks noGrp="1" noRot="1" noChangeAspect="1" noMove="1" noResize="1" noEditPoints="1" noAdjustHandles="1" noChangeArrowheads="1" noChangeShapeType="1" noTextEdit="1"/>
              </p:cNvSpPr>
              <p:nvPr>
                <p:ph idx="1"/>
              </p:nvPr>
            </p:nvSpPr>
            <p:spPr>
              <a:xfrm>
                <a:off x="482600" y="1403928"/>
                <a:ext cx="10942782" cy="4475664"/>
              </a:xfrm>
              <a:blipFill>
                <a:blip r:embed="rId2"/>
                <a:stretch>
                  <a:fillRect l="-724" t="-1088"/>
                </a:stretch>
              </a:blipFill>
            </p:spPr>
            <p:txBody>
              <a:bodyPr/>
              <a:lstStyle/>
              <a:p>
                <a:r>
                  <a:rPr lang="en-CA">
                    <a:noFill/>
                  </a:rPr>
                  <a:t> </a:t>
                </a:r>
              </a:p>
            </p:txBody>
          </p:sp>
        </mc:Fallback>
      </mc:AlternateContent>
    </p:spTree>
    <p:extLst>
      <p:ext uri="{BB962C8B-B14F-4D97-AF65-F5344CB8AC3E}">
        <p14:creationId xmlns:p14="http://schemas.microsoft.com/office/powerpoint/2010/main" val="925586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47268-4191-E12C-D1E7-0245519BB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7F90E-8AF1-248D-580A-D17D6936CEB6}"/>
              </a:ext>
            </a:extLst>
          </p:cNvPr>
          <p:cNvSpPr>
            <a:spLocks noGrp="1"/>
          </p:cNvSpPr>
          <p:nvPr>
            <p:ph type="title"/>
          </p:nvPr>
        </p:nvSpPr>
        <p:spPr>
          <a:xfrm>
            <a:off x="482600" y="286836"/>
            <a:ext cx="10634472" cy="1117092"/>
          </a:xfrm>
        </p:spPr>
        <p:txBody>
          <a:bodyPr/>
          <a:lstStyle/>
          <a:p>
            <a:r>
              <a:rPr lang="en-US" sz="4800" dirty="0"/>
              <a:t>Markov Process Example:</a:t>
            </a:r>
            <a:endParaRPr lang="en-CA" sz="4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4F3044C-2E18-DB40-89AF-97EAEE1FE894}"/>
                  </a:ext>
                </a:extLst>
              </p:cNvPr>
              <p:cNvSpPr>
                <a:spLocks noGrp="1"/>
              </p:cNvSpPr>
              <p:nvPr>
                <p:ph idx="1"/>
              </p:nvPr>
            </p:nvSpPr>
            <p:spPr>
              <a:xfrm>
                <a:off x="285171" y="955637"/>
                <a:ext cx="10942782" cy="4475664"/>
              </a:xfrm>
            </p:spPr>
            <p:txBody>
              <a:bodyPr/>
              <a:lstStyle/>
              <a:p>
                <a:pPr marL="342900" indent="-342900">
                  <a:buFont typeface="Wingdings" panose="05000000000000000000" pitchFamily="2" charset="2"/>
                  <a:buChar char="§"/>
                </a:pPr>
                <a:r>
                  <a:rPr lang="en-US" dirty="0"/>
                  <a:t>We orient this in the context of a matrix:</a:t>
                </a:r>
                <a:br>
                  <a:rPr lang="en-US" dirty="0"/>
                </a:br>
                <a14:m>
                  <m:oMath xmlns:m="http://schemas.openxmlformats.org/officeDocument/2006/math">
                    <m:d>
                      <m:dPr>
                        <m:begChr m:val="["/>
                        <m:endChr m:val="]"/>
                        <m:ctrlPr>
                          <a:rPr lang="en-US" i="1">
                            <a:latin typeface="Cambria Math" panose="02040503050406030204" pitchFamily="18" charset="0"/>
                          </a:rPr>
                        </m:ctrlPr>
                      </m:dPr>
                      <m:e>
                        <m:m>
                          <m:mPr>
                            <m:mcs>
                              <m:mc>
                                <m:mcPr>
                                  <m:count m:val="3"/>
                                  <m:mcJc m:val="center"/>
                                </m:mcPr>
                              </m:mc>
                            </m:mcs>
                            <m:ctrlPr>
                              <a:rPr lang="en-US" i="1">
                                <a:latin typeface="Cambria Math" panose="02040503050406030204" pitchFamily="18" charset="0"/>
                              </a:rPr>
                            </m:ctrlPr>
                          </m:mPr>
                          <m:m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h</m:t>
                                  </m:r>
                                </m:sub>
                                <m:sup>
                                  <m:r>
                                    <a:rPr lang="en-US" b="0" i="1" smtClean="0">
                                      <a:latin typeface="Cambria Math" panose="02040503050406030204" pitchFamily="18" charset="0"/>
                                    </a:rPr>
                                    <m:t>𝐻</m:t>
                                  </m:r>
                                </m:sup>
                              </m:sSubSup>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𝑠</m:t>
                                  </m:r>
                                </m:sub>
                                <m:sup>
                                  <m:r>
                                    <a:rPr lang="en-US" b="0" i="1" smtClean="0">
                                      <a:latin typeface="Cambria Math" panose="02040503050406030204" pitchFamily="18" charset="0"/>
                                    </a:rPr>
                                    <m:t>𝐻</m:t>
                                  </m:r>
                                </m:sup>
                              </m:sSubSup>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𝑑</m:t>
                                  </m:r>
                                </m:sub>
                                <m:sup>
                                  <m:r>
                                    <a:rPr lang="en-US" b="0" i="1" smtClean="0">
                                      <a:latin typeface="Cambria Math" panose="02040503050406030204" pitchFamily="18" charset="0"/>
                                    </a:rPr>
                                    <m:t>𝐻</m:t>
                                  </m:r>
                                </m:sup>
                              </m:sSubSup>
                            </m:e>
                          </m:mr>
                          <m:m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h</m:t>
                                  </m:r>
                                </m:sub>
                                <m:sup>
                                  <m:r>
                                    <a:rPr lang="en-US" b="0" i="1" smtClean="0">
                                      <a:latin typeface="Cambria Math" panose="02040503050406030204" pitchFamily="18" charset="0"/>
                                    </a:rPr>
                                    <m:t>𝑆</m:t>
                                  </m:r>
                                </m:sup>
                              </m:sSubSup>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𝑠</m:t>
                                  </m:r>
                                </m:sub>
                                <m:sup>
                                  <m:r>
                                    <a:rPr lang="en-US" b="0" i="1" smtClean="0">
                                      <a:latin typeface="Cambria Math" panose="02040503050406030204" pitchFamily="18" charset="0"/>
                                    </a:rPr>
                                    <m:t>𝑆</m:t>
                                  </m:r>
                                </m:sup>
                              </m:sSubSup>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𝑑</m:t>
                                  </m:r>
                                </m:sub>
                                <m:sup>
                                  <m:r>
                                    <a:rPr lang="en-US" b="0" i="1" smtClean="0">
                                      <a:latin typeface="Cambria Math" panose="02040503050406030204" pitchFamily="18" charset="0"/>
                                    </a:rPr>
                                    <m:t>𝑆</m:t>
                                  </m:r>
                                </m:sup>
                              </m:sSubSup>
                            </m:e>
                          </m:mr>
                          <m:m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h</m:t>
                                  </m:r>
                                </m:sub>
                                <m:sup>
                                  <m:r>
                                    <a:rPr lang="en-US" b="0" i="1" smtClean="0">
                                      <a:latin typeface="Cambria Math" panose="02040503050406030204" pitchFamily="18" charset="0"/>
                                    </a:rPr>
                                    <m:t>𝐷</m:t>
                                  </m:r>
                                </m:sup>
                              </m:sSubSup>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𝑠</m:t>
                                  </m:r>
                                </m:sub>
                                <m:sup>
                                  <m:r>
                                    <a:rPr lang="en-US" b="0" i="1" smtClean="0">
                                      <a:latin typeface="Cambria Math" panose="02040503050406030204" pitchFamily="18" charset="0"/>
                                    </a:rPr>
                                    <m:t>𝐷</m:t>
                                  </m:r>
                                </m:sup>
                              </m:sSubSup>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𝑑</m:t>
                                  </m:r>
                                </m:sub>
                                <m:sup>
                                  <m:r>
                                    <a:rPr lang="en-US" b="0" i="1" smtClean="0">
                                      <a:latin typeface="Cambria Math" panose="02040503050406030204" pitchFamily="18" charset="0"/>
                                    </a:rPr>
                                    <m:t>𝐷</m:t>
                                  </m:r>
                                </m:sup>
                              </m:sSubSup>
                            </m:e>
                          </m:mr>
                        </m:m>
                      </m:e>
                    </m:d>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.7</m:t>
                              </m:r>
                            </m:e>
                            <m:e>
                              <m:r>
                                <a:rPr lang="en-US" b="0" i="1" smtClean="0">
                                  <a:latin typeface="Cambria Math" panose="02040503050406030204" pitchFamily="18" charset="0"/>
                                </a:rPr>
                                <m:t>0.2</m:t>
                              </m:r>
                            </m:e>
                            <m:e>
                              <m:r>
                                <a:rPr lang="en-US" b="0" i="1" smtClean="0">
                                  <a:latin typeface="Cambria Math" panose="02040503050406030204" pitchFamily="18" charset="0"/>
                                </a:rPr>
                                <m:t>0.1</m:t>
                              </m:r>
                            </m:e>
                          </m:mr>
                          <m:mr>
                            <m:e>
                              <m:r>
                                <a:rPr lang="en-US" b="0" i="1" smtClean="0">
                                  <a:latin typeface="Cambria Math" panose="02040503050406030204" pitchFamily="18" charset="0"/>
                                </a:rPr>
                                <m:t>0</m:t>
                              </m:r>
                            </m:e>
                            <m:e>
                              <m:r>
                                <a:rPr lang="en-US" b="0" i="1" smtClean="0">
                                  <a:latin typeface="Cambria Math" panose="02040503050406030204" pitchFamily="18" charset="0"/>
                                </a:rPr>
                                <m:t>0.9</m:t>
                              </m:r>
                            </m:e>
                            <m:e>
                              <m:r>
                                <a:rPr lang="en-US" b="0" i="1" smtClean="0">
                                  <a:latin typeface="Cambria Math" panose="02040503050406030204" pitchFamily="18" charset="0"/>
                                </a:rPr>
                                <m:t>0.1</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a14:m>
                <a:endParaRPr lang="en-CA" dirty="0"/>
              </a:p>
              <a:p>
                <a:pPr marL="342900" indent="-342900">
                  <a:buFont typeface="Wingdings" panose="05000000000000000000" pitchFamily="2" charset="2"/>
                  <a:buChar char="§"/>
                </a:pPr>
                <a:r>
                  <a:rPr lang="en-CA" dirty="0"/>
                  <a:t>Graphically we can represent this model as:</a:t>
                </a:r>
                <a:br>
                  <a:rPr lang="en-CA" dirty="0"/>
                </a:br>
                <a:endParaRPr lang="en-CA" dirty="0"/>
              </a:p>
            </p:txBody>
          </p:sp>
        </mc:Choice>
        <mc:Fallback xmlns="">
          <p:sp>
            <p:nvSpPr>
              <p:cNvPr id="3" name="Content Placeholder 2">
                <a:extLst>
                  <a:ext uri="{FF2B5EF4-FFF2-40B4-BE49-F238E27FC236}">
                    <a16:creationId xmlns:a16="http://schemas.microsoft.com/office/drawing/2014/main" id="{24F3044C-2E18-DB40-89AF-97EAEE1FE894}"/>
                  </a:ext>
                </a:extLst>
              </p:cNvPr>
              <p:cNvSpPr>
                <a:spLocks noGrp="1" noRot="1" noChangeAspect="1" noMove="1" noResize="1" noEditPoints="1" noAdjustHandles="1" noChangeArrowheads="1" noChangeShapeType="1" noTextEdit="1"/>
              </p:cNvSpPr>
              <p:nvPr>
                <p:ph idx="1"/>
              </p:nvPr>
            </p:nvSpPr>
            <p:spPr>
              <a:xfrm>
                <a:off x="285171" y="955637"/>
                <a:ext cx="10942782" cy="4475664"/>
              </a:xfrm>
              <a:blipFill>
                <a:blip r:embed="rId3"/>
                <a:stretch>
                  <a:fillRect l="-780" t="-1090"/>
                </a:stretch>
              </a:blipFill>
            </p:spPr>
            <p:txBody>
              <a:bodyPr/>
              <a:lstStyle/>
              <a:p>
                <a:r>
                  <a:rPr lang="en-CA">
                    <a:noFill/>
                  </a:rPr>
                  <a:t> </a:t>
                </a:r>
              </a:p>
            </p:txBody>
          </p:sp>
        </mc:Fallback>
      </mc:AlternateContent>
      <p:sp>
        <p:nvSpPr>
          <p:cNvPr id="4" name="Oval 3">
            <a:extLst>
              <a:ext uri="{FF2B5EF4-FFF2-40B4-BE49-F238E27FC236}">
                <a16:creationId xmlns:a16="http://schemas.microsoft.com/office/drawing/2014/main" id="{63884B6B-6A64-BA3B-E5BA-6D8245B9E9AE}"/>
              </a:ext>
            </a:extLst>
          </p:cNvPr>
          <p:cNvSpPr/>
          <p:nvPr/>
        </p:nvSpPr>
        <p:spPr>
          <a:xfrm>
            <a:off x="3553690" y="4876796"/>
            <a:ext cx="1512453" cy="1362363"/>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Healthy</a:t>
            </a:r>
            <a:endParaRPr lang="en-CA" dirty="0">
              <a:solidFill>
                <a:schemeClr val="tx1"/>
              </a:solidFill>
            </a:endParaRPr>
          </a:p>
        </p:txBody>
      </p:sp>
      <p:sp>
        <p:nvSpPr>
          <p:cNvPr id="5" name="Oval 4">
            <a:extLst>
              <a:ext uri="{FF2B5EF4-FFF2-40B4-BE49-F238E27FC236}">
                <a16:creationId xmlns:a16="http://schemas.microsoft.com/office/drawing/2014/main" id="{37B7155F-0D32-4B75-C578-98ACA82FD42B}"/>
              </a:ext>
            </a:extLst>
          </p:cNvPr>
          <p:cNvSpPr/>
          <p:nvPr/>
        </p:nvSpPr>
        <p:spPr>
          <a:xfrm>
            <a:off x="5417127" y="3425314"/>
            <a:ext cx="1357745" cy="1256146"/>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Sick</a:t>
            </a:r>
            <a:endParaRPr lang="en-CA" dirty="0">
              <a:solidFill>
                <a:schemeClr val="tx1"/>
              </a:solidFill>
            </a:endParaRPr>
          </a:p>
        </p:txBody>
      </p:sp>
      <p:sp>
        <p:nvSpPr>
          <p:cNvPr id="6" name="Oval 5">
            <a:extLst>
              <a:ext uri="{FF2B5EF4-FFF2-40B4-BE49-F238E27FC236}">
                <a16:creationId xmlns:a16="http://schemas.microsoft.com/office/drawing/2014/main" id="{2854B574-1865-01CE-5D0A-97BB9CAF446F}"/>
              </a:ext>
            </a:extLst>
          </p:cNvPr>
          <p:cNvSpPr/>
          <p:nvPr/>
        </p:nvSpPr>
        <p:spPr>
          <a:xfrm>
            <a:off x="7316355" y="4929904"/>
            <a:ext cx="1357745" cy="1256146"/>
          </a:xfrm>
          <a:prstGeom prst="ellipse">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Dead</a:t>
            </a:r>
            <a:endParaRPr lang="en-CA" dirty="0">
              <a:solidFill>
                <a:schemeClr val="tx1"/>
              </a:solidFill>
            </a:endParaRPr>
          </a:p>
        </p:txBody>
      </p:sp>
      <p:cxnSp>
        <p:nvCxnSpPr>
          <p:cNvPr id="8" name="Straight Arrow Connector 7">
            <a:extLst>
              <a:ext uri="{FF2B5EF4-FFF2-40B4-BE49-F238E27FC236}">
                <a16:creationId xmlns:a16="http://schemas.microsoft.com/office/drawing/2014/main" id="{9C7575D4-B663-46A3-AF1A-3DD7073DFB81}"/>
              </a:ext>
            </a:extLst>
          </p:cNvPr>
          <p:cNvCxnSpPr>
            <a:cxnSpLocks/>
            <a:stCxn id="4" idx="6"/>
            <a:endCxn id="6" idx="2"/>
          </p:cNvCxnSpPr>
          <p:nvPr/>
        </p:nvCxnSpPr>
        <p:spPr>
          <a:xfrm flipV="1">
            <a:off x="5066143" y="5557977"/>
            <a:ext cx="2250212" cy="1"/>
          </a:xfrm>
          <a:prstGeom prst="straightConnector1">
            <a:avLst/>
          </a:prstGeom>
          <a:ln w="57150">
            <a:solidFill>
              <a:srgbClr val="242424"/>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55A0EB7-4D91-F3B8-2052-94C04FA18F0D}"/>
              </a:ext>
            </a:extLst>
          </p:cNvPr>
          <p:cNvCxnSpPr>
            <a:cxnSpLocks/>
            <a:stCxn id="4" idx="7"/>
            <a:endCxn id="5" idx="3"/>
          </p:cNvCxnSpPr>
          <p:nvPr/>
        </p:nvCxnSpPr>
        <p:spPr>
          <a:xfrm flipV="1">
            <a:off x="4844649" y="4497502"/>
            <a:ext cx="771315" cy="578807"/>
          </a:xfrm>
          <a:prstGeom prst="straightConnector1">
            <a:avLst/>
          </a:prstGeom>
          <a:ln w="57150">
            <a:solidFill>
              <a:srgbClr val="242424"/>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79E6F20-BAEA-A915-689D-82CADAAB26DB}"/>
              </a:ext>
            </a:extLst>
          </p:cNvPr>
          <p:cNvCxnSpPr>
            <a:cxnSpLocks/>
            <a:stCxn id="5" idx="5"/>
            <a:endCxn id="6" idx="1"/>
          </p:cNvCxnSpPr>
          <p:nvPr/>
        </p:nvCxnSpPr>
        <p:spPr>
          <a:xfrm>
            <a:off x="6576035" y="4497502"/>
            <a:ext cx="939157" cy="616360"/>
          </a:xfrm>
          <a:prstGeom prst="straightConnector1">
            <a:avLst/>
          </a:prstGeom>
          <a:ln w="57150">
            <a:solidFill>
              <a:srgbClr val="242424"/>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Curved 17">
            <a:extLst>
              <a:ext uri="{FF2B5EF4-FFF2-40B4-BE49-F238E27FC236}">
                <a16:creationId xmlns:a16="http://schemas.microsoft.com/office/drawing/2014/main" id="{B4D78449-0D28-27EA-5E10-5EDE191E77BA}"/>
              </a:ext>
            </a:extLst>
          </p:cNvPr>
          <p:cNvCxnSpPr>
            <a:cxnSpLocks/>
            <a:stCxn id="6" idx="0"/>
            <a:endCxn id="6" idx="6"/>
          </p:cNvCxnSpPr>
          <p:nvPr/>
        </p:nvCxnSpPr>
        <p:spPr>
          <a:xfrm rot="16200000" flipH="1">
            <a:off x="8020627" y="4904504"/>
            <a:ext cx="628073" cy="678872"/>
          </a:xfrm>
          <a:prstGeom prst="curvedConnector4">
            <a:avLst>
              <a:gd name="adj1" fmla="val -36397"/>
              <a:gd name="adj2" fmla="val 133674"/>
            </a:avLst>
          </a:prstGeom>
          <a:ln w="57150">
            <a:solidFill>
              <a:srgbClr val="24242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3B568045-9DED-F2D9-B0C2-8DAD035C0F52}"/>
              </a:ext>
            </a:extLst>
          </p:cNvPr>
          <p:cNvCxnSpPr>
            <a:cxnSpLocks/>
            <a:stCxn id="4" idx="2"/>
            <a:endCxn id="4" idx="0"/>
          </p:cNvCxnSpPr>
          <p:nvPr/>
        </p:nvCxnSpPr>
        <p:spPr>
          <a:xfrm rot="10800000" flipH="1">
            <a:off x="3553689" y="4876796"/>
            <a:ext cx="756227" cy="681182"/>
          </a:xfrm>
          <a:prstGeom prst="curvedConnector4">
            <a:avLst>
              <a:gd name="adj1" fmla="val -30229"/>
              <a:gd name="adj2" fmla="val 133559"/>
            </a:avLst>
          </a:prstGeom>
          <a:ln w="57150">
            <a:solidFill>
              <a:srgbClr val="242424"/>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nector: Curved 22">
            <a:extLst>
              <a:ext uri="{FF2B5EF4-FFF2-40B4-BE49-F238E27FC236}">
                <a16:creationId xmlns:a16="http://schemas.microsoft.com/office/drawing/2014/main" id="{2CBBEA2B-44A2-6F8A-3769-AF2C51492CE4}"/>
              </a:ext>
            </a:extLst>
          </p:cNvPr>
          <p:cNvCxnSpPr>
            <a:cxnSpLocks/>
            <a:stCxn id="5" idx="2"/>
            <a:endCxn id="5" idx="0"/>
          </p:cNvCxnSpPr>
          <p:nvPr/>
        </p:nvCxnSpPr>
        <p:spPr>
          <a:xfrm rot="10800000" flipH="1">
            <a:off x="5417126" y="3425315"/>
            <a:ext cx="678873" cy="628073"/>
          </a:xfrm>
          <a:prstGeom prst="curvedConnector4">
            <a:avLst>
              <a:gd name="adj1" fmla="val -33673"/>
              <a:gd name="adj2" fmla="val 136397"/>
            </a:avLst>
          </a:prstGeom>
          <a:ln w="57150">
            <a:solidFill>
              <a:srgbClr val="242424"/>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CD1340F-EAB7-7457-847F-8636FB3D90C7}"/>
              </a:ext>
            </a:extLst>
          </p:cNvPr>
          <p:cNvSpPr txBox="1"/>
          <p:nvPr/>
        </p:nvSpPr>
        <p:spPr>
          <a:xfrm>
            <a:off x="3206123" y="4357730"/>
            <a:ext cx="479618" cy="369332"/>
          </a:xfrm>
          <a:prstGeom prst="rect">
            <a:avLst/>
          </a:prstGeom>
          <a:noFill/>
        </p:spPr>
        <p:txBody>
          <a:bodyPr wrap="none" rtlCol="0">
            <a:spAutoFit/>
          </a:bodyPr>
          <a:lstStyle/>
          <a:p>
            <a:r>
              <a:rPr lang="en-US" dirty="0"/>
              <a:t>0.7</a:t>
            </a:r>
            <a:endParaRPr lang="en-CA" dirty="0"/>
          </a:p>
        </p:txBody>
      </p:sp>
      <p:sp>
        <p:nvSpPr>
          <p:cNvPr id="27" name="TextBox 26">
            <a:extLst>
              <a:ext uri="{FF2B5EF4-FFF2-40B4-BE49-F238E27FC236}">
                <a16:creationId xmlns:a16="http://schemas.microsoft.com/office/drawing/2014/main" id="{0AB06422-2F28-9708-E2C5-82A7074FD588}"/>
              </a:ext>
            </a:extLst>
          </p:cNvPr>
          <p:cNvSpPr txBox="1"/>
          <p:nvPr/>
        </p:nvSpPr>
        <p:spPr>
          <a:xfrm>
            <a:off x="5763322" y="5587842"/>
            <a:ext cx="479618" cy="369332"/>
          </a:xfrm>
          <a:prstGeom prst="rect">
            <a:avLst/>
          </a:prstGeom>
          <a:noFill/>
        </p:spPr>
        <p:txBody>
          <a:bodyPr wrap="none" rtlCol="0">
            <a:spAutoFit/>
          </a:bodyPr>
          <a:lstStyle/>
          <a:p>
            <a:r>
              <a:rPr lang="en-US" dirty="0"/>
              <a:t>0.1</a:t>
            </a:r>
            <a:endParaRPr lang="en-CA" dirty="0"/>
          </a:p>
        </p:txBody>
      </p:sp>
      <p:sp>
        <p:nvSpPr>
          <p:cNvPr id="28" name="TextBox 27">
            <a:extLst>
              <a:ext uri="{FF2B5EF4-FFF2-40B4-BE49-F238E27FC236}">
                <a16:creationId xmlns:a16="http://schemas.microsoft.com/office/drawing/2014/main" id="{AC211CFF-8EA6-4D31-BE7D-EB317B856D6B}"/>
              </a:ext>
            </a:extLst>
          </p:cNvPr>
          <p:cNvSpPr txBox="1"/>
          <p:nvPr/>
        </p:nvSpPr>
        <p:spPr>
          <a:xfrm>
            <a:off x="4645812" y="4454216"/>
            <a:ext cx="479618" cy="369332"/>
          </a:xfrm>
          <a:prstGeom prst="rect">
            <a:avLst/>
          </a:prstGeom>
          <a:noFill/>
        </p:spPr>
        <p:txBody>
          <a:bodyPr wrap="none" rtlCol="0">
            <a:spAutoFit/>
          </a:bodyPr>
          <a:lstStyle/>
          <a:p>
            <a:r>
              <a:rPr lang="en-US" dirty="0"/>
              <a:t>0.2</a:t>
            </a:r>
            <a:endParaRPr lang="en-CA" dirty="0"/>
          </a:p>
        </p:txBody>
      </p:sp>
      <p:sp>
        <p:nvSpPr>
          <p:cNvPr id="29" name="TextBox 28">
            <a:extLst>
              <a:ext uri="{FF2B5EF4-FFF2-40B4-BE49-F238E27FC236}">
                <a16:creationId xmlns:a16="http://schemas.microsoft.com/office/drawing/2014/main" id="{87E584E7-3E2B-54B3-8E5A-2DBF52D71C02}"/>
              </a:ext>
            </a:extLst>
          </p:cNvPr>
          <p:cNvSpPr txBox="1"/>
          <p:nvPr/>
        </p:nvSpPr>
        <p:spPr>
          <a:xfrm>
            <a:off x="4697697" y="3272121"/>
            <a:ext cx="479618" cy="369332"/>
          </a:xfrm>
          <a:prstGeom prst="rect">
            <a:avLst/>
          </a:prstGeom>
          <a:noFill/>
        </p:spPr>
        <p:txBody>
          <a:bodyPr wrap="none" rtlCol="0">
            <a:spAutoFit/>
          </a:bodyPr>
          <a:lstStyle/>
          <a:p>
            <a:r>
              <a:rPr lang="en-US" dirty="0"/>
              <a:t>0.9</a:t>
            </a:r>
            <a:endParaRPr lang="en-CA" dirty="0"/>
          </a:p>
        </p:txBody>
      </p:sp>
      <p:sp>
        <p:nvSpPr>
          <p:cNvPr id="30" name="TextBox 29">
            <a:extLst>
              <a:ext uri="{FF2B5EF4-FFF2-40B4-BE49-F238E27FC236}">
                <a16:creationId xmlns:a16="http://schemas.microsoft.com/office/drawing/2014/main" id="{3AE12BE6-21C3-C137-6FE2-DF6FBD880A45}"/>
              </a:ext>
            </a:extLst>
          </p:cNvPr>
          <p:cNvSpPr txBox="1"/>
          <p:nvPr/>
        </p:nvSpPr>
        <p:spPr>
          <a:xfrm>
            <a:off x="7056571" y="4410838"/>
            <a:ext cx="479618" cy="369332"/>
          </a:xfrm>
          <a:prstGeom prst="rect">
            <a:avLst/>
          </a:prstGeom>
          <a:noFill/>
        </p:spPr>
        <p:txBody>
          <a:bodyPr wrap="none" rtlCol="0">
            <a:spAutoFit/>
          </a:bodyPr>
          <a:lstStyle/>
          <a:p>
            <a:r>
              <a:rPr lang="en-US" dirty="0"/>
              <a:t>0.1</a:t>
            </a:r>
            <a:endParaRPr lang="en-CA" dirty="0"/>
          </a:p>
        </p:txBody>
      </p:sp>
      <p:sp>
        <p:nvSpPr>
          <p:cNvPr id="31" name="TextBox 30">
            <a:extLst>
              <a:ext uri="{FF2B5EF4-FFF2-40B4-BE49-F238E27FC236}">
                <a16:creationId xmlns:a16="http://schemas.microsoft.com/office/drawing/2014/main" id="{AFF0FEB8-3F3B-4513-576F-F55F96F6C7C9}"/>
              </a:ext>
            </a:extLst>
          </p:cNvPr>
          <p:cNvSpPr txBox="1"/>
          <p:nvPr/>
        </p:nvSpPr>
        <p:spPr>
          <a:xfrm>
            <a:off x="8577888" y="4454216"/>
            <a:ext cx="306494" cy="369332"/>
          </a:xfrm>
          <a:prstGeom prst="rect">
            <a:avLst/>
          </a:prstGeom>
          <a:noFill/>
        </p:spPr>
        <p:txBody>
          <a:bodyPr wrap="none" rtlCol="0">
            <a:spAutoFit/>
          </a:bodyPr>
          <a:lstStyle/>
          <a:p>
            <a:r>
              <a:rPr lang="en-US" dirty="0"/>
              <a:t>1</a:t>
            </a:r>
            <a:endParaRPr lang="en-CA" dirty="0"/>
          </a:p>
        </p:txBody>
      </p:sp>
      <p:sp>
        <p:nvSpPr>
          <p:cNvPr id="32" name="Rectangle: Rounded Corners 31">
            <a:extLst>
              <a:ext uri="{FF2B5EF4-FFF2-40B4-BE49-F238E27FC236}">
                <a16:creationId xmlns:a16="http://schemas.microsoft.com/office/drawing/2014/main" id="{158F9C50-B593-2F6B-1A8D-228260ECC466}"/>
              </a:ext>
            </a:extLst>
          </p:cNvPr>
          <p:cNvSpPr/>
          <p:nvPr/>
        </p:nvSpPr>
        <p:spPr>
          <a:xfrm>
            <a:off x="9467273" y="2604655"/>
            <a:ext cx="2295413" cy="2826646"/>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US" i="1" dirty="0"/>
              <a:t>Note: In this context the Dead state is called the </a:t>
            </a:r>
            <a:r>
              <a:rPr lang="en-US" b="1" i="1" dirty="0"/>
              <a:t>ABSORBING STATE </a:t>
            </a:r>
            <a:r>
              <a:rPr lang="en-US" i="1" dirty="0"/>
              <a:t>as it is the state where all individuals will end up if the model is simulated long enough.</a:t>
            </a:r>
            <a:endParaRPr lang="en-CA" i="1" dirty="0"/>
          </a:p>
        </p:txBody>
      </p:sp>
    </p:spTree>
    <p:extLst>
      <p:ext uri="{BB962C8B-B14F-4D97-AF65-F5344CB8AC3E}">
        <p14:creationId xmlns:p14="http://schemas.microsoft.com/office/powerpoint/2010/main" val="2466295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1EC26-F51D-A326-BEF2-60F86696E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E3C77-5F5C-3D97-F2DB-E14F88176D67}"/>
              </a:ext>
            </a:extLst>
          </p:cNvPr>
          <p:cNvSpPr>
            <a:spLocks noGrp="1"/>
          </p:cNvSpPr>
          <p:nvPr>
            <p:ph type="title"/>
          </p:nvPr>
        </p:nvSpPr>
        <p:spPr>
          <a:xfrm>
            <a:off x="482600" y="597408"/>
            <a:ext cx="10634472" cy="1117092"/>
          </a:xfrm>
        </p:spPr>
        <p:txBody>
          <a:bodyPr/>
          <a:lstStyle/>
          <a:p>
            <a:r>
              <a:rPr lang="en-US" sz="4800" dirty="0"/>
              <a:t>On Computing Markov Models</a:t>
            </a:r>
            <a:endParaRPr lang="en-CA" sz="4800" dirty="0"/>
          </a:p>
        </p:txBody>
      </p:sp>
      <p:sp>
        <p:nvSpPr>
          <p:cNvPr id="3" name="Content Placeholder 2">
            <a:extLst>
              <a:ext uri="{FF2B5EF4-FFF2-40B4-BE49-F238E27FC236}">
                <a16:creationId xmlns:a16="http://schemas.microsoft.com/office/drawing/2014/main" id="{B068340E-CE29-F39F-54B8-20B35B01A384}"/>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US" dirty="0"/>
              <a:t>Computing Markov Models requires some matrix multiplication and defining of what our initial cohort size and distribution of states are.</a:t>
            </a:r>
          </a:p>
          <a:p>
            <a:pPr marL="342900" indent="-342900">
              <a:buFont typeface="Wingdings" panose="05000000000000000000" pitchFamily="2" charset="2"/>
              <a:buChar char="§"/>
            </a:pPr>
            <a:r>
              <a:rPr lang="en-US" dirty="0"/>
              <a:t>This is beyond the scope of this lecture.</a:t>
            </a:r>
          </a:p>
          <a:p>
            <a:pPr marL="342900" indent="-342900">
              <a:buFont typeface="Wingdings" panose="05000000000000000000" pitchFamily="2" charset="2"/>
              <a:buChar char="§"/>
            </a:pPr>
            <a:r>
              <a:rPr lang="en-US" dirty="0"/>
              <a:t>I have linked some resources on Markov models if you are interested in computing them</a:t>
            </a:r>
          </a:p>
          <a:p>
            <a:pPr marL="342900" indent="-342900">
              <a:buFont typeface="Wingdings" panose="05000000000000000000" pitchFamily="2" charset="2"/>
              <a:buChar char="§"/>
            </a:pPr>
            <a:r>
              <a:rPr lang="en-CA" b="1" dirty="0"/>
              <a:t>ALL YOU NEED TO KNOW IS THAT THE WAY OUTCOMES MAY BE CALCULATED ARE ACCORDING TO  THIS PROCESS</a:t>
            </a:r>
          </a:p>
        </p:txBody>
      </p:sp>
    </p:spTree>
    <p:extLst>
      <p:ext uri="{BB962C8B-B14F-4D97-AF65-F5344CB8AC3E}">
        <p14:creationId xmlns:p14="http://schemas.microsoft.com/office/powerpoint/2010/main" val="14491187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AFE09-C0B4-6BE1-A593-5C64A0121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01FBE-B20D-EEEA-3D8B-85BF7ED8BA9D}"/>
              </a:ext>
            </a:extLst>
          </p:cNvPr>
          <p:cNvSpPr>
            <a:spLocks noGrp="1"/>
          </p:cNvSpPr>
          <p:nvPr>
            <p:ph type="title"/>
          </p:nvPr>
        </p:nvSpPr>
        <p:spPr>
          <a:xfrm>
            <a:off x="482600" y="597408"/>
            <a:ext cx="10634472" cy="1117092"/>
          </a:xfrm>
        </p:spPr>
        <p:txBody>
          <a:bodyPr/>
          <a:lstStyle/>
          <a:p>
            <a:r>
              <a:rPr lang="en-US" sz="4800" dirty="0"/>
              <a:t>Markov Models VS Decision Trees</a:t>
            </a:r>
            <a:endParaRPr lang="en-CA" sz="4800" dirty="0"/>
          </a:p>
        </p:txBody>
      </p:sp>
      <p:sp>
        <p:nvSpPr>
          <p:cNvPr id="3" name="Content Placeholder 2">
            <a:extLst>
              <a:ext uri="{FF2B5EF4-FFF2-40B4-BE49-F238E27FC236}">
                <a16:creationId xmlns:a16="http://schemas.microsoft.com/office/drawing/2014/main" id="{22A0B40A-F2CF-3A40-DCC4-95E42F05843A}"/>
              </a:ext>
            </a:extLst>
          </p:cNvPr>
          <p:cNvSpPr>
            <a:spLocks noGrp="1"/>
          </p:cNvSpPr>
          <p:nvPr>
            <p:ph idx="1"/>
          </p:nvPr>
        </p:nvSpPr>
        <p:spPr>
          <a:xfrm>
            <a:off x="482600" y="1943100"/>
            <a:ext cx="10506991" cy="3936491"/>
          </a:xfrm>
        </p:spPr>
        <p:txBody>
          <a:bodyPr/>
          <a:lstStyle/>
          <a:p>
            <a:pPr marL="342900" indent="-342900">
              <a:buFont typeface="Wingdings" panose="05000000000000000000" pitchFamily="2" charset="2"/>
              <a:buChar char="§"/>
            </a:pPr>
            <a:r>
              <a:rPr lang="en-US" dirty="0"/>
              <a:t>Decision makers are still making a choice between treatment options however their choice faces a complex risk structure.</a:t>
            </a:r>
          </a:p>
          <a:p>
            <a:pPr marL="342900" indent="-342900">
              <a:buFont typeface="Wingdings" panose="05000000000000000000" pitchFamily="2" charset="2"/>
              <a:buChar char="§"/>
            </a:pPr>
            <a:r>
              <a:rPr lang="en-US" dirty="0"/>
              <a:t>Medical decision making is complex and often one model can make more sense to use compared to another.</a:t>
            </a:r>
          </a:p>
          <a:p>
            <a:pPr marL="342900" indent="-342900">
              <a:buFont typeface="Wingdings" panose="05000000000000000000" pitchFamily="2" charset="2"/>
              <a:buChar char="§"/>
            </a:pPr>
            <a:r>
              <a:rPr lang="en-US" dirty="0"/>
              <a:t>While there are no set rules, the choice of model often depends on the </a:t>
            </a:r>
            <a:r>
              <a:rPr lang="en-US" dirty="0" err="1"/>
              <a:t>horizion</a:t>
            </a:r>
            <a:r>
              <a:rPr lang="en-US" dirty="0"/>
              <a:t> of analysis and if repeated events are possible.</a:t>
            </a:r>
            <a:endParaRPr lang="en-CA" dirty="0"/>
          </a:p>
          <a:p>
            <a:pPr marL="1028700" lvl="1" indent="-342900">
              <a:buFont typeface="Wingdings" panose="05000000000000000000" pitchFamily="2" charset="2"/>
              <a:buChar char="§"/>
            </a:pPr>
            <a:r>
              <a:rPr lang="en-CA" dirty="0"/>
              <a:t>Short time </a:t>
            </a:r>
            <a:r>
              <a:rPr lang="en-CA" dirty="0" err="1"/>
              <a:t>horizions</a:t>
            </a:r>
            <a:r>
              <a:rPr lang="en-CA" dirty="0"/>
              <a:t> are more permitting of decision tree models over Markov models.</a:t>
            </a:r>
          </a:p>
          <a:p>
            <a:pPr marL="1028700" lvl="1" indent="-342900">
              <a:buFont typeface="Wingdings" panose="05000000000000000000" pitchFamily="2" charset="2"/>
              <a:buChar char="§"/>
            </a:pPr>
            <a:r>
              <a:rPr lang="en-CA" dirty="0"/>
              <a:t>While repeated events can be accommodated in a decision tree framework, it becomes both graphically and computationally cumbersome to work with them.</a:t>
            </a:r>
            <a:endParaRPr lang="en-US" dirty="0"/>
          </a:p>
        </p:txBody>
      </p:sp>
    </p:spTree>
    <p:extLst>
      <p:ext uri="{BB962C8B-B14F-4D97-AF65-F5344CB8AC3E}">
        <p14:creationId xmlns:p14="http://schemas.microsoft.com/office/powerpoint/2010/main" val="3690077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28FEB-6332-8BFD-2370-032B063C5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DECE5-94A9-6221-205F-D4D315DFE947}"/>
              </a:ext>
            </a:extLst>
          </p:cNvPr>
          <p:cNvSpPr>
            <a:spLocks noGrp="1"/>
          </p:cNvSpPr>
          <p:nvPr>
            <p:ph type="title"/>
          </p:nvPr>
        </p:nvSpPr>
        <p:spPr/>
        <p:txBody>
          <a:bodyPr/>
          <a:lstStyle/>
          <a:p>
            <a:r>
              <a:rPr lang="en-CA" dirty="0"/>
              <a:t>Types of Analysis: CMA, CEA, CUA and CBA.</a:t>
            </a:r>
          </a:p>
        </p:txBody>
      </p:sp>
      <p:sp>
        <p:nvSpPr>
          <p:cNvPr id="3" name="Text Placeholder 2">
            <a:extLst>
              <a:ext uri="{FF2B5EF4-FFF2-40B4-BE49-F238E27FC236}">
                <a16:creationId xmlns:a16="http://schemas.microsoft.com/office/drawing/2014/main" id="{015265C4-3D1D-63A6-654E-6A24CBF5CEB5}"/>
              </a:ext>
            </a:extLst>
          </p:cNvPr>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342964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16CD0-29EF-4B19-14EA-F5B8FDC1E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E7ED0-1771-1EA9-7DED-8CAAE047D436}"/>
              </a:ext>
            </a:extLst>
          </p:cNvPr>
          <p:cNvSpPr>
            <a:spLocks noGrp="1"/>
          </p:cNvSpPr>
          <p:nvPr>
            <p:ph type="title"/>
          </p:nvPr>
        </p:nvSpPr>
        <p:spPr>
          <a:xfrm>
            <a:off x="482600" y="597408"/>
            <a:ext cx="10634472" cy="1117092"/>
          </a:xfrm>
        </p:spPr>
        <p:txBody>
          <a:bodyPr/>
          <a:lstStyle/>
          <a:p>
            <a:r>
              <a:rPr lang="en-US" sz="4800" dirty="0"/>
              <a:t>Analysis type</a:t>
            </a:r>
            <a:endParaRPr lang="en-CA" sz="4800" dirty="0"/>
          </a:p>
        </p:txBody>
      </p:sp>
      <p:sp>
        <p:nvSpPr>
          <p:cNvPr id="3" name="Content Placeholder 2">
            <a:extLst>
              <a:ext uri="{FF2B5EF4-FFF2-40B4-BE49-F238E27FC236}">
                <a16:creationId xmlns:a16="http://schemas.microsoft.com/office/drawing/2014/main" id="{2893F694-08AA-317A-0FA0-F2B0DBE1360A}"/>
              </a:ext>
            </a:extLst>
          </p:cNvPr>
          <p:cNvSpPr>
            <a:spLocks noGrp="1"/>
          </p:cNvSpPr>
          <p:nvPr>
            <p:ph idx="1"/>
          </p:nvPr>
        </p:nvSpPr>
        <p:spPr>
          <a:xfrm>
            <a:off x="482600" y="1629064"/>
            <a:ext cx="10506991" cy="4300681"/>
          </a:xfrm>
        </p:spPr>
        <p:txBody>
          <a:bodyPr>
            <a:normAutofit fontScale="92500" lnSpcReduction="20000"/>
          </a:bodyPr>
          <a:lstStyle/>
          <a:p>
            <a:pPr marL="342900" indent="-342900">
              <a:buFont typeface="Wingdings" panose="05000000000000000000" pitchFamily="2" charset="2"/>
              <a:buChar char="§"/>
            </a:pPr>
            <a:r>
              <a:rPr lang="en-US" dirty="0"/>
              <a:t>The purpose of economic evaluation and health technology assessment is to determine if the adoption of new technology (or the continued funding of older technology which is already in place) is efficient.</a:t>
            </a:r>
          </a:p>
          <a:p>
            <a:pPr marL="342900" indent="-342900">
              <a:buFont typeface="Wingdings" panose="05000000000000000000" pitchFamily="2" charset="2"/>
              <a:buChar char="§"/>
            </a:pPr>
            <a:r>
              <a:rPr lang="en-US" dirty="0"/>
              <a:t>There are several ways of doing this:</a:t>
            </a:r>
          </a:p>
          <a:p>
            <a:pPr marL="342900" indent="-342900">
              <a:buFontTx/>
              <a:buChar char="-"/>
            </a:pPr>
            <a:r>
              <a:rPr lang="en-US" dirty="0"/>
              <a:t>Demonstrating a cheaper alternative which produces the same patient outcomes (</a:t>
            </a:r>
            <a:r>
              <a:rPr lang="en-US" b="1" dirty="0"/>
              <a:t>Cost Minimization Analysis).</a:t>
            </a:r>
          </a:p>
          <a:p>
            <a:pPr marL="342900" indent="-342900">
              <a:buFontTx/>
              <a:buChar char="-"/>
            </a:pPr>
            <a:r>
              <a:rPr lang="en-US" dirty="0"/>
              <a:t>Demonstrate a new treatment is more effective and less costly in reaching some clinically relevant target-lower blood pressure, stress, heart attack risk (</a:t>
            </a:r>
            <a:r>
              <a:rPr lang="en-US" b="1" dirty="0"/>
              <a:t>Cost Effectiveness Analysis</a:t>
            </a:r>
            <a:r>
              <a:rPr lang="en-US" dirty="0"/>
              <a:t>).</a:t>
            </a:r>
          </a:p>
          <a:p>
            <a:pPr marL="342900" indent="-342900">
              <a:buFontTx/>
              <a:buChar char="-"/>
            </a:pPr>
            <a:r>
              <a:rPr lang="en-US" dirty="0"/>
              <a:t>Demonstrate a new treatment produces a higher quality of life at a lower cost compared to other treatments (</a:t>
            </a:r>
            <a:r>
              <a:rPr lang="en-US" b="1" dirty="0"/>
              <a:t>Cost Utility Analysis</a:t>
            </a:r>
            <a:r>
              <a:rPr lang="en-US" dirty="0"/>
              <a:t>).</a:t>
            </a:r>
          </a:p>
          <a:p>
            <a:pPr marL="342900" indent="-342900">
              <a:buFontTx/>
              <a:buChar char="-"/>
            </a:pPr>
            <a:r>
              <a:rPr lang="en-CA" dirty="0"/>
              <a:t>Demonstrate a new treatment produces a “dollar valued” quality of life at a lower cost compared to other treatments (</a:t>
            </a:r>
            <a:r>
              <a:rPr lang="en-CA" b="1" dirty="0"/>
              <a:t>Cost Benefit Analysis</a:t>
            </a:r>
            <a:r>
              <a:rPr lang="en-CA" dirty="0"/>
              <a:t>).</a:t>
            </a:r>
          </a:p>
        </p:txBody>
      </p:sp>
    </p:spTree>
    <p:extLst>
      <p:ext uri="{BB962C8B-B14F-4D97-AF65-F5344CB8AC3E}">
        <p14:creationId xmlns:p14="http://schemas.microsoft.com/office/powerpoint/2010/main" val="72610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01426-851E-F4BF-51F0-678C2296E6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4FA89-1D0D-97B4-F739-0F96EE9CDDA8}"/>
              </a:ext>
            </a:extLst>
          </p:cNvPr>
          <p:cNvSpPr>
            <a:spLocks noGrp="1"/>
          </p:cNvSpPr>
          <p:nvPr>
            <p:ph type="title"/>
          </p:nvPr>
        </p:nvSpPr>
        <p:spPr>
          <a:xfrm>
            <a:off x="482600" y="597408"/>
            <a:ext cx="10634472" cy="1117092"/>
          </a:xfrm>
        </p:spPr>
        <p:txBody>
          <a:bodyPr/>
          <a:lstStyle/>
          <a:p>
            <a:r>
              <a:rPr lang="en-US" sz="4800" dirty="0"/>
              <a:t>The ICER</a:t>
            </a:r>
            <a:endParaRPr lang="en-CA" sz="4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ABECD4-6523-4E5C-D25F-D99BE57A1C91}"/>
                  </a:ext>
                </a:extLst>
              </p:cNvPr>
              <p:cNvSpPr>
                <a:spLocks noGrp="1"/>
              </p:cNvSpPr>
              <p:nvPr>
                <p:ph idx="1"/>
              </p:nvPr>
            </p:nvSpPr>
            <p:spPr>
              <a:xfrm>
                <a:off x="482600" y="1943100"/>
                <a:ext cx="10506991" cy="3936491"/>
              </a:xfrm>
            </p:spPr>
            <p:txBody>
              <a:bodyPr>
                <a:normAutofit/>
              </a:bodyPr>
              <a:lstStyle/>
              <a:p>
                <a:pPr marL="342900" indent="-342900">
                  <a:buFont typeface="Wingdings" panose="05000000000000000000" pitchFamily="2" charset="2"/>
                  <a:buChar char="§"/>
                </a:pPr>
                <a:r>
                  <a:rPr lang="en-US" dirty="0"/>
                  <a:t>Regardless of Analysis Type (with the exception of CMA), there is a common statistic which is computed: </a:t>
                </a:r>
                <a:r>
                  <a:rPr lang="en-US" b="1" dirty="0"/>
                  <a:t>the Incremental Cost Effectiveness Ratio </a:t>
                </a:r>
                <a14:m>
                  <m:oMath xmlns:m="http://schemas.openxmlformats.org/officeDocument/2006/math">
                    <m:r>
                      <a:rPr lang="en-US" b="1" i="1" smtClean="0">
                        <a:latin typeface="Cambria Math" panose="02040503050406030204" pitchFamily="18" charset="0"/>
                      </a:rPr>
                      <m:t>𝝀</m:t>
                    </m:r>
                  </m:oMath>
                </a14:m>
                <a:r>
                  <a:rPr lang="en-US" b="1" dirty="0"/>
                  <a:t> </a:t>
                </a:r>
                <a:r>
                  <a:rPr lang="en-US" dirty="0"/>
                  <a:t> defined as:</a:t>
                </a:r>
                <a:br>
                  <a:rPr lang="en-US" b="1" dirty="0"/>
                </a:b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𝐶</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𝐸</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den>
                    </m:f>
                  </m:oMath>
                </a14:m>
                <a:endParaRPr lang="en-US" b="0" dirty="0"/>
              </a:p>
              <a:p>
                <a:pPr marL="342900" indent="-342900">
                  <a:buFont typeface="Wingdings" panose="05000000000000000000" pitchFamily="2" charset="2"/>
                  <a:buChar char="§"/>
                </a:pPr>
                <a:r>
                  <a:rPr lang="en-US"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oMath>
                </a14:m>
                <a:r>
                  <a:rPr lang="en-US" dirty="0"/>
                  <a:t> are the costs and effects of the costs and effects of a baseline treatment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a14:m>
                <a:r>
                  <a:rPr lang="en-US" dirty="0"/>
                  <a:t> are the Costs and effects of a proposed alternative.</a:t>
                </a:r>
              </a:p>
              <a:p>
                <a:pPr marL="342900" indent="-342900">
                  <a:buFont typeface="Wingdings" panose="05000000000000000000" pitchFamily="2" charset="2"/>
                  <a:buChar char="§"/>
                </a:pPr>
                <a:r>
                  <a:rPr lang="en-US" dirty="0"/>
                  <a:t>Effects in this context can be substituted for any other benefit metric.</a:t>
                </a:r>
              </a:p>
            </p:txBody>
          </p:sp>
        </mc:Choice>
        <mc:Fallback xmlns="">
          <p:sp>
            <p:nvSpPr>
              <p:cNvPr id="3" name="Content Placeholder 2">
                <a:extLst>
                  <a:ext uri="{FF2B5EF4-FFF2-40B4-BE49-F238E27FC236}">
                    <a16:creationId xmlns:a16="http://schemas.microsoft.com/office/drawing/2014/main" id="{0FABECD4-6523-4E5C-D25F-D99BE57A1C91}"/>
                  </a:ext>
                </a:extLst>
              </p:cNvPr>
              <p:cNvSpPr>
                <a:spLocks noGrp="1" noRot="1" noChangeAspect="1" noMove="1" noResize="1" noEditPoints="1" noAdjustHandles="1" noChangeArrowheads="1" noChangeShapeType="1" noTextEdit="1"/>
              </p:cNvSpPr>
              <p:nvPr>
                <p:ph idx="1"/>
              </p:nvPr>
            </p:nvSpPr>
            <p:spPr>
              <a:xfrm>
                <a:off x="482600" y="1943100"/>
                <a:ext cx="10506991" cy="3936491"/>
              </a:xfrm>
              <a:blipFill>
                <a:blip r:embed="rId2"/>
                <a:stretch>
                  <a:fillRect l="-754" t="-1240" r="-58"/>
                </a:stretch>
              </a:blipFill>
            </p:spPr>
            <p:txBody>
              <a:bodyPr/>
              <a:lstStyle/>
              <a:p>
                <a:r>
                  <a:rPr lang="en-CA">
                    <a:noFill/>
                  </a:rPr>
                  <a:t> </a:t>
                </a:r>
              </a:p>
            </p:txBody>
          </p:sp>
        </mc:Fallback>
      </mc:AlternateContent>
    </p:spTree>
    <p:extLst>
      <p:ext uri="{BB962C8B-B14F-4D97-AF65-F5344CB8AC3E}">
        <p14:creationId xmlns:p14="http://schemas.microsoft.com/office/powerpoint/2010/main" val="2873192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A5947-B423-3B8C-10FF-B50AC5723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3FC867-533F-38F6-B866-04D159CF012D}"/>
              </a:ext>
            </a:extLst>
          </p:cNvPr>
          <p:cNvSpPr>
            <a:spLocks noGrp="1"/>
          </p:cNvSpPr>
          <p:nvPr>
            <p:ph type="title"/>
          </p:nvPr>
        </p:nvSpPr>
        <p:spPr>
          <a:xfrm>
            <a:off x="482600" y="597408"/>
            <a:ext cx="10634472" cy="1117092"/>
          </a:xfrm>
        </p:spPr>
        <p:txBody>
          <a:bodyPr/>
          <a:lstStyle/>
          <a:p>
            <a:r>
              <a:rPr lang="en-US" sz="4800" dirty="0"/>
              <a:t>How to use the ICER</a:t>
            </a:r>
            <a:endParaRPr lang="en-CA" sz="48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5A1D9B-0C91-4F1F-84A4-119D981B405C}"/>
                  </a:ext>
                </a:extLst>
              </p:cNvPr>
              <p:cNvSpPr>
                <a:spLocks noGrp="1"/>
              </p:cNvSpPr>
              <p:nvPr>
                <p:ph idx="1"/>
              </p:nvPr>
            </p:nvSpPr>
            <p:spPr>
              <a:xfrm>
                <a:off x="482600" y="1460754"/>
                <a:ext cx="10506991" cy="3936491"/>
              </a:xfrm>
            </p:spPr>
            <p:txBody>
              <a:bodyPr>
                <a:normAutofit fontScale="92500" lnSpcReduction="10000"/>
              </a:bodyPr>
              <a:lstStyle/>
              <a:p>
                <a:pPr marL="342900" indent="-342900">
                  <a:buFont typeface="Wingdings" panose="05000000000000000000" pitchFamily="2" charset="2"/>
                  <a:buChar char="§"/>
                </a:pPr>
                <a:r>
                  <a:rPr lang="en-US" dirty="0"/>
                  <a:t>The ICER can be interpreted as the dollar value a drug provides for a each unit of benefit.</a:t>
                </a:r>
              </a:p>
              <a:p>
                <a:pPr marL="342900" indent="-342900">
                  <a:buFont typeface="Wingdings" panose="05000000000000000000" pitchFamily="2" charset="2"/>
                  <a:buChar char="§"/>
                </a:pPr>
                <a:r>
                  <a:rPr lang="en-US" dirty="0"/>
                  <a:t>When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𝐸</m:t>
                    </m:r>
                  </m:oMath>
                </a14:m>
                <a:r>
                  <a:rPr lang="en-CA" dirty="0"/>
                  <a:t> measures change in a mobility score, this is the dollar for improvement in mobility.</a:t>
                </a:r>
              </a:p>
              <a:p>
                <a:pPr marL="342900" indent="-342900">
                  <a:buFont typeface="Wingdings" panose="05000000000000000000" pitchFamily="2" charset="2"/>
                  <a:buChar char="§"/>
                </a:pPr>
                <a:r>
                  <a:rPr lang="en-CA" dirty="0"/>
                  <a:t>When </a:t>
                </a:r>
                <a14:m>
                  <m:oMath xmlns:m="http://schemas.openxmlformats.org/officeDocument/2006/math">
                    <m:r>
                      <m:rPr>
                        <m:sty m:val="p"/>
                      </m:rPr>
                      <a:rPr lang="en-US" b="0" i="0" smtClean="0">
                        <a:latin typeface="Cambria Math" panose="02040503050406030204" pitchFamily="18" charset="0"/>
                      </a:rPr>
                      <m:t>Δ</m:t>
                    </m:r>
                    <m:r>
                      <a:rPr lang="en-US" b="0" i="1" smtClean="0">
                        <a:latin typeface="Cambria Math" panose="02040503050406030204" pitchFamily="18" charset="0"/>
                      </a:rPr>
                      <m:t>𝐸</m:t>
                    </m:r>
                  </m:oMath>
                </a14:m>
                <a:r>
                  <a:rPr lang="en-CA" dirty="0"/>
                  <a:t> represents a change in quality of life, this is the dollar for change in quality of life.</a:t>
                </a:r>
              </a:p>
              <a:p>
                <a:pPr marL="342900" indent="-342900">
                  <a:buFont typeface="Wingdings" panose="05000000000000000000" pitchFamily="2" charset="2"/>
                  <a:buChar char="§"/>
                </a:pPr>
                <a:r>
                  <a:rPr lang="en-CA" dirty="0"/>
                  <a:t>In general a “fair market price” with novel drugs is hard to measure, so often a </a:t>
                </a:r>
                <a:r>
                  <a:rPr lang="en-CA" b="1" dirty="0"/>
                  <a:t>cost effectiveness threshold </a:t>
                </a:r>
                <a:r>
                  <a:rPr lang="en-CA" dirty="0"/>
                  <a:t>is set.</a:t>
                </a:r>
              </a:p>
              <a:p>
                <a:pPr marL="342900" indent="-342900">
                  <a:buFont typeface="Wingdings" panose="05000000000000000000" pitchFamily="2" charset="2"/>
                  <a:buChar char="§"/>
                </a:pPr>
                <a:r>
                  <a:rPr lang="en-CA" dirty="0"/>
                  <a:t>On paper the cost effectiveness threshold is </a:t>
                </a:r>
                <a:r>
                  <a:rPr lang="en-CA" b="1" dirty="0"/>
                  <a:t>$50,000 per quality adjusted life year </a:t>
                </a:r>
                <a:r>
                  <a:rPr lang="en-CA" dirty="0"/>
                  <a:t>however this is empirically debatable as there are many treatments with ICERs above this value that get funded.</a:t>
                </a:r>
              </a:p>
            </p:txBody>
          </p:sp>
        </mc:Choice>
        <mc:Fallback xmlns="">
          <p:sp>
            <p:nvSpPr>
              <p:cNvPr id="3" name="Content Placeholder 2">
                <a:extLst>
                  <a:ext uri="{FF2B5EF4-FFF2-40B4-BE49-F238E27FC236}">
                    <a16:creationId xmlns:a16="http://schemas.microsoft.com/office/drawing/2014/main" id="{B55A1D9B-0C91-4F1F-84A4-119D981B405C}"/>
                  </a:ext>
                </a:extLst>
              </p:cNvPr>
              <p:cNvSpPr>
                <a:spLocks noGrp="1" noRot="1" noChangeAspect="1" noMove="1" noResize="1" noEditPoints="1" noAdjustHandles="1" noChangeArrowheads="1" noChangeShapeType="1" noTextEdit="1"/>
              </p:cNvSpPr>
              <p:nvPr>
                <p:ph idx="1"/>
              </p:nvPr>
            </p:nvSpPr>
            <p:spPr>
              <a:xfrm>
                <a:off x="482600" y="1460754"/>
                <a:ext cx="10506991" cy="3936491"/>
              </a:xfrm>
              <a:blipFill>
                <a:blip r:embed="rId2"/>
                <a:stretch>
                  <a:fillRect l="-638" t="-2016" b="-2636"/>
                </a:stretch>
              </a:blipFill>
            </p:spPr>
            <p:txBody>
              <a:bodyPr/>
              <a:lstStyle/>
              <a:p>
                <a:r>
                  <a:rPr lang="en-CA">
                    <a:noFill/>
                  </a:rPr>
                  <a:t> </a:t>
                </a:r>
              </a:p>
            </p:txBody>
          </p:sp>
        </mc:Fallback>
      </mc:AlternateContent>
    </p:spTree>
    <p:extLst>
      <p:ext uri="{BB962C8B-B14F-4D97-AF65-F5344CB8AC3E}">
        <p14:creationId xmlns:p14="http://schemas.microsoft.com/office/powerpoint/2010/main" val="1869448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5E91D-1F78-CCCC-BBEF-4BA177E427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AA8A0-3CBB-8BEE-48CE-A4CD6DC060EE}"/>
              </a:ext>
            </a:extLst>
          </p:cNvPr>
          <p:cNvSpPr>
            <a:spLocks noGrp="1"/>
          </p:cNvSpPr>
          <p:nvPr>
            <p:ph type="title"/>
          </p:nvPr>
        </p:nvSpPr>
        <p:spPr>
          <a:xfrm>
            <a:off x="482600" y="645033"/>
            <a:ext cx="10280650" cy="840867"/>
          </a:xfrm>
        </p:spPr>
        <p:txBody>
          <a:bodyPr/>
          <a:lstStyle/>
          <a:p>
            <a:r>
              <a:rPr lang="en-CA" dirty="0"/>
              <a:t>Learning Objectives</a:t>
            </a:r>
          </a:p>
        </p:txBody>
      </p:sp>
      <p:sp>
        <p:nvSpPr>
          <p:cNvPr id="3" name="Content Placeholder 2">
            <a:extLst>
              <a:ext uri="{FF2B5EF4-FFF2-40B4-BE49-F238E27FC236}">
                <a16:creationId xmlns:a16="http://schemas.microsoft.com/office/drawing/2014/main" id="{3038162C-5BBD-162F-337D-0E0DC2ED0812}"/>
              </a:ext>
            </a:extLst>
          </p:cNvPr>
          <p:cNvSpPr>
            <a:spLocks noGrp="1"/>
          </p:cNvSpPr>
          <p:nvPr>
            <p:ph idx="1"/>
          </p:nvPr>
        </p:nvSpPr>
        <p:spPr>
          <a:xfrm>
            <a:off x="482600" y="1676400"/>
            <a:ext cx="10506991" cy="4203191"/>
          </a:xfrm>
        </p:spPr>
        <p:txBody>
          <a:bodyPr>
            <a:normAutofit/>
          </a:bodyPr>
          <a:lstStyle/>
          <a:p>
            <a:r>
              <a:rPr lang="en-CA" dirty="0"/>
              <a:t>In this lecture we will discuss:</a:t>
            </a:r>
          </a:p>
          <a:p>
            <a:pPr marL="457200" indent="-457200">
              <a:buFont typeface="+mj-lt"/>
              <a:buAutoNum type="arabicPeriod"/>
            </a:pPr>
            <a:r>
              <a:rPr lang="en-US" dirty="0"/>
              <a:t>An Overview of Economic Evaluation.</a:t>
            </a:r>
          </a:p>
          <a:p>
            <a:pPr marL="457200" indent="-457200">
              <a:buFont typeface="+mj-lt"/>
              <a:buAutoNum type="arabicPeriod"/>
            </a:pPr>
            <a:r>
              <a:rPr lang="en-CA" dirty="0"/>
              <a:t>An Overview of Model Structures: Decision Trees and Markov Models.</a:t>
            </a:r>
            <a:endParaRPr lang="en-US" dirty="0"/>
          </a:p>
          <a:p>
            <a:pPr marL="457200" indent="-457200">
              <a:buFont typeface="+mj-lt"/>
              <a:buAutoNum type="arabicPeriod"/>
            </a:pPr>
            <a:r>
              <a:rPr lang="en-CA" dirty="0"/>
              <a:t>CMA, CEA, CUA, CBA and the ICER</a:t>
            </a:r>
            <a:br>
              <a:rPr lang="en-CA" dirty="0"/>
            </a:br>
            <a:endParaRPr lang="en-CA" dirty="0"/>
          </a:p>
          <a:p>
            <a:endParaRPr lang="en-CA" dirty="0"/>
          </a:p>
          <a:p>
            <a:pPr marL="342900" indent="-342900">
              <a:buFont typeface="Wingdings" panose="05000000000000000000" pitchFamily="2" charset="2"/>
              <a:buChar char="§"/>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a:p>
            <a:pPr marL="457200" indent="-457200">
              <a:buFont typeface="+mj-lt"/>
              <a:buAutoNum type="arabicPeriod"/>
            </a:pPr>
            <a:endParaRPr lang="en-CA" dirty="0"/>
          </a:p>
        </p:txBody>
      </p:sp>
      <p:sp>
        <p:nvSpPr>
          <p:cNvPr id="4" name="Rectangle: Rounded Corners 3">
            <a:extLst>
              <a:ext uri="{FF2B5EF4-FFF2-40B4-BE49-F238E27FC236}">
                <a16:creationId xmlns:a16="http://schemas.microsoft.com/office/drawing/2014/main" id="{61C306DC-6229-276F-A781-B9C449C7338C}"/>
              </a:ext>
            </a:extLst>
          </p:cNvPr>
          <p:cNvSpPr/>
          <p:nvPr/>
        </p:nvSpPr>
        <p:spPr>
          <a:xfrm>
            <a:off x="1588545" y="4739280"/>
            <a:ext cx="9014909" cy="1140311"/>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CA" b="1" i="1" u="sng" dirty="0">
                <a:solidFill>
                  <a:schemeClr val="tx1"/>
                </a:solidFill>
              </a:rPr>
              <a:t>Goal of this Lecture: </a:t>
            </a:r>
          </a:p>
          <a:p>
            <a:pPr marL="285750" indent="-285750">
              <a:buFont typeface="Wingdings" panose="05000000000000000000" pitchFamily="2" charset="2"/>
              <a:buChar char="Ø"/>
            </a:pPr>
            <a:r>
              <a:rPr lang="en-CA" b="1" i="1" dirty="0">
                <a:solidFill>
                  <a:schemeClr val="tx1"/>
                </a:solidFill>
              </a:rPr>
              <a:t>Introduce economic evaluation in health.</a:t>
            </a:r>
          </a:p>
          <a:p>
            <a:pPr marL="285750" indent="-285750">
              <a:buFont typeface="Wingdings" panose="05000000000000000000" pitchFamily="2" charset="2"/>
              <a:buChar char="Ø"/>
            </a:pPr>
            <a:r>
              <a:rPr lang="en-CA" b="1" i="1" dirty="0">
                <a:solidFill>
                  <a:schemeClr val="tx1"/>
                </a:solidFill>
              </a:rPr>
              <a:t>Understand the role of economic evaluation in the decision to fund novel treatments. </a:t>
            </a:r>
          </a:p>
        </p:txBody>
      </p:sp>
    </p:spTree>
    <p:extLst>
      <p:ext uri="{BB962C8B-B14F-4D97-AF65-F5344CB8AC3E}">
        <p14:creationId xmlns:p14="http://schemas.microsoft.com/office/powerpoint/2010/main" val="3588219969"/>
      </p:ext>
    </p:extLst>
  </p:cSld>
  <p:clrMapOvr>
    <a:masterClrMapping/>
  </p:clrMapOvr>
</p:sld>
</file>

<file path=ppt/theme/theme1.xml><?xml version="1.0" encoding="utf-8"?>
<a:theme xmlns:a="http://schemas.openxmlformats.org/drawingml/2006/main" name="LevelVTI">
  <a:themeElements>
    <a:clrScheme name="Custom 88">
      <a:dk1>
        <a:sysClr val="windowText" lastClr="000000"/>
      </a:dk1>
      <a:lt1>
        <a:sysClr val="window" lastClr="FFFFFF"/>
      </a:lt1>
      <a:dk2>
        <a:srgbClr val="182230"/>
      </a:dk2>
      <a:lt2>
        <a:srgbClr val="F2F2F2"/>
      </a:lt2>
      <a:accent1>
        <a:srgbClr val="00BAC8"/>
      </a:accent1>
      <a:accent2>
        <a:srgbClr val="794DFF"/>
      </a:accent2>
      <a:accent3>
        <a:srgbClr val="00D17D"/>
      </a:accent3>
      <a:accent4>
        <a:srgbClr val="E69500"/>
      </a:accent4>
      <a:accent5>
        <a:srgbClr val="FE5D21"/>
      </a:accent5>
      <a:accent6>
        <a:srgbClr val="939393"/>
      </a:accent6>
      <a:hlink>
        <a:srgbClr val="3E8FF1"/>
      </a:hlink>
      <a:folHlink>
        <a:srgbClr val="939393"/>
      </a:folHlink>
    </a:clrScheme>
    <a:fontScheme name="Seaford">
      <a:majorFont>
        <a:latin typeface="Seaford"/>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velVTI" id="{64F43929-0387-4D33-907F-72B939BCAF99}" vid="{D804DF84-3298-4A39-BA0E-21F83D68BC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5085</TotalTime>
  <Words>1759</Words>
  <Application>Microsoft Office PowerPoint</Application>
  <PresentationFormat>Widescreen</PresentationFormat>
  <Paragraphs>171</Paragraphs>
  <Slides>22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Cambria Math</vt:lpstr>
      <vt:lpstr>Seaford</vt:lpstr>
      <vt:lpstr>Wingdings</vt:lpstr>
      <vt:lpstr>LevelVTI</vt:lpstr>
      <vt:lpstr>Health Economics Lecture #7</vt:lpstr>
      <vt:lpstr>Learning Objectives</vt:lpstr>
      <vt:lpstr>An Overview of Economic Evaluation</vt:lpstr>
      <vt:lpstr>What is Economic Evaluation</vt:lpstr>
      <vt:lpstr>Economic Evaluation and The Life Cycle of a Drug</vt:lpstr>
      <vt:lpstr>Economic Evaluation and The Life Cycle of a Drug</vt:lpstr>
      <vt:lpstr>Who does Economic Evaluation?</vt:lpstr>
      <vt:lpstr>An Overview of Model Structures: Decision Trees and Markov Models.</vt:lpstr>
      <vt:lpstr>Model Structures</vt:lpstr>
      <vt:lpstr>Decision Tree Models</vt:lpstr>
      <vt:lpstr>Some Rules for Decision Tree Design</vt:lpstr>
      <vt:lpstr>Decision Trees as Expected Value</vt:lpstr>
      <vt:lpstr>Markov Models</vt:lpstr>
      <vt:lpstr>Markov Process Example:</vt:lpstr>
      <vt:lpstr>Markov Process Example:</vt:lpstr>
      <vt:lpstr>On Computing Markov Models</vt:lpstr>
      <vt:lpstr>Markov Models VS Decision Trees</vt:lpstr>
      <vt:lpstr>Types of Analysis: CMA, CEA, CUA and CBA.</vt:lpstr>
      <vt:lpstr>Analysis type</vt:lpstr>
      <vt:lpstr>The ICER</vt:lpstr>
      <vt:lpstr>How to use the ICER</vt:lpstr>
      <vt:lpstr>Learning Objectives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Smith</dc:creator>
  <cp:lastModifiedBy>Jacob Smith</cp:lastModifiedBy>
  <cp:revision>38</cp:revision>
  <dcterms:created xsi:type="dcterms:W3CDTF">2025-07-13T05:00:08Z</dcterms:created>
  <dcterms:modified xsi:type="dcterms:W3CDTF">2025-11-05T16:08:27Z</dcterms:modified>
</cp:coreProperties>
</file>