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25"/>
  </p:notesMasterIdLst>
  <p:sldIdLst>
    <p:sldId id="256" r:id="rId2"/>
    <p:sldId id="257" r:id="rId3"/>
    <p:sldId id="258" r:id="rId4"/>
    <p:sldId id="274" r:id="rId5"/>
    <p:sldId id="284" r:id="rId6"/>
    <p:sldId id="285" r:id="rId7"/>
    <p:sldId id="275" r:id="rId8"/>
    <p:sldId id="293" r:id="rId9"/>
    <p:sldId id="276" r:id="rId10"/>
    <p:sldId id="294" r:id="rId11"/>
    <p:sldId id="295" r:id="rId12"/>
    <p:sldId id="277" r:id="rId13"/>
    <p:sldId id="278" r:id="rId14"/>
    <p:sldId id="286" r:id="rId15"/>
    <p:sldId id="299" r:id="rId16"/>
    <p:sldId id="300" r:id="rId17"/>
    <p:sldId id="283" r:id="rId18"/>
    <p:sldId id="296" r:id="rId19"/>
    <p:sldId id="289" r:id="rId20"/>
    <p:sldId id="304" r:id="rId21"/>
    <p:sldId id="305" r:id="rId22"/>
    <p:sldId id="306" r:id="rId23"/>
    <p:sldId id="30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84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2DF27F-7C10-4A09-93B7-CA8B3D950454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B096938C-1FAA-44B8-9435-7E4082438008}">
      <dgm:prSet phldrT="[Text]" phldr="0"/>
      <dgm:spPr/>
      <dgm:t>
        <a:bodyPr/>
        <a:lstStyle/>
        <a:p>
          <a:r>
            <a:rPr lang="en-CA" dirty="0"/>
            <a:t>CEA</a:t>
          </a:r>
        </a:p>
      </dgm:t>
    </dgm:pt>
    <dgm:pt modelId="{9325DD27-3657-46EA-AA1A-430EE1CCBACD}" type="parTrans" cxnId="{CB65A6EE-238B-4A5F-A963-8DE01B51E02B}">
      <dgm:prSet/>
      <dgm:spPr/>
      <dgm:t>
        <a:bodyPr/>
        <a:lstStyle/>
        <a:p>
          <a:endParaRPr lang="en-CA"/>
        </a:p>
      </dgm:t>
    </dgm:pt>
    <dgm:pt modelId="{6BC50BEB-0212-402A-8B21-DAA9FA7DE475}" type="sibTrans" cxnId="{CB65A6EE-238B-4A5F-A963-8DE01B51E02B}">
      <dgm:prSet/>
      <dgm:spPr/>
      <dgm:t>
        <a:bodyPr/>
        <a:lstStyle/>
        <a:p>
          <a:endParaRPr lang="en-CA"/>
        </a:p>
      </dgm:t>
    </dgm:pt>
    <dgm:pt modelId="{3892FA83-A3A4-48B4-A6FB-99BAD85A4812}">
      <dgm:prSet phldrT="[Text]" phldr="0"/>
      <dgm:spPr/>
      <dgm:t>
        <a:bodyPr/>
        <a:lstStyle/>
        <a:p>
          <a:r>
            <a:rPr lang="en-CA" dirty="0"/>
            <a:t>Used to determine the value for money associated with a treatment.</a:t>
          </a:r>
        </a:p>
      </dgm:t>
    </dgm:pt>
    <dgm:pt modelId="{F9B2F725-179A-49FC-B09C-5831877E12F3}" type="parTrans" cxnId="{ADF9355A-51F2-4C76-95BD-5BDECB637E17}">
      <dgm:prSet/>
      <dgm:spPr/>
      <dgm:t>
        <a:bodyPr/>
        <a:lstStyle/>
        <a:p>
          <a:endParaRPr lang="en-CA"/>
        </a:p>
      </dgm:t>
    </dgm:pt>
    <dgm:pt modelId="{5DFB731C-E8B7-41AA-85EF-FDE82B110038}" type="sibTrans" cxnId="{ADF9355A-51F2-4C76-95BD-5BDECB637E17}">
      <dgm:prSet/>
      <dgm:spPr/>
      <dgm:t>
        <a:bodyPr/>
        <a:lstStyle/>
        <a:p>
          <a:endParaRPr lang="en-CA"/>
        </a:p>
      </dgm:t>
    </dgm:pt>
    <dgm:pt modelId="{BBDF1F41-1AF6-4F37-847E-05332893B3DB}">
      <dgm:prSet phldrT="[Text]" phldr="0"/>
      <dgm:spPr/>
      <dgm:t>
        <a:bodyPr/>
        <a:lstStyle/>
        <a:p>
          <a:r>
            <a:rPr lang="en-CA" dirty="0"/>
            <a:t>Key Statistics Computed: ICER and the Probability of Cost Effectiveness</a:t>
          </a:r>
        </a:p>
      </dgm:t>
    </dgm:pt>
    <dgm:pt modelId="{BB9E2E2C-898E-4292-85B2-806939A5CD05}" type="parTrans" cxnId="{75A8C4A5-3F8C-46C8-A603-0500F77E4692}">
      <dgm:prSet/>
      <dgm:spPr/>
      <dgm:t>
        <a:bodyPr/>
        <a:lstStyle/>
        <a:p>
          <a:endParaRPr lang="en-CA"/>
        </a:p>
      </dgm:t>
    </dgm:pt>
    <dgm:pt modelId="{49C9572F-40D5-4AFC-8DE3-8896FBA3013F}" type="sibTrans" cxnId="{75A8C4A5-3F8C-46C8-A603-0500F77E4692}">
      <dgm:prSet/>
      <dgm:spPr/>
      <dgm:t>
        <a:bodyPr/>
        <a:lstStyle/>
        <a:p>
          <a:endParaRPr lang="en-CA"/>
        </a:p>
      </dgm:t>
    </dgm:pt>
    <dgm:pt modelId="{47511774-5E5D-4488-9D2E-232A4CD9357A}">
      <dgm:prSet phldrT="[Text]" phldr="0"/>
      <dgm:spPr/>
      <dgm:t>
        <a:bodyPr/>
        <a:lstStyle/>
        <a:p>
          <a:r>
            <a:rPr lang="en-CA" dirty="0"/>
            <a:t>BIA</a:t>
          </a:r>
        </a:p>
      </dgm:t>
    </dgm:pt>
    <dgm:pt modelId="{40915F94-1D8E-4CD7-A69D-247DB412786D}" type="parTrans" cxnId="{1F56B5D1-E9B2-47D7-8695-03ECDBA08753}">
      <dgm:prSet/>
      <dgm:spPr/>
      <dgm:t>
        <a:bodyPr/>
        <a:lstStyle/>
        <a:p>
          <a:endParaRPr lang="en-CA"/>
        </a:p>
      </dgm:t>
    </dgm:pt>
    <dgm:pt modelId="{D65B1D2C-CA9C-4FAD-8698-484EB02834C5}" type="sibTrans" cxnId="{1F56B5D1-E9B2-47D7-8695-03ECDBA08753}">
      <dgm:prSet/>
      <dgm:spPr/>
      <dgm:t>
        <a:bodyPr/>
        <a:lstStyle/>
        <a:p>
          <a:endParaRPr lang="en-CA"/>
        </a:p>
      </dgm:t>
    </dgm:pt>
    <dgm:pt modelId="{4B485149-0E5A-4148-A392-4ACC1CDF4738}">
      <dgm:prSet phldrT="[Text]" phldr="0"/>
      <dgm:spPr/>
      <dgm:t>
        <a:bodyPr/>
        <a:lstStyle/>
        <a:p>
          <a:r>
            <a:rPr lang="en-CA" dirty="0"/>
            <a:t>Used to determine the Feasibility of funding a particular treatment.</a:t>
          </a:r>
        </a:p>
      </dgm:t>
    </dgm:pt>
    <dgm:pt modelId="{21231ED8-5317-4D5D-93AE-95871AAD7A2B}" type="parTrans" cxnId="{30D23BBF-FC6E-46C1-920C-DF84C7704559}">
      <dgm:prSet/>
      <dgm:spPr/>
      <dgm:t>
        <a:bodyPr/>
        <a:lstStyle/>
        <a:p>
          <a:endParaRPr lang="en-CA"/>
        </a:p>
      </dgm:t>
    </dgm:pt>
    <dgm:pt modelId="{E1ECD81E-A868-4BF7-A6DA-825678E035E3}" type="sibTrans" cxnId="{30D23BBF-FC6E-46C1-920C-DF84C7704559}">
      <dgm:prSet/>
      <dgm:spPr/>
      <dgm:t>
        <a:bodyPr/>
        <a:lstStyle/>
        <a:p>
          <a:endParaRPr lang="en-CA"/>
        </a:p>
      </dgm:t>
    </dgm:pt>
    <dgm:pt modelId="{C0B3446F-CE01-4E7C-9905-17AC4077AFE4}">
      <dgm:prSet phldrT="[Text]" phldr="0"/>
      <dgm:spPr/>
      <dgm:t>
        <a:bodyPr/>
        <a:lstStyle/>
        <a:p>
          <a:r>
            <a:rPr lang="en-CA" dirty="0"/>
            <a:t>Key Statistics Computed: Expected Budget Impact, Scenario Analysis for High and Low Uptake Cases.</a:t>
          </a:r>
        </a:p>
      </dgm:t>
    </dgm:pt>
    <dgm:pt modelId="{A2ACE8D9-E5F6-4A89-83DF-FC0D6D3AC008}" type="parTrans" cxnId="{323BCBB5-A348-4C58-A968-9CB6321E7B1E}">
      <dgm:prSet/>
      <dgm:spPr/>
      <dgm:t>
        <a:bodyPr/>
        <a:lstStyle/>
        <a:p>
          <a:endParaRPr lang="en-CA"/>
        </a:p>
      </dgm:t>
    </dgm:pt>
    <dgm:pt modelId="{B1D4A7AE-DD1B-408E-8E5F-D0C970223B36}" type="sibTrans" cxnId="{323BCBB5-A348-4C58-A968-9CB6321E7B1E}">
      <dgm:prSet/>
      <dgm:spPr/>
      <dgm:t>
        <a:bodyPr/>
        <a:lstStyle/>
        <a:p>
          <a:endParaRPr lang="en-CA"/>
        </a:p>
      </dgm:t>
    </dgm:pt>
    <dgm:pt modelId="{89FC3CEA-7838-49B7-ADAA-9C123BFD9DBB}">
      <dgm:prSet phldrT="[Text]" phldr="0"/>
      <dgm:spPr/>
      <dgm:t>
        <a:bodyPr/>
        <a:lstStyle/>
        <a:p>
          <a:r>
            <a:rPr lang="en-CA" dirty="0"/>
            <a:t>Tells us if we are getting a “good deal” by funding a treatment</a:t>
          </a:r>
        </a:p>
      </dgm:t>
    </dgm:pt>
    <dgm:pt modelId="{30009C26-3B20-4D91-BC3E-D6E8743FB546}" type="parTrans" cxnId="{E0D8D06E-02E7-406C-AFC2-D33FBC2254BE}">
      <dgm:prSet/>
      <dgm:spPr/>
      <dgm:t>
        <a:bodyPr/>
        <a:lstStyle/>
        <a:p>
          <a:endParaRPr lang="en-CA"/>
        </a:p>
      </dgm:t>
    </dgm:pt>
    <dgm:pt modelId="{C44E6716-E7F8-40AD-B0A6-D83E3BD68D68}" type="sibTrans" cxnId="{E0D8D06E-02E7-406C-AFC2-D33FBC2254BE}">
      <dgm:prSet/>
      <dgm:spPr/>
      <dgm:t>
        <a:bodyPr/>
        <a:lstStyle/>
        <a:p>
          <a:endParaRPr lang="en-CA"/>
        </a:p>
      </dgm:t>
    </dgm:pt>
    <dgm:pt modelId="{0E78B977-6BF0-44BD-8959-B897DDB941EA}">
      <dgm:prSet phldrT="[Text]" phldr="0"/>
      <dgm:spPr/>
      <dgm:t>
        <a:bodyPr/>
        <a:lstStyle/>
        <a:p>
          <a:r>
            <a:rPr lang="en-CA" dirty="0"/>
            <a:t>Tells us if paying for a treatment is affordable.</a:t>
          </a:r>
        </a:p>
      </dgm:t>
    </dgm:pt>
    <dgm:pt modelId="{BDF9A33A-6CF3-4C06-8BE7-11DB41DAA353}" type="parTrans" cxnId="{5EF2B0FA-4FAC-4B7B-ACCA-E05C8065D98F}">
      <dgm:prSet/>
      <dgm:spPr/>
      <dgm:t>
        <a:bodyPr/>
        <a:lstStyle/>
        <a:p>
          <a:endParaRPr lang="en-CA"/>
        </a:p>
      </dgm:t>
    </dgm:pt>
    <dgm:pt modelId="{6BEF8010-F649-4875-8D49-721D48653FF3}" type="sibTrans" cxnId="{5EF2B0FA-4FAC-4B7B-ACCA-E05C8065D98F}">
      <dgm:prSet/>
      <dgm:spPr/>
      <dgm:t>
        <a:bodyPr/>
        <a:lstStyle/>
        <a:p>
          <a:endParaRPr lang="en-CA"/>
        </a:p>
      </dgm:t>
    </dgm:pt>
    <dgm:pt modelId="{BA2C819D-5DEB-4016-A0F9-D0517EA9B9BF}">
      <dgm:prSet phldrT="[Text]" phldr="0"/>
      <dgm:spPr/>
      <dgm:t>
        <a:bodyPr/>
        <a:lstStyle/>
        <a:p>
          <a:r>
            <a:rPr lang="en-CA" dirty="0"/>
            <a:t>Computed </a:t>
          </a:r>
          <a:r>
            <a:rPr lang="en-CA" dirty="0" err="1"/>
            <a:t>Statitic</a:t>
          </a:r>
          <a:r>
            <a:rPr lang="en-CA" dirty="0"/>
            <a:t> is useful and generalizable to many different Environments</a:t>
          </a:r>
        </a:p>
      </dgm:t>
    </dgm:pt>
    <dgm:pt modelId="{EAA2D5CB-D160-413B-A3B5-0AC35D9BBBC2}" type="parTrans" cxnId="{8D4B2AA2-66D4-476B-8AF3-69782861A2FB}">
      <dgm:prSet/>
      <dgm:spPr/>
      <dgm:t>
        <a:bodyPr/>
        <a:lstStyle/>
        <a:p>
          <a:endParaRPr lang="en-CA"/>
        </a:p>
      </dgm:t>
    </dgm:pt>
    <dgm:pt modelId="{77119F00-56E4-43DF-8708-7A95C5583C13}" type="sibTrans" cxnId="{8D4B2AA2-66D4-476B-8AF3-69782861A2FB}">
      <dgm:prSet/>
      <dgm:spPr/>
      <dgm:t>
        <a:bodyPr/>
        <a:lstStyle/>
        <a:p>
          <a:endParaRPr lang="en-CA"/>
        </a:p>
      </dgm:t>
    </dgm:pt>
    <dgm:pt modelId="{A277CFDC-3DF1-4D5E-A6EA-460742F1E68B}">
      <dgm:prSet phldrT="[Text]" phldr="0"/>
      <dgm:spPr/>
      <dgm:t>
        <a:bodyPr/>
        <a:lstStyle/>
        <a:p>
          <a:endParaRPr lang="en-CA" dirty="0"/>
        </a:p>
      </dgm:t>
    </dgm:pt>
    <dgm:pt modelId="{B142EA5A-D7FF-40AF-9203-2E5C35065FBC}" type="parTrans" cxnId="{93AEDF4B-0748-4CC7-8D88-1CDBDA50820B}">
      <dgm:prSet/>
      <dgm:spPr/>
      <dgm:t>
        <a:bodyPr/>
        <a:lstStyle/>
        <a:p>
          <a:endParaRPr lang="en-CA"/>
        </a:p>
      </dgm:t>
    </dgm:pt>
    <dgm:pt modelId="{2E57BE27-A19B-4DEF-9C87-D28052787424}" type="sibTrans" cxnId="{93AEDF4B-0748-4CC7-8D88-1CDBDA50820B}">
      <dgm:prSet/>
      <dgm:spPr/>
      <dgm:t>
        <a:bodyPr/>
        <a:lstStyle/>
        <a:p>
          <a:endParaRPr lang="en-CA"/>
        </a:p>
      </dgm:t>
    </dgm:pt>
    <dgm:pt modelId="{2C1FDB92-05CA-40DA-A920-F82ECF6C1FAC}">
      <dgm:prSet phldrT="[Text]" phldr="0"/>
      <dgm:spPr/>
      <dgm:t>
        <a:bodyPr/>
        <a:lstStyle/>
        <a:p>
          <a:r>
            <a:rPr lang="en-CA" dirty="0"/>
            <a:t>Estimates are often useful to the studied budget holder. Model structure can be generalized but not estimates.</a:t>
          </a:r>
        </a:p>
      </dgm:t>
    </dgm:pt>
    <dgm:pt modelId="{898AE58C-9110-4FE7-908F-BF3AC0330C66}" type="parTrans" cxnId="{8D68D9ED-36AD-44DB-A71A-0041A2431E62}">
      <dgm:prSet/>
      <dgm:spPr/>
      <dgm:t>
        <a:bodyPr/>
        <a:lstStyle/>
        <a:p>
          <a:endParaRPr lang="en-CA"/>
        </a:p>
      </dgm:t>
    </dgm:pt>
    <dgm:pt modelId="{96B4C0DB-CF2C-487F-A4A2-D7929FE44B81}" type="sibTrans" cxnId="{8D68D9ED-36AD-44DB-A71A-0041A2431E62}">
      <dgm:prSet/>
      <dgm:spPr/>
      <dgm:t>
        <a:bodyPr/>
        <a:lstStyle/>
        <a:p>
          <a:endParaRPr lang="en-CA"/>
        </a:p>
      </dgm:t>
    </dgm:pt>
    <dgm:pt modelId="{A3E0F4DD-EE04-45AB-A16F-7734217698F8}" type="pres">
      <dgm:prSet presAssocID="{D32DF27F-7C10-4A09-93B7-CA8B3D950454}" presName="linearFlow" presStyleCnt="0">
        <dgm:presLayoutVars>
          <dgm:dir/>
          <dgm:animLvl val="lvl"/>
          <dgm:resizeHandles/>
        </dgm:presLayoutVars>
      </dgm:prSet>
      <dgm:spPr/>
    </dgm:pt>
    <dgm:pt modelId="{EF6C616D-C434-4BB9-A29F-87DD8FDFD99C}" type="pres">
      <dgm:prSet presAssocID="{B096938C-1FAA-44B8-9435-7E4082438008}" presName="compositeNode" presStyleCnt="0">
        <dgm:presLayoutVars>
          <dgm:bulletEnabled val="1"/>
        </dgm:presLayoutVars>
      </dgm:prSet>
      <dgm:spPr/>
    </dgm:pt>
    <dgm:pt modelId="{62C71BB9-8DF6-4AA0-A85B-611D2DD550C8}" type="pres">
      <dgm:prSet presAssocID="{B096938C-1FAA-44B8-9435-7E4082438008}" presName="image" presStyleLbl="fgImgPlace1" presStyleIdx="0" presStyleCnt="2" custLinFactNeighborY="184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 with solid fill"/>
        </a:ext>
      </dgm:extLst>
    </dgm:pt>
    <dgm:pt modelId="{A50461B1-8DAF-49B0-8EBA-208590B45216}" type="pres">
      <dgm:prSet presAssocID="{B096938C-1FAA-44B8-9435-7E4082438008}" presName="childNode" presStyleLbl="node1" presStyleIdx="0" presStyleCnt="2">
        <dgm:presLayoutVars>
          <dgm:bulletEnabled val="1"/>
        </dgm:presLayoutVars>
      </dgm:prSet>
      <dgm:spPr/>
    </dgm:pt>
    <dgm:pt modelId="{D0D29824-4DF2-4FF4-B401-983A5657F084}" type="pres">
      <dgm:prSet presAssocID="{B096938C-1FAA-44B8-9435-7E4082438008}" presName="parentNode" presStyleLbl="revTx" presStyleIdx="0" presStyleCnt="2">
        <dgm:presLayoutVars>
          <dgm:chMax val="0"/>
          <dgm:bulletEnabled val="1"/>
        </dgm:presLayoutVars>
      </dgm:prSet>
      <dgm:spPr/>
    </dgm:pt>
    <dgm:pt modelId="{1B6A20F4-A4B8-4005-9028-3B4BD7255D6C}" type="pres">
      <dgm:prSet presAssocID="{6BC50BEB-0212-402A-8B21-DAA9FA7DE475}" presName="sibTrans" presStyleCnt="0"/>
      <dgm:spPr/>
    </dgm:pt>
    <dgm:pt modelId="{3D1A82E6-5771-47A2-93C5-08B508A94F4F}" type="pres">
      <dgm:prSet presAssocID="{47511774-5E5D-4488-9D2E-232A4CD9357A}" presName="compositeNode" presStyleCnt="0">
        <dgm:presLayoutVars>
          <dgm:bulletEnabled val="1"/>
        </dgm:presLayoutVars>
      </dgm:prSet>
      <dgm:spPr/>
    </dgm:pt>
    <dgm:pt modelId="{7ACE2CA6-EC7B-43B4-A089-8118CDDA1100}" type="pres">
      <dgm:prSet presAssocID="{47511774-5E5D-4488-9D2E-232A4CD9357A}" presName="image" presStyleLbl="fgImgPlace1" presStyleIdx="1" presStyleCnt="2" custLinFactNeighborX="-4184" custLinFactNeighborY="-3171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lanthropy with solid fill"/>
        </a:ext>
      </dgm:extLst>
    </dgm:pt>
    <dgm:pt modelId="{94D69B00-6B94-47A7-96E0-805858F9B2E8}" type="pres">
      <dgm:prSet presAssocID="{47511774-5E5D-4488-9D2E-232A4CD9357A}" presName="childNode" presStyleLbl="node1" presStyleIdx="1" presStyleCnt="2" custLinFactNeighborX="-1007" custLinFactNeighborY="334">
        <dgm:presLayoutVars>
          <dgm:bulletEnabled val="1"/>
        </dgm:presLayoutVars>
      </dgm:prSet>
      <dgm:spPr/>
    </dgm:pt>
    <dgm:pt modelId="{FB3791A9-5C23-4088-BF33-EBA589465437}" type="pres">
      <dgm:prSet presAssocID="{47511774-5E5D-4488-9D2E-232A4CD9357A}" presName="parentNode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106A7021-2DBF-417B-B172-A5785F51389A}" type="presOf" srcId="{4B485149-0E5A-4148-A392-4ACC1CDF4738}" destId="{94D69B00-6B94-47A7-96E0-805858F9B2E8}" srcOrd="0" destOrd="0" presId="urn:microsoft.com/office/officeart/2005/8/layout/hList2"/>
    <dgm:cxn modelId="{26711723-EE99-4493-835F-3C1139BEAE19}" type="presOf" srcId="{C0B3446F-CE01-4E7C-9905-17AC4077AFE4}" destId="{94D69B00-6B94-47A7-96E0-805858F9B2E8}" srcOrd="0" destOrd="1" presId="urn:microsoft.com/office/officeart/2005/8/layout/hList2"/>
    <dgm:cxn modelId="{BAB05B2C-366A-4CB6-8FBC-1DF7E4BF80E0}" type="presOf" srcId="{BA2C819D-5DEB-4016-A0F9-D0517EA9B9BF}" destId="{A50461B1-8DAF-49B0-8EBA-208590B45216}" srcOrd="0" destOrd="3" presId="urn:microsoft.com/office/officeart/2005/8/layout/hList2"/>
    <dgm:cxn modelId="{09D3C82C-D2A3-4278-85A7-AA7CE0B4B22E}" type="presOf" srcId="{D32DF27F-7C10-4A09-93B7-CA8B3D950454}" destId="{A3E0F4DD-EE04-45AB-A16F-7734217698F8}" srcOrd="0" destOrd="0" presId="urn:microsoft.com/office/officeart/2005/8/layout/hList2"/>
    <dgm:cxn modelId="{2CAFA83C-CE8D-484E-9670-64FC8CC7F769}" type="presOf" srcId="{47511774-5E5D-4488-9D2E-232A4CD9357A}" destId="{FB3791A9-5C23-4088-BF33-EBA589465437}" srcOrd="0" destOrd="0" presId="urn:microsoft.com/office/officeart/2005/8/layout/hList2"/>
    <dgm:cxn modelId="{75EAEE60-0C55-4544-8558-1F514D650E09}" type="presOf" srcId="{0E78B977-6BF0-44BD-8959-B897DDB941EA}" destId="{94D69B00-6B94-47A7-96E0-805858F9B2E8}" srcOrd="0" destOrd="2" presId="urn:microsoft.com/office/officeart/2005/8/layout/hList2"/>
    <dgm:cxn modelId="{93AEDF4B-0748-4CC7-8D88-1CDBDA50820B}" srcId="{47511774-5E5D-4488-9D2E-232A4CD9357A}" destId="{A277CFDC-3DF1-4D5E-A6EA-460742F1E68B}" srcOrd="4" destOrd="0" parTransId="{B142EA5A-D7FF-40AF-9203-2E5C35065FBC}" sibTransId="{2E57BE27-A19B-4DEF-9C87-D28052787424}"/>
    <dgm:cxn modelId="{E0D8D06E-02E7-406C-AFC2-D33FBC2254BE}" srcId="{B096938C-1FAA-44B8-9435-7E4082438008}" destId="{89FC3CEA-7838-49B7-ADAA-9C123BFD9DBB}" srcOrd="2" destOrd="0" parTransId="{30009C26-3B20-4D91-BC3E-D6E8743FB546}" sibTransId="{C44E6716-E7F8-40AD-B0A6-D83E3BD68D68}"/>
    <dgm:cxn modelId="{ADF9355A-51F2-4C76-95BD-5BDECB637E17}" srcId="{B096938C-1FAA-44B8-9435-7E4082438008}" destId="{3892FA83-A3A4-48B4-A6FB-99BAD85A4812}" srcOrd="0" destOrd="0" parTransId="{F9B2F725-179A-49FC-B09C-5831877E12F3}" sibTransId="{5DFB731C-E8B7-41AA-85EF-FDE82B110038}"/>
    <dgm:cxn modelId="{58F93F8C-B818-4E0B-93C5-697535C490BB}" type="presOf" srcId="{3892FA83-A3A4-48B4-A6FB-99BAD85A4812}" destId="{A50461B1-8DAF-49B0-8EBA-208590B45216}" srcOrd="0" destOrd="0" presId="urn:microsoft.com/office/officeart/2005/8/layout/hList2"/>
    <dgm:cxn modelId="{564A5B96-08B4-401B-B251-F7A1A24F91FF}" type="presOf" srcId="{BBDF1F41-1AF6-4F37-847E-05332893B3DB}" destId="{A50461B1-8DAF-49B0-8EBA-208590B45216}" srcOrd="0" destOrd="1" presId="urn:microsoft.com/office/officeart/2005/8/layout/hList2"/>
    <dgm:cxn modelId="{8D4B2AA2-66D4-476B-8AF3-69782861A2FB}" srcId="{B096938C-1FAA-44B8-9435-7E4082438008}" destId="{BA2C819D-5DEB-4016-A0F9-D0517EA9B9BF}" srcOrd="3" destOrd="0" parTransId="{EAA2D5CB-D160-413B-A3B5-0AC35D9BBBC2}" sibTransId="{77119F00-56E4-43DF-8708-7A95C5583C13}"/>
    <dgm:cxn modelId="{75A8C4A5-3F8C-46C8-A603-0500F77E4692}" srcId="{B096938C-1FAA-44B8-9435-7E4082438008}" destId="{BBDF1F41-1AF6-4F37-847E-05332893B3DB}" srcOrd="1" destOrd="0" parTransId="{BB9E2E2C-898E-4292-85B2-806939A5CD05}" sibTransId="{49C9572F-40D5-4AFC-8DE3-8896FBA3013F}"/>
    <dgm:cxn modelId="{323BCBB5-A348-4C58-A968-9CB6321E7B1E}" srcId="{47511774-5E5D-4488-9D2E-232A4CD9357A}" destId="{C0B3446F-CE01-4E7C-9905-17AC4077AFE4}" srcOrd="1" destOrd="0" parTransId="{A2ACE8D9-E5F6-4A89-83DF-FC0D6D3AC008}" sibTransId="{B1D4A7AE-DD1B-408E-8E5F-D0C970223B36}"/>
    <dgm:cxn modelId="{30D23BBF-FC6E-46C1-920C-DF84C7704559}" srcId="{47511774-5E5D-4488-9D2E-232A4CD9357A}" destId="{4B485149-0E5A-4148-A392-4ACC1CDF4738}" srcOrd="0" destOrd="0" parTransId="{21231ED8-5317-4D5D-93AE-95871AAD7A2B}" sibTransId="{E1ECD81E-A868-4BF7-A6DA-825678E035E3}"/>
    <dgm:cxn modelId="{37B4EAC6-0D5C-4FD0-AC33-62D57E0E35A9}" type="presOf" srcId="{89FC3CEA-7838-49B7-ADAA-9C123BFD9DBB}" destId="{A50461B1-8DAF-49B0-8EBA-208590B45216}" srcOrd="0" destOrd="2" presId="urn:microsoft.com/office/officeart/2005/8/layout/hList2"/>
    <dgm:cxn modelId="{27066FCF-FA95-4FE5-8463-0F34D90092F8}" type="presOf" srcId="{2C1FDB92-05CA-40DA-A920-F82ECF6C1FAC}" destId="{94D69B00-6B94-47A7-96E0-805858F9B2E8}" srcOrd="0" destOrd="3" presId="urn:microsoft.com/office/officeart/2005/8/layout/hList2"/>
    <dgm:cxn modelId="{1F56B5D1-E9B2-47D7-8695-03ECDBA08753}" srcId="{D32DF27F-7C10-4A09-93B7-CA8B3D950454}" destId="{47511774-5E5D-4488-9D2E-232A4CD9357A}" srcOrd="1" destOrd="0" parTransId="{40915F94-1D8E-4CD7-A69D-247DB412786D}" sibTransId="{D65B1D2C-CA9C-4FAD-8698-484EB02834C5}"/>
    <dgm:cxn modelId="{B6A44AD3-E16B-4503-84D6-8AED3FEC1C49}" type="presOf" srcId="{A277CFDC-3DF1-4D5E-A6EA-460742F1E68B}" destId="{94D69B00-6B94-47A7-96E0-805858F9B2E8}" srcOrd="0" destOrd="4" presId="urn:microsoft.com/office/officeart/2005/8/layout/hList2"/>
    <dgm:cxn modelId="{8D68D9ED-36AD-44DB-A71A-0041A2431E62}" srcId="{47511774-5E5D-4488-9D2E-232A4CD9357A}" destId="{2C1FDB92-05CA-40DA-A920-F82ECF6C1FAC}" srcOrd="3" destOrd="0" parTransId="{898AE58C-9110-4FE7-908F-BF3AC0330C66}" sibTransId="{96B4C0DB-CF2C-487F-A4A2-D7929FE44B81}"/>
    <dgm:cxn modelId="{CB65A6EE-238B-4A5F-A963-8DE01B51E02B}" srcId="{D32DF27F-7C10-4A09-93B7-CA8B3D950454}" destId="{B096938C-1FAA-44B8-9435-7E4082438008}" srcOrd="0" destOrd="0" parTransId="{9325DD27-3657-46EA-AA1A-430EE1CCBACD}" sibTransId="{6BC50BEB-0212-402A-8B21-DAA9FA7DE475}"/>
    <dgm:cxn modelId="{0D216DF6-C908-4B5A-963D-42E688E6190C}" type="presOf" srcId="{B096938C-1FAA-44B8-9435-7E4082438008}" destId="{D0D29824-4DF2-4FF4-B401-983A5657F084}" srcOrd="0" destOrd="0" presId="urn:microsoft.com/office/officeart/2005/8/layout/hList2"/>
    <dgm:cxn modelId="{5EF2B0FA-4FAC-4B7B-ACCA-E05C8065D98F}" srcId="{47511774-5E5D-4488-9D2E-232A4CD9357A}" destId="{0E78B977-6BF0-44BD-8959-B897DDB941EA}" srcOrd="2" destOrd="0" parTransId="{BDF9A33A-6CF3-4C06-8BE7-11DB41DAA353}" sibTransId="{6BEF8010-F649-4875-8D49-721D48653FF3}"/>
    <dgm:cxn modelId="{674F0B72-9B53-41AC-A53D-6B06331DE19F}" type="presParOf" srcId="{A3E0F4DD-EE04-45AB-A16F-7734217698F8}" destId="{EF6C616D-C434-4BB9-A29F-87DD8FDFD99C}" srcOrd="0" destOrd="0" presId="urn:microsoft.com/office/officeart/2005/8/layout/hList2"/>
    <dgm:cxn modelId="{AE2E5F67-4B20-4836-85E8-8CF48C9077A6}" type="presParOf" srcId="{EF6C616D-C434-4BB9-A29F-87DD8FDFD99C}" destId="{62C71BB9-8DF6-4AA0-A85B-611D2DD550C8}" srcOrd="0" destOrd="0" presId="urn:microsoft.com/office/officeart/2005/8/layout/hList2"/>
    <dgm:cxn modelId="{67D31E57-66F4-42E3-9278-A04BEF4D3124}" type="presParOf" srcId="{EF6C616D-C434-4BB9-A29F-87DD8FDFD99C}" destId="{A50461B1-8DAF-49B0-8EBA-208590B45216}" srcOrd="1" destOrd="0" presId="urn:microsoft.com/office/officeart/2005/8/layout/hList2"/>
    <dgm:cxn modelId="{6CA35373-626D-45D7-8B8F-F62C7FE1E7A9}" type="presParOf" srcId="{EF6C616D-C434-4BB9-A29F-87DD8FDFD99C}" destId="{D0D29824-4DF2-4FF4-B401-983A5657F084}" srcOrd="2" destOrd="0" presId="urn:microsoft.com/office/officeart/2005/8/layout/hList2"/>
    <dgm:cxn modelId="{74217379-823F-4A4E-9D23-699F564EBE40}" type="presParOf" srcId="{A3E0F4DD-EE04-45AB-A16F-7734217698F8}" destId="{1B6A20F4-A4B8-4005-9028-3B4BD7255D6C}" srcOrd="1" destOrd="0" presId="urn:microsoft.com/office/officeart/2005/8/layout/hList2"/>
    <dgm:cxn modelId="{9B3E740E-92EA-4E19-BE45-83C2181DDDE6}" type="presParOf" srcId="{A3E0F4DD-EE04-45AB-A16F-7734217698F8}" destId="{3D1A82E6-5771-47A2-93C5-08B508A94F4F}" srcOrd="2" destOrd="0" presId="urn:microsoft.com/office/officeart/2005/8/layout/hList2"/>
    <dgm:cxn modelId="{BFD11664-D650-49D3-8314-9F8277A856D7}" type="presParOf" srcId="{3D1A82E6-5771-47A2-93C5-08B508A94F4F}" destId="{7ACE2CA6-EC7B-43B4-A089-8118CDDA1100}" srcOrd="0" destOrd="0" presId="urn:microsoft.com/office/officeart/2005/8/layout/hList2"/>
    <dgm:cxn modelId="{ED8FCD58-8869-4F91-B30F-43E54019F8C7}" type="presParOf" srcId="{3D1A82E6-5771-47A2-93C5-08B508A94F4F}" destId="{94D69B00-6B94-47A7-96E0-805858F9B2E8}" srcOrd="1" destOrd="0" presId="urn:microsoft.com/office/officeart/2005/8/layout/hList2"/>
    <dgm:cxn modelId="{52500C11-C726-4776-9529-72C407BBA5B6}" type="presParOf" srcId="{3D1A82E6-5771-47A2-93C5-08B508A94F4F}" destId="{FB3791A9-5C23-4088-BF33-EBA589465437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29824-4DF2-4FF4-B401-983A5657F084}">
      <dsp:nvSpPr>
        <dsp:cNvPr id="0" name=""/>
        <dsp:cNvSpPr/>
      </dsp:nvSpPr>
      <dsp:spPr>
        <a:xfrm rot="16200000">
          <a:off x="-1291797" y="2229999"/>
          <a:ext cx="3320986" cy="632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7619" bIns="0" numCol="1" spcCol="1270" anchor="t" anchorCtr="0">
          <a:noAutofit/>
        </a:bodyPr>
        <a:lstStyle/>
        <a:p>
          <a:pPr marL="0" lvl="0" indent="0" algn="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300" kern="1200" dirty="0"/>
            <a:t>CEA</a:t>
          </a:r>
        </a:p>
      </dsp:txBody>
      <dsp:txXfrm>
        <a:off x="-1291797" y="2229999"/>
        <a:ext cx="3320986" cy="632261"/>
      </dsp:txXfrm>
    </dsp:sp>
    <dsp:sp modelId="{A50461B1-8DAF-49B0-8EBA-208590B45216}">
      <dsp:nvSpPr>
        <dsp:cNvPr id="0" name=""/>
        <dsp:cNvSpPr/>
      </dsp:nvSpPr>
      <dsp:spPr>
        <a:xfrm>
          <a:off x="684825" y="885636"/>
          <a:ext cx="3149331" cy="3320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557619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Used to determine the value for money associated with a treatment.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Key Statistics Computed: ICER and the Probability of Cost Effectiveness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Tells us if we are getting a “good deal” by funding a treatment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Computed </a:t>
          </a:r>
          <a:r>
            <a:rPr lang="en-CA" sz="1400" kern="1200" dirty="0" err="1"/>
            <a:t>Statitic</a:t>
          </a:r>
          <a:r>
            <a:rPr lang="en-CA" sz="1400" kern="1200" dirty="0"/>
            <a:t> is useful and generalizable to many different Environments</a:t>
          </a:r>
        </a:p>
      </dsp:txBody>
      <dsp:txXfrm>
        <a:off x="684825" y="885636"/>
        <a:ext cx="3149331" cy="3320986"/>
      </dsp:txXfrm>
    </dsp:sp>
    <dsp:sp modelId="{62C71BB9-8DF6-4AA0-A85B-611D2DD550C8}">
      <dsp:nvSpPr>
        <dsp:cNvPr id="0" name=""/>
        <dsp:cNvSpPr/>
      </dsp:nvSpPr>
      <dsp:spPr>
        <a:xfrm>
          <a:off x="52564" y="74369"/>
          <a:ext cx="1264522" cy="12645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791A9-5C23-4088-BF33-EBA589465437}">
      <dsp:nvSpPr>
        <dsp:cNvPr id="0" name=""/>
        <dsp:cNvSpPr/>
      </dsp:nvSpPr>
      <dsp:spPr>
        <a:xfrm rot="16200000">
          <a:off x="3311429" y="2229999"/>
          <a:ext cx="3320986" cy="632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7619" bIns="0" numCol="1" spcCol="1270" anchor="t" anchorCtr="0">
          <a:noAutofit/>
        </a:bodyPr>
        <a:lstStyle/>
        <a:p>
          <a:pPr marL="0" lvl="0" indent="0" algn="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300" kern="1200" dirty="0"/>
            <a:t>BIA</a:t>
          </a:r>
        </a:p>
      </dsp:txBody>
      <dsp:txXfrm>
        <a:off x="3311429" y="2229999"/>
        <a:ext cx="3320986" cy="632261"/>
      </dsp:txXfrm>
    </dsp:sp>
    <dsp:sp modelId="{94D69B00-6B94-47A7-96E0-805858F9B2E8}">
      <dsp:nvSpPr>
        <dsp:cNvPr id="0" name=""/>
        <dsp:cNvSpPr/>
      </dsp:nvSpPr>
      <dsp:spPr>
        <a:xfrm>
          <a:off x="5256339" y="896728"/>
          <a:ext cx="3149331" cy="33209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557619" rIns="128016" bIns="128016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Used to determine the Feasibility of funding a particular treatment.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Key Statistics Computed: Expected Budget Impact, Scenario Analysis for High and Low Uptake Cases.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Tells us if paying for a treatment is affordable.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Estimates are often useful to the studied budget holder. Model structure can be generalized but not estimates.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CA" sz="1400" kern="1200" dirty="0"/>
        </a:p>
      </dsp:txBody>
      <dsp:txXfrm>
        <a:off x="5256339" y="896728"/>
        <a:ext cx="3149331" cy="3320986"/>
      </dsp:txXfrm>
    </dsp:sp>
    <dsp:sp modelId="{7ACE2CA6-EC7B-43B4-A089-8118CDDA1100}">
      <dsp:nvSpPr>
        <dsp:cNvPr id="0" name=""/>
        <dsp:cNvSpPr/>
      </dsp:nvSpPr>
      <dsp:spPr>
        <a:xfrm>
          <a:off x="4602884" y="10953"/>
          <a:ext cx="1264522" cy="12645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1E3DF-8867-7C52-0368-23DCE0DF1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E98F5-787A-AC76-A780-68BAA494C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EC070-44DC-D4DC-6EF6-C29123887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3321C-C4ED-545B-66A2-7682EA9AE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2670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34451-FD01-9A55-BB69-F137310F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427DC-7899-A65F-3135-15D2CA264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2605E-7DDF-12DA-2477-556156847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A5957-A94B-F7E4-09C7-F6EABF1FA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2704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67C6-F853-FCD7-228D-4AD75B53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1C48E-89B8-AFF9-8116-C327662EB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50159-8F16-94B1-8AF1-241E343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C3B67-E1F4-2676-B278-34417CD97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4043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21.sv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20.png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3.svg"/><Relationship Id="rId3" Type="http://schemas.openxmlformats.org/officeDocument/2006/relationships/image" Target="../media/image21.sv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2.png"/><Relationship Id="rId2" Type="http://schemas.openxmlformats.org/officeDocument/2006/relationships/image" Target="../media/image20.png"/><Relationship Id="rId16" Type="http://schemas.openxmlformats.org/officeDocument/2006/relationships/image" Target="../media/image19.sv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19" Type="http://schemas.openxmlformats.org/officeDocument/2006/relationships/image" Target="../media/image2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10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Budget Impact Analysis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76400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An Introduction to Budget Impact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Cost Effectiveness League Tables.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Funding Decisions with the League Table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Budget Impact Analysis- Static Models.</a:t>
            </a:r>
            <a:br>
              <a:rPr lang="en-CA" dirty="0"/>
            </a:br>
            <a:endParaRPr lang="en-CA" dirty="0"/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2C93A9-61D0-70D3-75C4-A43F2AB757B8}"/>
              </a:ext>
            </a:extLst>
          </p:cNvPr>
          <p:cNvSpPr/>
          <p:nvPr/>
        </p:nvSpPr>
        <p:spPr>
          <a:xfrm>
            <a:off x="1228640" y="518160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 Introduce Decision Making with ICERs.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 Introduce Scenario Analysis and show the basics of budget impact analysis.</a:t>
            </a: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Introduction to Budget Impact Analysis.</a:t>
            </a:r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is Budget Impact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EAC9-DEEC-065B-393F-46D8889C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Budget Impact Analysis is a procedure conducted to estimate the financial impact of deciding to fund a new treatment.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It is done to address the question of it is feasible to agree to fund a treatment.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Budget impact analysis is of interest to specific third-party payers as funding decisions are </a:t>
            </a:r>
            <a:r>
              <a:rPr lang="en-CA" b="1" dirty="0"/>
              <a:t>binary</a:t>
            </a:r>
            <a:r>
              <a:rPr lang="en-CA" dirty="0"/>
              <a:t> (they are yes-no decisions).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Budget Impact Analysis is often based on many assumptions about uptake among patients and how treatment mixes may change.</a:t>
            </a:r>
          </a:p>
        </p:txBody>
      </p:sp>
    </p:spTree>
    <p:extLst>
      <p:ext uri="{BB962C8B-B14F-4D97-AF65-F5344CB8AC3E}">
        <p14:creationId xmlns:p14="http://schemas.microsoft.com/office/powerpoint/2010/main" val="2157492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9A03A-834D-7821-4E88-5108AFC8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FCA8-AFD2-5706-713E-1614CFA4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7" y="423305"/>
            <a:ext cx="11642725" cy="749822"/>
          </a:xfrm>
        </p:spPr>
        <p:txBody>
          <a:bodyPr/>
          <a:lstStyle/>
          <a:p>
            <a:r>
              <a:rPr lang="en-CA" sz="4800" dirty="0"/>
              <a:t>Why Budget Impact Analysis is Important.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67707-BA36-F4CD-AC94-EDCE787D8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4" y="1194274"/>
            <a:ext cx="10991851" cy="1834676"/>
          </a:xfrm>
        </p:spPr>
        <p:txBody>
          <a:bodyPr>
            <a:normAutofit fontScale="400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4300" dirty="0"/>
              <a:t>Suppose we have a list of possible treatments to fund with their computed ICER, cost per patient and the size of the patient population.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4300" dirty="0"/>
              <a:t>Cost effectiveness analysis on its own tells us to fund the treatments that are at or below a particular threshold.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4300" dirty="0"/>
              <a:t>However, this rule on its own does not tell us if funding a treatment is </a:t>
            </a:r>
            <a:r>
              <a:rPr lang="en-CA" sz="4300" b="1" dirty="0"/>
              <a:t>feasible.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sz="4300" b="1" dirty="0"/>
              <a:t>Budget Impact Analysis tells us if the funding of a treatment is feasible for a particular decision maker.</a:t>
            </a: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6B438D-18D3-0360-4CEA-B1DD51AD2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95222"/>
              </p:ext>
            </p:extLst>
          </p:nvPr>
        </p:nvGraphicFramePr>
        <p:xfrm>
          <a:off x="611301" y="3028950"/>
          <a:ext cx="7342075" cy="2634776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468415">
                  <a:extLst>
                    <a:ext uri="{9D8B030D-6E8A-4147-A177-3AD203B41FA5}">
                      <a16:colId xmlns:a16="http://schemas.microsoft.com/office/drawing/2014/main" val="3174628333"/>
                    </a:ext>
                  </a:extLst>
                </a:gridCol>
                <a:gridCol w="1468415">
                  <a:extLst>
                    <a:ext uri="{9D8B030D-6E8A-4147-A177-3AD203B41FA5}">
                      <a16:colId xmlns:a16="http://schemas.microsoft.com/office/drawing/2014/main" val="677386083"/>
                    </a:ext>
                  </a:extLst>
                </a:gridCol>
                <a:gridCol w="1468415">
                  <a:extLst>
                    <a:ext uri="{9D8B030D-6E8A-4147-A177-3AD203B41FA5}">
                      <a16:colId xmlns:a16="http://schemas.microsoft.com/office/drawing/2014/main" val="686048731"/>
                    </a:ext>
                  </a:extLst>
                </a:gridCol>
                <a:gridCol w="1468415">
                  <a:extLst>
                    <a:ext uri="{9D8B030D-6E8A-4147-A177-3AD203B41FA5}">
                      <a16:colId xmlns:a16="http://schemas.microsoft.com/office/drawing/2014/main" val="2880529317"/>
                    </a:ext>
                  </a:extLst>
                </a:gridCol>
                <a:gridCol w="1468415">
                  <a:extLst>
                    <a:ext uri="{9D8B030D-6E8A-4147-A177-3AD203B41FA5}">
                      <a16:colId xmlns:a16="http://schemas.microsoft.com/office/drawing/2014/main" val="2899289600"/>
                    </a:ext>
                  </a:extLst>
                </a:gridCol>
              </a:tblGrid>
              <a:tr h="433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Treatment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Unit Cost (per patient)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ICER (Cost per QALY gained)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Patient Type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Patient Population Size</a:t>
                      </a:r>
                    </a:p>
                  </a:txBody>
                  <a:tcPr marL="64333" marR="64333" marT="32167" marB="32167" anchor="ctr"/>
                </a:tc>
                <a:extLst>
                  <a:ext uri="{0D108BD9-81ED-4DB2-BD59-A6C34878D82A}">
                    <a16:rowId xmlns:a16="http://schemas.microsoft.com/office/drawing/2014/main" val="2912994985"/>
                  </a:ext>
                </a:extLst>
              </a:tr>
              <a:tr h="807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Treatment A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$12,000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$45,000/QALY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Adults with moderate rheumatoid arthritis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b="1"/>
                        <a:t>150,000 patients</a:t>
                      </a:r>
                      <a:endParaRPr lang="en-CA" sz="1300"/>
                    </a:p>
                  </a:txBody>
                  <a:tcPr marL="64333" marR="64333" marT="32167" marB="32167" anchor="ctr"/>
                </a:tc>
                <a:extLst>
                  <a:ext uri="{0D108BD9-81ED-4DB2-BD59-A6C34878D82A}">
                    <a16:rowId xmlns:a16="http://schemas.microsoft.com/office/drawing/2014/main" val="2762289413"/>
                  </a:ext>
                </a:extLst>
              </a:tr>
              <a:tr h="620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Treatment B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$8,500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$35,000/QALY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Patients with stage II hypertension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b="1" dirty="0"/>
                        <a:t>2,100,000 patients</a:t>
                      </a:r>
                      <a:endParaRPr lang="en-CA" sz="1300" dirty="0"/>
                    </a:p>
                  </a:txBody>
                  <a:tcPr marL="64333" marR="64333" marT="32167" marB="32167" anchor="ctr"/>
                </a:tc>
                <a:extLst>
                  <a:ext uri="{0D108BD9-81ED-4DB2-BD59-A6C34878D82A}">
                    <a16:rowId xmlns:a16="http://schemas.microsoft.com/office/drawing/2014/main" val="2142837373"/>
                  </a:ext>
                </a:extLst>
              </a:tr>
              <a:tr h="620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Treatment C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$25,000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/>
                        <a:t>$95,000/QALY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dirty="0"/>
                        <a:t>Individuals with metastatic melanoma</a:t>
                      </a:r>
                    </a:p>
                  </a:txBody>
                  <a:tcPr marL="64333" marR="64333" marT="32167" marB="321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300" b="1" dirty="0"/>
                        <a:t>70,000 patient</a:t>
                      </a:r>
                      <a:endParaRPr lang="en-CA" sz="1300" dirty="0"/>
                    </a:p>
                  </a:txBody>
                  <a:tcPr marL="64333" marR="64333" marT="32167" marB="32167" anchor="ctr"/>
                </a:tc>
                <a:extLst>
                  <a:ext uri="{0D108BD9-81ED-4DB2-BD59-A6C34878D82A}">
                    <a16:rowId xmlns:a16="http://schemas.microsoft.com/office/drawing/2014/main" val="39857245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656CDC-05C1-EE72-CAC1-28D3519F2BF9}"/>
              </a:ext>
            </a:extLst>
          </p:cNvPr>
          <p:cNvSpPr txBox="1"/>
          <p:nvPr/>
        </p:nvSpPr>
        <p:spPr>
          <a:xfrm>
            <a:off x="485774" y="5663726"/>
            <a:ext cx="8612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/>
              <a:t>THE ICER IS IMPORTANT, BUT </a:t>
            </a:r>
            <a:r>
              <a:rPr lang="en-CA" b="1" i="1"/>
              <a:t>FEASIBILITY IS AS, IF NOT MORE, IMPORTANT.</a:t>
            </a:r>
            <a:endParaRPr lang="en-CA" b="1" i="1" dirty="0"/>
          </a:p>
        </p:txBody>
      </p:sp>
    </p:spTree>
    <p:extLst>
      <p:ext uri="{BB962C8B-B14F-4D97-AF65-F5344CB8AC3E}">
        <p14:creationId xmlns:p14="http://schemas.microsoft.com/office/powerpoint/2010/main" val="355739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98D9A-E797-7A69-132B-A2BB788D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8F39-A157-313A-8A7B-B0DBD188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Budget Impact Analysis VS Cost Effectiveness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2F0EC2-D2EB-C069-4B1B-D4C30253EF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989515"/>
              </p:ext>
            </p:extLst>
          </p:nvPr>
        </p:nvGraphicFramePr>
        <p:xfrm>
          <a:off x="1701800" y="1933575"/>
          <a:ext cx="8489949" cy="4257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2967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8F280-D0DA-5190-1B99-E1811CCE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0473-A037-5C3C-7B0E-DFFBF8CD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Cost Effectiveness League Tables.</a:t>
            </a:r>
          </a:p>
        </p:txBody>
      </p:sp>
    </p:spTree>
    <p:extLst>
      <p:ext uri="{BB962C8B-B14F-4D97-AF65-F5344CB8AC3E}">
        <p14:creationId xmlns:p14="http://schemas.microsoft.com/office/powerpoint/2010/main" val="342740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D7C8-9AE4-629A-6432-B4A14EDB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FB1D-B5F7-08E6-0F02-6461C8D6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8064B817-EF93-77A6-6F99-62B235289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6B350BCA-77C4-195E-2C7F-C9CA8B3BD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EC0D5103-7429-F073-00C0-D765E7BDC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2088BF-777B-26F2-5FF8-04C3DEE70173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2088BF-777B-26F2-5FF8-04C3DEE70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E42E47-A5EE-9561-81D8-BCA18CF3C15C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E42E47-A5EE-9561-81D8-BCA18CF3C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BCA5BC-71EB-545C-F790-547946366CBD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BCA5BC-71EB-545C-F790-54794636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C4C9A759-51A8-8954-07B8-11AA6E5359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347C4361-E367-0919-A170-B900059F6F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573E40E6-D3FA-7EC0-59FF-D275B34D0A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C380118A-1C8C-6789-51A8-CC4525BD7C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5648E6-6D91-D736-D677-5B48E66AB9CA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74DC8E9-08B6-01D5-A059-FA9B1DFF47AD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1C8D73-6280-2591-B26E-75C9A1BA65AD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5FB207-BCA4-8311-1F0D-AD8C2AF2F24F}"/>
              </a:ext>
            </a:extLst>
          </p:cNvPr>
          <p:cNvSpPr txBox="1"/>
          <p:nvPr/>
        </p:nvSpPr>
        <p:spPr>
          <a:xfrm>
            <a:off x="4497568" y="1604599"/>
            <a:ext cx="5994398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Analysts conduct cost effectiveness analysis of drugs that</a:t>
            </a:r>
            <a:br>
              <a:rPr lang="en-CA" dirty="0"/>
            </a:br>
            <a:r>
              <a:rPr lang="en-CA" dirty="0"/>
              <a:t>have passed clinical trials.</a:t>
            </a:r>
          </a:p>
        </p:txBody>
      </p:sp>
    </p:spTree>
    <p:extLst>
      <p:ext uri="{BB962C8B-B14F-4D97-AF65-F5344CB8AC3E}">
        <p14:creationId xmlns:p14="http://schemas.microsoft.com/office/powerpoint/2010/main" val="3773721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DDAC-8092-3C51-8152-1220C882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68A2-8394-6F38-5156-B8B7C12AF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65BB085E-EE24-7C9E-E3C5-ED6F0E9DF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0270" y="3213232"/>
            <a:ext cx="1470660" cy="1470660"/>
          </a:xfrm>
          <a:prstGeom prst="rect">
            <a:avLst/>
          </a:prstGeom>
        </p:spPr>
      </p:pic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EB9945FD-0EF0-508E-4B71-9A72F300F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74E5858F-FAC8-E879-8E44-544792FB1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5D07547F-E749-B839-B158-09DF295F2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A3DF6D-9A07-CF42-B4B8-8A306FFA6219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A3DF6D-9A07-CF42-B4B8-8A306FFA6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0D624E-17C2-066D-70AD-861B1138EC40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30D624E-17C2-066D-70AD-861B1138E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B81932-FF1E-DEB6-ACA4-33DDEC7C73FA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B81932-FF1E-DEB6-ACA4-33DDEC7C7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80F073DD-39C2-146E-F247-135776915B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81E4BED7-1E42-B764-CFF9-32D77A0903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98024E72-557B-5122-DD82-6CA3EF08F6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5619FD1B-1770-768D-3A9E-4198025762A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FE6633-76E7-0A90-9745-094BA161FB0A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830FEEB-8786-9D66-13B6-6F76DF73BBEE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559978-C7D8-A8C6-E078-3213B75D741B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43E1AE-F075-B80E-5D8A-85415BA0596B}"/>
              </a:ext>
            </a:extLst>
          </p:cNvPr>
          <p:cNvCxnSpPr>
            <a:cxnSpLocks/>
          </p:cNvCxnSpPr>
          <p:nvPr/>
        </p:nvCxnSpPr>
        <p:spPr>
          <a:xfrm>
            <a:off x="4783170" y="2765411"/>
            <a:ext cx="1636680" cy="118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22E64B8-C726-9902-26C5-11B4BEA8B1F1}"/>
              </a:ext>
            </a:extLst>
          </p:cNvPr>
          <p:cNvCxnSpPr>
            <a:cxnSpLocks/>
          </p:cNvCxnSpPr>
          <p:nvPr/>
        </p:nvCxnSpPr>
        <p:spPr>
          <a:xfrm>
            <a:off x="4803915" y="4100962"/>
            <a:ext cx="1539735" cy="172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2252A91-BEFC-9100-EC89-F1FE9EB1B12B}"/>
              </a:ext>
            </a:extLst>
          </p:cNvPr>
          <p:cNvCxnSpPr>
            <a:cxnSpLocks/>
          </p:cNvCxnSpPr>
          <p:nvPr/>
        </p:nvCxnSpPr>
        <p:spPr>
          <a:xfrm flipV="1">
            <a:off x="4697235" y="4270581"/>
            <a:ext cx="1662570" cy="1172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EE392EF-E9E4-C4FC-297C-BAA72741843B}"/>
              </a:ext>
            </a:extLst>
          </p:cNvPr>
          <p:cNvSpPr txBox="1"/>
          <p:nvPr/>
        </p:nvSpPr>
        <p:spPr>
          <a:xfrm>
            <a:off x="5495237" y="1734587"/>
            <a:ext cx="4284482" cy="923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These ICERs are submitted in the form of funding proposals to the Ministry of Health.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64D547-959B-F013-68F1-70EDA48D563A}"/>
              </a:ext>
            </a:extLst>
          </p:cNvPr>
          <p:cNvSpPr txBox="1"/>
          <p:nvPr/>
        </p:nvSpPr>
        <p:spPr>
          <a:xfrm>
            <a:off x="6381802" y="2655927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Ministry of </a:t>
            </a:r>
            <a:br>
              <a:rPr lang="en-CA" b="1" dirty="0"/>
            </a:br>
            <a:r>
              <a:rPr lang="en-CA" b="1" dirty="0"/>
              <a:t>Health</a:t>
            </a:r>
          </a:p>
        </p:txBody>
      </p:sp>
    </p:spTree>
    <p:extLst>
      <p:ext uri="{BB962C8B-B14F-4D97-AF65-F5344CB8AC3E}">
        <p14:creationId xmlns:p14="http://schemas.microsoft.com/office/powerpoint/2010/main" val="305803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83E8-34EC-054D-14A4-0CB8F1D2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C731-58DF-9003-25A6-15B53A95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Payer’s Problem</a:t>
            </a:r>
          </a:p>
        </p:txBody>
      </p:sp>
      <p:pic>
        <p:nvPicPr>
          <p:cNvPr id="13" name="Graphic 12" descr="Building with solid fill">
            <a:extLst>
              <a:ext uri="{FF2B5EF4-FFF2-40B4-BE49-F238E27FC236}">
                <a16:creationId xmlns:a16="http://schemas.microsoft.com/office/drawing/2014/main" id="{58473034-4766-24C8-57D1-75E5F8F30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0270" y="3213232"/>
            <a:ext cx="1470660" cy="1470660"/>
          </a:xfrm>
          <a:prstGeom prst="rect">
            <a:avLst/>
          </a:prstGeom>
        </p:spPr>
      </p:pic>
      <p:pic>
        <p:nvPicPr>
          <p:cNvPr id="15" name="Graphic 14" descr="Teacher with solid fill">
            <a:extLst>
              <a:ext uri="{FF2B5EF4-FFF2-40B4-BE49-F238E27FC236}">
                <a16:creationId xmlns:a16="http://schemas.microsoft.com/office/drawing/2014/main" id="{D5C4F265-D3CB-BD61-DE1D-E20AA2A4B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575" y="2141028"/>
            <a:ext cx="1470660" cy="1470660"/>
          </a:xfrm>
          <a:prstGeom prst="rect">
            <a:avLst/>
          </a:prstGeom>
        </p:spPr>
      </p:pic>
      <p:pic>
        <p:nvPicPr>
          <p:cNvPr id="16" name="Graphic 15" descr="Teacher with solid fill">
            <a:extLst>
              <a:ext uri="{FF2B5EF4-FFF2-40B4-BE49-F238E27FC236}">
                <a16:creationId xmlns:a16="http://schemas.microsoft.com/office/drawing/2014/main" id="{C60DE4F4-48E8-4024-5D09-FE804195B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9895" y="3465480"/>
            <a:ext cx="1470660" cy="1470660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3F101DA3-BF8E-504F-2FA9-DDE162F9C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9895" y="4789932"/>
            <a:ext cx="1470660" cy="1470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DFEE2B-20E5-D15F-ABD1-BD3C3D6CB5A1}"/>
                  </a:ext>
                </a:extLst>
              </p:cNvPr>
              <p:cNvSpPr txBox="1"/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DFEE2B-20E5-D15F-ABD1-BD3C3D6CB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87" y="2410525"/>
                <a:ext cx="736548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023AB8-EFAD-0EBA-82EE-3F9B4A798EA9}"/>
                  </a:ext>
                </a:extLst>
              </p:cNvPr>
              <p:cNvSpPr txBox="1"/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023AB8-EFAD-0EBA-82EE-3F9B4A798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07" y="3795016"/>
                <a:ext cx="74725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6556B3-5F9A-30C6-A6A5-5E4F0D79308D}"/>
                  </a:ext>
                </a:extLst>
              </p:cNvPr>
              <p:cNvSpPr txBox="1"/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6556B3-5F9A-30C6-A6A5-5E4F0D793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299" y="5119468"/>
                <a:ext cx="74725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Doctor female with solid fill">
            <a:extLst>
              <a:ext uri="{FF2B5EF4-FFF2-40B4-BE49-F238E27FC236}">
                <a16:creationId xmlns:a16="http://schemas.microsoft.com/office/drawing/2014/main" id="{8DE791B8-ADA7-B526-B9E4-A1D9F97DD1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1940" y="2489642"/>
            <a:ext cx="914400" cy="914400"/>
          </a:xfrm>
          <a:prstGeom prst="rect">
            <a:avLst/>
          </a:prstGeom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7D0D78CF-3F0E-0468-143F-6DCDB97ACB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2480" y="2150553"/>
            <a:ext cx="914400" cy="914400"/>
          </a:xfrm>
          <a:prstGeom prst="rect">
            <a:avLst/>
          </a:prstGeom>
        </p:spPr>
      </p:pic>
      <p:pic>
        <p:nvPicPr>
          <p:cNvPr id="26" name="Graphic 25" descr="Medicine with solid fill">
            <a:extLst>
              <a:ext uri="{FF2B5EF4-FFF2-40B4-BE49-F238E27FC236}">
                <a16:creationId xmlns:a16="http://schemas.microsoft.com/office/drawing/2014/main" id="{0A592734-2CF0-2852-E142-83B131081E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940" y="3795016"/>
            <a:ext cx="914400" cy="914400"/>
          </a:xfrm>
          <a:prstGeom prst="rect">
            <a:avLst/>
          </a:prstGeom>
        </p:spPr>
      </p:pic>
      <p:pic>
        <p:nvPicPr>
          <p:cNvPr id="28" name="Graphic 27" descr="Needle with solid fill">
            <a:extLst>
              <a:ext uri="{FF2B5EF4-FFF2-40B4-BE49-F238E27FC236}">
                <a16:creationId xmlns:a16="http://schemas.microsoft.com/office/drawing/2014/main" id="{29FE8E20-F5A8-2D0C-AB5B-8C0C48CE32B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8590" y="5213036"/>
            <a:ext cx="914400" cy="91440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275C82-2CF8-804E-40C0-D4DCFC3C1994}"/>
              </a:ext>
            </a:extLst>
          </p:cNvPr>
          <p:cNvCxnSpPr/>
          <p:nvPr/>
        </p:nvCxnSpPr>
        <p:spPr>
          <a:xfrm>
            <a:off x="1457325" y="2946842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850C0DC-7195-B588-0954-2248B978F513}"/>
              </a:ext>
            </a:extLst>
          </p:cNvPr>
          <p:cNvCxnSpPr/>
          <p:nvPr/>
        </p:nvCxnSpPr>
        <p:spPr>
          <a:xfrm>
            <a:off x="1350645" y="4200810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A45CEC-463D-89BA-F8E6-EF2529F52808}"/>
              </a:ext>
            </a:extLst>
          </p:cNvPr>
          <p:cNvCxnSpPr/>
          <p:nvPr/>
        </p:nvCxnSpPr>
        <p:spPr>
          <a:xfrm>
            <a:off x="1249680" y="5680046"/>
            <a:ext cx="17692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B5F068-505A-37C1-0530-71DAFBFC1CCB}"/>
              </a:ext>
            </a:extLst>
          </p:cNvPr>
          <p:cNvCxnSpPr>
            <a:cxnSpLocks/>
          </p:cNvCxnSpPr>
          <p:nvPr/>
        </p:nvCxnSpPr>
        <p:spPr>
          <a:xfrm>
            <a:off x="4783170" y="2765411"/>
            <a:ext cx="1636680" cy="118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E52CCD5-240A-43CA-6ED6-79631ABFE539}"/>
              </a:ext>
            </a:extLst>
          </p:cNvPr>
          <p:cNvCxnSpPr>
            <a:cxnSpLocks/>
          </p:cNvCxnSpPr>
          <p:nvPr/>
        </p:nvCxnSpPr>
        <p:spPr>
          <a:xfrm>
            <a:off x="4803915" y="4100962"/>
            <a:ext cx="1539735" cy="172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7A31267-9E0D-4A20-6F36-58A2B5E5E649}"/>
              </a:ext>
            </a:extLst>
          </p:cNvPr>
          <p:cNvCxnSpPr>
            <a:cxnSpLocks/>
          </p:cNvCxnSpPr>
          <p:nvPr/>
        </p:nvCxnSpPr>
        <p:spPr>
          <a:xfrm flipV="1">
            <a:off x="4697235" y="4270581"/>
            <a:ext cx="1662570" cy="1172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2EE14B3-5B60-7A13-6C1C-60868C022708}"/>
              </a:ext>
            </a:extLst>
          </p:cNvPr>
          <p:cNvSpPr txBox="1"/>
          <p:nvPr/>
        </p:nvSpPr>
        <p:spPr>
          <a:xfrm>
            <a:off x="6381802" y="2655927"/>
            <a:ext cx="1397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Ministry of </a:t>
            </a:r>
            <a:br>
              <a:rPr lang="en-CA" b="1" dirty="0"/>
            </a:br>
            <a:r>
              <a:rPr lang="en-CA" b="1" dirty="0"/>
              <a:t>Health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F89820E-9B7C-8361-500A-6793FB0EE42A}"/>
              </a:ext>
            </a:extLst>
          </p:cNvPr>
          <p:cNvCxnSpPr>
            <a:cxnSpLocks/>
          </p:cNvCxnSpPr>
          <p:nvPr/>
        </p:nvCxnSpPr>
        <p:spPr>
          <a:xfrm>
            <a:off x="7560945" y="3948562"/>
            <a:ext cx="99250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phic 50" descr="List outline">
            <a:extLst>
              <a:ext uri="{FF2B5EF4-FFF2-40B4-BE49-F238E27FC236}">
                <a16:creationId xmlns:a16="http://schemas.microsoft.com/office/drawing/2014/main" id="{05C0F7C0-48C3-150E-E87D-12AD31AED0E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79117" y="2655927"/>
            <a:ext cx="2462238" cy="2462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BDC0D3-632E-0034-66BC-F4D10BA49DB7}"/>
                  </a:ext>
                </a:extLst>
              </p:cNvPr>
              <p:cNvSpPr txBox="1"/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BBDC0D3-632E-0034-66BC-F4D10BA49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904" y="2825204"/>
                <a:ext cx="567270" cy="4770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7EFFF2-ADDF-020D-374C-AA1789AF6B5B}"/>
                  </a:ext>
                </a:extLst>
              </p:cNvPr>
              <p:cNvSpPr txBox="1"/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57EFFF2-ADDF-020D-374C-AA1789AF6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677" y="3233008"/>
                <a:ext cx="643766" cy="4770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B1506A-BAA1-7CB3-CF28-776843E2E0BE}"/>
                  </a:ext>
                </a:extLst>
              </p:cNvPr>
              <p:cNvSpPr txBox="1"/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CA" sz="2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CA" sz="25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6B1506A-BAA1-7CB3-CF28-776843E2E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656" y="3611688"/>
                <a:ext cx="643766" cy="4770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F312A77-BF17-6344-5055-6314BA656AE7}"/>
              </a:ext>
            </a:extLst>
          </p:cNvPr>
          <p:cNvSpPr txBox="1"/>
          <p:nvPr/>
        </p:nvSpPr>
        <p:spPr>
          <a:xfrm>
            <a:off x="7795664" y="1691805"/>
            <a:ext cx="4114396" cy="92333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The Ministry of Health Must Decide </a:t>
            </a:r>
            <a:br>
              <a:rPr lang="en-CA" dirty="0"/>
            </a:br>
            <a:r>
              <a:rPr lang="en-CA" dirty="0"/>
              <a:t>Which Treatments to Fund and Which </a:t>
            </a:r>
          </a:p>
          <a:p>
            <a:r>
              <a:rPr lang="en-CA" dirty="0"/>
              <a:t>Ones to Reject.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F643C-7824-3923-A93A-EAE46A887AF5}"/>
              </a:ext>
            </a:extLst>
          </p:cNvPr>
          <p:cNvSpPr txBox="1"/>
          <p:nvPr/>
        </p:nvSpPr>
        <p:spPr>
          <a:xfrm>
            <a:off x="7457458" y="5158957"/>
            <a:ext cx="3729419" cy="64633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This is done often with the use of </a:t>
            </a:r>
            <a:br>
              <a:rPr lang="en-CA" dirty="0"/>
            </a:br>
            <a:r>
              <a:rPr lang="en-CA" b="1" dirty="0"/>
              <a:t>Cost Effectiveness League Tables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165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9503-75CB-07A3-4A6A-4E741D24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81E0-8853-11DA-A11A-A2B55AB1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Cost Effectiveness League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C9DAF-2A12-FCE5-7A5F-47B4CABA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1943100"/>
            <a:ext cx="5613399" cy="401002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</a:t>
            </a:r>
            <a:r>
              <a:rPr lang="en-CA" b="1" dirty="0"/>
              <a:t>Cost Effectiveness League Table</a:t>
            </a:r>
            <a:r>
              <a:rPr lang="en-CA" dirty="0"/>
              <a:t>, is list of treatments with their corresponding ICER and other information.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It is a simple way to organize decision making around which treatments to fund and which treatments not to fund.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While there can be lots of information included in a league table </a:t>
            </a:r>
            <a:r>
              <a:rPr lang="en-CA" b="1" dirty="0"/>
              <a:t>the core is just a list of treatments with their ICERs organizes from smallest to largest.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B4B765-CB28-F206-A935-D1DFC9694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731522"/>
              </p:ext>
            </p:extLst>
          </p:nvPr>
        </p:nvGraphicFramePr>
        <p:xfrm>
          <a:off x="6096000" y="1845883"/>
          <a:ext cx="5830189" cy="3166233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1016473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00928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3312788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</a:tblGrid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Rank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Intervention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ICER (CAD per QALY)</a:t>
                      </a: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Drug A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$11,333/QALY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Drug B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$22,000/QALY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66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Surgical Procedure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$32,500/QALY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666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Advanced Biologic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$133,333/QALY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398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Gene Therapy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$197,059/QALY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72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8CDBB-45CC-FD86-F325-2F3EE4FB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424E-83DB-13B2-8CF9-B9C66B8C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Funding Decisions with the League Table</a:t>
            </a:r>
          </a:p>
        </p:txBody>
      </p:sp>
    </p:spTree>
    <p:extLst>
      <p:ext uri="{BB962C8B-B14F-4D97-AF65-F5344CB8AC3E}">
        <p14:creationId xmlns:p14="http://schemas.microsoft.com/office/powerpoint/2010/main" val="2587074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A2D01-4B09-D12E-8FD2-7242D1E55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76B0-B00D-ED8C-B488-6F1F7773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Funding Decisions with the League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858F8-926C-10A3-1D6D-4F442736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To determine which treatments obtain funding and which do not, we consider two circumstances.</a:t>
            </a:r>
          </a:p>
          <a:p>
            <a:pPr marL="1143000" lvl="1" indent="-457200">
              <a:buFont typeface="Wingdings" panose="05000000000000000000" pitchFamily="2" charset="2"/>
              <a:buChar char="Ø"/>
            </a:pPr>
            <a:r>
              <a:rPr lang="en-CA" dirty="0"/>
              <a:t>The case where the budget is defined.</a:t>
            </a:r>
          </a:p>
          <a:p>
            <a:pPr marL="1028700" lvl="1" indent="-342900">
              <a:buFont typeface="Wingdings" panose="05000000000000000000" pitchFamily="2" charset="2"/>
              <a:buChar char="Ø"/>
            </a:pPr>
            <a:r>
              <a:rPr lang="en-CA" dirty="0"/>
              <a:t>The case when the budget is not defined.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CA" dirty="0"/>
              <a:t>When we have a defined budget, the optimal list of treatments to fund is based on the following rule:</a:t>
            </a:r>
            <a:br>
              <a:rPr lang="en-CA" dirty="0"/>
            </a:br>
            <a:r>
              <a:rPr lang="en-CA" dirty="0"/>
              <a:t>1. Fund the Treatment with the Smallest ICER and subtract the estimated budget impact from the defined budget.</a:t>
            </a:r>
            <a:br>
              <a:rPr lang="en-CA" dirty="0"/>
            </a:br>
            <a:r>
              <a:rPr lang="en-CA" dirty="0"/>
              <a:t>2. At the next smallest ICER look at the budget impact and if the treatment is feasible fund it, otherwise stop. </a:t>
            </a:r>
            <a:br>
              <a:rPr lang="en-CA" dirty="0"/>
            </a:br>
            <a:r>
              <a:rPr lang="en-CA" dirty="0"/>
              <a:t>3. Repeat until the budget is exhausted.</a:t>
            </a:r>
          </a:p>
        </p:txBody>
      </p:sp>
    </p:spTree>
    <p:extLst>
      <p:ext uri="{BB962C8B-B14F-4D97-AF65-F5344CB8AC3E}">
        <p14:creationId xmlns:p14="http://schemas.microsoft.com/office/powerpoint/2010/main" val="3559450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C414-EC3B-C4FA-C6A1-AF8B030E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CB13-6C72-2282-29F4-07D06307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000825"/>
          </a:xfrm>
        </p:spPr>
        <p:txBody>
          <a:bodyPr/>
          <a:lstStyle/>
          <a:p>
            <a:r>
              <a:rPr lang="en-CA" sz="4800" dirty="0"/>
              <a:t>Funding Decisions with a Fixed Budget.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A5EFCB-D2DC-6548-99C7-A53A2C179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34499"/>
              </p:ext>
            </p:extLst>
          </p:nvPr>
        </p:nvGraphicFramePr>
        <p:xfrm>
          <a:off x="3295650" y="1598233"/>
          <a:ext cx="8620125" cy="411480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794675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18034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1573782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  <a:gridCol w="1503224">
                  <a:extLst>
                    <a:ext uri="{9D8B030D-6E8A-4147-A177-3AD203B41FA5}">
                      <a16:colId xmlns:a16="http://schemas.microsoft.com/office/drawing/2014/main" val="2041509545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1796419454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3043428659"/>
                    </a:ext>
                  </a:extLst>
                </a:gridCol>
              </a:tblGrid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Rank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Intervention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ICER (CAD per QALY)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Size of Eligible Population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Unit Cost (CAD)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Budget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1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$11,333/QALY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12,000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$1,200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14.4 Million CAD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2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$22,000/QALY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7,500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$4000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30 Million CAD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3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$32,500/QALY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28.8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$133,333/QALY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5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$197,059/QALY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9.75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D46B9D-F98F-FD05-AEB9-A89E003705CB}"/>
              </a:ext>
            </a:extLst>
          </p:cNvPr>
          <p:cNvSpPr txBox="1">
            <a:spLocks/>
          </p:cNvSpPr>
          <p:nvPr/>
        </p:nvSpPr>
        <p:spPr>
          <a:xfrm>
            <a:off x="0" y="1943100"/>
            <a:ext cx="3324225" cy="4552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Question: Suppose we have a Budget of 50 Million Dollars?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Which Treatments do we fund?</a:t>
            </a:r>
          </a:p>
        </p:txBody>
      </p:sp>
    </p:spTree>
    <p:extLst>
      <p:ext uri="{BB962C8B-B14F-4D97-AF65-F5344CB8AC3E}">
        <p14:creationId xmlns:p14="http://schemas.microsoft.com/office/powerpoint/2010/main" val="4129926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AADD0-1414-A326-6652-2A61AFA7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432C4-4024-9C9E-D618-C7886040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000825"/>
          </a:xfrm>
        </p:spPr>
        <p:txBody>
          <a:bodyPr/>
          <a:lstStyle/>
          <a:p>
            <a:r>
              <a:rPr lang="en-CA" sz="4800" dirty="0"/>
              <a:t>Funding Decisions with a Fixed Budget.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2F51A-4D0A-33B8-D986-7F9724D6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3100"/>
            <a:ext cx="3324225" cy="455294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Question: Suppose we have a Budget of 50 Million Dollars?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Which Treatments do we fund?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Following our procedure, where we fund Drug A and Drug B.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THE EMPIRICAL WILLINESS TO PAY THRESHOLD IS $22,000/QALY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0F4F48-5CEA-43F6-E622-2FF0F55DA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850900"/>
              </p:ext>
            </p:extLst>
          </p:nvPr>
        </p:nvGraphicFramePr>
        <p:xfrm>
          <a:off x="3295650" y="1598233"/>
          <a:ext cx="8620125" cy="411480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794675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18034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1573782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  <a:gridCol w="1503224">
                  <a:extLst>
                    <a:ext uri="{9D8B030D-6E8A-4147-A177-3AD203B41FA5}">
                      <a16:colId xmlns:a16="http://schemas.microsoft.com/office/drawing/2014/main" val="2041509545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1796419454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3043428659"/>
                    </a:ext>
                  </a:extLst>
                </a:gridCol>
              </a:tblGrid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Rank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Intervention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ICER (CAD per QALY)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Size of Eligible Population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Unit Cost (CAD)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Budget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$11,333/QALY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12,000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$1,200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14.4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2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B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$22,000/QALY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7,500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$4000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30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3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$32,500/QALY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28.8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$133,333/QALY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1,100 patients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5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$197,059/QALY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9.75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711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AF89C-4985-686D-93DF-8C37AB00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DDAB-66AA-5236-B13B-F6E5640E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000825"/>
          </a:xfrm>
        </p:spPr>
        <p:txBody>
          <a:bodyPr/>
          <a:lstStyle/>
          <a:p>
            <a:r>
              <a:rPr lang="en-CA" sz="4800" dirty="0"/>
              <a:t>Funding Decisions Based on Thresholds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522D-E481-4EA0-1D67-89D5143C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575" y="1933575"/>
            <a:ext cx="3324225" cy="455294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If we use a threshold of 50,000 dollars per QALY, </a:t>
            </a:r>
            <a:r>
              <a:rPr lang="en-CA" b="1" dirty="0"/>
              <a:t>we overshoot the budget.</a:t>
            </a:r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7D0E78-0FAF-01B0-10A1-3E01F653C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072286"/>
              </p:ext>
            </p:extLst>
          </p:nvPr>
        </p:nvGraphicFramePr>
        <p:xfrm>
          <a:off x="3295650" y="1598233"/>
          <a:ext cx="8620125" cy="411480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794675">
                  <a:extLst>
                    <a:ext uri="{9D8B030D-6E8A-4147-A177-3AD203B41FA5}">
                      <a16:colId xmlns:a16="http://schemas.microsoft.com/office/drawing/2014/main" val="918992622"/>
                    </a:ext>
                  </a:extLst>
                </a:gridCol>
                <a:gridCol w="1518034">
                  <a:extLst>
                    <a:ext uri="{9D8B030D-6E8A-4147-A177-3AD203B41FA5}">
                      <a16:colId xmlns:a16="http://schemas.microsoft.com/office/drawing/2014/main" val="1814598360"/>
                    </a:ext>
                  </a:extLst>
                </a:gridCol>
                <a:gridCol w="1573782">
                  <a:extLst>
                    <a:ext uri="{9D8B030D-6E8A-4147-A177-3AD203B41FA5}">
                      <a16:colId xmlns:a16="http://schemas.microsoft.com/office/drawing/2014/main" val="700040897"/>
                    </a:ext>
                  </a:extLst>
                </a:gridCol>
                <a:gridCol w="1503224">
                  <a:extLst>
                    <a:ext uri="{9D8B030D-6E8A-4147-A177-3AD203B41FA5}">
                      <a16:colId xmlns:a16="http://schemas.microsoft.com/office/drawing/2014/main" val="2041509545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1796419454"/>
                    </a:ext>
                  </a:extLst>
                </a:gridCol>
                <a:gridCol w="1615205">
                  <a:extLst>
                    <a:ext uri="{9D8B030D-6E8A-4147-A177-3AD203B41FA5}">
                      <a16:colId xmlns:a16="http://schemas.microsoft.com/office/drawing/2014/main" val="3043428659"/>
                    </a:ext>
                  </a:extLst>
                </a:gridCol>
              </a:tblGrid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Rank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Intervention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ICER (CAD per QALY)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Size of Eligible Population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Unit Cost (CAD)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Budget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095619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$11,333/QALY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12,000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$1,200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14.4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133093"/>
                  </a:ext>
                </a:extLst>
              </a:tr>
              <a:tr h="242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2</a:t>
                      </a:r>
                      <a:endParaRPr lang="en-CA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Drug B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$22,000/QALY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7,500 patients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$4000</a:t>
                      </a:r>
                      <a:endParaRPr lang="en-CA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30 Million CAD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37087"/>
                  </a:ext>
                </a:extLst>
              </a:tr>
              <a:tr h="51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</a:t>
                      </a:r>
                      <a:endParaRPr lang="en-CA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Surgical Procedure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$32,500/QALY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28.8 Million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028913"/>
                  </a:ext>
                </a:extLst>
              </a:tr>
              <a:tr h="456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4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$133,333/QALY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1,100 patients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22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29827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5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$197,059/QALY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9.75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8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257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E5226-22AD-5A69-E499-FB55877C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38C3-9172-5DEA-2497-58316233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Budget Impact Analysis- Static Models.</a:t>
            </a:r>
          </a:p>
        </p:txBody>
      </p:sp>
    </p:spTree>
    <p:extLst>
      <p:ext uri="{BB962C8B-B14F-4D97-AF65-F5344CB8AC3E}">
        <p14:creationId xmlns:p14="http://schemas.microsoft.com/office/powerpoint/2010/main" val="94009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91AC4-F37E-DD9B-39D7-F2ABD0C6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C4C7-E49D-EA16-0A24-235C43DC7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Conducting Budget Impact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9E6BC-7EB9-9DF5-A6EE-2A2A38C89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Budget impact analysis considers two scenarios.</a:t>
            </a:r>
            <a:br>
              <a:rPr lang="en-CA" dirty="0"/>
            </a:br>
            <a:r>
              <a:rPr lang="en-CA" dirty="0"/>
              <a:t>-A scenario where a treatment is available among current treatments.</a:t>
            </a:r>
            <a:br>
              <a:rPr lang="en-CA" dirty="0"/>
            </a:br>
            <a:r>
              <a:rPr lang="en-CA" dirty="0"/>
              <a:t>-A scenario where the treatment is not available among current treatments.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care about how the inclusion of a treatment will impact spending for a particular condition or set of conditions.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ALL BUDGET IMPACT ANALYSIS IS </a:t>
            </a:r>
            <a:r>
              <a:rPr lang="en-CA" b="1" dirty="0" err="1"/>
              <a:t>IS</a:t>
            </a:r>
            <a:r>
              <a:rPr lang="en-CA" b="1" dirty="0"/>
              <a:t> AN ANALYSIS OF A CHANGE IN SPENDING DUE TO INTRODUCTION OF A NEW TREATMENT.</a:t>
            </a:r>
          </a:p>
        </p:txBody>
      </p:sp>
    </p:spTree>
    <p:extLst>
      <p:ext uri="{BB962C8B-B14F-4D97-AF65-F5344CB8AC3E}">
        <p14:creationId xmlns:p14="http://schemas.microsoft.com/office/powerpoint/2010/main" val="572100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E8BB6-6823-C13B-E40A-95953544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EB5D-D335-0109-A3CA-5DAFF6A3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Scenario Analysis In Budget Impact Analysis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4E9E175-A41B-3EE8-F053-8E8DB7A09D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2469493"/>
              </p:ext>
            </p:extLst>
          </p:nvPr>
        </p:nvGraphicFramePr>
        <p:xfrm>
          <a:off x="5069439" y="3936205"/>
          <a:ext cx="6934200" cy="198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664120568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93231496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280636144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109363647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r>
                        <a:rPr lang="en-CA" sz="1600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Costs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3363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861836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78747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1987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D4B802-C1CF-A5F7-8A4A-D8EBE1DB8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409826"/>
            <a:ext cx="4051299" cy="3431666"/>
          </a:xfrm>
        </p:spPr>
        <p:txBody>
          <a:bodyPr/>
          <a:lstStyle/>
          <a:p>
            <a:r>
              <a:rPr lang="en-CA" dirty="0"/>
              <a:t>To conduct a scenario analysis, we are interested in how the Budget Impact Changes when a New Treatment is Introduced.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36759-DCEB-745B-2F55-1033D25F9017}"/>
              </a:ext>
            </a:extLst>
          </p:cNvPr>
          <p:cNvSpPr txBox="1"/>
          <p:nvPr/>
        </p:nvSpPr>
        <p:spPr>
          <a:xfrm rot="16200000">
            <a:off x="4300271" y="2521125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515A5-D5FC-69C0-EE76-E26499082920}"/>
              </a:ext>
            </a:extLst>
          </p:cNvPr>
          <p:cNvSpPr txBox="1"/>
          <p:nvPr/>
        </p:nvSpPr>
        <p:spPr>
          <a:xfrm rot="16200000">
            <a:off x="4255434" y="495883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B</a:t>
            </a: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9CB4997E-596D-BE20-B42D-09B93BE489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3742962"/>
              </p:ext>
            </p:extLst>
          </p:nvPr>
        </p:nvGraphicFramePr>
        <p:xfrm>
          <a:off x="5069439" y="1588699"/>
          <a:ext cx="6934200" cy="198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664120568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93231496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280636144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109363647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r>
                        <a:rPr lang="en-CA" sz="1600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Costs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3363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861836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78747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19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466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F97F-E04B-378E-E4E7-24150EE2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9D76-2F3D-908E-DB60-223A87F4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Scenario Analysis In Budget Impact Analysis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AC8C8F2-E904-E8B1-7861-124E6318D974}"/>
              </a:ext>
            </a:extLst>
          </p:cNvPr>
          <p:cNvGraphicFramePr>
            <a:graphicFrameLocks/>
          </p:cNvGraphicFramePr>
          <p:nvPr/>
        </p:nvGraphicFramePr>
        <p:xfrm>
          <a:off x="5069439" y="3936205"/>
          <a:ext cx="6934200" cy="198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664120568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93231496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280636144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109363647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r>
                        <a:rPr lang="en-CA" sz="1600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Costs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3363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861836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78747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198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34B2961-DBC3-FA1B-CC77-0334BA9DB9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360" y="1954367"/>
                <a:ext cx="4566201" cy="3431666"/>
              </a:xfrm>
            </p:spPr>
            <p:txBody>
              <a:bodyPr/>
              <a:lstStyle/>
              <a:p>
                <a:pPr/>
                <a:r>
                  <a:rPr lang="en-CA" b="1" i="1" dirty="0"/>
                  <a:t>Budget Under Scenario A</a:t>
                </a:r>
                <a:br>
                  <a:rPr lang="en-CA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=0.6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3200</m:t>
                          </m:r>
                        </m:e>
                      </m:d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9000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0.3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1100</m:t>
                          </m:r>
                        </m:e>
                      </m:d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20000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0.1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</m:e>
                      </m:d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65000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24.8 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Million</m:t>
                      </m:r>
                    </m:oMath>
                  </m:oMathPara>
                </a14:m>
                <a:br>
                  <a:rPr lang="en-CA" b="0" dirty="0"/>
                </a:br>
                <a:br>
                  <a:rPr lang="en-CA" b="0" dirty="0"/>
                </a:br>
                <a:r>
                  <a:rPr lang="en-CA" b="1" i="1" dirty="0"/>
                  <a:t>Budget Under Scenario B</a:t>
                </a:r>
                <a:br>
                  <a:rPr lang="en-CA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0.6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3200</m:t>
                        </m:r>
                      </m:e>
                    </m:d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9000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br>
                  <a:rPr lang="en-CA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0.3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1100</m:t>
                          </m:r>
                        </m:e>
                      </m:d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20000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150</m:t>
                          </m:r>
                        </m:e>
                      </m:d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65000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≈23.8 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Million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34B2961-DBC3-FA1B-CC77-0334BA9DB9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360" y="1954367"/>
                <a:ext cx="4566201" cy="3431666"/>
              </a:xfrm>
              <a:blipFill>
                <a:blip r:embed="rId2"/>
                <a:stretch>
                  <a:fillRect l="-2136" t="-159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843887A-44C7-D0C5-7C1F-F298B5160C36}"/>
              </a:ext>
            </a:extLst>
          </p:cNvPr>
          <p:cNvSpPr txBox="1"/>
          <p:nvPr/>
        </p:nvSpPr>
        <p:spPr>
          <a:xfrm rot="16200000">
            <a:off x="4300271" y="2521125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845A4-0D60-FB47-6E85-D303E9354638}"/>
              </a:ext>
            </a:extLst>
          </p:cNvPr>
          <p:cNvSpPr txBox="1"/>
          <p:nvPr/>
        </p:nvSpPr>
        <p:spPr>
          <a:xfrm rot="16200000">
            <a:off x="4255434" y="495883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B</a:t>
            </a: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7E184517-2228-4B9C-D454-3452AEF7C6C7}"/>
              </a:ext>
            </a:extLst>
          </p:cNvPr>
          <p:cNvGraphicFramePr>
            <a:graphicFrameLocks/>
          </p:cNvGraphicFramePr>
          <p:nvPr/>
        </p:nvGraphicFramePr>
        <p:xfrm>
          <a:off x="5069439" y="1588699"/>
          <a:ext cx="6934200" cy="198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664120568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93231496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280636144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109363647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r>
                        <a:rPr lang="en-CA" sz="1600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Costs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3363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861836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78747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19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736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9EA97-EEF2-C245-B881-5C1080B1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902A-26F6-22F4-1EFE-861E3CEA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Scenario Analysis In Budget Impact Analysis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D451684-902B-A4A3-0FA0-571DF69FDE45}"/>
              </a:ext>
            </a:extLst>
          </p:cNvPr>
          <p:cNvGraphicFramePr>
            <a:graphicFrameLocks/>
          </p:cNvGraphicFramePr>
          <p:nvPr/>
        </p:nvGraphicFramePr>
        <p:xfrm>
          <a:off x="5069439" y="3936205"/>
          <a:ext cx="6934200" cy="198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664120568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93231496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280636144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109363647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r>
                        <a:rPr lang="en-CA" sz="1600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Costs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3363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861836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78747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1987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C3F9A4E-9655-DC70-3C4B-15E08CD28B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2409826"/>
                <a:ext cx="4051299" cy="3431666"/>
              </a:xfrm>
            </p:spPr>
            <p:txBody>
              <a:bodyPr/>
              <a:lstStyle/>
              <a:p>
                <a:pPr/>
                <a:r>
                  <a:rPr lang="en-CA" b="1" i="1" dirty="0"/>
                  <a:t>Budget Impact:</a:t>
                </a:r>
                <a:br>
                  <a:rPr lang="en-CA" b="1" i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CA" sz="2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200">
                          <a:latin typeface="Cambria Math" panose="02040503050406030204" pitchFamily="18" charset="0"/>
                        </a:rPr>
                        <m:t>24.8</m:t>
                      </m:r>
                      <m:r>
                        <m:rPr>
                          <m:sty m:val="p"/>
                        </m:rPr>
                        <a:rPr lang="en-CA" sz="2200" b="0" i="0" smtClean="0">
                          <a:latin typeface="Cambria Math" panose="02040503050406030204" pitchFamily="18" charset="0"/>
                        </a:rPr>
                        <m:t>Million</m:t>
                      </m:r>
                      <m:r>
                        <a:rPr lang="en-CA" sz="2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22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CA" sz="2200" b="0" i="0" smtClean="0">
                          <a:latin typeface="Cambria Math" panose="02040503050406030204" pitchFamily="18" charset="0"/>
                        </a:rPr>
                        <m:t>3.8 </m:t>
                      </m:r>
                      <m:r>
                        <m:rPr>
                          <m:sty m:val="p"/>
                        </m:rPr>
                        <a:rPr lang="en-CA" sz="2200" b="0" i="0" smtClean="0">
                          <a:latin typeface="Cambria Math" panose="02040503050406030204" pitchFamily="18" charset="0"/>
                        </a:rPr>
                        <m:t>Million</m:t>
                      </m:r>
                    </m:oMath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CA" b="0" i="0" smtClean="0">
                          <a:latin typeface="Cambria Math" panose="02040503050406030204" pitchFamily="18" charset="0"/>
                        </a:rPr>
                        <m:t>Million</m:t>
                      </m:r>
                    </m:oMath>
                  </m:oMathPara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CA" i="1" dirty="0"/>
                  <a:t>the introduction of Gene therapy will have a budget impact of 1 million dollars.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C3F9A4E-9655-DC70-3C4B-15E08CD28B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2409826"/>
                <a:ext cx="4051299" cy="3431666"/>
              </a:xfrm>
              <a:blipFill>
                <a:blip r:embed="rId2"/>
                <a:stretch>
                  <a:fillRect l="-2256" t="-142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F44B9BA-5898-36F3-EF98-52C3E255C696}"/>
              </a:ext>
            </a:extLst>
          </p:cNvPr>
          <p:cNvSpPr txBox="1"/>
          <p:nvPr/>
        </p:nvSpPr>
        <p:spPr>
          <a:xfrm rot="16200000">
            <a:off x="4300271" y="2521125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A0A56-6620-2B60-9E4E-5B4366AB0E52}"/>
              </a:ext>
            </a:extLst>
          </p:cNvPr>
          <p:cNvSpPr txBox="1"/>
          <p:nvPr/>
        </p:nvSpPr>
        <p:spPr>
          <a:xfrm rot="16200000">
            <a:off x="4255434" y="495883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Scenario B</a:t>
            </a: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2FEEA0EF-408C-20C1-FE97-DE59BE1E5E8A}"/>
              </a:ext>
            </a:extLst>
          </p:cNvPr>
          <p:cNvGraphicFramePr>
            <a:graphicFrameLocks/>
          </p:cNvGraphicFramePr>
          <p:nvPr/>
        </p:nvGraphicFramePr>
        <p:xfrm>
          <a:off x="5069439" y="1588699"/>
          <a:ext cx="6934200" cy="198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1664120568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193231496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280636144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109363647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r>
                        <a:rPr lang="en-CA" sz="1600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Costs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Market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23363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Surgical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3,200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$9000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861836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Advanced Biologic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1,100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$20,000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78747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/>
                        <a:t>Gene 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150 patients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$65,000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19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646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7539-3D42-31B8-6170-30D260731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D53B-554B-D2EE-E3CF-B4F9E47A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Some Notes on Budget Impact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3F7B-761A-2687-884A-9693C6DEB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Often Budget Impact Analysis is conducted with a deterministic sensitivity analysis that varies market shares.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general, probabilistic sensitivity analysis is not recommended for budget impact analysis as the simulations can often suggest non realistic changes in the budget.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is important, because its possible to be “overly optimistic” about budget impact (and even argue budget savings) when the underlying substitution patterns are non tenable.</a:t>
            </a:r>
          </a:p>
        </p:txBody>
      </p:sp>
    </p:spTree>
    <p:extLst>
      <p:ext uri="{BB962C8B-B14F-4D97-AF65-F5344CB8AC3E}">
        <p14:creationId xmlns:p14="http://schemas.microsoft.com/office/powerpoint/2010/main" val="1620128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ED55-4339-10DC-E2CE-0CE2B6D23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3DB2-5236-2F0A-DD63-E3BE82224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8FA3B-6363-AE62-FC0A-3D9C0C3C5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676400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An Introduction to Budget Impact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Cost Effectiveness League Tables.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Funding Decisions with the League Table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Budget Impact Analysis- Static Models.</a:t>
            </a:r>
            <a:br>
              <a:rPr lang="en-CA" dirty="0"/>
            </a:br>
            <a:endParaRPr lang="en-CA" dirty="0"/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01DCDF-C86A-BF37-AC45-F3F28BEADE77}"/>
              </a:ext>
            </a:extLst>
          </p:cNvPr>
          <p:cNvSpPr/>
          <p:nvPr/>
        </p:nvSpPr>
        <p:spPr>
          <a:xfrm>
            <a:off x="1228640" y="518160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 Introduce Decision Making with ICERs.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 Introduce Scenario Analysis and show the basics of budget impact analysis.</a:t>
            </a:r>
          </a:p>
        </p:txBody>
      </p:sp>
    </p:spTree>
    <p:extLst>
      <p:ext uri="{BB962C8B-B14F-4D97-AF65-F5344CB8AC3E}">
        <p14:creationId xmlns:p14="http://schemas.microsoft.com/office/powerpoint/2010/main" val="2628890980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4791</TotalTime>
  <Words>1674</Words>
  <Application>Microsoft Office PowerPoint</Application>
  <PresentationFormat>Widescreen</PresentationFormat>
  <Paragraphs>363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Cambria Math</vt:lpstr>
      <vt:lpstr>Seaford</vt:lpstr>
      <vt:lpstr>Wingdings</vt:lpstr>
      <vt:lpstr>LevelVTI</vt:lpstr>
      <vt:lpstr>Health Economics Lecture #11</vt:lpstr>
      <vt:lpstr>Learning Objectives</vt:lpstr>
      <vt:lpstr>An Introduction to Budget Impact Analysis.</vt:lpstr>
      <vt:lpstr>What is Budget Impact Analysis</vt:lpstr>
      <vt:lpstr>Why Budget Impact Analysis is Important.</vt:lpstr>
      <vt:lpstr>Budget Impact Analysis VS Cost Effectiveness Analysis</vt:lpstr>
      <vt:lpstr>Cost Effectiveness League Tables.</vt:lpstr>
      <vt:lpstr>The Payer’s Problem</vt:lpstr>
      <vt:lpstr>The Payer’s Problem</vt:lpstr>
      <vt:lpstr>The Payer’s Problem</vt:lpstr>
      <vt:lpstr>The Cost Effectiveness League Table</vt:lpstr>
      <vt:lpstr>Funding Decisions with the League Table</vt:lpstr>
      <vt:lpstr>Funding Decisions with the League Table</vt:lpstr>
      <vt:lpstr>Funding Decisions with a Fixed Budget.</vt:lpstr>
      <vt:lpstr>Funding Decisions with a Fixed Budget.</vt:lpstr>
      <vt:lpstr>Funding Decisions Based on Thresholds</vt:lpstr>
      <vt:lpstr>Budget Impact Analysis- Static Models.</vt:lpstr>
      <vt:lpstr>Conducting Budget Impact Analysis</vt:lpstr>
      <vt:lpstr>Scenario Analysis In Budget Impact Analysis</vt:lpstr>
      <vt:lpstr>Scenario Analysis In Budget Impact Analysis</vt:lpstr>
      <vt:lpstr>Scenario Analysis In Budget Impact Analysis</vt:lpstr>
      <vt:lpstr>Some Notes on Budget Impact Analysis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Yakov Smith</cp:lastModifiedBy>
  <cp:revision>35</cp:revision>
  <dcterms:created xsi:type="dcterms:W3CDTF">2025-07-13T05:00:08Z</dcterms:created>
  <dcterms:modified xsi:type="dcterms:W3CDTF">2025-12-03T15:59:43Z</dcterms:modified>
</cp:coreProperties>
</file>