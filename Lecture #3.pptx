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59"/>
  </p:notesMasterIdLst>
  <p:sldIdLst>
    <p:sldId id="256" r:id="rId2"/>
    <p:sldId id="257" r:id="rId3"/>
    <p:sldId id="258" r:id="rId4"/>
    <p:sldId id="281" r:id="rId5"/>
    <p:sldId id="286" r:id="rId6"/>
    <p:sldId id="287" r:id="rId7"/>
    <p:sldId id="329" r:id="rId8"/>
    <p:sldId id="275" r:id="rId9"/>
    <p:sldId id="285" r:id="rId10"/>
    <p:sldId id="290" r:id="rId11"/>
    <p:sldId id="301" r:id="rId12"/>
    <p:sldId id="302" r:id="rId13"/>
    <p:sldId id="305" r:id="rId14"/>
    <p:sldId id="304" r:id="rId15"/>
    <p:sldId id="306" r:id="rId16"/>
    <p:sldId id="307" r:id="rId17"/>
    <p:sldId id="309" r:id="rId18"/>
    <p:sldId id="313" r:id="rId19"/>
    <p:sldId id="311" r:id="rId20"/>
    <p:sldId id="291" r:id="rId21"/>
    <p:sldId id="314" r:id="rId22"/>
    <p:sldId id="312" r:id="rId23"/>
    <p:sldId id="315" r:id="rId24"/>
    <p:sldId id="316" r:id="rId25"/>
    <p:sldId id="317" r:id="rId26"/>
    <p:sldId id="310" r:id="rId27"/>
    <p:sldId id="318" r:id="rId28"/>
    <p:sldId id="320" r:id="rId29"/>
    <p:sldId id="276" r:id="rId30"/>
    <p:sldId id="282" r:id="rId31"/>
    <p:sldId id="321" r:id="rId32"/>
    <p:sldId id="322" r:id="rId33"/>
    <p:sldId id="323" r:id="rId34"/>
    <p:sldId id="277" r:id="rId35"/>
    <p:sldId id="295" r:id="rId36"/>
    <p:sldId id="324" r:id="rId37"/>
    <p:sldId id="325" r:id="rId38"/>
    <p:sldId id="326" r:id="rId39"/>
    <p:sldId id="327" r:id="rId40"/>
    <p:sldId id="328" r:id="rId41"/>
    <p:sldId id="278" r:id="rId42"/>
    <p:sldId id="332" r:id="rId43"/>
    <p:sldId id="337" r:id="rId44"/>
    <p:sldId id="335" r:id="rId45"/>
    <p:sldId id="336" r:id="rId46"/>
    <p:sldId id="339" r:id="rId47"/>
    <p:sldId id="341" r:id="rId48"/>
    <p:sldId id="342" r:id="rId49"/>
    <p:sldId id="274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785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77" autoAdjust="0"/>
    <p:restoredTop sz="93284" autoAdjust="0"/>
  </p:normalViewPr>
  <p:slideViewPr>
    <p:cSldViewPr snapToGrid="0">
      <p:cViewPr varScale="1">
        <p:scale>
          <a:sx n="96" d="100"/>
          <a:sy n="96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8CCE2-DD53-709C-883A-662A3D099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F806B-4762-1BFF-EBBE-1FDE604B1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5BC65-A2C1-57B6-36BD-D25F86765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27933-FC5D-FDDE-2806-53E4552F9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249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10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70F7-BACB-0038-0244-3931EF27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42C30-4B7B-CB6B-024A-7365916E1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197D7-2B2D-348F-7660-EA43DF6CC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15AA2-1D00-02FA-84E5-236D83F67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401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01CA-2380-23CF-D0BB-65B3C7D9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A953D-73DA-5753-34F9-E8D6DB8DA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24C02-FDA7-A01D-ED39-F16C4DC59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4FDDF-F189-F01A-4857-EBE85B213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192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FB08-2E14-0811-5E7F-C3FCD91C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EE96F-CCF8-BC40-CC09-4CAD56186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51713-1E53-7800-DEB8-D9D230191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3B8B-5DD4-5C76-E1ED-04C0449CA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0950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9A72-78CE-3D45-0DDC-94DC0E8B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842AF-2991-CC02-E4BD-8AFDC1463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BFD73-3065-F814-285F-F97D028A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63953-CBC0-A614-BB45-0BCA15431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256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B434-87F2-C846-B09A-0910AD0B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F3A61-83E0-6BC9-D9F8-6C698C456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7F2C5-189E-8C96-1979-1E963F2CC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9C2A6-64B9-4C9A-FBCA-8018513DC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8517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9535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The (Simplified) Grossman Model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69935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81328"/>
            <a:ext cx="10506991" cy="4400987"/>
          </a:xfrm>
        </p:spPr>
        <p:txBody>
          <a:bodyPr>
            <a:normAutofit/>
          </a:bodyPr>
          <a:lstStyle/>
          <a:p>
            <a:r>
              <a:rPr lang="en-CA" dirty="0"/>
              <a:t>In this lecture,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Big Picture: The Demand for Health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consumers make choices: Indifference Curves and Budget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Production of Health: Health Inputs and Health Outputs.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Trade-offs between Investing in Health and Consumption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Comparative Statics/Sensitivity Analysis with the Grossman Model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B3C145-6CA3-FF13-A133-B491653CC8FE}"/>
              </a:ext>
            </a:extLst>
          </p:cNvPr>
          <p:cNvSpPr/>
          <p:nvPr/>
        </p:nvSpPr>
        <p:spPr>
          <a:xfrm>
            <a:off x="1455195" y="4906516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 Introduce the Grossman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Show how it can be used to assess health different health policies. 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Big Picture: The Demand for Health</a:t>
            </a:r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4F707-B301-81A6-EDCF-92FE6D5C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FB4D-369E-9D18-521E-4A02697A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How Economists Think About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B1748-856C-AE54-55DB-5541EA118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Economics is a field that emphasises </a:t>
            </a:r>
            <a:r>
              <a:rPr lang="en-CA" b="1" dirty="0"/>
              <a:t>individual choice </a:t>
            </a:r>
            <a:r>
              <a:rPr lang="en-CA" dirty="0"/>
              <a:t>as the primary determinant of </a:t>
            </a:r>
            <a:r>
              <a:rPr lang="en-CA" b="1" dirty="0"/>
              <a:t>individual outcomes</a:t>
            </a:r>
            <a:r>
              <a:rPr lang="en-CA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the same way economists think about the determination of </a:t>
            </a:r>
            <a:r>
              <a:rPr lang="en-CA" b="1" dirty="0"/>
              <a:t>health status</a:t>
            </a:r>
            <a:r>
              <a:rPr lang="en-CA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As a gross simplification we will assume moving forward that health status is determined by:</a:t>
            </a:r>
            <a:br>
              <a:rPr lang="en-CA" dirty="0"/>
            </a:br>
            <a:r>
              <a:rPr lang="en-CA" dirty="0"/>
              <a:t>1) Individual Choice.</a:t>
            </a:r>
            <a:br>
              <a:rPr lang="en-CA" dirty="0"/>
            </a:br>
            <a:r>
              <a:rPr lang="en-CA" dirty="0"/>
              <a:t>2) Genetic Endowment.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particular, we are interested in defining a model which explains two facts:</a:t>
            </a:r>
          </a:p>
          <a:p>
            <a:r>
              <a:rPr lang="en-CA" dirty="0"/>
              <a:t>Fact 1: Wealthier people live longer on average.</a:t>
            </a:r>
          </a:p>
          <a:p>
            <a:r>
              <a:rPr lang="en-CA" dirty="0"/>
              <a:t>Fact 2: Educated People live longer on average</a:t>
            </a:r>
          </a:p>
        </p:txBody>
      </p:sp>
    </p:spTree>
    <p:extLst>
      <p:ext uri="{BB962C8B-B14F-4D97-AF65-F5344CB8AC3E}">
        <p14:creationId xmlns:p14="http://schemas.microsoft.com/office/powerpoint/2010/main" val="56374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98E8A-4BB1-EB73-F4FB-7D5F4A7C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DBAE-5879-CED5-0111-735D7DA5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Two Important Empirical Facts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A028A-6B20-D132-617F-67D89641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04" y="1948141"/>
            <a:ext cx="5760796" cy="3694513"/>
          </a:xfrm>
          <a:prstGeom prst="rect">
            <a:avLst/>
          </a:prstGeom>
        </p:spPr>
      </p:pic>
      <p:pic>
        <p:nvPicPr>
          <p:cNvPr id="6" name="Picture 2" descr="This figure is a scatter plot with best fit lines titled 'Community Education Levels and Mortality Rates'. The y-axis, labeled 'All-cause mortality rate per 100,000', ranges from 800 to 1400 in increments of 200. The x-axis, labeled 'Share of local population with college degrees', ranges from 10% to 50%. Three time periods are represented: 1990, 2000, and 2010. The 1990 line Starts at about 1350 mortality rate at 10% college-educated share. It has a Slight negative slope, decreasing to around 1200 at nearly 40% share. The 2000 line Starts around 1300 at about 13% share. It has a Steeper slope than 1990 and Decreases to about 1100 at 40% share. It Continues to decline to around 1050 at 47% share. The 2010 line has the Lowest starting point and steepest decline. It Begins at about 1150 mortality rate at 14% share and Reaches about 900 at 40% share, before Decreasing further to around 800 at 50% share. The source line reads, Source: Researchers' calculations using data from Multiple Cause Mortality Files and the US Census.">
            <a:extLst>
              <a:ext uri="{FF2B5EF4-FFF2-40B4-BE49-F238E27FC236}">
                <a16:creationId xmlns:a16="http://schemas.microsoft.com/office/drawing/2014/main" id="{DA40C725-A3C7-1D41-FADE-60D981402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892" y="1829706"/>
            <a:ext cx="5284200" cy="376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98769F-9960-3F3C-7B10-C67F701DCAD1}"/>
              </a:ext>
            </a:extLst>
          </p:cNvPr>
          <p:cNvSpPr txBox="1"/>
          <p:nvPr/>
        </p:nvSpPr>
        <p:spPr>
          <a:xfrm>
            <a:off x="528214" y="5746563"/>
            <a:ext cx="473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(A) Wealthier People Live Longer on Average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F467A-2945-8E43-604F-E790DCC32214}"/>
              </a:ext>
            </a:extLst>
          </p:cNvPr>
          <p:cNvSpPr txBox="1"/>
          <p:nvPr/>
        </p:nvSpPr>
        <p:spPr>
          <a:xfrm>
            <a:off x="5858215" y="5707520"/>
            <a:ext cx="6333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(B) “Educated People Live Longer on Average”</a:t>
            </a:r>
            <a:br>
              <a:rPr lang="en-CA" dirty="0"/>
            </a:br>
            <a:r>
              <a:rPr lang="en-CA" sz="1000" dirty="0"/>
              <a:t>Source: https://www.nber.org/bh/20242/why-do-more-educated-communities-have-better-health-outcomes </a:t>
            </a:r>
          </a:p>
        </p:txBody>
      </p:sp>
    </p:spTree>
    <p:extLst>
      <p:ext uri="{BB962C8B-B14F-4D97-AF65-F5344CB8AC3E}">
        <p14:creationId xmlns:p14="http://schemas.microsoft.com/office/powerpoint/2010/main" val="206096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6EC20-491A-69C4-717E-38634B63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4CEE-7995-742A-699C-1200367D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How Economists Think About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3A1C-F669-412F-53D5-9A37AB97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Goal:</a:t>
            </a:r>
            <a:br>
              <a:rPr lang="en-CA" dirty="0"/>
            </a:br>
            <a:br>
              <a:rPr lang="en-CA" dirty="0"/>
            </a:br>
            <a:r>
              <a:rPr lang="en-CA" dirty="0"/>
              <a:t>“</a:t>
            </a:r>
            <a:r>
              <a:rPr lang="en-CA" i="1" dirty="0"/>
              <a:t>Define a model which explains these facts about Wealth, Education and Life Expectancy and use it to make assessments of different health policies”</a:t>
            </a:r>
          </a:p>
          <a:p>
            <a:endParaRPr lang="en-CA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In particular the model should be useful for making an assessment of:</a:t>
            </a:r>
            <a:br>
              <a:rPr lang="en-CA" dirty="0"/>
            </a:br>
            <a:r>
              <a:rPr lang="en-CA" dirty="0"/>
              <a:t>1) How changes in the price of healthcare/access to insurance impact individual investment in health.</a:t>
            </a:r>
            <a:br>
              <a:rPr lang="en-CA" dirty="0"/>
            </a:br>
            <a:r>
              <a:rPr lang="en-CA" dirty="0"/>
              <a:t>2) How negative/positive changes in income impact individual health outcomes.</a:t>
            </a:r>
            <a:br>
              <a:rPr lang="en-CA" dirty="0"/>
            </a:br>
            <a:r>
              <a:rPr lang="en-CA" dirty="0"/>
              <a:t>3) How the price of other goods can impact health outcomes.</a:t>
            </a:r>
            <a:br>
              <a:rPr lang="en-CA" dirty="0"/>
            </a:br>
            <a:r>
              <a:rPr lang="en-CA" dirty="0"/>
              <a:t>4)How improvements to medical technology/access impacts health outcomes.</a:t>
            </a:r>
          </a:p>
        </p:txBody>
      </p:sp>
    </p:spTree>
    <p:extLst>
      <p:ext uri="{BB962C8B-B14F-4D97-AF65-F5344CB8AC3E}">
        <p14:creationId xmlns:p14="http://schemas.microsoft.com/office/powerpoint/2010/main" val="1158409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801A-5299-8A05-078E-F9A72461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26A6-D9D0-C732-970F-1548EC7C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Two People To Thank</a:t>
            </a:r>
          </a:p>
        </p:txBody>
      </p:sp>
      <p:sp>
        <p:nvSpPr>
          <p:cNvPr id="6" name="AutoShape 2" descr="Michael Grossman">
            <a:extLst>
              <a:ext uri="{FF2B5EF4-FFF2-40B4-BE49-F238E27FC236}">
                <a16:creationId xmlns:a16="http://schemas.microsoft.com/office/drawing/2014/main" id="{5D83449A-EAC8-3106-41D6-A3114A71AD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7000" y="2085510"/>
            <a:ext cx="152779" cy="15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2052" name="Picture 4" descr="Michael Grossman">
            <a:extLst>
              <a:ext uri="{FF2B5EF4-FFF2-40B4-BE49-F238E27FC236}">
                <a16:creationId xmlns:a16="http://schemas.microsoft.com/office/drawing/2014/main" id="{B9DFCC51-75BB-9BE9-C9C1-6B65F37D8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" y="1608296"/>
            <a:ext cx="4888939" cy="326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dam Wagstaff">
            <a:extLst>
              <a:ext uri="{FF2B5EF4-FFF2-40B4-BE49-F238E27FC236}">
                <a16:creationId xmlns:a16="http://schemas.microsoft.com/office/drawing/2014/main" id="{66121705-AF71-4EBB-5DF4-91F0A1E24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980" y="1533763"/>
            <a:ext cx="340995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EBE6DF-8E7F-D3BE-F615-3C928EEB5BD7}"/>
              </a:ext>
            </a:extLst>
          </p:cNvPr>
          <p:cNvSpPr txBox="1"/>
          <p:nvPr/>
        </p:nvSpPr>
        <p:spPr>
          <a:xfrm>
            <a:off x="665480" y="4869180"/>
            <a:ext cx="3663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Michael Grossman</a:t>
            </a:r>
            <a:br>
              <a:rPr lang="en-CA" dirty="0"/>
            </a:br>
            <a:r>
              <a:rPr lang="en-CA" dirty="0"/>
              <a:t>Formalized how economists think</a:t>
            </a:r>
            <a:br>
              <a:rPr lang="en-CA" dirty="0"/>
            </a:br>
            <a:r>
              <a:rPr lang="en-CA" dirty="0"/>
              <a:t>about investment in health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F3E07-072B-C56A-91EA-761CDC626B53}"/>
              </a:ext>
            </a:extLst>
          </p:cNvPr>
          <p:cNvSpPr txBox="1"/>
          <p:nvPr/>
        </p:nvSpPr>
        <p:spPr>
          <a:xfrm>
            <a:off x="7459980" y="4943713"/>
            <a:ext cx="43547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Adam Wagstaff</a:t>
            </a:r>
            <a:br>
              <a:rPr lang="en-CA" dirty="0"/>
            </a:br>
            <a:r>
              <a:rPr lang="en-CA" dirty="0"/>
              <a:t>Simplified the model proposed by</a:t>
            </a:r>
            <a:br>
              <a:rPr lang="en-CA" dirty="0"/>
            </a:br>
            <a:r>
              <a:rPr lang="en-CA" dirty="0"/>
              <a:t>Michael Grossman and made it accessible</a:t>
            </a:r>
            <a:br>
              <a:rPr lang="en-CA" dirty="0"/>
            </a:br>
            <a:r>
              <a:rPr lang="en-CA" dirty="0"/>
              <a:t>to policy makers.</a:t>
            </a:r>
          </a:p>
        </p:txBody>
      </p:sp>
    </p:spTree>
    <p:extLst>
      <p:ext uri="{BB962C8B-B14F-4D97-AF65-F5344CB8AC3E}">
        <p14:creationId xmlns:p14="http://schemas.microsoft.com/office/powerpoint/2010/main" val="357133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7A12-82BD-2507-A975-D94E15C8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AF25-A8D7-9FB5-0F8C-AFF590E7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800" dirty="0"/>
              <a:t>How consumers make choices: Indifference Curves and Budget Constraints.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5EF22-2F68-0201-A45A-1FC48FA4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Part 1: The Budget Constraint</a:t>
            </a:r>
          </a:p>
        </p:txBody>
      </p:sp>
    </p:spTree>
    <p:extLst>
      <p:ext uri="{BB962C8B-B14F-4D97-AF65-F5344CB8AC3E}">
        <p14:creationId xmlns:p14="http://schemas.microsoft.com/office/powerpoint/2010/main" val="61242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EF441-3F2B-A2C6-5952-A02FF38F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864C-A0D5-725A-F832-5C3262A4D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the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E6C9F-F15F-582D-82BE-3B36D03A57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simplest model that can be designed is the budget constraint.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For the analysis of two goods, the budget constraint is defined as: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b="0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A" dirty="0"/>
                  <a:t>: is consumer income (more specifically their “budget”)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/>
                  <a:t>: the price of good 2.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the price of good 1.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is the amount of good 1.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/>
                  <a:t>: is the amount of good 2.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E6C9F-F15F-582D-82BE-3B36D03A57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943100"/>
                <a:ext cx="10506991" cy="3936491"/>
              </a:xfrm>
              <a:blipFill>
                <a:blip r:embed="rId2"/>
                <a:stretch>
                  <a:fillRect l="-580" t="-26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62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6E00-793E-CBA0-2E87-8DCE3B32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52F845-FF4F-5BE7-9CDA-CE709F1750AF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FC5EE4-73F3-3778-17C9-59466B62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the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D5B1-0EE6-995F-1C7B-65C9C1DE6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649" y="1705583"/>
            <a:ext cx="5250272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Graphically, we can represent the budget constraint in the diagram on the left.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669F2-669B-1CFA-D9F5-D8766A76832D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47328-30A2-3CEF-E904-A3A6E6C558FA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6BF162-BC68-B461-FAA5-57755AB399BB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6B67D9-38B5-23EB-CA33-98F35A7683AE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6B67D9-38B5-23EB-CA33-98F35A768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FC05FA-E27A-857C-B6B3-C3C9AFC71E77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FC05FA-E27A-857C-B6B3-C3C9AFC71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6A1DC77-AFCF-17C3-768B-0AF277282AB7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8665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43FA-C682-1629-71FB-EC88A015A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2B04BA-3808-64B5-33B9-3CD9DF54649C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C644B68-7E9F-A981-3DE2-55BAF9E8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the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E3EE7B-8961-4E45-8721-A78F393EED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intercept values are defined as where the consumer spends all their income on good 1 or good 2.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Mathematically this is where:</a:t>
                </a:r>
                <a:br>
                  <a:rPr lang="en-CA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intercept</m:t>
                        </m:r>
                      </m:sup>
                    </m:sSub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Income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Price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Good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1</m:t>
                        </m:r>
                      </m:den>
                    </m:f>
                  </m:oMath>
                </a14:m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intercept</m:t>
                        </m:r>
                      </m:sup>
                    </m:sSubSup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Income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Price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Good</m:t>
                        </m:r>
                        <m:r>
                          <a:rPr lang="en-CA" i="0">
                            <a:latin typeface="Cambria Math" panose="02040503050406030204" pitchFamily="18" charset="0"/>
                          </a:rPr>
                          <m:t> 2</m:t>
                        </m:r>
                      </m:den>
                    </m:f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E3EE7B-8961-4E45-8721-A78F393EED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  <a:blipFill>
                <a:blip r:embed="rId2"/>
                <a:stretch>
                  <a:fillRect l="-1510" t="-1238" r="-11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B8E2291-317E-14A6-F03A-B1F9FF6C19F8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9344B-30DC-5175-ED03-43FA46C92437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EB3FB4-F46B-4FCF-E33B-45141B240025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081CD-897F-2849-7895-3E127D8EFB7D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0081CD-897F-2849-7895-3E127D8EF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01DDA8-EC8D-95EF-B4FD-B769CBA97F36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01DDA8-EC8D-95EF-B4FD-B769CBA97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E71D759-52F5-B28E-24F8-CEB010965351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B8FD37-BA8F-99B7-ACD9-9114238D41E0}"/>
                  </a:ext>
                </a:extLst>
              </p:cNvPr>
              <p:cNvSpPr txBox="1"/>
              <p:nvPr/>
            </p:nvSpPr>
            <p:spPr>
              <a:xfrm>
                <a:off x="1225182" y="2354367"/>
                <a:ext cx="1506298" cy="613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B8FD37-BA8F-99B7-ACD9-9114238D4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182" y="2354367"/>
                <a:ext cx="1506298" cy="613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A759F8-5B95-D52C-CF9A-4D3E59E65103}"/>
                  </a:ext>
                </a:extLst>
              </p:cNvPr>
              <p:cNvSpPr txBox="1"/>
              <p:nvPr/>
            </p:nvSpPr>
            <p:spPr>
              <a:xfrm>
                <a:off x="3590996" y="4666989"/>
                <a:ext cx="1506298" cy="613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A759F8-5B95-D52C-CF9A-4D3E59E65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96" y="4666989"/>
                <a:ext cx="1506298" cy="613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8A6C2F1E-A8EC-9C6E-737E-44472E51EB06}"/>
              </a:ext>
            </a:extLst>
          </p:cNvPr>
          <p:cNvSpPr/>
          <p:nvPr/>
        </p:nvSpPr>
        <p:spPr>
          <a:xfrm>
            <a:off x="655671" y="3249311"/>
            <a:ext cx="361770" cy="369332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FE0376F4-C165-7974-55F9-71DDE66EB605}"/>
              </a:ext>
            </a:extLst>
          </p:cNvPr>
          <p:cNvSpPr/>
          <p:nvPr/>
        </p:nvSpPr>
        <p:spPr>
          <a:xfrm>
            <a:off x="3352919" y="5510992"/>
            <a:ext cx="361770" cy="369332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E0D6DD6-7DEB-2ABA-580C-E52771F4A363}"/>
              </a:ext>
            </a:extLst>
          </p:cNvPr>
          <p:cNvSpPr/>
          <p:nvPr/>
        </p:nvSpPr>
        <p:spPr>
          <a:xfrm rot="8353259">
            <a:off x="917830" y="2946731"/>
            <a:ext cx="814788" cy="35817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ysClr val="windowText" lastClr="000000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1F60135-3D92-DA3B-8207-250523B1E388}"/>
              </a:ext>
            </a:extLst>
          </p:cNvPr>
          <p:cNvSpPr/>
          <p:nvPr/>
        </p:nvSpPr>
        <p:spPr>
          <a:xfrm rot="8353259">
            <a:off x="3582726" y="5196285"/>
            <a:ext cx="814788" cy="35817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06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F0B8-6FE3-4363-CC7C-641310B7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8EEB6-351B-D7BB-BC40-51E0F16687BC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55018C4-C85E-4454-795A-1563DD18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the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C553E-B7A9-373B-FFD8-8A10D42660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4324" y="1254869"/>
                <a:ext cx="6013653" cy="4717914"/>
              </a:xfrm>
            </p:spPr>
            <p:txBody>
              <a:bodyPr>
                <a:normAutofit fontScale="85000"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Slope of this budget line is defined as: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Price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Good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Price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Good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2</m:t>
                        </m:r>
                      </m:den>
                    </m:f>
                    <m:r>
                      <a:rPr lang="en-CA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You can take this as given (as we wont work with more than 2 goods)</a:t>
                </a:r>
                <a:br>
                  <a:rPr lang="en-CA" dirty="0"/>
                </a:b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But in case you are wondering, if we rearrange the budget line as: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“slope parameter”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CA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This is often interpreted as “</a:t>
                </a:r>
                <a:r>
                  <a:rPr lang="en-CA" b="1" dirty="0"/>
                  <a:t>Opportunity Cost”</a:t>
                </a:r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C553E-B7A9-373B-FFD8-8A10D42660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4324" y="1254869"/>
                <a:ext cx="6013653" cy="4717914"/>
              </a:xfrm>
              <a:blipFill>
                <a:blip r:embed="rId2"/>
                <a:stretch>
                  <a:fillRect l="-913" t="-1550" r="-121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616A70F-8170-3E4C-BF80-EB69027BA814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EED79-D1CA-79AC-1EC2-E49D7D12C493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8CF86-0A3C-8B68-7CBA-CD6DDA1B26A2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421F51-0562-1977-4618-92E5B429D606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421F51-0562-1977-4618-92E5B429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66DA30-B883-41A5-39B6-D361CE92DA8D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66DA30-B883-41A5-39B6-D361CE92D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58FF469-5602-1EFC-E633-9C011E775062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73CD46-D0D1-76F6-3642-BBBA4039B95D}"/>
                  </a:ext>
                </a:extLst>
              </p:cNvPr>
              <p:cNvSpPr txBox="1"/>
              <p:nvPr/>
            </p:nvSpPr>
            <p:spPr>
              <a:xfrm>
                <a:off x="657360" y="4651457"/>
                <a:ext cx="1506298" cy="613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73CD46-D0D1-76F6-3642-BBBA4039B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60" y="4651457"/>
                <a:ext cx="1506298" cy="613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2EE2B0-81D5-882E-F29C-50E9FC89FD54}"/>
              </a:ext>
            </a:extLst>
          </p:cNvPr>
          <p:cNvCxnSpPr/>
          <p:nvPr/>
        </p:nvCxnSpPr>
        <p:spPr>
          <a:xfrm>
            <a:off x="1673157" y="4153711"/>
            <a:ext cx="0" cy="865761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D142E0-31EE-BF3F-D046-F37BEFD689F3}"/>
              </a:ext>
            </a:extLst>
          </p:cNvPr>
          <p:cNvCxnSpPr>
            <a:cxnSpLocks/>
          </p:cNvCxnSpPr>
          <p:nvPr/>
        </p:nvCxnSpPr>
        <p:spPr>
          <a:xfrm>
            <a:off x="1673157" y="5019472"/>
            <a:ext cx="994319" cy="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632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C507-CE49-40AA-5311-FE0F915B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ECB9E11-8DA5-0BC9-3955-5C6D1F2F6C87}"/>
              </a:ext>
            </a:extLst>
          </p:cNvPr>
          <p:cNvSpPr/>
          <p:nvPr/>
        </p:nvSpPr>
        <p:spPr>
          <a:xfrm>
            <a:off x="865762" y="3429000"/>
            <a:ext cx="2727662" cy="2281947"/>
          </a:xfrm>
          <a:prstGeom prst="triangle">
            <a:avLst>
              <a:gd name="adj" fmla="val 0"/>
            </a:avLst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Feasible Region</a:t>
            </a:r>
            <a:br>
              <a:rPr lang="en-CA" dirty="0">
                <a:solidFill>
                  <a:sysClr val="windowText" lastClr="000000"/>
                </a:solidFill>
              </a:rPr>
            </a:br>
            <a:r>
              <a:rPr lang="en-CA" dirty="0">
                <a:solidFill>
                  <a:sysClr val="windowText" lastClr="000000"/>
                </a:solidFill>
              </a:rPr>
              <a:t>(affordable)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F7F2D4-9A6F-1A12-192B-277B57A5E447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AC0251-A2D6-1B96-A00A-DACAD272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the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4DA15-8A9C-5F2E-47E3-08F6A24D2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649" y="1705583"/>
            <a:ext cx="5250272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Everything on and below the budget line is </a:t>
            </a:r>
            <a:r>
              <a:rPr lang="en-CA" b="1" dirty="0"/>
              <a:t>feasible (affordable).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Everything outside of the budget line is </a:t>
            </a:r>
            <a:r>
              <a:rPr lang="en-CA" b="1" dirty="0"/>
              <a:t>unfeasible (unaffordable).</a:t>
            </a:r>
            <a:endParaRPr lang="en-CA" dirty="0"/>
          </a:p>
          <a:p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BABB8-D5D3-70D1-CBE3-81422F651AE5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4E748-DA63-82BC-028B-B247DD48FB0C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EC766-B522-ABCC-3C3B-30EF40438D82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01735F-AFC9-6A43-4080-8926AC559B5A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01735F-AFC9-6A43-4080-8926AC55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C7A79F-C407-6F1D-383E-B019CB90EA63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C7A79F-C407-6F1D-383E-B019CB90E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2B6D55-2D1F-1157-6CD0-744FBF8FA86A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46A237-EB67-6AA0-EB96-EE7EF68F295D}"/>
              </a:ext>
            </a:extLst>
          </p:cNvPr>
          <p:cNvSpPr/>
          <p:nvPr/>
        </p:nvSpPr>
        <p:spPr>
          <a:xfrm>
            <a:off x="914978" y="2481365"/>
            <a:ext cx="4620638" cy="3190672"/>
          </a:xfrm>
          <a:custGeom>
            <a:avLst/>
            <a:gdLst>
              <a:gd name="connsiteX0" fmla="*/ 0 w 4620638"/>
              <a:gd name="connsiteY0" fmla="*/ 933855 h 3190672"/>
              <a:gd name="connsiteX1" fmla="*/ 0 w 4620638"/>
              <a:gd name="connsiteY1" fmla="*/ 19455 h 3190672"/>
              <a:gd name="connsiteX2" fmla="*/ 4552545 w 4620638"/>
              <a:gd name="connsiteY2" fmla="*/ 0 h 3190672"/>
              <a:gd name="connsiteX3" fmla="*/ 4620638 w 4620638"/>
              <a:gd name="connsiteY3" fmla="*/ 3161489 h 3190672"/>
              <a:gd name="connsiteX4" fmla="*/ 2694562 w 4620638"/>
              <a:gd name="connsiteY4" fmla="*/ 3190672 h 3190672"/>
              <a:gd name="connsiteX5" fmla="*/ 0 w 4620638"/>
              <a:gd name="connsiteY5" fmla="*/ 933855 h 3190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0638" h="3190672">
                <a:moveTo>
                  <a:pt x="0" y="933855"/>
                </a:moveTo>
                <a:lnTo>
                  <a:pt x="0" y="19455"/>
                </a:lnTo>
                <a:lnTo>
                  <a:pt x="4552545" y="0"/>
                </a:lnTo>
                <a:lnTo>
                  <a:pt x="4620638" y="3161489"/>
                </a:lnTo>
                <a:lnTo>
                  <a:pt x="2694562" y="3190672"/>
                </a:lnTo>
                <a:lnTo>
                  <a:pt x="0" y="933855"/>
                </a:lnTo>
                <a:close/>
              </a:path>
            </a:pathLst>
          </a:custGeom>
          <a:solidFill>
            <a:srgbClr val="C00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Unfeasible Region</a:t>
            </a:r>
            <a:br>
              <a:rPr lang="en-CA" dirty="0">
                <a:solidFill>
                  <a:sysClr val="windowText" lastClr="000000"/>
                </a:solidFill>
              </a:rPr>
            </a:br>
            <a:r>
              <a:rPr lang="en-CA" dirty="0">
                <a:solidFill>
                  <a:sysClr val="windowText" lastClr="000000"/>
                </a:solidFill>
              </a:rPr>
              <a:t>(Unaffordable)</a:t>
            </a:r>
          </a:p>
        </p:txBody>
      </p:sp>
    </p:spTree>
    <p:extLst>
      <p:ext uri="{BB962C8B-B14F-4D97-AF65-F5344CB8AC3E}">
        <p14:creationId xmlns:p14="http://schemas.microsoft.com/office/powerpoint/2010/main" val="367730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1F3B-8990-20E4-914D-AF2D337F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7B08E4-7613-D1EE-3E5B-88166004EEAF}"/>
              </a:ext>
            </a:extLst>
          </p:cNvPr>
          <p:cNvCxnSpPr>
            <a:cxnSpLocks/>
          </p:cNvCxnSpPr>
          <p:nvPr/>
        </p:nvCxnSpPr>
        <p:spPr>
          <a:xfrm>
            <a:off x="886565" y="3492775"/>
            <a:ext cx="1641857" cy="2202883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F6ACD5-8873-DDF7-A8C2-551523FA76BB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22A3B6-8A4C-1924-2821-EF1C166D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Effect of a Increase in Price of Good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3954ED-7002-A2B3-0D1C-F25D7B110B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Suppose the price of good 1 increases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CA" dirty="0"/>
                  <a:t> (say for example an increase in price from 1 dollar to 2 dollars).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intercept for good 1 moves back and the slope becomes steeper.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3954ED-7002-A2B3-0D1C-F25D7B110B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  <a:blipFill>
                <a:blip r:embed="rId2"/>
                <a:stretch>
                  <a:fillRect l="-1510" t="-1238" r="-19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48EFA28-791F-584C-1BEA-6454F9749F3C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4FF9C-5332-2308-AF28-2A2AFDB3F8A5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367F60-EFCF-D33E-F2E3-AF67B6990DD7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D60E80-80BE-35E2-9A43-74BED1D37DB7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D60E80-80BE-35E2-9A43-74BED1D37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2894B3-30F9-AB67-B427-46C2217670CD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2894B3-30F9-AB67-B427-46C221767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5789D54-A0CB-05FB-0DDF-BEE3D0ACC25E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692EAC-B28C-0EB1-ACC5-DE396872C3CD}"/>
                  </a:ext>
                </a:extLst>
              </p:cNvPr>
              <p:cNvSpPr txBox="1"/>
              <p:nvPr/>
            </p:nvSpPr>
            <p:spPr>
              <a:xfrm>
                <a:off x="372981" y="3186089"/>
                <a:ext cx="467436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692EAC-B28C-0EB1-ACC5-DE396872C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81" y="3186089"/>
                <a:ext cx="467436" cy="613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8AE2FE-1874-42D5-21BF-C60133E1D501}"/>
                  </a:ext>
                </a:extLst>
              </p:cNvPr>
              <p:cNvSpPr txBox="1"/>
              <p:nvPr/>
            </p:nvSpPr>
            <p:spPr>
              <a:xfrm>
                <a:off x="3394411" y="5695658"/>
                <a:ext cx="462113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8AE2FE-1874-42D5-21BF-C60133E1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411" y="5695658"/>
                <a:ext cx="462113" cy="613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E6665F-5779-9930-37B0-CFA4D2C7EA06}"/>
                  </a:ext>
                </a:extLst>
              </p:cNvPr>
              <p:cNvSpPr txBox="1"/>
              <p:nvPr/>
            </p:nvSpPr>
            <p:spPr>
              <a:xfrm>
                <a:off x="2268952" y="5727425"/>
                <a:ext cx="462114" cy="623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Sup>
                            <m:sSub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E6665F-5779-9930-37B0-CFA4D2C7E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952" y="5727425"/>
                <a:ext cx="462114" cy="6236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Right 19">
            <a:extLst>
              <a:ext uri="{FF2B5EF4-FFF2-40B4-BE49-F238E27FC236}">
                <a16:creationId xmlns:a16="http://schemas.microsoft.com/office/drawing/2014/main" id="{FD97B56A-F22A-B3C6-2C01-50E22FD61D46}"/>
              </a:ext>
            </a:extLst>
          </p:cNvPr>
          <p:cNvSpPr/>
          <p:nvPr/>
        </p:nvSpPr>
        <p:spPr>
          <a:xfrm rot="10800000">
            <a:off x="2723838" y="5880324"/>
            <a:ext cx="725606" cy="2401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6511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33CE-D61D-F2CD-27BC-5943377B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941A8-5488-F3A4-35BE-4771358F063A}"/>
              </a:ext>
            </a:extLst>
          </p:cNvPr>
          <p:cNvCxnSpPr>
            <a:cxnSpLocks/>
          </p:cNvCxnSpPr>
          <p:nvPr/>
        </p:nvCxnSpPr>
        <p:spPr>
          <a:xfrm>
            <a:off x="835094" y="4312356"/>
            <a:ext cx="2758330" cy="1415069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3F745E-D0FA-FB23-8405-9344AFE85C52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4DA3DFC-876F-9A63-8C34-DB758FDE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Effect of a Increase in Price of Good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C0035-9716-17AA-1C8F-EC50EF1B5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Suppose the price of good 2 increases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CA" dirty="0"/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intercept for good 2 moves down and the slope of the line becomes less steep.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3C0035-9716-17AA-1C8F-EC50EF1B5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  <a:blipFill>
                <a:blip r:embed="rId2"/>
                <a:stretch>
                  <a:fillRect l="-1510" t="-123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1CCE05F-5DB8-7065-341D-FD7FB09425FD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59919-734F-AC47-516D-5F97ED494A50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8E36F-7EE9-870F-2A96-EA1C7AF55B87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D82F0B-C64B-48EC-2F61-D0EB5CD61CDD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D82F0B-C64B-48EC-2F61-D0EB5CD61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B5C26A-40B4-4841-9331-E7EE95AB7EE8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B5C26A-40B4-4841-9331-E7EE95AB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8923657-5373-B99D-EB9F-183F914BCD24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30538A-2AEB-B126-D403-033E783E557B}"/>
                  </a:ext>
                </a:extLst>
              </p:cNvPr>
              <p:cNvSpPr txBox="1"/>
              <p:nvPr/>
            </p:nvSpPr>
            <p:spPr>
              <a:xfrm>
                <a:off x="372981" y="3186089"/>
                <a:ext cx="467436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30538A-2AEB-B126-D403-033E783E5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81" y="3186089"/>
                <a:ext cx="467436" cy="613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BD0E83-A1B5-9B27-91BB-9565CCA10382}"/>
                  </a:ext>
                </a:extLst>
              </p:cNvPr>
              <p:cNvSpPr txBox="1"/>
              <p:nvPr/>
            </p:nvSpPr>
            <p:spPr>
              <a:xfrm>
                <a:off x="3394411" y="5695658"/>
                <a:ext cx="462113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BD0E83-A1B5-9B27-91BB-9565CCA1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411" y="5695658"/>
                <a:ext cx="462113" cy="613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4B5533-A75E-A923-5109-44E855796824}"/>
                  </a:ext>
                </a:extLst>
              </p:cNvPr>
              <p:cNvSpPr txBox="1"/>
              <p:nvPr/>
            </p:nvSpPr>
            <p:spPr>
              <a:xfrm>
                <a:off x="201605" y="4258124"/>
                <a:ext cx="799870" cy="636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Sup>
                            <m:sSub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4B5533-A75E-A923-5109-44E855796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05" y="4258124"/>
                <a:ext cx="799870" cy="6362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Right 19">
            <a:extLst>
              <a:ext uri="{FF2B5EF4-FFF2-40B4-BE49-F238E27FC236}">
                <a16:creationId xmlns:a16="http://schemas.microsoft.com/office/drawing/2014/main" id="{7F3C8054-EA58-ABC3-2DCD-06345BEE6714}"/>
              </a:ext>
            </a:extLst>
          </p:cNvPr>
          <p:cNvSpPr/>
          <p:nvPr/>
        </p:nvSpPr>
        <p:spPr>
          <a:xfrm rot="5400000">
            <a:off x="-84599" y="3829484"/>
            <a:ext cx="725606" cy="2401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5968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1534-4D0C-C443-5799-7C964AE3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B3E895-BE23-53B7-15CE-74C1F6DFD5E0}"/>
              </a:ext>
            </a:extLst>
          </p:cNvPr>
          <p:cNvCxnSpPr>
            <a:cxnSpLocks/>
          </p:cNvCxnSpPr>
          <p:nvPr/>
        </p:nvCxnSpPr>
        <p:spPr>
          <a:xfrm>
            <a:off x="835094" y="4312356"/>
            <a:ext cx="1671039" cy="1398591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F7181F-F426-4A12-805B-BD1457FAAB02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52FC3B-96B5-ED32-AF9E-9CDD63D5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Effect of  a Decline in Income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D0839-E64C-AA25-0EAB-13BAE8A1EF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Suppose the Income declines from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to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CA" dirty="0"/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intercept for both goods move down in the same proportion.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This is the same as  having the price of both goods increase simultaneously.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D0839-E64C-AA25-0EAB-13BAE8A1EF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8649" y="1705583"/>
                <a:ext cx="5250272" cy="3936491"/>
              </a:xfrm>
              <a:blipFill>
                <a:blip r:embed="rId2"/>
                <a:stretch>
                  <a:fillRect l="-1510" t="-1238" r="-10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3475EF1-D4DB-16B6-735A-E77774827F14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F775D-114A-363C-F4D9-7D076CD132F8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5B7680-E577-F784-5EE0-CEE95E477FCE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3D5B28-C950-F51C-C854-D54C3165868F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3D5B28-C950-F51C-C854-D54C31658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4DBE7D-7D2A-CFE3-F691-854214B0166D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4DBE7D-7D2A-CFE3-F691-854214B01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C62C8E3-D172-BA01-DCA3-B727A70AE0DA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4B9B88-F737-8F3F-E293-BCE84B807B25}"/>
                  </a:ext>
                </a:extLst>
              </p:cNvPr>
              <p:cNvSpPr txBox="1"/>
              <p:nvPr/>
            </p:nvSpPr>
            <p:spPr>
              <a:xfrm>
                <a:off x="372981" y="3186089"/>
                <a:ext cx="467436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4B9B88-F737-8F3F-E293-BCE84B807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81" y="3186089"/>
                <a:ext cx="467436" cy="613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8A6923-3ED4-7811-6776-1578F7E843E5}"/>
                  </a:ext>
                </a:extLst>
              </p:cNvPr>
              <p:cNvSpPr txBox="1"/>
              <p:nvPr/>
            </p:nvSpPr>
            <p:spPr>
              <a:xfrm>
                <a:off x="3394411" y="5695658"/>
                <a:ext cx="462113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8A6923-3ED4-7811-6776-1578F7E8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411" y="5695658"/>
                <a:ext cx="462113" cy="6133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53FA98-1394-3B15-8AEE-505150BA321D}"/>
                  </a:ext>
                </a:extLst>
              </p:cNvPr>
              <p:cNvSpPr txBox="1"/>
              <p:nvPr/>
            </p:nvSpPr>
            <p:spPr>
              <a:xfrm>
                <a:off x="201605" y="4258124"/>
                <a:ext cx="799870" cy="680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53FA98-1394-3B15-8AEE-505150BA3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05" y="4258124"/>
                <a:ext cx="799870" cy="680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Right 19">
            <a:extLst>
              <a:ext uri="{FF2B5EF4-FFF2-40B4-BE49-F238E27FC236}">
                <a16:creationId xmlns:a16="http://schemas.microsoft.com/office/drawing/2014/main" id="{825DA7BE-B215-0D5C-0458-BF20E45A960A}"/>
              </a:ext>
            </a:extLst>
          </p:cNvPr>
          <p:cNvSpPr/>
          <p:nvPr/>
        </p:nvSpPr>
        <p:spPr>
          <a:xfrm rot="5400000">
            <a:off x="-84599" y="3829484"/>
            <a:ext cx="725606" cy="2401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02EC1B-DDF9-9FAE-D447-82DB3D36CEEB}"/>
                  </a:ext>
                </a:extLst>
              </p:cNvPr>
              <p:cNvSpPr txBox="1"/>
              <p:nvPr/>
            </p:nvSpPr>
            <p:spPr>
              <a:xfrm>
                <a:off x="2226056" y="5642074"/>
                <a:ext cx="492443" cy="6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02EC1B-DDF9-9FAE-D447-82DB3D36C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056" y="5642074"/>
                <a:ext cx="492443" cy="680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Right 24">
            <a:extLst>
              <a:ext uri="{FF2B5EF4-FFF2-40B4-BE49-F238E27FC236}">
                <a16:creationId xmlns:a16="http://schemas.microsoft.com/office/drawing/2014/main" id="{333EB341-DCA9-4024-DEFE-5C7CF9BF944B}"/>
              </a:ext>
            </a:extLst>
          </p:cNvPr>
          <p:cNvSpPr/>
          <p:nvPr/>
        </p:nvSpPr>
        <p:spPr>
          <a:xfrm rot="10800000">
            <a:off x="2768073" y="5970255"/>
            <a:ext cx="725606" cy="2401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27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687E-E9B5-D136-4DA2-EA55E624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A4FC-919F-BDC4-94C0-CC9B8EAE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Things for you to think about.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0878-9F72-E8CA-6653-642CE018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33222"/>
            <a:ext cx="5751547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What happens when the price of good 1 or good 2 decreases?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What happens when income increases?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9BD9F4-DB86-AFD7-D4CA-1500660B628F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8A51286-4EA1-8773-E992-5C93D78897ED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3121B-1BB8-A6CF-E091-C2CFFB931E69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A33CA-FB43-8760-590A-C89E74663B4E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6C46F6-B028-F2A4-6138-95E3846A41CD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6C46F6-B028-F2A4-6138-95E3846A4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1C55A8-EC19-76CB-3650-C5153B8843B8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1C55A8-EC19-76CB-3650-C5153B884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D0BB6C6-B59A-DC13-417B-4E9DBF6DFAF0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0241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71A3-454E-448E-CD2C-A61E0A110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B13E-697C-2540-777C-A1E312C2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How we use the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B6E8-2F5C-A666-2469-FA2AC19F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33222"/>
            <a:ext cx="5751547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We will be looking at two goods.</a:t>
            </a:r>
          </a:p>
          <a:p>
            <a:r>
              <a:rPr lang="en-CA" b="1" dirty="0"/>
              <a:t>HEALTH INPUTS </a:t>
            </a:r>
            <a:r>
              <a:rPr lang="en-CA" dirty="0"/>
              <a:t>and </a:t>
            </a:r>
            <a:r>
              <a:rPr lang="en-CA" b="1" dirty="0"/>
              <a:t>CONSUMPTION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This is our “good 1” and “good 2”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D23E89-AAE8-276C-5659-06CBF5CABEB6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4547D69-B6D4-7939-C792-89410BA2EB56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314A3-4623-6DAD-A302-73EE0F138735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B4A39-FCEB-3073-1B0B-6E7949A71D5D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2ABD1-1781-3E7D-60AF-96FAEA9F48AF}"/>
              </a:ext>
            </a:extLst>
          </p:cNvPr>
          <p:cNvSpPr txBox="1"/>
          <p:nvPr/>
        </p:nvSpPr>
        <p:spPr>
          <a:xfrm>
            <a:off x="4853922" y="5710947"/>
            <a:ext cx="2019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HEALTH 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2D356-B82F-8D62-6E92-BD7F056F714B}"/>
              </a:ext>
            </a:extLst>
          </p:cNvPr>
          <p:cNvSpPr txBox="1"/>
          <p:nvPr/>
        </p:nvSpPr>
        <p:spPr>
          <a:xfrm>
            <a:off x="-42151" y="2074582"/>
            <a:ext cx="1940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8A901-B723-1A42-015D-2D0FADF1271E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45678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00509-2410-98EA-2BA4-F9F39A1B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6411-FC4D-C8F4-23EF-0648B45D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800" dirty="0"/>
              <a:t>How consumers make choices: Indifference Curves and Budget Constraints.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E9C7-4E25-63F5-EEA2-152308F07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Part 2: Indifference curves</a:t>
            </a:r>
          </a:p>
        </p:txBody>
      </p:sp>
    </p:spTree>
    <p:extLst>
      <p:ext uri="{BB962C8B-B14F-4D97-AF65-F5344CB8AC3E}">
        <p14:creationId xmlns:p14="http://schemas.microsoft.com/office/powerpoint/2010/main" val="978595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3EAC-E380-26CB-B14E-BE75CA83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247A-119D-06E6-3FEA-BA0F079F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Indifference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330D-B8B8-9704-F5BF-08148679C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522" y="2021521"/>
            <a:ext cx="4630942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want to analyze individual preferences over combinations of good 1 and good 2.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The Indifference Curve </a:t>
            </a:r>
            <a:r>
              <a:rPr lang="en-CA" dirty="0"/>
              <a:t>is used to show the combinations of goods where individuals are indifferent </a:t>
            </a:r>
            <a:endParaRPr lang="en-CA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6007B-8D8B-FDE3-0F0F-1BF266DCD1B4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E3124-0FA0-446D-9DF1-EC94E19CCD9D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8DFC22-7EEE-00BE-4ADB-83800494D15A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9A1170-85C9-C2AF-D680-F54712C023C1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9A1170-85C9-C2AF-D680-F54712C02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2178CC-D441-D697-2B3D-36E426085007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2178CC-D441-D697-2B3D-36E426085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2D77224-7020-69F1-5EBC-3FCBDE7CB58C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60AFEF4-9D4B-478B-3DB3-EF28EF42E130}"/>
              </a:ext>
            </a:extLst>
          </p:cNvPr>
          <p:cNvSpPr/>
          <p:nvPr/>
        </p:nvSpPr>
        <p:spPr>
          <a:xfrm rot="11178088">
            <a:off x="1671350" y="138164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1A163-3203-D225-5982-619423B9732E}"/>
              </a:ext>
            </a:extLst>
          </p:cNvPr>
          <p:cNvSpPr txBox="1"/>
          <p:nvPr/>
        </p:nvSpPr>
        <p:spPr>
          <a:xfrm>
            <a:off x="4252150" y="4993637"/>
            <a:ext cx="2405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 Indifference Curve</a:t>
            </a:r>
          </a:p>
        </p:txBody>
      </p:sp>
    </p:spTree>
    <p:extLst>
      <p:ext uri="{BB962C8B-B14F-4D97-AF65-F5344CB8AC3E}">
        <p14:creationId xmlns:p14="http://schemas.microsoft.com/office/powerpoint/2010/main" val="1654230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7B22-A5B4-5EC2-E1DC-4E7D5B3C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F2AC-CE58-4F8E-1444-86217C3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Indifference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1F8A-7806-3793-BC32-F372BBF8D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522" y="2021521"/>
            <a:ext cx="4630942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As an example, this curve shows that an individual is indifferent between consuming:</a:t>
            </a:r>
            <a:br>
              <a:rPr lang="en-CA" dirty="0"/>
            </a:br>
            <a:r>
              <a:rPr lang="en-CA" i="1" dirty="0"/>
              <a:t>2 units of Good 1 and 5 units of good 2  </a:t>
            </a:r>
            <a:r>
              <a:rPr lang="en-CA" dirty="0"/>
              <a:t>and </a:t>
            </a:r>
            <a:r>
              <a:rPr lang="en-CA" i="1" dirty="0"/>
              <a:t>6 units of good 1 and 2 units of good 2</a:t>
            </a:r>
            <a:r>
              <a:rPr lang="en-CA" dirty="0"/>
              <a:t>.</a:t>
            </a:r>
            <a:endParaRPr lang="en-CA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38354-68CC-F084-8301-2F0735A139E1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39258D-CB93-58A6-2658-95963B12EB87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29995D-4D70-AECA-66BF-A4EF68637C8E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79CDD6-A552-CEE2-28DD-DCEE6067EAFF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79CDD6-A552-CEE2-28DD-DCEE6067E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70776F-5039-B729-8E22-20ABB087EA10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70776F-5039-B729-8E22-20ABB087E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22B5560-6D18-D345-62A1-081CD9459BC1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E6B4D94-DED9-3380-3445-BD8142D7A7D2}"/>
              </a:ext>
            </a:extLst>
          </p:cNvPr>
          <p:cNvSpPr/>
          <p:nvPr/>
        </p:nvSpPr>
        <p:spPr>
          <a:xfrm rot="11178088">
            <a:off x="1671350" y="138164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68C183-A1A5-E698-C337-DC753E258B60}"/>
              </a:ext>
            </a:extLst>
          </p:cNvPr>
          <p:cNvSpPr txBox="1"/>
          <p:nvPr/>
        </p:nvSpPr>
        <p:spPr>
          <a:xfrm>
            <a:off x="4252150" y="4993637"/>
            <a:ext cx="2405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 Indifference Curve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FE7429-3A6A-91E4-C613-C1C99A05D349}"/>
              </a:ext>
            </a:extLst>
          </p:cNvPr>
          <p:cNvSpPr/>
          <p:nvPr/>
        </p:nvSpPr>
        <p:spPr>
          <a:xfrm>
            <a:off x="1704622" y="3330222"/>
            <a:ext cx="249765" cy="248356"/>
          </a:xfrm>
          <a:prstGeom prst="ellipse">
            <a:avLst/>
          </a:prstGeom>
          <a:solidFill>
            <a:srgbClr val="E785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EFE40A-35C0-0E68-B9C7-7BE4C05EBE1B}"/>
              </a:ext>
            </a:extLst>
          </p:cNvPr>
          <p:cNvSpPr/>
          <p:nvPr/>
        </p:nvSpPr>
        <p:spPr>
          <a:xfrm>
            <a:off x="3386556" y="4869459"/>
            <a:ext cx="249765" cy="248356"/>
          </a:xfrm>
          <a:prstGeom prst="ellipse">
            <a:avLst/>
          </a:prstGeom>
          <a:solidFill>
            <a:srgbClr val="E785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814A9-BDE0-8BB0-756A-22D0C0597AE9}"/>
              </a:ext>
            </a:extLst>
          </p:cNvPr>
          <p:cNvSpPr txBox="1"/>
          <p:nvPr/>
        </p:nvSpPr>
        <p:spPr>
          <a:xfrm>
            <a:off x="1954387" y="303462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(2,5)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29473-983E-1210-7C97-30E119CB57EA}"/>
              </a:ext>
            </a:extLst>
          </p:cNvPr>
          <p:cNvSpPr txBox="1"/>
          <p:nvPr/>
        </p:nvSpPr>
        <p:spPr>
          <a:xfrm>
            <a:off x="3528231" y="4636155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(6,2)</a:t>
            </a:r>
          </a:p>
        </p:txBody>
      </p:sp>
    </p:spTree>
    <p:extLst>
      <p:ext uri="{BB962C8B-B14F-4D97-AF65-F5344CB8AC3E}">
        <p14:creationId xmlns:p14="http://schemas.microsoft.com/office/powerpoint/2010/main" val="3336219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6D38-5721-8477-B881-EDA7C3DC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48774-7FD8-C3B2-90CE-28FAFE6A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Indifference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FBC28-42A0-EF72-E9A3-2B2A6125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522" y="2021521"/>
            <a:ext cx="4630942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Indifference curves will be used to indicate different levels of individual </a:t>
            </a:r>
            <a:r>
              <a:rPr lang="en-CA" b="1" dirty="0"/>
              <a:t>utility </a:t>
            </a:r>
            <a:r>
              <a:rPr lang="en-CA" dirty="0"/>
              <a:t>or </a:t>
            </a:r>
            <a:r>
              <a:rPr lang="en-CA" b="1" dirty="0"/>
              <a:t>satisfaction.</a:t>
            </a:r>
            <a:r>
              <a:rPr lang="en-CA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 major assumption about indifference curves is that </a:t>
            </a:r>
            <a:r>
              <a:rPr lang="en-CA" b="1" dirty="0"/>
              <a:t>THEY CAN NEVER CROSS</a:t>
            </a:r>
            <a:r>
              <a:rPr lang="en-CA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because they show bundles that have different levels of satisfaction, and one bundle cannot have two different levels of satisfaction.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FEE8BF-15CD-79EC-4FC9-D8AC16792D2B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6A6E43-261C-14AD-435A-3A4FD7847321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FA4E5B-30A8-DF1B-FDA3-00885E6D500E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FBD7A6-E226-9CE0-0FC2-6EE970EB6D52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FBD7A6-E226-9CE0-0FC2-6EE970EB6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2E166-B7EA-1482-76CF-16CED7B21A09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2E166-B7EA-1482-76CF-16CED7B21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9D36E08-8C65-7B7A-9817-94A0DE1E0B03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2EDC3AA-17AB-6711-558E-5C08FA499BFD}"/>
              </a:ext>
            </a:extLst>
          </p:cNvPr>
          <p:cNvSpPr/>
          <p:nvPr/>
        </p:nvSpPr>
        <p:spPr>
          <a:xfrm rot="11178088">
            <a:off x="1021220" y="425183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450F6C7-D14E-D879-59D0-16EC8B28A0F7}"/>
              </a:ext>
            </a:extLst>
          </p:cNvPr>
          <p:cNvSpPr/>
          <p:nvPr/>
        </p:nvSpPr>
        <p:spPr>
          <a:xfrm rot="11178088">
            <a:off x="1671350" y="138164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0D4835B-45FE-C123-FE16-1B18117B51ED}"/>
              </a:ext>
            </a:extLst>
          </p:cNvPr>
          <p:cNvSpPr/>
          <p:nvPr/>
        </p:nvSpPr>
        <p:spPr>
          <a:xfrm rot="11178088">
            <a:off x="2321480" y="-257147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492194-D94F-EB4C-FB46-21A1C23017AA}"/>
                  </a:ext>
                </a:extLst>
              </p:cNvPr>
              <p:cNvSpPr txBox="1"/>
              <p:nvPr/>
            </p:nvSpPr>
            <p:spPr>
              <a:xfrm>
                <a:off x="3847281" y="5292603"/>
                <a:ext cx="1882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Utility Level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492194-D94F-EB4C-FB46-21A1C2301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281" y="5292603"/>
                <a:ext cx="1882310" cy="369332"/>
              </a:xfrm>
              <a:prstGeom prst="rect">
                <a:avLst/>
              </a:prstGeom>
              <a:blipFill>
                <a:blip r:embed="rId4"/>
                <a:stretch>
                  <a:fillRect l="-2589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117013-2E3D-F1CB-7C93-14DE13E4DE3C}"/>
                  </a:ext>
                </a:extLst>
              </p:cNvPr>
              <p:cNvSpPr txBox="1"/>
              <p:nvPr/>
            </p:nvSpPr>
            <p:spPr>
              <a:xfrm>
                <a:off x="4252150" y="4993637"/>
                <a:ext cx="1887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Utility Level 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117013-2E3D-F1CB-7C93-14DE13E4D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150" y="4993637"/>
                <a:ext cx="1887633" cy="369332"/>
              </a:xfrm>
              <a:prstGeom prst="rect">
                <a:avLst/>
              </a:prstGeom>
              <a:blipFill>
                <a:blip r:embed="rId5"/>
                <a:stretch>
                  <a:fillRect l="-2913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8349C5-0152-725B-68BB-A0B8FE8E354C}"/>
                  </a:ext>
                </a:extLst>
              </p:cNvPr>
              <p:cNvSpPr txBox="1"/>
              <p:nvPr/>
            </p:nvSpPr>
            <p:spPr>
              <a:xfrm>
                <a:off x="4988299" y="4522462"/>
                <a:ext cx="1887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Utility Level 3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8349C5-0152-725B-68BB-A0B8FE8E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99" y="4522462"/>
                <a:ext cx="1887633" cy="369332"/>
              </a:xfrm>
              <a:prstGeom prst="rect">
                <a:avLst/>
              </a:prstGeom>
              <a:blipFill>
                <a:blip r:embed="rId6"/>
                <a:stretch>
                  <a:fillRect l="-2581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426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A238-3A3A-5845-DCAB-866387B9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7F5B-0AF4-8703-FB1E-E540C0B3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Introduction to Indifference Curves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3E898-23C0-1DCF-BD96-E3D327350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24522" y="2021521"/>
                <a:ext cx="4630942" cy="3936491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In general the higher level of Utility will be denoted by the higher indifference curve.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I.e.</a:t>
                </a: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So Curve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CA" dirty="0"/>
                  <a:t> is the highest level of satisfaction or happiness 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3E898-23C0-1DCF-BD96-E3D327350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4522" y="2021521"/>
                <a:ext cx="4630942" cy="3936491"/>
              </a:xfrm>
              <a:blipFill>
                <a:blip r:embed="rId2"/>
                <a:stretch>
                  <a:fillRect l="-1845" t="-124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FB89432-670D-F1FE-3337-4B7938146E11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6810F-D1D7-480A-50FC-0AC300D1919C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B2219-7F6D-FA24-EECF-F24816F794F1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59749-5709-4A50-C958-07068C61C4FB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59749-5709-4A50-C958-07068C61C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E910E6-C361-DBCA-9D9F-694AA644DE8E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E910E6-C361-DBCA-9D9F-694AA644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4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37A146B-C762-A95F-029F-2A4912ACB47A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EE12723-E3D9-0905-8F15-DC6219A133E2}"/>
              </a:ext>
            </a:extLst>
          </p:cNvPr>
          <p:cNvSpPr/>
          <p:nvPr/>
        </p:nvSpPr>
        <p:spPr>
          <a:xfrm rot="11178088">
            <a:off x="1021220" y="425183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E3A6A19-B410-82BF-F337-B447C65A1B04}"/>
              </a:ext>
            </a:extLst>
          </p:cNvPr>
          <p:cNvSpPr/>
          <p:nvPr/>
        </p:nvSpPr>
        <p:spPr>
          <a:xfrm rot="11178088">
            <a:off x="1671350" y="138164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A64CCE5A-1DF9-2FBF-669B-FB6942BCE9BB}"/>
              </a:ext>
            </a:extLst>
          </p:cNvPr>
          <p:cNvSpPr/>
          <p:nvPr/>
        </p:nvSpPr>
        <p:spPr>
          <a:xfrm rot="11178088">
            <a:off x="2321480" y="-257147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6BD41-35C9-07CA-7E5D-A2DE13848832}"/>
                  </a:ext>
                </a:extLst>
              </p:cNvPr>
              <p:cNvSpPr txBox="1"/>
              <p:nvPr/>
            </p:nvSpPr>
            <p:spPr>
              <a:xfrm>
                <a:off x="3847281" y="5292603"/>
                <a:ext cx="1882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Utility Level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6BD41-35C9-07CA-7E5D-A2DE13848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281" y="5292603"/>
                <a:ext cx="1882310" cy="369332"/>
              </a:xfrm>
              <a:prstGeom prst="rect">
                <a:avLst/>
              </a:prstGeom>
              <a:blipFill>
                <a:blip r:embed="rId5"/>
                <a:stretch>
                  <a:fillRect l="-2589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100B6C-324F-419C-1CF1-13AD0FB5EA05}"/>
                  </a:ext>
                </a:extLst>
              </p:cNvPr>
              <p:cNvSpPr txBox="1"/>
              <p:nvPr/>
            </p:nvSpPr>
            <p:spPr>
              <a:xfrm>
                <a:off x="4252150" y="4993637"/>
                <a:ext cx="1887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Utility Level 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100B6C-324F-419C-1CF1-13AD0FB5E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150" y="4993637"/>
                <a:ext cx="1887633" cy="369332"/>
              </a:xfrm>
              <a:prstGeom prst="rect">
                <a:avLst/>
              </a:prstGeom>
              <a:blipFill>
                <a:blip r:embed="rId6"/>
                <a:stretch>
                  <a:fillRect l="-2913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70C5C1-1FA2-7192-2463-42AF6327AB0A}"/>
                  </a:ext>
                </a:extLst>
              </p:cNvPr>
              <p:cNvSpPr txBox="1"/>
              <p:nvPr/>
            </p:nvSpPr>
            <p:spPr>
              <a:xfrm>
                <a:off x="4988299" y="4522462"/>
                <a:ext cx="1887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Utility Level 3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70C5C1-1FA2-7192-2463-42AF6327A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299" y="4522462"/>
                <a:ext cx="1887633" cy="369332"/>
              </a:xfrm>
              <a:prstGeom prst="rect">
                <a:avLst/>
              </a:prstGeom>
              <a:blipFill>
                <a:blip r:embed="rId7"/>
                <a:stretch>
                  <a:fillRect l="-2581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059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FEB9-E491-20EA-4098-190923B3A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BC7634-4C18-8385-2E14-74FE3EEEE868}"/>
              </a:ext>
            </a:extLst>
          </p:cNvPr>
          <p:cNvCxnSpPr/>
          <p:nvPr/>
        </p:nvCxnSpPr>
        <p:spPr>
          <a:xfrm>
            <a:off x="852251" y="4673600"/>
            <a:ext cx="145068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938B1C-8AD1-4D62-03A8-E0D267EA8ED9}"/>
              </a:ext>
            </a:extLst>
          </p:cNvPr>
          <p:cNvCxnSpPr>
            <a:cxnSpLocks/>
          </p:cNvCxnSpPr>
          <p:nvPr/>
        </p:nvCxnSpPr>
        <p:spPr>
          <a:xfrm>
            <a:off x="2302933" y="4658311"/>
            <a:ext cx="0" cy="1037347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CCC8DA-0A33-D960-51D9-3E9F98CB7C7A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8306A22-F659-9544-5AD8-26BB2DA8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Budget Constraint and Indifference Curves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C6A2-C92F-AFA4-EA32-AFA7A7B1C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522" y="2021521"/>
            <a:ext cx="4630942" cy="393649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can the way individuals choose between good 1 and good 2 as a result of the following behaviour.</a:t>
            </a:r>
          </a:p>
          <a:p>
            <a:r>
              <a:rPr lang="en-CA" i="1" dirty="0"/>
              <a:t>Individuals seek the highest level of utility but are constrained by their budget.</a:t>
            </a:r>
            <a:br>
              <a:rPr lang="en-CA" b="1" i="1" dirty="0"/>
            </a:br>
            <a:br>
              <a:rPr lang="en-CA" b="1" i="1" dirty="0"/>
            </a:br>
            <a:r>
              <a:rPr lang="en-CA" b="1" i="1" dirty="0"/>
              <a:t>Because of the constraint, individuals direct themselves to unique outcomes.</a:t>
            </a:r>
            <a:endParaRPr lang="en-CA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4172F-6C05-2E2F-314C-00C42310F9F0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DEA038-16F7-CD9C-6998-A44F8165627C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C4FE43-F3B8-ABBA-6EB4-9F1454D824FA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316CD8-02D7-2F14-CB5A-1FA48DCD2D33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316CD8-02D7-2F14-CB5A-1FA48DCD2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E24E8E-DD8F-ADE5-6888-3AAC992450B7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E24E8E-DD8F-ADE5-6888-3AAC99245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497B72E-0FEC-FDFF-E63D-25F1D010A9EB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8AC73F5-8774-6325-6072-AE3595F803E8}"/>
              </a:ext>
            </a:extLst>
          </p:cNvPr>
          <p:cNvSpPr/>
          <p:nvPr/>
        </p:nvSpPr>
        <p:spPr>
          <a:xfrm rot="11178088">
            <a:off x="1389822" y="304127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0F945853-2AE8-4F31-AAAC-D21D6B184166}"/>
              </a:ext>
            </a:extLst>
          </p:cNvPr>
          <p:cNvSpPr/>
          <p:nvPr/>
        </p:nvSpPr>
        <p:spPr>
          <a:xfrm>
            <a:off x="2089641" y="4488934"/>
            <a:ext cx="361770" cy="369332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329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E61C-CEFA-08D3-E4B4-FF0A072B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4D05CA-46AC-CBB2-9823-1846D2E88B0A}"/>
              </a:ext>
            </a:extLst>
          </p:cNvPr>
          <p:cNvCxnSpPr/>
          <p:nvPr/>
        </p:nvCxnSpPr>
        <p:spPr>
          <a:xfrm>
            <a:off x="852251" y="4673600"/>
            <a:ext cx="145068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928DE6-EE35-FAEE-D180-8ACF639E8FE4}"/>
              </a:ext>
            </a:extLst>
          </p:cNvPr>
          <p:cNvCxnSpPr>
            <a:cxnSpLocks/>
          </p:cNvCxnSpPr>
          <p:nvPr/>
        </p:nvCxnSpPr>
        <p:spPr>
          <a:xfrm>
            <a:off x="2302933" y="4658311"/>
            <a:ext cx="0" cy="1037347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C0F538-6ECE-FCF0-7381-C01C27D40DDC}"/>
              </a:ext>
            </a:extLst>
          </p:cNvPr>
          <p:cNvCxnSpPr>
            <a:cxnSpLocks/>
          </p:cNvCxnSpPr>
          <p:nvPr/>
        </p:nvCxnSpPr>
        <p:spPr>
          <a:xfrm>
            <a:off x="852251" y="3429000"/>
            <a:ext cx="2741173" cy="2281947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718483-6011-15E3-F82B-333CCAD0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Budget Constraint and Indifference Curves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294A-E67F-6205-3BA4-075D85F85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522" y="2021521"/>
            <a:ext cx="4630942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budget constraint and indifference curve together says a lot about how economists think about the world.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People have different allocations of goods because of differences in:</a:t>
            </a:r>
            <a:br>
              <a:rPr lang="en-CA" dirty="0"/>
            </a:br>
            <a:r>
              <a:rPr lang="en-CA" dirty="0"/>
              <a:t>1) Their Budget.</a:t>
            </a:r>
            <a:br>
              <a:rPr lang="en-CA" dirty="0"/>
            </a:br>
            <a:r>
              <a:rPr lang="en-CA" dirty="0"/>
              <a:t>2) Their Preferences.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2E2EF-DC19-9E03-94EA-28EEF54247D7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EFE25-17F0-47F9-575D-05087A56B121}"/>
              </a:ext>
            </a:extLst>
          </p:cNvPr>
          <p:cNvSpPr/>
          <p:nvPr/>
        </p:nvSpPr>
        <p:spPr>
          <a:xfrm>
            <a:off x="690664" y="1790701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6EDD9-77C1-5E84-DE1B-491067639E9B}"/>
              </a:ext>
            </a:extLst>
          </p:cNvPr>
          <p:cNvSpPr/>
          <p:nvPr/>
        </p:nvSpPr>
        <p:spPr>
          <a:xfrm>
            <a:off x="5321030" y="1943100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33B092-56C9-688B-53E1-883DE3F4D614}"/>
                  </a:ext>
                </a:extLst>
              </p:cNvPr>
              <p:cNvSpPr txBox="1"/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1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33B092-56C9-688B-53E1-883DE3F4D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922" y="5710947"/>
                <a:ext cx="928716" cy="646331"/>
              </a:xfrm>
              <a:prstGeom prst="rect">
                <a:avLst/>
              </a:prstGeom>
              <a:blipFill>
                <a:blip r:embed="rId2"/>
                <a:stretch>
                  <a:fillRect l="-5229" t="-5660" r="-26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FB137C-7764-A332-F587-1C2928B43186}"/>
                  </a:ext>
                </a:extLst>
              </p:cNvPr>
              <p:cNvSpPr txBox="1"/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Good 2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FB137C-7764-A332-F587-1C2928B43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151" y="2074582"/>
                <a:ext cx="928716" cy="646331"/>
              </a:xfrm>
              <a:prstGeom prst="rect">
                <a:avLst/>
              </a:prstGeom>
              <a:blipFill>
                <a:blip r:embed="rId3"/>
                <a:stretch>
                  <a:fillRect l="-5263" t="-4717" r="-3289" b="-9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8F7708E-B81C-D006-8E22-D31724EBBCEB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2EEA8BD-B33D-BC72-16F0-2035D449D30E}"/>
              </a:ext>
            </a:extLst>
          </p:cNvPr>
          <p:cNvSpPr/>
          <p:nvPr/>
        </p:nvSpPr>
        <p:spPr>
          <a:xfrm rot="11178088">
            <a:off x="1389822" y="304127"/>
            <a:ext cx="5819589" cy="5048661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C2A7ED-41AD-CC81-253A-60B86DE820A8}"/>
              </a:ext>
            </a:extLst>
          </p:cNvPr>
          <p:cNvSpPr txBox="1"/>
          <p:nvPr/>
        </p:nvSpPr>
        <p:spPr>
          <a:xfrm>
            <a:off x="4252150" y="4993637"/>
            <a:ext cx="2405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 Indifference Curve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DE0111C5-176F-C9FD-57B9-8317B8BEEBD5}"/>
              </a:ext>
            </a:extLst>
          </p:cNvPr>
          <p:cNvSpPr/>
          <p:nvPr/>
        </p:nvSpPr>
        <p:spPr>
          <a:xfrm>
            <a:off x="2155862" y="4488934"/>
            <a:ext cx="361770" cy="369332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351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5726B-E21E-8CE6-1322-BEBD2426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76CB-2E7D-3A89-3363-5579FEE7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800" dirty="0"/>
              <a:t>How consumers make choices: Indifference Curves and Budget Constraints.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E20A8-1F14-5028-7C81-3D36D6865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Part 3: Justifying 2 goods models- The Composite Commodity Theorem</a:t>
            </a:r>
          </a:p>
        </p:txBody>
      </p:sp>
    </p:spTree>
    <p:extLst>
      <p:ext uri="{BB962C8B-B14F-4D97-AF65-F5344CB8AC3E}">
        <p14:creationId xmlns:p14="http://schemas.microsoft.com/office/powerpoint/2010/main" val="29620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662E-BD83-2862-B7E8-897341FB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75C1-F838-6D5B-09B5-3E843C10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Composite Commodity Theorem:</a:t>
            </a:r>
            <a:br>
              <a:rPr lang="en-CA" sz="4800" dirty="0"/>
            </a:br>
            <a:r>
              <a:rPr lang="en-CA" sz="4800" dirty="0"/>
              <a:t>The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EFA3B-8B7D-2DE5-34E0-3BC93E63A7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852789"/>
                <a:ext cx="11088511" cy="4514144"/>
              </a:xfrm>
            </p:spPr>
            <p:txBody>
              <a:bodyPr>
                <a:normAutofit fontScale="77500" lnSpcReduction="2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Before we start explaining, lets provide a working definition of the </a:t>
                </a:r>
                <a:r>
                  <a:rPr lang="en-CA" b="1" dirty="0"/>
                  <a:t>Composite Commodity Theorem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b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b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b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CA" b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Example, suppose  we have a budget constraint with three goods written as: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If the prices of good 2 and good 3 move together we can write: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br>
                  <a:rPr lang="en-CA" b="0" dirty="0"/>
                </a:br>
                <a:br>
                  <a:rPr lang="en-CA" b="0" dirty="0"/>
                </a:br>
                <a:r>
                  <a:rPr lang="en-CA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CA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CA" dirty="0"/>
                  <a:t> To make this more familiar we can add a price of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CA" dirty="0"/>
                  <a:t> for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̅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br>
                  <a:rPr lang="en-CA" b="0" dirty="0"/>
                </a:b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EFA3B-8B7D-2DE5-34E0-3BC93E63A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852789"/>
                <a:ext cx="11088511" cy="4514144"/>
              </a:xfrm>
              <a:blipFill>
                <a:blip r:embed="rId2"/>
                <a:stretch>
                  <a:fillRect l="-385" t="-2027" r="-3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6DD3E1-3EA7-5D32-BDA4-EB50318E2EC2}"/>
              </a:ext>
            </a:extLst>
          </p:cNvPr>
          <p:cNvSpPr/>
          <p:nvPr/>
        </p:nvSpPr>
        <p:spPr>
          <a:xfrm>
            <a:off x="1559447" y="2274135"/>
            <a:ext cx="8683978" cy="1349599"/>
          </a:xfrm>
          <a:prstGeom prst="roundRect">
            <a:avLst/>
          </a:prstGeom>
          <a:noFill/>
          <a:ln w="5715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u="sng" dirty="0">
                <a:solidFill>
                  <a:schemeClr val="tx1"/>
                </a:solidFill>
              </a:rPr>
              <a:t>THE COMPOSITE COMMODITY THEOREM</a:t>
            </a:r>
          </a:p>
          <a:p>
            <a:r>
              <a:rPr lang="en-CA" dirty="0">
                <a:solidFill>
                  <a:schemeClr val="tx1"/>
                </a:solidFill>
              </a:rPr>
              <a:t>If two or more goods prices move in the same proportion then the goods values may be </a:t>
            </a:r>
            <a:r>
              <a:rPr lang="en-CA" b="1" dirty="0">
                <a:solidFill>
                  <a:schemeClr val="tx1"/>
                </a:solidFill>
              </a:rPr>
              <a:t>aggregated (summed together)  as a Composite Commodity.</a:t>
            </a:r>
            <a:br>
              <a:rPr lang="en-CA" b="1" dirty="0">
                <a:solidFill>
                  <a:schemeClr val="tx1"/>
                </a:solidFill>
              </a:rPr>
            </a:b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488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36957-326A-2521-B6D0-ABB8699A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E4D66-AAEB-42B5-7D0E-D13038E3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462" y="636686"/>
            <a:ext cx="4558094" cy="18535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100" dirty="0"/>
              <a:t>The Composite Commodity Theorem:</a:t>
            </a:r>
            <a:br>
              <a:rPr lang="en-CA" sz="3100" dirty="0"/>
            </a:br>
            <a:r>
              <a:rPr lang="en-CA" sz="3100" dirty="0"/>
              <a:t>What You Need to Know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615127-4E4B-44AE-B157-C50975D4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F2F2-90ED-69C8-BDD4-E6E07049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136290"/>
            <a:ext cx="4726363" cy="408502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2000" dirty="0"/>
              <a:t>The composite commodity theorem allows economists to aggregate goods based on price movements alone and is purely on a correlation basis.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2000" dirty="0"/>
              <a:t>Used on its own, we can justify lots of different indexes.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2000" dirty="0"/>
              <a:t>But that does not mean it makes sense.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2000" dirty="0"/>
              <a:t>When creating an index we need to think if it makes sense in our context.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07C7DF-2703-4D3B-B500-8182840C0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AF910FA-D78A-6AE0-8699-453389417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556" y="1696743"/>
            <a:ext cx="6647281" cy="408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58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BED8-90B0-01E4-99EF-C75815B1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6BE6-3328-4C4C-1ABE-3AAA56E2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800" dirty="0"/>
              <a:t>The Production of Health: Health Inputs and Health Outputs.</a:t>
            </a:r>
          </a:p>
        </p:txBody>
      </p:sp>
    </p:spTree>
    <p:extLst>
      <p:ext uri="{BB962C8B-B14F-4D97-AF65-F5344CB8AC3E}">
        <p14:creationId xmlns:p14="http://schemas.microsoft.com/office/powerpoint/2010/main" val="779186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2683-C36D-4CA7-389B-895E0F18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E140-D7F1-501E-BE62-66C35323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Modelling the Production of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6492-A70B-5617-2541-6C2E4404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43100"/>
            <a:ext cx="48935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assume that health is a </a:t>
            </a:r>
            <a:r>
              <a:rPr lang="en-CA" b="1" dirty="0"/>
              <a:t>Derived Good.</a:t>
            </a: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means that individuals do not purchase health directly but invest in inputs to subsequently produce it using a </a:t>
            </a:r>
            <a:r>
              <a:rPr lang="en-CA" b="1" dirty="0"/>
              <a:t>HEALTH PRODUCTION FUNCTION.</a:t>
            </a: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graph of this function is shown on the left.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DDE97B-83CF-A481-10AA-B7795943DB0D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A4571-B391-C2AC-3332-12AF8AE1364F}"/>
              </a:ext>
            </a:extLst>
          </p:cNvPr>
          <p:cNvSpPr txBox="1"/>
          <p:nvPr/>
        </p:nvSpPr>
        <p:spPr>
          <a:xfrm>
            <a:off x="4192747" y="5741239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Inputs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5009D-768A-AABD-5C51-7F4B0B71B3E9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1180A-941E-53B5-5974-14346C36FC7B}"/>
              </a:ext>
            </a:extLst>
          </p:cNvPr>
          <p:cNvSpPr/>
          <p:nvPr/>
        </p:nvSpPr>
        <p:spPr>
          <a:xfrm>
            <a:off x="482600" y="1714500"/>
            <a:ext cx="5300038" cy="509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215E98-DCCF-38BC-6BEC-A696C61449DF}"/>
              </a:ext>
            </a:extLst>
          </p:cNvPr>
          <p:cNvSpPr/>
          <p:nvPr/>
        </p:nvSpPr>
        <p:spPr>
          <a:xfrm>
            <a:off x="5322015" y="1803655"/>
            <a:ext cx="477821" cy="3991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93BE8-23E5-9AEA-C5E4-FE7833C101DE}"/>
              </a:ext>
            </a:extLst>
          </p:cNvPr>
          <p:cNvSpPr txBox="1"/>
          <p:nvPr/>
        </p:nvSpPr>
        <p:spPr>
          <a:xfrm>
            <a:off x="208220" y="1784539"/>
            <a:ext cx="176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Outputs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0641E5E-5A98-2C26-D79E-DC096F851053}"/>
              </a:ext>
            </a:extLst>
          </p:cNvPr>
          <p:cNvSpPr/>
          <p:nvPr/>
        </p:nvSpPr>
        <p:spPr>
          <a:xfrm flipH="1">
            <a:off x="852251" y="3327468"/>
            <a:ext cx="8646751" cy="476695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5CEF65-1DE5-B614-58A9-948610F65BBA}"/>
                  </a:ext>
                </a:extLst>
              </p:cNvPr>
              <p:cNvSpPr txBox="1"/>
              <p:nvPr/>
            </p:nvSpPr>
            <p:spPr>
              <a:xfrm>
                <a:off x="4851699" y="2861534"/>
                <a:ext cx="702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5CEF65-1DE5-B614-58A9-948610F65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699" y="2861534"/>
                <a:ext cx="702052" cy="369332"/>
              </a:xfrm>
              <a:prstGeom prst="rect">
                <a:avLst/>
              </a:prstGeom>
              <a:blipFill>
                <a:blip r:embed="rId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512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BCAD-912E-CCFC-B4E6-F33673C4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C187-442E-0EF1-400D-3E47C11B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Modelling the Production of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B8605-BFB8-4C45-AF47-E1B670515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43100"/>
            <a:ext cx="4893591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An assumption made about the production of health is that it has </a:t>
            </a:r>
            <a:r>
              <a:rPr lang="en-CA" b="1" dirty="0"/>
              <a:t>Diminishing Returns to Scale.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That means that while investment in health inputs increase health outputs, it does so in a diminishing fashion.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 err="1"/>
              <a:t>I.e</a:t>
            </a:r>
            <a:r>
              <a:rPr lang="en-CA" dirty="0"/>
              <a:t> the first unit of health investment will add more to health compared to the second unit and so 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1BA54-1593-BFF5-3E2B-D809B6F690AC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28438-C35C-5EC2-92E4-A3C632ACF203}"/>
              </a:ext>
            </a:extLst>
          </p:cNvPr>
          <p:cNvSpPr txBox="1"/>
          <p:nvPr/>
        </p:nvSpPr>
        <p:spPr>
          <a:xfrm>
            <a:off x="4192747" y="5741239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Inputs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9394B-2B35-DF20-A892-C557F479E637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54FD5C-DF45-BDFD-49A4-2102EEEB51D6}"/>
              </a:ext>
            </a:extLst>
          </p:cNvPr>
          <p:cNvSpPr/>
          <p:nvPr/>
        </p:nvSpPr>
        <p:spPr>
          <a:xfrm>
            <a:off x="482600" y="1714500"/>
            <a:ext cx="5300038" cy="509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0A884-CC7E-F172-21B2-EF8FCA7CF827}"/>
              </a:ext>
            </a:extLst>
          </p:cNvPr>
          <p:cNvSpPr/>
          <p:nvPr/>
        </p:nvSpPr>
        <p:spPr>
          <a:xfrm>
            <a:off x="5322015" y="1803655"/>
            <a:ext cx="477821" cy="3991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52721D-797B-26B1-F50A-4A27B4E1193C}"/>
              </a:ext>
            </a:extLst>
          </p:cNvPr>
          <p:cNvSpPr txBox="1"/>
          <p:nvPr/>
        </p:nvSpPr>
        <p:spPr>
          <a:xfrm>
            <a:off x="208220" y="1784539"/>
            <a:ext cx="176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Outputs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A655011-8517-200C-9B9C-AAA2A1DA6D1F}"/>
              </a:ext>
            </a:extLst>
          </p:cNvPr>
          <p:cNvSpPr/>
          <p:nvPr/>
        </p:nvSpPr>
        <p:spPr>
          <a:xfrm flipH="1">
            <a:off x="852251" y="3327468"/>
            <a:ext cx="8646751" cy="476695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EC004-D3E4-F705-B0E8-5128001EC1EE}"/>
                  </a:ext>
                </a:extLst>
              </p:cNvPr>
              <p:cNvSpPr txBox="1"/>
              <p:nvPr/>
            </p:nvSpPr>
            <p:spPr>
              <a:xfrm>
                <a:off x="4851699" y="2861534"/>
                <a:ext cx="702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EC004-D3E4-F705-B0E8-5128001EC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699" y="2861534"/>
                <a:ext cx="702052" cy="369332"/>
              </a:xfrm>
              <a:prstGeom prst="rect">
                <a:avLst/>
              </a:prstGeom>
              <a:blipFill>
                <a:blip r:embed="rId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3923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1F404-7688-FF7E-2304-297E26C5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BB77-B2B0-E294-0917-D59EF971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Modelling the Production of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1DB3-A5D0-1069-955C-84A8452CC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43100"/>
            <a:ext cx="4893591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can think of people with a </a:t>
            </a:r>
            <a:r>
              <a:rPr lang="en-CA" b="1" dirty="0"/>
              <a:t>poor genetic endowment </a:t>
            </a:r>
            <a:r>
              <a:rPr lang="en-CA" dirty="0"/>
              <a:t>or </a:t>
            </a:r>
            <a:r>
              <a:rPr lang="en-CA" b="1" dirty="0"/>
              <a:t>less information about health status </a:t>
            </a:r>
            <a:r>
              <a:rPr lang="en-CA" dirty="0"/>
              <a:t>as having a less efficient health production.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Graphically we can see that if we have two individuals 1 and 2. Individual 2 has a less efficient production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9A9D2-5E4C-2B63-A395-1DFC8DFC0105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8874C-D4A0-D460-AB7E-A830DECCEB93}"/>
              </a:ext>
            </a:extLst>
          </p:cNvPr>
          <p:cNvSpPr txBox="1"/>
          <p:nvPr/>
        </p:nvSpPr>
        <p:spPr>
          <a:xfrm>
            <a:off x="4192747" y="5741239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Inputs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E8BF-6261-C2AE-16E2-D6C0123B9D07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4D6EC-DAEE-8FB1-199A-3D6FF03ACE5E}"/>
              </a:ext>
            </a:extLst>
          </p:cNvPr>
          <p:cNvSpPr/>
          <p:nvPr/>
        </p:nvSpPr>
        <p:spPr>
          <a:xfrm>
            <a:off x="482600" y="1714500"/>
            <a:ext cx="5300038" cy="509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1B820D-99AE-1BC8-1522-E7D794A870FA}"/>
              </a:ext>
            </a:extLst>
          </p:cNvPr>
          <p:cNvSpPr/>
          <p:nvPr/>
        </p:nvSpPr>
        <p:spPr>
          <a:xfrm>
            <a:off x="5322015" y="1803655"/>
            <a:ext cx="477821" cy="3991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996EA-E58B-F0F3-1675-C950985863D3}"/>
              </a:ext>
            </a:extLst>
          </p:cNvPr>
          <p:cNvSpPr txBox="1"/>
          <p:nvPr/>
        </p:nvSpPr>
        <p:spPr>
          <a:xfrm>
            <a:off x="208220" y="1784539"/>
            <a:ext cx="176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Outputs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07A237C-4CBB-FE00-5B32-86A3247B9BF3}"/>
              </a:ext>
            </a:extLst>
          </p:cNvPr>
          <p:cNvSpPr/>
          <p:nvPr/>
        </p:nvSpPr>
        <p:spPr>
          <a:xfrm flipH="1">
            <a:off x="852251" y="3327468"/>
            <a:ext cx="8646751" cy="476695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2F44CAE7-81B8-F68F-B77A-78397DB4E535}"/>
              </a:ext>
            </a:extLst>
          </p:cNvPr>
          <p:cNvSpPr/>
          <p:nvPr/>
        </p:nvSpPr>
        <p:spPr>
          <a:xfrm flipH="1">
            <a:off x="852251" y="3791109"/>
            <a:ext cx="8646751" cy="3839676"/>
          </a:xfrm>
          <a:prstGeom prst="arc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2B9911-54C0-2B43-7633-13D15763FD40}"/>
                  </a:ext>
                </a:extLst>
              </p:cNvPr>
              <p:cNvSpPr txBox="1"/>
              <p:nvPr/>
            </p:nvSpPr>
            <p:spPr>
              <a:xfrm>
                <a:off x="4851699" y="2861534"/>
                <a:ext cx="783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2B9911-54C0-2B43-7633-13D15763F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699" y="2861534"/>
                <a:ext cx="783804" cy="369332"/>
              </a:xfrm>
              <a:prstGeom prst="rect">
                <a:avLst/>
              </a:prstGeom>
              <a:blipFill>
                <a:blip r:embed="rId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EB05D-DDE3-5521-AC32-E67E8C48F9BD}"/>
                  </a:ext>
                </a:extLst>
              </p:cNvPr>
              <p:cNvSpPr txBox="1"/>
              <p:nvPr/>
            </p:nvSpPr>
            <p:spPr>
              <a:xfrm>
                <a:off x="4920294" y="3467547"/>
                <a:ext cx="789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0EB05D-DDE3-5521-AC32-E67E8C48F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294" y="3467547"/>
                <a:ext cx="789127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776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335A-2887-CD2D-0935-291D1F30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74DAA-6F7A-3A6F-C3FD-2E83DF98E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43100"/>
            <a:ext cx="48935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How does an improvement in medical care impact the health production function?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5EEF83-FBC7-84F8-8781-8E2F183EA94D}"/>
              </a:ext>
            </a:extLst>
          </p:cNvPr>
          <p:cNvSpPr/>
          <p:nvPr/>
        </p:nvSpPr>
        <p:spPr>
          <a:xfrm>
            <a:off x="852251" y="1887977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5DF85-20A5-195F-8FEC-84F10C50FD80}"/>
              </a:ext>
            </a:extLst>
          </p:cNvPr>
          <p:cNvSpPr txBox="1"/>
          <p:nvPr/>
        </p:nvSpPr>
        <p:spPr>
          <a:xfrm>
            <a:off x="4192747" y="5741239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Inputs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EE341-BBEB-232C-F934-A7F7CA17C0FA}"/>
              </a:ext>
            </a:extLst>
          </p:cNvPr>
          <p:cNvSpPr txBox="1"/>
          <p:nvPr/>
        </p:nvSpPr>
        <p:spPr>
          <a:xfrm>
            <a:off x="608484" y="5695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D59FE-094F-249C-746D-1BD6B3BE230F}"/>
              </a:ext>
            </a:extLst>
          </p:cNvPr>
          <p:cNvSpPr/>
          <p:nvPr/>
        </p:nvSpPr>
        <p:spPr>
          <a:xfrm>
            <a:off x="482600" y="1714500"/>
            <a:ext cx="5300038" cy="509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9EAF4-5210-9A9D-4A38-2DCC9A6AB73F}"/>
              </a:ext>
            </a:extLst>
          </p:cNvPr>
          <p:cNvSpPr/>
          <p:nvPr/>
        </p:nvSpPr>
        <p:spPr>
          <a:xfrm>
            <a:off x="5322015" y="1803655"/>
            <a:ext cx="477821" cy="3991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637F1-4604-1069-DD7E-6A5E37D18FF3}"/>
              </a:ext>
            </a:extLst>
          </p:cNvPr>
          <p:cNvSpPr txBox="1"/>
          <p:nvPr/>
        </p:nvSpPr>
        <p:spPr>
          <a:xfrm>
            <a:off x="208220" y="1784539"/>
            <a:ext cx="176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 Outputs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BDF2FB7-99A4-47FC-428E-F2F18DAFF694}"/>
              </a:ext>
            </a:extLst>
          </p:cNvPr>
          <p:cNvSpPr/>
          <p:nvPr/>
        </p:nvSpPr>
        <p:spPr>
          <a:xfrm flipH="1">
            <a:off x="852251" y="3327468"/>
            <a:ext cx="8646751" cy="476695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355577-A778-2D86-6A96-47496E38DAB5}"/>
                  </a:ext>
                </a:extLst>
              </p:cNvPr>
              <p:cNvSpPr txBox="1"/>
              <p:nvPr/>
            </p:nvSpPr>
            <p:spPr>
              <a:xfrm>
                <a:off x="4851699" y="2861534"/>
                <a:ext cx="702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355577-A778-2D86-6A96-47496E38D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699" y="2861534"/>
                <a:ext cx="702052" cy="369332"/>
              </a:xfrm>
              <a:prstGeom prst="rect">
                <a:avLst/>
              </a:prstGeom>
              <a:blipFill>
                <a:blip r:embed="rId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505AC94-C383-3280-6CC6-3B230722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Modelling the Production of Health: Something to Think About</a:t>
            </a:r>
          </a:p>
        </p:txBody>
      </p:sp>
    </p:spTree>
    <p:extLst>
      <p:ext uri="{BB962C8B-B14F-4D97-AF65-F5344CB8AC3E}">
        <p14:creationId xmlns:p14="http://schemas.microsoft.com/office/powerpoint/2010/main" val="3349132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19D3C-3687-9E65-F685-1B5C01D90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8A9C-1680-914D-5162-F8854CE5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800" dirty="0"/>
              <a:t>Trade-offs between Investing in Health and Consumption</a:t>
            </a:r>
          </a:p>
        </p:txBody>
      </p:sp>
    </p:spTree>
    <p:extLst>
      <p:ext uri="{BB962C8B-B14F-4D97-AF65-F5344CB8AC3E}">
        <p14:creationId xmlns:p14="http://schemas.microsoft.com/office/powerpoint/2010/main" val="229852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E5C1-D8E9-816C-3A7D-5C670F1A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DF58F3DE-FF9A-16E5-42C2-0870E33BEE01}"/>
              </a:ext>
            </a:extLst>
          </p:cNvPr>
          <p:cNvSpPr/>
          <p:nvPr/>
        </p:nvSpPr>
        <p:spPr>
          <a:xfrm>
            <a:off x="-2458236" y="3398673"/>
            <a:ext cx="6268945" cy="4571655"/>
          </a:xfrm>
          <a:prstGeom prst="pie">
            <a:avLst>
              <a:gd name="adj1" fmla="val 16210768"/>
              <a:gd name="adj2" fmla="val 1947"/>
            </a:avLst>
          </a:prstGeom>
          <a:solidFill>
            <a:schemeClr val="bg1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A9661-882A-B332-FA37-4A762FE2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Health and Consumption</a:t>
            </a:r>
            <a:br>
              <a:rPr lang="en-CA" sz="4800" dirty="0"/>
            </a:br>
            <a:r>
              <a:rPr lang="en-CA" sz="4800" dirty="0"/>
              <a:t>Possibilities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E3C5-B122-A2F7-EA1B-F34DD68DC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19" y="1943100"/>
            <a:ext cx="5250272" cy="393649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budget constraint modelled the </a:t>
            </a:r>
            <a:r>
              <a:rPr lang="en-CA" dirty="0" err="1"/>
              <a:t>tradeoffs</a:t>
            </a:r>
            <a:r>
              <a:rPr lang="en-CA" dirty="0"/>
              <a:t> between spending on health inputs and consumption.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Health and Consumption Possibilities Curve shows the trade off between health and consumption directly.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curve is curved because of the diminishing returns in the production of health.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B226F-F969-DCFA-5149-CDED0E365938}"/>
              </a:ext>
            </a:extLst>
          </p:cNvPr>
          <p:cNvSpPr/>
          <p:nvPr/>
        </p:nvSpPr>
        <p:spPr>
          <a:xfrm>
            <a:off x="676237" y="1861531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E89D3-D236-14F9-2244-07A46693D69A}"/>
              </a:ext>
            </a:extLst>
          </p:cNvPr>
          <p:cNvSpPr/>
          <p:nvPr/>
        </p:nvSpPr>
        <p:spPr>
          <a:xfrm>
            <a:off x="514650" y="1764255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9394E4-711F-0F8E-AB5C-685D01EEC6C2}"/>
              </a:ext>
            </a:extLst>
          </p:cNvPr>
          <p:cNvSpPr/>
          <p:nvPr/>
        </p:nvSpPr>
        <p:spPr>
          <a:xfrm>
            <a:off x="5145016" y="1916654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AA902-E96C-6381-3304-7B9C7542CE2D}"/>
              </a:ext>
            </a:extLst>
          </p:cNvPr>
          <p:cNvSpPr txBox="1"/>
          <p:nvPr/>
        </p:nvSpPr>
        <p:spPr>
          <a:xfrm>
            <a:off x="288411" y="208558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EC2F9F-4D3A-90C2-24E3-126379C2064C}"/>
              </a:ext>
            </a:extLst>
          </p:cNvPr>
          <p:cNvSpPr txBox="1"/>
          <p:nvPr/>
        </p:nvSpPr>
        <p:spPr>
          <a:xfrm>
            <a:off x="4652825" y="578177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</p:spTree>
    <p:extLst>
      <p:ext uri="{BB962C8B-B14F-4D97-AF65-F5344CB8AC3E}">
        <p14:creationId xmlns:p14="http://schemas.microsoft.com/office/powerpoint/2010/main" val="2156568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6CEA-DD98-610A-56D3-D6766DF5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CED3C3E-7372-4D3E-1EED-6B579B274794}"/>
              </a:ext>
            </a:extLst>
          </p:cNvPr>
          <p:cNvSpPr/>
          <p:nvPr/>
        </p:nvSpPr>
        <p:spPr>
          <a:xfrm>
            <a:off x="676236" y="2425171"/>
            <a:ext cx="4468779" cy="3229582"/>
          </a:xfrm>
          <a:prstGeom prst="rect">
            <a:avLst/>
          </a:prstGeom>
          <a:solidFill>
            <a:srgbClr val="C000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B3918D91-04A5-D329-E34F-8D1C987DEAFB}"/>
              </a:ext>
            </a:extLst>
          </p:cNvPr>
          <p:cNvSpPr/>
          <p:nvPr/>
        </p:nvSpPr>
        <p:spPr>
          <a:xfrm>
            <a:off x="-2458236" y="3398673"/>
            <a:ext cx="6268945" cy="4571655"/>
          </a:xfrm>
          <a:prstGeom prst="pie">
            <a:avLst>
              <a:gd name="adj1" fmla="val 16210768"/>
              <a:gd name="adj2" fmla="val 1954"/>
            </a:avLst>
          </a:prstGeom>
          <a:solidFill>
            <a:schemeClr val="accent1">
              <a:alpha val="32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DBDFD-ACB9-FA27-17D6-69167BA0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Health and Consumption</a:t>
            </a:r>
            <a:br>
              <a:rPr lang="en-CA" sz="4800" dirty="0"/>
            </a:br>
            <a:r>
              <a:rPr lang="en-CA" sz="4800" dirty="0"/>
              <a:t>Possibilities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F9A71-6DAB-81FE-6E96-56BB6E284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19" y="1943100"/>
            <a:ext cx="5250272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Every point under the curve is defined as </a:t>
            </a:r>
            <a:r>
              <a:rPr lang="en-CA" b="1" dirty="0"/>
              <a:t>Feasible</a:t>
            </a:r>
            <a:r>
              <a:rPr lang="en-CA" dirty="0"/>
              <a:t> while every point outside of the curve is defined as </a:t>
            </a:r>
            <a:r>
              <a:rPr lang="en-CA" b="1" dirty="0"/>
              <a:t>Unfeasible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F314E-37BF-AACA-B59D-FB09E8299EB1}"/>
              </a:ext>
            </a:extLst>
          </p:cNvPr>
          <p:cNvSpPr/>
          <p:nvPr/>
        </p:nvSpPr>
        <p:spPr>
          <a:xfrm>
            <a:off x="676237" y="1861531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BF223-61E4-3573-B33B-16BA032F7308}"/>
              </a:ext>
            </a:extLst>
          </p:cNvPr>
          <p:cNvSpPr/>
          <p:nvPr/>
        </p:nvSpPr>
        <p:spPr>
          <a:xfrm>
            <a:off x="514650" y="1764255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41076-1300-A4BA-E37C-316B6DE46DAB}"/>
              </a:ext>
            </a:extLst>
          </p:cNvPr>
          <p:cNvSpPr/>
          <p:nvPr/>
        </p:nvSpPr>
        <p:spPr>
          <a:xfrm>
            <a:off x="5145016" y="1916654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28A31-CB5E-7BA0-8FEF-10B23DE41529}"/>
              </a:ext>
            </a:extLst>
          </p:cNvPr>
          <p:cNvSpPr txBox="1"/>
          <p:nvPr/>
        </p:nvSpPr>
        <p:spPr>
          <a:xfrm>
            <a:off x="288411" y="208558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2EC73-C60E-E16A-3416-9F1278D5157D}"/>
              </a:ext>
            </a:extLst>
          </p:cNvPr>
          <p:cNvSpPr txBox="1"/>
          <p:nvPr/>
        </p:nvSpPr>
        <p:spPr>
          <a:xfrm>
            <a:off x="4652825" y="578177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12573-9BA5-9FBD-CC39-6DCB60F0DF30}"/>
              </a:ext>
            </a:extLst>
          </p:cNvPr>
          <p:cNvSpPr txBox="1"/>
          <p:nvPr/>
        </p:nvSpPr>
        <p:spPr>
          <a:xfrm>
            <a:off x="1202409" y="4572000"/>
            <a:ext cx="183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Feasible Region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A6543-6C7B-4DDF-A3CE-0CF1D7D9D7DF}"/>
              </a:ext>
            </a:extLst>
          </p:cNvPr>
          <p:cNvSpPr txBox="1"/>
          <p:nvPr/>
        </p:nvSpPr>
        <p:spPr>
          <a:xfrm>
            <a:off x="2394726" y="3144625"/>
            <a:ext cx="209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Unfeasible Region</a:t>
            </a:r>
          </a:p>
        </p:txBody>
      </p:sp>
    </p:spTree>
    <p:extLst>
      <p:ext uri="{BB962C8B-B14F-4D97-AF65-F5344CB8AC3E}">
        <p14:creationId xmlns:p14="http://schemas.microsoft.com/office/powerpoint/2010/main" val="2056779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5559-6063-9A10-C97D-84625216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A545F725-71EB-BD5C-B498-2ABC19968269}"/>
              </a:ext>
            </a:extLst>
          </p:cNvPr>
          <p:cNvSpPr/>
          <p:nvPr/>
        </p:nvSpPr>
        <p:spPr>
          <a:xfrm>
            <a:off x="-2458236" y="3398673"/>
            <a:ext cx="6268945" cy="4571655"/>
          </a:xfrm>
          <a:prstGeom prst="pie">
            <a:avLst>
              <a:gd name="adj1" fmla="val 16210768"/>
              <a:gd name="adj2" fmla="val 1954"/>
            </a:avLst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A8E8-7BE0-42C2-4DD6-26DBF24A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Health and Consumption</a:t>
            </a:r>
            <a:br>
              <a:rPr lang="en-CA" sz="4800" dirty="0"/>
            </a:br>
            <a:r>
              <a:rPr lang="en-CA" sz="4800" dirty="0"/>
              <a:t>Possibilities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877A2-11C4-3280-0C60-140E6CDDF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19" y="1943100"/>
            <a:ext cx="5250272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determination of health outcomes in this graph can be thought of as a result of a direct choice between consumption and health.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4E0BD-ED6A-965A-85FC-FAA50ABF1278}"/>
              </a:ext>
            </a:extLst>
          </p:cNvPr>
          <p:cNvSpPr/>
          <p:nvPr/>
        </p:nvSpPr>
        <p:spPr>
          <a:xfrm>
            <a:off x="676237" y="1861531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BC83F2-607D-2915-F2A3-F6783F7DAA91}"/>
              </a:ext>
            </a:extLst>
          </p:cNvPr>
          <p:cNvSpPr/>
          <p:nvPr/>
        </p:nvSpPr>
        <p:spPr>
          <a:xfrm>
            <a:off x="514650" y="1764255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8F7CC-DA56-EBE5-F63F-01F9271A85FB}"/>
              </a:ext>
            </a:extLst>
          </p:cNvPr>
          <p:cNvSpPr/>
          <p:nvPr/>
        </p:nvSpPr>
        <p:spPr>
          <a:xfrm>
            <a:off x="5145016" y="1916654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6CCE1-FD94-22F0-02FA-863831999F4A}"/>
              </a:ext>
            </a:extLst>
          </p:cNvPr>
          <p:cNvSpPr txBox="1"/>
          <p:nvPr/>
        </p:nvSpPr>
        <p:spPr>
          <a:xfrm>
            <a:off x="288411" y="208558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17721-CDCE-A2A4-ED09-4063B3978D8C}"/>
              </a:ext>
            </a:extLst>
          </p:cNvPr>
          <p:cNvSpPr txBox="1"/>
          <p:nvPr/>
        </p:nvSpPr>
        <p:spPr>
          <a:xfrm>
            <a:off x="4652825" y="578177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67334D0-0D33-63ED-65ED-71705AED324C}"/>
              </a:ext>
            </a:extLst>
          </p:cNvPr>
          <p:cNvSpPr/>
          <p:nvPr/>
        </p:nvSpPr>
        <p:spPr>
          <a:xfrm rot="11178088">
            <a:off x="2330813" y="561500"/>
            <a:ext cx="4816147" cy="4220328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E1284F-730F-190C-8446-F3D72C6DB974}"/>
              </a:ext>
            </a:extLst>
          </p:cNvPr>
          <p:cNvCxnSpPr>
            <a:cxnSpLocks/>
          </p:cNvCxnSpPr>
          <p:nvPr/>
        </p:nvCxnSpPr>
        <p:spPr>
          <a:xfrm>
            <a:off x="676237" y="4135718"/>
            <a:ext cx="23474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56194B-2A0A-DE0C-53E1-3DD6345FCE34}"/>
              </a:ext>
            </a:extLst>
          </p:cNvPr>
          <p:cNvCxnSpPr>
            <a:cxnSpLocks/>
          </p:cNvCxnSpPr>
          <p:nvPr/>
        </p:nvCxnSpPr>
        <p:spPr>
          <a:xfrm>
            <a:off x="3023695" y="4120429"/>
            <a:ext cx="0" cy="1452032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677CC3CE-8A5E-EF08-A2F6-0DA18674ADDC}"/>
              </a:ext>
            </a:extLst>
          </p:cNvPr>
          <p:cNvSpPr/>
          <p:nvPr/>
        </p:nvSpPr>
        <p:spPr>
          <a:xfrm>
            <a:off x="2876624" y="3951052"/>
            <a:ext cx="361770" cy="369332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058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B033-0B39-687C-8DF5-3E22B5B39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rtial Circle 7">
            <a:extLst>
              <a:ext uri="{FF2B5EF4-FFF2-40B4-BE49-F238E27FC236}">
                <a16:creationId xmlns:a16="http://schemas.microsoft.com/office/drawing/2014/main" id="{5FABC92E-2F2B-891A-8995-C873762DEC43}"/>
              </a:ext>
            </a:extLst>
          </p:cNvPr>
          <p:cNvSpPr/>
          <p:nvPr/>
        </p:nvSpPr>
        <p:spPr>
          <a:xfrm>
            <a:off x="-2458237" y="2926796"/>
            <a:ext cx="6268945" cy="5515408"/>
          </a:xfrm>
          <a:prstGeom prst="pie">
            <a:avLst>
              <a:gd name="adj1" fmla="val 16210768"/>
              <a:gd name="adj2" fmla="val 1947"/>
            </a:avLst>
          </a:prstGeom>
          <a:solidFill>
            <a:schemeClr val="bg1"/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C025045F-98FC-691B-3920-DABA9DD2BCA6}"/>
              </a:ext>
            </a:extLst>
          </p:cNvPr>
          <p:cNvSpPr/>
          <p:nvPr/>
        </p:nvSpPr>
        <p:spPr>
          <a:xfrm>
            <a:off x="-2458236" y="3398673"/>
            <a:ext cx="6268945" cy="4571655"/>
          </a:xfrm>
          <a:prstGeom prst="pie">
            <a:avLst>
              <a:gd name="adj1" fmla="val 16210768"/>
              <a:gd name="adj2" fmla="val 1947"/>
            </a:avLst>
          </a:prstGeom>
          <a:solidFill>
            <a:schemeClr val="bg1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4D8F5-C88E-A99D-0037-CD4E06C1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Health and Consumption</a:t>
            </a:r>
            <a:br>
              <a:rPr lang="en-CA" sz="4800" dirty="0"/>
            </a:br>
            <a:r>
              <a:rPr lang="en-CA" sz="4800" dirty="0"/>
              <a:t>Possibilities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A03DE-0915-1383-EDAA-CFB4CD1D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19" y="1943100"/>
            <a:ext cx="5250272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Improvements in health productivity will shift the health intercept upwards.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F1DA7-A1BD-71C0-41AA-802007605F0F}"/>
              </a:ext>
            </a:extLst>
          </p:cNvPr>
          <p:cNvSpPr/>
          <p:nvPr/>
        </p:nvSpPr>
        <p:spPr>
          <a:xfrm>
            <a:off x="676237" y="1861531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0EAA9B-A9A7-727F-49C6-E9EB4744A4A0}"/>
              </a:ext>
            </a:extLst>
          </p:cNvPr>
          <p:cNvSpPr/>
          <p:nvPr/>
        </p:nvSpPr>
        <p:spPr>
          <a:xfrm>
            <a:off x="514650" y="1764255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D63709-1DDF-15C7-D8FD-B3D10E224379}"/>
              </a:ext>
            </a:extLst>
          </p:cNvPr>
          <p:cNvSpPr/>
          <p:nvPr/>
        </p:nvSpPr>
        <p:spPr>
          <a:xfrm>
            <a:off x="5145016" y="1916654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D5F903-BACF-D03D-14C6-21E790F17862}"/>
              </a:ext>
            </a:extLst>
          </p:cNvPr>
          <p:cNvSpPr txBox="1"/>
          <p:nvPr/>
        </p:nvSpPr>
        <p:spPr>
          <a:xfrm>
            <a:off x="288411" y="208558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A99CB6-1A42-DD87-7B2F-EC265D7F5036}"/>
              </a:ext>
            </a:extLst>
          </p:cNvPr>
          <p:cNvSpPr txBox="1"/>
          <p:nvPr/>
        </p:nvSpPr>
        <p:spPr>
          <a:xfrm>
            <a:off x="4652825" y="578177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E1B9A06-148F-A7D1-D4E0-E1831C9F66F6}"/>
              </a:ext>
            </a:extLst>
          </p:cNvPr>
          <p:cNvSpPr/>
          <p:nvPr/>
        </p:nvSpPr>
        <p:spPr>
          <a:xfrm rot="16200000">
            <a:off x="168655" y="2962407"/>
            <a:ext cx="502204" cy="4309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421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C2D4-A1C7-ED1D-97F7-39B645F6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tial Circle 6">
            <a:extLst>
              <a:ext uri="{FF2B5EF4-FFF2-40B4-BE49-F238E27FC236}">
                <a16:creationId xmlns:a16="http://schemas.microsoft.com/office/drawing/2014/main" id="{36F4478A-23E7-4A30-3BD9-E2F6CC33F03F}"/>
              </a:ext>
            </a:extLst>
          </p:cNvPr>
          <p:cNvSpPr/>
          <p:nvPr/>
        </p:nvSpPr>
        <p:spPr>
          <a:xfrm>
            <a:off x="-2633198" y="3413837"/>
            <a:ext cx="6817924" cy="4556491"/>
          </a:xfrm>
          <a:prstGeom prst="pie">
            <a:avLst>
              <a:gd name="adj1" fmla="val 16210768"/>
              <a:gd name="adj2" fmla="val 1947"/>
            </a:avLst>
          </a:prstGeom>
          <a:solidFill>
            <a:schemeClr val="bg1"/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4CC767C3-9759-DFC2-FE83-6375DEBEAD87}"/>
              </a:ext>
            </a:extLst>
          </p:cNvPr>
          <p:cNvSpPr/>
          <p:nvPr/>
        </p:nvSpPr>
        <p:spPr>
          <a:xfrm>
            <a:off x="-2458236" y="3398673"/>
            <a:ext cx="6268945" cy="4571655"/>
          </a:xfrm>
          <a:prstGeom prst="pie">
            <a:avLst>
              <a:gd name="adj1" fmla="val 16210768"/>
              <a:gd name="adj2" fmla="val 1947"/>
            </a:avLst>
          </a:prstGeom>
          <a:solidFill>
            <a:schemeClr val="bg1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122FB-68E7-62EB-99C6-44E9A5431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Health and Consumption</a:t>
            </a:r>
            <a:br>
              <a:rPr lang="en-CA" sz="4800" dirty="0"/>
            </a:br>
            <a:r>
              <a:rPr lang="en-CA" sz="4800" dirty="0"/>
              <a:t>Possibilities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E32E4-29AC-63D0-ED87-0EE47700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19" y="1943100"/>
            <a:ext cx="5250272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 decrease in the price of consumption will shift the curve right and outwards.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485D5-3493-0108-C3C9-D6927062717E}"/>
              </a:ext>
            </a:extLst>
          </p:cNvPr>
          <p:cNvSpPr/>
          <p:nvPr/>
        </p:nvSpPr>
        <p:spPr>
          <a:xfrm>
            <a:off x="676237" y="1861531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7E685-248A-DD9C-F581-D074C243BCF1}"/>
              </a:ext>
            </a:extLst>
          </p:cNvPr>
          <p:cNvSpPr/>
          <p:nvPr/>
        </p:nvSpPr>
        <p:spPr>
          <a:xfrm>
            <a:off x="514650" y="1764255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638DAF-09BD-288A-FA97-043B66E791ED}"/>
              </a:ext>
            </a:extLst>
          </p:cNvPr>
          <p:cNvSpPr/>
          <p:nvPr/>
        </p:nvSpPr>
        <p:spPr>
          <a:xfrm>
            <a:off x="5145016" y="1916654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063CA-C502-93A1-5367-A6691A65A172}"/>
              </a:ext>
            </a:extLst>
          </p:cNvPr>
          <p:cNvSpPr txBox="1"/>
          <p:nvPr/>
        </p:nvSpPr>
        <p:spPr>
          <a:xfrm>
            <a:off x="288411" y="208558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A02BD-8E32-C191-4A3B-43AD84499A83}"/>
              </a:ext>
            </a:extLst>
          </p:cNvPr>
          <p:cNvSpPr txBox="1"/>
          <p:nvPr/>
        </p:nvSpPr>
        <p:spPr>
          <a:xfrm>
            <a:off x="4652825" y="578177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2BE0CD0-D7C6-3E42-85E7-EA99921D8320}"/>
              </a:ext>
            </a:extLst>
          </p:cNvPr>
          <p:cNvSpPr/>
          <p:nvPr/>
        </p:nvSpPr>
        <p:spPr>
          <a:xfrm>
            <a:off x="3723512" y="5750952"/>
            <a:ext cx="502204" cy="4309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3196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86B7-DBCC-60DF-923F-ECF9E08D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75E5C8A0-29D2-69DD-5B6C-11D164507237}"/>
              </a:ext>
            </a:extLst>
          </p:cNvPr>
          <p:cNvSpPr/>
          <p:nvPr/>
        </p:nvSpPr>
        <p:spPr>
          <a:xfrm>
            <a:off x="-2458236" y="3398673"/>
            <a:ext cx="6268945" cy="4571655"/>
          </a:xfrm>
          <a:prstGeom prst="pie">
            <a:avLst>
              <a:gd name="adj1" fmla="val 16210768"/>
              <a:gd name="adj2" fmla="val 1947"/>
            </a:avLst>
          </a:prstGeom>
          <a:solidFill>
            <a:schemeClr val="bg1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B9A9F-CD86-1145-A7C6-1E23F6808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319" y="1943100"/>
            <a:ext cx="5250272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Does a change in the price of a medical services  impact the health and consumption possibilities curve?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40EA0-80E3-3488-19E5-3A43B5914EB7}"/>
              </a:ext>
            </a:extLst>
          </p:cNvPr>
          <p:cNvSpPr/>
          <p:nvPr/>
        </p:nvSpPr>
        <p:spPr>
          <a:xfrm>
            <a:off x="676237" y="1861531"/>
            <a:ext cx="4604966" cy="38229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88570-C54D-C192-BEAD-D81AB0A1FBD0}"/>
              </a:ext>
            </a:extLst>
          </p:cNvPr>
          <p:cNvSpPr/>
          <p:nvPr/>
        </p:nvSpPr>
        <p:spPr>
          <a:xfrm>
            <a:off x="514650" y="1764255"/>
            <a:ext cx="4990289" cy="690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69D825-CB6A-CC59-ADC3-5EEDDAB0553C}"/>
              </a:ext>
            </a:extLst>
          </p:cNvPr>
          <p:cNvSpPr/>
          <p:nvPr/>
        </p:nvSpPr>
        <p:spPr>
          <a:xfrm>
            <a:off x="5145016" y="1916654"/>
            <a:ext cx="512323" cy="414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EC22A-FFE0-E5A9-9861-141206E419E0}"/>
              </a:ext>
            </a:extLst>
          </p:cNvPr>
          <p:cNvSpPr txBox="1"/>
          <p:nvPr/>
        </p:nvSpPr>
        <p:spPr>
          <a:xfrm>
            <a:off x="288411" y="2085587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FA8DC-049F-21D2-5073-78031F39C82C}"/>
              </a:ext>
            </a:extLst>
          </p:cNvPr>
          <p:cNvSpPr txBox="1"/>
          <p:nvPr/>
        </p:nvSpPr>
        <p:spPr>
          <a:xfrm>
            <a:off x="4652825" y="578177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BA92C-8F5E-B117-A8F9-E42C0BFD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000" dirty="0"/>
              <a:t>Health and Consumption</a:t>
            </a:r>
            <a:br>
              <a:rPr lang="en-CA" sz="4000" dirty="0"/>
            </a:br>
            <a:r>
              <a:rPr lang="en-CA" sz="4000" dirty="0"/>
              <a:t>Possibilities Curve: Some things to think about</a:t>
            </a:r>
          </a:p>
        </p:txBody>
      </p:sp>
    </p:spTree>
    <p:extLst>
      <p:ext uri="{BB962C8B-B14F-4D97-AF65-F5344CB8AC3E}">
        <p14:creationId xmlns:p14="http://schemas.microsoft.com/office/powerpoint/2010/main" val="3526570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93F0-F3F6-327A-15A6-8000D83F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E2C7-AE54-89D4-42E9-4D3718C0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800" dirty="0"/>
              <a:t>Comparative Statics/Sensitivity Analysis with the Grossman Model</a:t>
            </a:r>
          </a:p>
        </p:txBody>
      </p:sp>
    </p:spTree>
    <p:extLst>
      <p:ext uri="{BB962C8B-B14F-4D97-AF65-F5344CB8AC3E}">
        <p14:creationId xmlns:p14="http://schemas.microsoft.com/office/powerpoint/2010/main" val="511883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930E-007C-29F4-4BCC-1DC483BB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8332-E5CF-C472-77DA-A84185565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Objectives for this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E0B9-BEB1-2603-41BE-071ACF73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are going to put all three pieces of the Grossman model together.</a:t>
            </a:r>
          </a:p>
          <a:p>
            <a:pPr marL="457200" indent="-457200">
              <a:buAutoNum type="arabicPeriod"/>
            </a:pPr>
            <a:r>
              <a:rPr lang="en-CA" dirty="0"/>
              <a:t>The Budget Constraint.</a:t>
            </a:r>
          </a:p>
          <a:p>
            <a:pPr marL="457200" indent="-457200">
              <a:buAutoNum type="arabicPeriod"/>
            </a:pPr>
            <a:r>
              <a:rPr lang="en-CA" dirty="0"/>
              <a:t>The Health Production Function.</a:t>
            </a:r>
          </a:p>
          <a:p>
            <a:pPr marL="457200" indent="-457200">
              <a:buAutoNum type="arabicPeriod"/>
            </a:pPr>
            <a:r>
              <a:rPr lang="en-CA" dirty="0"/>
              <a:t>The Health and Consumption Possibilities Curve.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With addition of a “helper quadrant” we will see that its possible to make assessments of changes in outcomes across all sectors directly</a:t>
            </a:r>
          </a:p>
        </p:txBody>
      </p:sp>
    </p:spTree>
    <p:extLst>
      <p:ext uri="{BB962C8B-B14F-4D97-AF65-F5344CB8AC3E}">
        <p14:creationId xmlns:p14="http://schemas.microsoft.com/office/powerpoint/2010/main" val="3418502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1A9-D72B-8E92-5A90-3D1FF979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B0833C-4EAD-D475-CB13-06DFE2DE5411}"/>
              </a:ext>
            </a:extLst>
          </p:cNvPr>
          <p:cNvCxnSpPr>
            <a:cxnSpLocks/>
          </p:cNvCxnSpPr>
          <p:nvPr/>
        </p:nvCxnSpPr>
        <p:spPr>
          <a:xfrm>
            <a:off x="5768501" y="3914544"/>
            <a:ext cx="2828361" cy="188179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8C3033-9E0A-1DD7-9FF1-82D9F344F59D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B72476ED-D60D-4690-F26D-8D9C76F83CF4}"/>
              </a:ext>
            </a:extLst>
          </p:cNvPr>
          <p:cNvSpPr/>
          <p:nvPr/>
        </p:nvSpPr>
        <p:spPr>
          <a:xfrm>
            <a:off x="2686190" y="2104144"/>
            <a:ext cx="5449311" cy="3521956"/>
          </a:xfrm>
          <a:prstGeom prst="arc">
            <a:avLst>
              <a:gd name="adj1" fmla="val 16961583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E7A2905-A436-37D7-C6BB-0720CB97C326}"/>
              </a:ext>
            </a:extLst>
          </p:cNvPr>
          <p:cNvSpPr/>
          <p:nvPr/>
        </p:nvSpPr>
        <p:spPr>
          <a:xfrm>
            <a:off x="-124072" y="2129546"/>
            <a:ext cx="5865777" cy="3471153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BF66B-0672-E769-71EA-29F6F116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Equilibrium in the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B7D401-9756-1DD2-04F6-5AC3BEAF4381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DD8DCD-8F42-6F5B-7FA5-C195E261D2AF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42C14A-31DF-333A-541A-A4CFF50587F2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75DEB-488F-E678-23F3-E3A9E94EB05C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8B58C-F30B-BBC7-2028-486F5F167FB8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8D714-6325-FF45-BF4E-850A3E81CD11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</p:spTree>
    <p:extLst>
      <p:ext uri="{BB962C8B-B14F-4D97-AF65-F5344CB8AC3E}">
        <p14:creationId xmlns:p14="http://schemas.microsoft.com/office/powerpoint/2010/main" val="3518296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13F1-248D-87A5-4066-B70D9EEF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B07CA949-9D85-3BD9-5D3F-5CB370E5CC02}"/>
              </a:ext>
            </a:extLst>
          </p:cNvPr>
          <p:cNvSpPr/>
          <p:nvPr/>
        </p:nvSpPr>
        <p:spPr>
          <a:xfrm rot="10436256">
            <a:off x="6997745" y="336066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C2752D-9F84-1896-3E6F-35CC147D5574}"/>
              </a:ext>
            </a:extLst>
          </p:cNvPr>
          <p:cNvCxnSpPr>
            <a:cxnSpLocks/>
          </p:cNvCxnSpPr>
          <p:nvPr/>
        </p:nvCxnSpPr>
        <p:spPr>
          <a:xfrm>
            <a:off x="5768501" y="3914544"/>
            <a:ext cx="2828361" cy="188179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26B85E-122C-D7D4-BFEA-A8297C0E1E6D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1EE432EA-5FE2-2C47-44D9-BF0D1752F0D3}"/>
              </a:ext>
            </a:extLst>
          </p:cNvPr>
          <p:cNvSpPr/>
          <p:nvPr/>
        </p:nvSpPr>
        <p:spPr>
          <a:xfrm>
            <a:off x="2686190" y="2104144"/>
            <a:ext cx="5449311" cy="3521956"/>
          </a:xfrm>
          <a:prstGeom prst="arc">
            <a:avLst>
              <a:gd name="adj1" fmla="val 16961583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C1923B3-D4BE-B84B-8830-FF427E4C3940}"/>
              </a:ext>
            </a:extLst>
          </p:cNvPr>
          <p:cNvSpPr/>
          <p:nvPr/>
        </p:nvSpPr>
        <p:spPr>
          <a:xfrm>
            <a:off x="-124072" y="2129546"/>
            <a:ext cx="5865777" cy="3471153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2A2AF-6AD9-F1F0-8CB3-75FAE27A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Equilibrium in the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E74D87-9355-0483-D8CF-26686F73EBD3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778E78-FC2A-31EC-01C4-5142C68C7CB8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0EE68A-4334-3793-8046-E6CD09AB2EDF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9CAF29-78C8-F3DE-6FA3-6CBD52351573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891F9-276D-3768-3BD9-F468CFB132E6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C0FBE-6FEA-7422-043A-E77ABB26AE12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C9C85E-6C56-4F00-C5EA-BDEDDF2DEFD6}"/>
              </a:ext>
            </a:extLst>
          </p:cNvPr>
          <p:cNvCxnSpPr>
            <a:cxnSpLocks/>
          </p:cNvCxnSpPr>
          <p:nvPr/>
        </p:nvCxnSpPr>
        <p:spPr>
          <a:xfrm>
            <a:off x="5000914" y="4978940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776B0F-66D1-5E67-DBA3-39EDFC601EE6}"/>
              </a:ext>
            </a:extLst>
          </p:cNvPr>
          <p:cNvCxnSpPr>
            <a:cxnSpLocks/>
          </p:cNvCxnSpPr>
          <p:nvPr/>
        </p:nvCxnSpPr>
        <p:spPr>
          <a:xfrm flipV="1">
            <a:off x="7401610" y="2715829"/>
            <a:ext cx="42662" cy="226311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CB6EC2C-3845-23F1-719C-8C07521C09EA}"/>
              </a:ext>
            </a:extLst>
          </p:cNvPr>
          <p:cNvCxnSpPr>
            <a:cxnSpLocks/>
          </p:cNvCxnSpPr>
          <p:nvPr/>
        </p:nvCxnSpPr>
        <p:spPr>
          <a:xfrm flipV="1">
            <a:off x="4929220" y="2715829"/>
            <a:ext cx="0" cy="2290392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AEA8283-7A69-F6D0-201E-43018D1B3698}"/>
              </a:ext>
            </a:extLst>
          </p:cNvPr>
          <p:cNvCxnSpPr>
            <a:cxnSpLocks/>
          </p:cNvCxnSpPr>
          <p:nvPr/>
        </p:nvCxnSpPr>
        <p:spPr>
          <a:xfrm>
            <a:off x="5000914" y="2715829"/>
            <a:ext cx="24373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A40DBC6D-F25E-EB57-9E33-BE3CB2F569B8}"/>
              </a:ext>
            </a:extLst>
          </p:cNvPr>
          <p:cNvSpPr/>
          <p:nvPr/>
        </p:nvSpPr>
        <p:spPr>
          <a:xfrm>
            <a:off x="7297225" y="2540405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2365EF82-7AAA-E7AE-9CE0-8B5409F5B17B}"/>
              </a:ext>
            </a:extLst>
          </p:cNvPr>
          <p:cNvSpPr/>
          <p:nvPr/>
        </p:nvSpPr>
        <p:spPr>
          <a:xfrm>
            <a:off x="4795172" y="249385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42BEC638-62D6-7A90-6C4E-E53A25B28E56}"/>
              </a:ext>
            </a:extLst>
          </p:cNvPr>
          <p:cNvSpPr/>
          <p:nvPr/>
        </p:nvSpPr>
        <p:spPr>
          <a:xfrm>
            <a:off x="4788170" y="485544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8540E1B7-325C-C227-C7E3-BFFCCB170AC7}"/>
              </a:ext>
            </a:extLst>
          </p:cNvPr>
          <p:cNvSpPr/>
          <p:nvPr/>
        </p:nvSpPr>
        <p:spPr>
          <a:xfrm>
            <a:off x="7260560" y="4828162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35E-D0B7-7201-E2F5-CECC57DCCDFF}"/>
              </a:ext>
            </a:extLst>
          </p:cNvPr>
          <p:cNvSpPr txBox="1"/>
          <p:nvPr/>
        </p:nvSpPr>
        <p:spPr>
          <a:xfrm>
            <a:off x="8964731" y="1537966"/>
            <a:ext cx="2879386" cy="14773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For now, we will assume</a:t>
            </a:r>
            <a:br>
              <a:rPr lang="en-CA" dirty="0"/>
            </a:br>
            <a:r>
              <a:rPr lang="en-CA" dirty="0"/>
              <a:t>people choose their health</a:t>
            </a:r>
            <a:br>
              <a:rPr lang="en-CA" dirty="0"/>
            </a:br>
            <a:r>
              <a:rPr lang="en-CA" dirty="0"/>
              <a:t>directly, as seen with the </a:t>
            </a:r>
            <a:br>
              <a:rPr lang="en-CA" dirty="0"/>
            </a:br>
            <a:r>
              <a:rPr lang="en-CA" dirty="0"/>
              <a:t>Indifference curve in this quadrant.</a:t>
            </a:r>
          </a:p>
        </p:txBody>
      </p:sp>
    </p:spTree>
    <p:extLst>
      <p:ext uri="{BB962C8B-B14F-4D97-AF65-F5344CB8AC3E}">
        <p14:creationId xmlns:p14="http://schemas.microsoft.com/office/powerpoint/2010/main" val="2395670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9C9E-381A-44E2-544E-925EF56D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4F8B691C-D684-F6A2-04CE-6A54D09B8A10}"/>
              </a:ext>
            </a:extLst>
          </p:cNvPr>
          <p:cNvSpPr/>
          <p:nvPr/>
        </p:nvSpPr>
        <p:spPr>
          <a:xfrm rot="10436256">
            <a:off x="6997745" y="336066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CC7F81-F569-300B-38FE-E51DFFD046CF}"/>
              </a:ext>
            </a:extLst>
          </p:cNvPr>
          <p:cNvCxnSpPr>
            <a:cxnSpLocks/>
          </p:cNvCxnSpPr>
          <p:nvPr/>
        </p:nvCxnSpPr>
        <p:spPr>
          <a:xfrm>
            <a:off x="5768501" y="3914544"/>
            <a:ext cx="2828361" cy="188179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33F4A6-E797-C917-32FD-CDAAA6585C5B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59DFC3DA-6270-FD6D-8E8B-DD64722BE7C7}"/>
              </a:ext>
            </a:extLst>
          </p:cNvPr>
          <p:cNvSpPr/>
          <p:nvPr/>
        </p:nvSpPr>
        <p:spPr>
          <a:xfrm>
            <a:off x="2686190" y="2104144"/>
            <a:ext cx="5449311" cy="3521956"/>
          </a:xfrm>
          <a:prstGeom prst="arc">
            <a:avLst>
              <a:gd name="adj1" fmla="val 16961583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B28535B-84D2-E3E9-8A5E-4DC006BDB9C2}"/>
              </a:ext>
            </a:extLst>
          </p:cNvPr>
          <p:cNvSpPr/>
          <p:nvPr/>
        </p:nvSpPr>
        <p:spPr>
          <a:xfrm>
            <a:off x="-124072" y="2129546"/>
            <a:ext cx="5865777" cy="3471153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37591-CA07-71BA-84D5-58AA5450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Equilibrium in the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E739AC-35F6-FC86-88D7-63D1F1521C50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7B74F3-59F2-7621-02C1-CFA6688B3C40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7CFEC3-FB80-9AE0-5BC3-2FC563E7CA08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121314-BA58-2304-1DF1-A9D34523A5D0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CA08D3-0203-0529-D367-3ABA35B24F4F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E5279-1699-2F75-4B96-9CBE327BE08A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D455AC9-B5B0-1626-1596-A6FE8A1BFE7F}"/>
              </a:ext>
            </a:extLst>
          </p:cNvPr>
          <p:cNvCxnSpPr>
            <a:cxnSpLocks/>
          </p:cNvCxnSpPr>
          <p:nvPr/>
        </p:nvCxnSpPr>
        <p:spPr>
          <a:xfrm>
            <a:off x="5000914" y="4978940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908AFF-AC56-2224-E0A2-33BCA169A476}"/>
              </a:ext>
            </a:extLst>
          </p:cNvPr>
          <p:cNvCxnSpPr>
            <a:cxnSpLocks/>
          </p:cNvCxnSpPr>
          <p:nvPr/>
        </p:nvCxnSpPr>
        <p:spPr>
          <a:xfrm flipV="1">
            <a:off x="7401610" y="2715829"/>
            <a:ext cx="42662" cy="226311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A31DC83-488B-E042-0F64-3CB794DC6C49}"/>
              </a:ext>
            </a:extLst>
          </p:cNvPr>
          <p:cNvCxnSpPr>
            <a:cxnSpLocks/>
          </p:cNvCxnSpPr>
          <p:nvPr/>
        </p:nvCxnSpPr>
        <p:spPr>
          <a:xfrm flipV="1">
            <a:off x="4929220" y="2715829"/>
            <a:ext cx="0" cy="2290392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B4C06EA-198B-88C3-79D6-3E3B8C6E7E89}"/>
              </a:ext>
            </a:extLst>
          </p:cNvPr>
          <p:cNvCxnSpPr>
            <a:cxnSpLocks/>
          </p:cNvCxnSpPr>
          <p:nvPr/>
        </p:nvCxnSpPr>
        <p:spPr>
          <a:xfrm>
            <a:off x="5000914" y="2715829"/>
            <a:ext cx="24373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6A449C87-C6C7-4CF4-DAF9-C483BC803EAA}"/>
              </a:ext>
            </a:extLst>
          </p:cNvPr>
          <p:cNvSpPr/>
          <p:nvPr/>
        </p:nvSpPr>
        <p:spPr>
          <a:xfrm>
            <a:off x="7297225" y="2540405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B0DCB50E-A98E-688A-CE94-0BF361315E0B}"/>
              </a:ext>
            </a:extLst>
          </p:cNvPr>
          <p:cNvSpPr/>
          <p:nvPr/>
        </p:nvSpPr>
        <p:spPr>
          <a:xfrm>
            <a:off x="4795172" y="249385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1DEDBE4D-B114-D701-06B4-B1972F58EF60}"/>
              </a:ext>
            </a:extLst>
          </p:cNvPr>
          <p:cNvSpPr/>
          <p:nvPr/>
        </p:nvSpPr>
        <p:spPr>
          <a:xfrm>
            <a:off x="4788170" y="485544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5C8C3EC6-B3F9-8093-F85C-A330EA01A57F}"/>
              </a:ext>
            </a:extLst>
          </p:cNvPr>
          <p:cNvSpPr/>
          <p:nvPr/>
        </p:nvSpPr>
        <p:spPr>
          <a:xfrm>
            <a:off x="7260560" y="4828162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35B4B-EE34-351F-80C1-C7ECB9C0BB8D}"/>
              </a:ext>
            </a:extLst>
          </p:cNvPr>
          <p:cNvSpPr txBox="1"/>
          <p:nvPr/>
        </p:nvSpPr>
        <p:spPr>
          <a:xfrm>
            <a:off x="75449" y="1778443"/>
            <a:ext cx="2382816" cy="17543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Limits on the maximum amount of health and consumption that can be consumed is given by the Red stars.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0C96CC-EA29-DD2B-743A-A7DA73EF41AF}"/>
              </a:ext>
            </a:extLst>
          </p:cNvPr>
          <p:cNvCxnSpPr>
            <a:cxnSpLocks/>
          </p:cNvCxnSpPr>
          <p:nvPr/>
        </p:nvCxnSpPr>
        <p:spPr>
          <a:xfrm>
            <a:off x="3579780" y="2218949"/>
            <a:ext cx="0" cy="1632597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A18D27-9DA6-56A8-B2D3-AE91B41AAAD7}"/>
              </a:ext>
            </a:extLst>
          </p:cNvPr>
          <p:cNvCxnSpPr>
            <a:cxnSpLocks/>
          </p:cNvCxnSpPr>
          <p:nvPr/>
        </p:nvCxnSpPr>
        <p:spPr>
          <a:xfrm flipH="1">
            <a:off x="5741705" y="5626100"/>
            <a:ext cx="246109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32E104-8966-0DA5-1F2C-F9D17777ABB8}"/>
              </a:ext>
            </a:extLst>
          </p:cNvPr>
          <p:cNvCxnSpPr>
            <a:cxnSpLocks/>
          </p:cNvCxnSpPr>
          <p:nvPr/>
        </p:nvCxnSpPr>
        <p:spPr>
          <a:xfrm flipH="1" flipV="1">
            <a:off x="8154286" y="3970220"/>
            <a:ext cx="53731" cy="1537924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F9F6BA-F705-E084-73FF-7CD47F7D780A}"/>
              </a:ext>
            </a:extLst>
          </p:cNvPr>
          <p:cNvCxnSpPr>
            <a:cxnSpLocks/>
          </p:cNvCxnSpPr>
          <p:nvPr/>
        </p:nvCxnSpPr>
        <p:spPr>
          <a:xfrm flipH="1">
            <a:off x="3613150" y="2193820"/>
            <a:ext cx="212855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35CE545B-8C95-9E40-BE3F-B1E6451DD741}"/>
              </a:ext>
            </a:extLst>
          </p:cNvPr>
          <p:cNvSpPr/>
          <p:nvPr/>
        </p:nvSpPr>
        <p:spPr>
          <a:xfrm>
            <a:off x="3438729" y="2053276"/>
            <a:ext cx="282101" cy="30155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F24034D1-2FE4-C470-43F6-8D2393AAB6A6}"/>
              </a:ext>
            </a:extLst>
          </p:cNvPr>
          <p:cNvSpPr/>
          <p:nvPr/>
        </p:nvSpPr>
        <p:spPr>
          <a:xfrm>
            <a:off x="8084080" y="5416344"/>
            <a:ext cx="282101" cy="30155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1447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8E44-6507-DEE0-F80D-09486F6EC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41D72662-B230-F783-4AB5-DD282AF21A29}"/>
              </a:ext>
            </a:extLst>
          </p:cNvPr>
          <p:cNvSpPr/>
          <p:nvPr/>
        </p:nvSpPr>
        <p:spPr>
          <a:xfrm rot="10436256">
            <a:off x="6997745" y="336066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463AB5-73FF-CFE3-7C9C-426C18B6C0CA}"/>
              </a:ext>
            </a:extLst>
          </p:cNvPr>
          <p:cNvCxnSpPr>
            <a:cxnSpLocks/>
          </p:cNvCxnSpPr>
          <p:nvPr/>
        </p:nvCxnSpPr>
        <p:spPr>
          <a:xfrm>
            <a:off x="5768501" y="3914544"/>
            <a:ext cx="2828361" cy="188179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4359B2-E4A8-F58A-80C6-3A6097C67896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B8460C66-34AF-72A4-9583-EB15C49CD315}"/>
              </a:ext>
            </a:extLst>
          </p:cNvPr>
          <p:cNvSpPr/>
          <p:nvPr/>
        </p:nvSpPr>
        <p:spPr>
          <a:xfrm>
            <a:off x="2686190" y="2104144"/>
            <a:ext cx="5449311" cy="3521956"/>
          </a:xfrm>
          <a:prstGeom prst="arc">
            <a:avLst>
              <a:gd name="adj1" fmla="val 16961583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D62E5AA-B7D6-AA94-714A-B93598758208}"/>
              </a:ext>
            </a:extLst>
          </p:cNvPr>
          <p:cNvSpPr/>
          <p:nvPr/>
        </p:nvSpPr>
        <p:spPr>
          <a:xfrm>
            <a:off x="-124072" y="2129546"/>
            <a:ext cx="5865777" cy="3471153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02DC8-2D8E-7684-898C-5CD88135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Scenario #1: A decrease in the Price of Health Inputs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5D451E-91A6-07FC-87B9-37E4725A6F44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3530AD-972D-8A00-7CB9-6BEA00341DBB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495181-D61E-FEEE-B681-A5895FDBD799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FB168-1526-0C9E-5109-799004B1A8F1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408BA4-F91F-D507-E482-10B37963C7D6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A67822-293A-A095-D4BB-69F32443C471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20B2AF-499D-434A-27AB-E09893EA0B1F}"/>
              </a:ext>
            </a:extLst>
          </p:cNvPr>
          <p:cNvCxnSpPr>
            <a:cxnSpLocks/>
          </p:cNvCxnSpPr>
          <p:nvPr/>
        </p:nvCxnSpPr>
        <p:spPr>
          <a:xfrm>
            <a:off x="5000914" y="4978940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F8C8D4-72DE-5027-F362-8577A55DD22D}"/>
              </a:ext>
            </a:extLst>
          </p:cNvPr>
          <p:cNvCxnSpPr>
            <a:cxnSpLocks/>
          </p:cNvCxnSpPr>
          <p:nvPr/>
        </p:nvCxnSpPr>
        <p:spPr>
          <a:xfrm flipV="1">
            <a:off x="7401610" y="2715829"/>
            <a:ext cx="42662" cy="226311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B9426C-0415-2F26-6239-0C47BDDE8C6F}"/>
              </a:ext>
            </a:extLst>
          </p:cNvPr>
          <p:cNvCxnSpPr>
            <a:cxnSpLocks/>
          </p:cNvCxnSpPr>
          <p:nvPr/>
        </p:nvCxnSpPr>
        <p:spPr>
          <a:xfrm flipV="1">
            <a:off x="4929220" y="2715829"/>
            <a:ext cx="0" cy="2290392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EDEC8-9CA7-62C1-437C-1570EEB43FEC}"/>
              </a:ext>
            </a:extLst>
          </p:cNvPr>
          <p:cNvCxnSpPr>
            <a:cxnSpLocks/>
          </p:cNvCxnSpPr>
          <p:nvPr/>
        </p:nvCxnSpPr>
        <p:spPr>
          <a:xfrm>
            <a:off x="5000914" y="2715829"/>
            <a:ext cx="24373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E6CC9423-F334-91F4-D6EC-60FCAFC25101}"/>
              </a:ext>
            </a:extLst>
          </p:cNvPr>
          <p:cNvSpPr/>
          <p:nvPr/>
        </p:nvSpPr>
        <p:spPr>
          <a:xfrm>
            <a:off x="7297225" y="2540405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8BB2379C-43E2-F44A-3BA8-F058CBD1B03E}"/>
              </a:ext>
            </a:extLst>
          </p:cNvPr>
          <p:cNvSpPr/>
          <p:nvPr/>
        </p:nvSpPr>
        <p:spPr>
          <a:xfrm>
            <a:off x="4795172" y="249385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A3153749-6F90-4EB7-3B02-4FCEFFC2475C}"/>
              </a:ext>
            </a:extLst>
          </p:cNvPr>
          <p:cNvSpPr/>
          <p:nvPr/>
        </p:nvSpPr>
        <p:spPr>
          <a:xfrm>
            <a:off x="4788170" y="485544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98EC82DE-BEB9-FDD9-9A79-98D9CC288560}"/>
              </a:ext>
            </a:extLst>
          </p:cNvPr>
          <p:cNvSpPr/>
          <p:nvPr/>
        </p:nvSpPr>
        <p:spPr>
          <a:xfrm>
            <a:off x="7260560" y="4828162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EF5FC-EAE5-1428-4E13-E089F6FB0311}"/>
              </a:ext>
            </a:extLst>
          </p:cNvPr>
          <p:cNvSpPr txBox="1"/>
          <p:nvPr/>
        </p:nvSpPr>
        <p:spPr>
          <a:xfrm>
            <a:off x="8964731" y="1537966"/>
            <a:ext cx="2879386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Draw how Equilibrium Changes!</a:t>
            </a:r>
          </a:p>
        </p:txBody>
      </p:sp>
    </p:spTree>
    <p:extLst>
      <p:ext uri="{BB962C8B-B14F-4D97-AF65-F5344CB8AC3E}">
        <p14:creationId xmlns:p14="http://schemas.microsoft.com/office/powerpoint/2010/main" val="1330137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4F60-FA80-952C-36E7-ECA0FB77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17EE68CF-D651-B5EB-7E36-1F0CE8D06669}"/>
              </a:ext>
            </a:extLst>
          </p:cNvPr>
          <p:cNvSpPr/>
          <p:nvPr/>
        </p:nvSpPr>
        <p:spPr>
          <a:xfrm rot="10436256">
            <a:off x="6997745" y="336066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50096A-0738-FF31-086D-09E558A6F14C}"/>
              </a:ext>
            </a:extLst>
          </p:cNvPr>
          <p:cNvCxnSpPr>
            <a:cxnSpLocks/>
          </p:cNvCxnSpPr>
          <p:nvPr/>
        </p:nvCxnSpPr>
        <p:spPr>
          <a:xfrm>
            <a:off x="5768501" y="3914544"/>
            <a:ext cx="2828361" cy="188179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EA6984-7024-53E1-5C64-923C42100DF7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8CAB2ADB-B5AC-376C-2DB2-3AFEBB5CBDA6}"/>
              </a:ext>
            </a:extLst>
          </p:cNvPr>
          <p:cNvSpPr/>
          <p:nvPr/>
        </p:nvSpPr>
        <p:spPr>
          <a:xfrm>
            <a:off x="2686190" y="2104144"/>
            <a:ext cx="5449311" cy="3521956"/>
          </a:xfrm>
          <a:prstGeom prst="arc">
            <a:avLst>
              <a:gd name="adj1" fmla="val 16961583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706B17C-EC93-E597-3B72-321C957EA639}"/>
              </a:ext>
            </a:extLst>
          </p:cNvPr>
          <p:cNvSpPr/>
          <p:nvPr/>
        </p:nvSpPr>
        <p:spPr>
          <a:xfrm>
            <a:off x="-124072" y="2129546"/>
            <a:ext cx="5865777" cy="3471153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C1A5A-81D9-F9E9-659C-BBA06852F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Scenario #2: Public Health Awareness About Handwashing and Health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12CDEC-7083-C773-2ECE-2B46B950656F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C92807-8ACA-C5FD-8C91-22C607EED650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BAE3B2-C111-ABD8-15E3-0C34115ED699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68F0A-C859-6C8D-D665-EF5B2B9A513D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18250B-0F0F-7128-D7D7-01B87BB165D3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E05EB-8833-5F66-596D-03E31B546404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E9BFF9-3F31-28B8-709F-E317C9972C33}"/>
              </a:ext>
            </a:extLst>
          </p:cNvPr>
          <p:cNvCxnSpPr>
            <a:cxnSpLocks/>
          </p:cNvCxnSpPr>
          <p:nvPr/>
        </p:nvCxnSpPr>
        <p:spPr>
          <a:xfrm>
            <a:off x="5000914" y="4978940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6233824-38CB-BFCD-A7AC-966CAA9F610C}"/>
              </a:ext>
            </a:extLst>
          </p:cNvPr>
          <p:cNvCxnSpPr>
            <a:cxnSpLocks/>
          </p:cNvCxnSpPr>
          <p:nvPr/>
        </p:nvCxnSpPr>
        <p:spPr>
          <a:xfrm flipV="1">
            <a:off x="7401610" y="2715829"/>
            <a:ext cx="42662" cy="226311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E23B33-80CF-D8C1-D42B-59E2F98A1D30}"/>
              </a:ext>
            </a:extLst>
          </p:cNvPr>
          <p:cNvCxnSpPr>
            <a:cxnSpLocks/>
          </p:cNvCxnSpPr>
          <p:nvPr/>
        </p:nvCxnSpPr>
        <p:spPr>
          <a:xfrm flipV="1">
            <a:off x="4929220" y="2715829"/>
            <a:ext cx="0" cy="2290392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9AA37E-255A-65D6-FF04-39D9BA933D17}"/>
              </a:ext>
            </a:extLst>
          </p:cNvPr>
          <p:cNvCxnSpPr>
            <a:cxnSpLocks/>
          </p:cNvCxnSpPr>
          <p:nvPr/>
        </p:nvCxnSpPr>
        <p:spPr>
          <a:xfrm>
            <a:off x="5000914" y="2715829"/>
            <a:ext cx="24373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3C067FBD-FFBB-612E-A5AC-666C00B70036}"/>
              </a:ext>
            </a:extLst>
          </p:cNvPr>
          <p:cNvSpPr/>
          <p:nvPr/>
        </p:nvSpPr>
        <p:spPr>
          <a:xfrm>
            <a:off x="7297225" y="2540405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96FFCE1D-BC13-48D7-CBD4-0B66C06FE964}"/>
              </a:ext>
            </a:extLst>
          </p:cNvPr>
          <p:cNvSpPr/>
          <p:nvPr/>
        </p:nvSpPr>
        <p:spPr>
          <a:xfrm>
            <a:off x="4795172" y="249385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E7D8145B-58DB-00F6-52B5-29B9028E686F}"/>
              </a:ext>
            </a:extLst>
          </p:cNvPr>
          <p:cNvSpPr/>
          <p:nvPr/>
        </p:nvSpPr>
        <p:spPr>
          <a:xfrm>
            <a:off x="4788170" y="485544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C05F6BBD-C762-BCB3-371B-1B95501F4EBB}"/>
              </a:ext>
            </a:extLst>
          </p:cNvPr>
          <p:cNvSpPr/>
          <p:nvPr/>
        </p:nvSpPr>
        <p:spPr>
          <a:xfrm>
            <a:off x="7260560" y="4828162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5485D-9E86-36A3-35F7-650400DC338D}"/>
              </a:ext>
            </a:extLst>
          </p:cNvPr>
          <p:cNvSpPr txBox="1"/>
          <p:nvPr/>
        </p:nvSpPr>
        <p:spPr>
          <a:xfrm>
            <a:off x="8964731" y="1537966"/>
            <a:ext cx="2879386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Draw how Equilibrium Changes!</a:t>
            </a:r>
          </a:p>
        </p:txBody>
      </p:sp>
    </p:spTree>
    <p:extLst>
      <p:ext uri="{BB962C8B-B14F-4D97-AF65-F5344CB8AC3E}">
        <p14:creationId xmlns:p14="http://schemas.microsoft.com/office/powerpoint/2010/main" val="10733937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7EBE-D40D-C9C4-7E54-F3B6047C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F86378FB-2ACE-77AA-90C2-B046607F4E21}"/>
              </a:ext>
            </a:extLst>
          </p:cNvPr>
          <p:cNvSpPr/>
          <p:nvPr/>
        </p:nvSpPr>
        <p:spPr>
          <a:xfrm rot="10436256">
            <a:off x="6997745" y="336066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5B98D8-E2DE-3D4D-6502-1455B8B3FD3E}"/>
              </a:ext>
            </a:extLst>
          </p:cNvPr>
          <p:cNvCxnSpPr>
            <a:cxnSpLocks/>
          </p:cNvCxnSpPr>
          <p:nvPr/>
        </p:nvCxnSpPr>
        <p:spPr>
          <a:xfrm>
            <a:off x="5768501" y="3914544"/>
            <a:ext cx="2828361" cy="188179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DC239E-1FB6-7A16-FFE6-969C945678E3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1D304B1F-986C-47FB-1005-5537CE6EAA18}"/>
              </a:ext>
            </a:extLst>
          </p:cNvPr>
          <p:cNvSpPr/>
          <p:nvPr/>
        </p:nvSpPr>
        <p:spPr>
          <a:xfrm>
            <a:off x="2686190" y="2104144"/>
            <a:ext cx="5449311" cy="3521956"/>
          </a:xfrm>
          <a:prstGeom prst="arc">
            <a:avLst>
              <a:gd name="adj1" fmla="val 16961583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595D702-46B8-A84B-E8E1-38D07C6A9055}"/>
              </a:ext>
            </a:extLst>
          </p:cNvPr>
          <p:cNvSpPr/>
          <p:nvPr/>
        </p:nvSpPr>
        <p:spPr>
          <a:xfrm>
            <a:off x="-124072" y="2129546"/>
            <a:ext cx="5865777" cy="3471153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D2563-731A-787D-8970-4CB78D84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Scenario #3: Increase in Income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07F934-D3A7-FF55-5484-090F1EC6221E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E2A957-EC88-E279-7672-806D7E74A72F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1D6DB1-3DFA-4F3A-72FC-CF48F5D9ECCB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BD9CB-F907-B083-CC1A-FF2201A09C06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0C5F99-E726-1696-C4E8-D56D38E1C794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9B8610-B897-FC96-C6CC-4E2A107A5924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3A7E5E9-30AD-D74B-A163-A31E3F326218}"/>
              </a:ext>
            </a:extLst>
          </p:cNvPr>
          <p:cNvCxnSpPr>
            <a:cxnSpLocks/>
          </p:cNvCxnSpPr>
          <p:nvPr/>
        </p:nvCxnSpPr>
        <p:spPr>
          <a:xfrm>
            <a:off x="5000914" y="4978940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5463EAD-5673-EFC2-665C-C517E6D5FD62}"/>
              </a:ext>
            </a:extLst>
          </p:cNvPr>
          <p:cNvCxnSpPr>
            <a:cxnSpLocks/>
          </p:cNvCxnSpPr>
          <p:nvPr/>
        </p:nvCxnSpPr>
        <p:spPr>
          <a:xfrm flipV="1">
            <a:off x="7401610" y="2715829"/>
            <a:ext cx="42662" cy="226311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3FF60E1-B9FC-B2B0-8F2B-DC5337B5F20C}"/>
              </a:ext>
            </a:extLst>
          </p:cNvPr>
          <p:cNvCxnSpPr>
            <a:cxnSpLocks/>
          </p:cNvCxnSpPr>
          <p:nvPr/>
        </p:nvCxnSpPr>
        <p:spPr>
          <a:xfrm flipV="1">
            <a:off x="4929220" y="2715829"/>
            <a:ext cx="0" cy="2290392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BBDD73-AADD-6DF5-901A-C7C381EEFD2A}"/>
              </a:ext>
            </a:extLst>
          </p:cNvPr>
          <p:cNvCxnSpPr>
            <a:cxnSpLocks/>
          </p:cNvCxnSpPr>
          <p:nvPr/>
        </p:nvCxnSpPr>
        <p:spPr>
          <a:xfrm>
            <a:off x="5000914" y="2715829"/>
            <a:ext cx="24373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5560E422-5AF9-B281-FA18-7798F14CB317}"/>
              </a:ext>
            </a:extLst>
          </p:cNvPr>
          <p:cNvSpPr/>
          <p:nvPr/>
        </p:nvSpPr>
        <p:spPr>
          <a:xfrm>
            <a:off x="7297225" y="2540405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D58995E9-917D-041C-8474-FDCBE118992F}"/>
              </a:ext>
            </a:extLst>
          </p:cNvPr>
          <p:cNvSpPr/>
          <p:nvPr/>
        </p:nvSpPr>
        <p:spPr>
          <a:xfrm>
            <a:off x="4795172" y="249385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FF56278B-22E6-0B5C-E05A-E9CFFD098275}"/>
              </a:ext>
            </a:extLst>
          </p:cNvPr>
          <p:cNvSpPr/>
          <p:nvPr/>
        </p:nvSpPr>
        <p:spPr>
          <a:xfrm>
            <a:off x="4788170" y="485544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FB7A232E-64CE-4290-8E6E-8349199158CA}"/>
              </a:ext>
            </a:extLst>
          </p:cNvPr>
          <p:cNvSpPr/>
          <p:nvPr/>
        </p:nvSpPr>
        <p:spPr>
          <a:xfrm>
            <a:off x="7260560" y="4828162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F51F1-5FDD-A7E1-2ECB-F32488D35BD3}"/>
              </a:ext>
            </a:extLst>
          </p:cNvPr>
          <p:cNvSpPr txBox="1"/>
          <p:nvPr/>
        </p:nvSpPr>
        <p:spPr>
          <a:xfrm>
            <a:off x="8964731" y="1537966"/>
            <a:ext cx="2879386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Draw how Equilibrium Changes!</a:t>
            </a:r>
          </a:p>
        </p:txBody>
      </p:sp>
    </p:spTree>
    <p:extLst>
      <p:ext uri="{BB962C8B-B14F-4D97-AF65-F5344CB8AC3E}">
        <p14:creationId xmlns:p14="http://schemas.microsoft.com/office/powerpoint/2010/main" val="727638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Applying this model to your group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You will have a paper which may require you to use either:</a:t>
            </a:r>
            <a:br>
              <a:rPr lang="en-CA" dirty="0"/>
            </a:br>
            <a:r>
              <a:rPr lang="en-CA" dirty="0"/>
              <a:t>1) The Grossman Model (Explained Here).</a:t>
            </a:r>
            <a:br>
              <a:rPr lang="en-CA" dirty="0"/>
            </a:br>
            <a:r>
              <a:rPr lang="en-CA" dirty="0"/>
              <a:t>2) The Rational Addiction Model (Explained Next Week).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You must choose which one to appropriately apply for your assigned paper.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Regardless of which model you choose, I expect you to draw the 4-quadrant diagram and show what has happened.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As you see, you can use this model to assess different health policies graphically (without much mathematics!).</a:t>
            </a:r>
          </a:p>
        </p:txBody>
      </p:sp>
    </p:spTree>
    <p:extLst>
      <p:ext uri="{BB962C8B-B14F-4D97-AF65-F5344CB8AC3E}">
        <p14:creationId xmlns:p14="http://schemas.microsoft.com/office/powerpoint/2010/main" val="21574925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2AE2-B4DB-87ED-698C-574CCCE5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9215-4E95-DE9B-3AAF-9102B571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69935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33C1-A595-FB5B-3CC1-E38A199E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81328"/>
            <a:ext cx="10506991" cy="4400987"/>
          </a:xfrm>
        </p:spPr>
        <p:txBody>
          <a:bodyPr>
            <a:normAutofit/>
          </a:bodyPr>
          <a:lstStyle/>
          <a:p>
            <a:r>
              <a:rPr lang="en-CA" dirty="0"/>
              <a:t>In this lecture,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Big Picture: The Demand for Health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consumers make choices: Indifference Curves and Budget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The Production of Health: Health Inputs and Health Outputs.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Trade-offs between Investing in Health and Consumption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Comparative Statics/Sensitivity Analysis with the Grossman Model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7D4C22-2277-A297-E5C0-423A98C35482}"/>
              </a:ext>
            </a:extLst>
          </p:cNvPr>
          <p:cNvSpPr/>
          <p:nvPr/>
        </p:nvSpPr>
        <p:spPr>
          <a:xfrm>
            <a:off x="1455195" y="4906516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 Introduce the Grossman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Show how it can be used to assess health different health policies. </a:t>
            </a:r>
          </a:p>
        </p:txBody>
      </p:sp>
    </p:spTree>
    <p:extLst>
      <p:ext uri="{BB962C8B-B14F-4D97-AF65-F5344CB8AC3E}">
        <p14:creationId xmlns:p14="http://schemas.microsoft.com/office/powerpoint/2010/main" val="3371917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6A14-F3EB-E715-1C96-0EA362B3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HIDDEN SLIDES FOR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9661C-66E8-7542-0DFE-465E4682C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72881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FD67-B499-85A2-FB2F-1230FBA9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EEFE-3513-288D-5A0D-8B86E56E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 Warning About the Next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49DFD-0684-FBD9-1EF3-B7461530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4741153" cy="3936491"/>
          </a:xfrm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next couple of slides will show the whole model.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 may be difficult to understand so here’s my advice:</a:t>
            </a:r>
          </a:p>
          <a:p>
            <a:r>
              <a:rPr lang="en-CA" b="1" i="1" dirty="0"/>
              <a:t>For this section, try to look at the model as if you are at an art gallery.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Appreciate the picture for now with the expectation of learning the rest of the story in later slides.</a:t>
            </a:r>
          </a:p>
        </p:txBody>
      </p:sp>
      <p:pic>
        <p:nvPicPr>
          <p:cNvPr id="1026" name="Picture 2" descr="Art Gallery of Ontario in Downtown Toronto - Tours and Activities |  Expedia.ca">
            <a:extLst>
              <a:ext uri="{FF2B5EF4-FFF2-40B4-BE49-F238E27FC236}">
                <a16:creationId xmlns:a16="http://schemas.microsoft.com/office/drawing/2014/main" id="{6A4081CB-115C-7181-F465-F228822A0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836" y="1954812"/>
            <a:ext cx="5668780" cy="318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152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25730-2B88-A9CF-EBED-5E826D59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9E06E7-D8B5-1CF2-2367-40EED4067D36}"/>
              </a:ext>
            </a:extLst>
          </p:cNvPr>
          <p:cNvCxnSpPr>
            <a:cxnSpLocks/>
          </p:cNvCxnSpPr>
          <p:nvPr/>
        </p:nvCxnSpPr>
        <p:spPr>
          <a:xfrm>
            <a:off x="5741706" y="3881335"/>
            <a:ext cx="2828360" cy="180934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08ED27-1303-4065-07D3-0E2B28368BC5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5DB4E85D-DC9E-5954-6CEE-6AC3F929F2CC}"/>
              </a:ext>
            </a:extLst>
          </p:cNvPr>
          <p:cNvSpPr/>
          <p:nvPr/>
        </p:nvSpPr>
        <p:spPr>
          <a:xfrm>
            <a:off x="2694563" y="2062265"/>
            <a:ext cx="5068109" cy="3715966"/>
          </a:xfrm>
          <a:prstGeom prst="arc">
            <a:avLst>
              <a:gd name="adj1" fmla="val 17191949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6611B6F5-2389-9E93-BF6E-57D2347AFF11}"/>
              </a:ext>
            </a:extLst>
          </p:cNvPr>
          <p:cNvSpPr/>
          <p:nvPr/>
        </p:nvSpPr>
        <p:spPr>
          <a:xfrm>
            <a:off x="-124072" y="2274451"/>
            <a:ext cx="5865778" cy="321376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CFE3A-FB20-1D80-4706-4377AC41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Where we are headed: The “Simplified”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1765BC-5690-8C3B-A810-8E9E4C1B67B0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812B51-5A6C-00A2-B9C6-AC4734A3841C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93EA28-0BE2-44A9-E4F8-3F43ADE44373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0D00F1-9FFD-A56D-3C4F-2FC68C4BE943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D1FAC-37AE-88FB-78C4-2A27FF9978C5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5E781-DA5F-67E5-1668-B1313C49EB5E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</p:spTree>
    <p:extLst>
      <p:ext uri="{BB962C8B-B14F-4D97-AF65-F5344CB8AC3E}">
        <p14:creationId xmlns:p14="http://schemas.microsoft.com/office/powerpoint/2010/main" val="11651423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419A6-9356-C725-9279-C1A2CE03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538991-392D-0C38-58C6-F26B1E2CEAE7}"/>
              </a:ext>
            </a:extLst>
          </p:cNvPr>
          <p:cNvCxnSpPr>
            <a:cxnSpLocks/>
          </p:cNvCxnSpPr>
          <p:nvPr/>
        </p:nvCxnSpPr>
        <p:spPr>
          <a:xfrm>
            <a:off x="5741706" y="3881335"/>
            <a:ext cx="2828360" cy="180934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243D86-9F2F-42D6-4905-0D2D1CBD8596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DD3AF294-FE83-122B-1C61-09C7593B4336}"/>
              </a:ext>
            </a:extLst>
          </p:cNvPr>
          <p:cNvSpPr/>
          <p:nvPr/>
        </p:nvSpPr>
        <p:spPr>
          <a:xfrm>
            <a:off x="2694563" y="2062265"/>
            <a:ext cx="5068109" cy="3715966"/>
          </a:xfrm>
          <a:prstGeom prst="arc">
            <a:avLst>
              <a:gd name="adj1" fmla="val 17191949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6E00DE1D-BB56-A88B-BF97-3FC48884B599}"/>
              </a:ext>
            </a:extLst>
          </p:cNvPr>
          <p:cNvSpPr/>
          <p:nvPr/>
        </p:nvSpPr>
        <p:spPr>
          <a:xfrm>
            <a:off x="-124072" y="2274451"/>
            <a:ext cx="5865778" cy="321376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8ADD8-C23F-10DB-5609-E57787A4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Where we are headed: The “Simplified”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979194-C5E9-48A7-A0A7-F554F3213B5B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AB35DC-7347-5E4E-3D57-0EC97D764000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D82EE8-8589-7752-BDC5-17224CCF7BF2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0D13D7-C039-0075-D88B-51C4B7344FAB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39719C-027B-07C0-F256-5AFD46144DFF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14B0-CA70-1D02-43F9-E7401F0115D0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07A4E9-85BC-AC22-5BF9-0ECE346AC118}"/>
              </a:ext>
            </a:extLst>
          </p:cNvPr>
          <p:cNvSpPr/>
          <p:nvPr/>
        </p:nvSpPr>
        <p:spPr>
          <a:xfrm>
            <a:off x="2592421" y="1846105"/>
            <a:ext cx="3142033" cy="2013618"/>
          </a:xfrm>
          <a:prstGeom prst="rect">
            <a:avLst/>
          </a:prstGeom>
          <a:solidFill>
            <a:schemeClr val="bg1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Health Production</a:t>
            </a:r>
            <a:br>
              <a:rPr lang="en-CA" dirty="0"/>
            </a:br>
            <a:r>
              <a:rPr lang="en-CA" dirty="0"/>
              <a:t>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29E693-1E56-11E3-A42B-36F83495368D}"/>
              </a:ext>
            </a:extLst>
          </p:cNvPr>
          <p:cNvSpPr/>
          <p:nvPr/>
        </p:nvSpPr>
        <p:spPr>
          <a:xfrm>
            <a:off x="5775754" y="1846105"/>
            <a:ext cx="3142033" cy="2013618"/>
          </a:xfrm>
          <a:prstGeom prst="rect">
            <a:avLst/>
          </a:prstGeom>
          <a:solidFill>
            <a:schemeClr val="bg1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Health and Consumption</a:t>
            </a:r>
            <a:br>
              <a:rPr lang="en-CA" dirty="0"/>
            </a:br>
            <a:r>
              <a:rPr lang="en-CA" dirty="0"/>
              <a:t>Possibilities Curve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83BD0-DA4D-E414-EF1E-CF9014978B3A}"/>
              </a:ext>
            </a:extLst>
          </p:cNvPr>
          <p:cNvSpPr/>
          <p:nvPr/>
        </p:nvSpPr>
        <p:spPr>
          <a:xfrm>
            <a:off x="2599673" y="3892144"/>
            <a:ext cx="3142033" cy="2013618"/>
          </a:xfrm>
          <a:prstGeom prst="rect">
            <a:avLst/>
          </a:prstGeom>
          <a:solidFill>
            <a:schemeClr val="bg1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Budget Constraint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F912F-2D4F-CBAC-1120-5CD360BC767B}"/>
              </a:ext>
            </a:extLst>
          </p:cNvPr>
          <p:cNvSpPr/>
          <p:nvPr/>
        </p:nvSpPr>
        <p:spPr>
          <a:xfrm>
            <a:off x="5795298" y="3915220"/>
            <a:ext cx="3142033" cy="2013618"/>
          </a:xfrm>
          <a:prstGeom prst="rect">
            <a:avLst/>
          </a:prstGeom>
          <a:solidFill>
            <a:schemeClr val="bg1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“Helper Quadrant”</a:t>
            </a:r>
          </a:p>
        </p:txBody>
      </p:sp>
    </p:spTree>
    <p:extLst>
      <p:ext uri="{BB962C8B-B14F-4D97-AF65-F5344CB8AC3E}">
        <p14:creationId xmlns:p14="http://schemas.microsoft.com/office/powerpoint/2010/main" val="25714006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B9B5-E5E0-FD56-1033-80A88424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9E1D4A-2EA5-F096-B2AD-12037A294310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741706" y="3881335"/>
            <a:ext cx="2828360" cy="180934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A4BB04-EC64-4A7B-FF43-29ED7C266409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9A6FE1E4-C406-94DE-708A-0E385BED6FFB}"/>
              </a:ext>
            </a:extLst>
          </p:cNvPr>
          <p:cNvSpPr/>
          <p:nvPr/>
        </p:nvSpPr>
        <p:spPr>
          <a:xfrm>
            <a:off x="2694563" y="2062265"/>
            <a:ext cx="5068109" cy="3715966"/>
          </a:xfrm>
          <a:prstGeom prst="arc">
            <a:avLst>
              <a:gd name="adj1" fmla="val 17191949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A5F7D8A-2C0A-6ED7-4BD5-6171AA100F18}"/>
              </a:ext>
            </a:extLst>
          </p:cNvPr>
          <p:cNvSpPr/>
          <p:nvPr/>
        </p:nvSpPr>
        <p:spPr>
          <a:xfrm>
            <a:off x="-124072" y="2274451"/>
            <a:ext cx="5865778" cy="321376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1FD66-D7E7-FAC5-DD1E-E1385849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Where we are headed: The “Simplified”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51BE8-5319-CF56-49AE-3EDA2526DE14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E3FA21-88C1-49F6-F028-F1AF62AA5CA9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491D68-562C-2CDE-5673-0C413E7C2EB3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EE083-1B53-8C4D-08B9-6D919C568BF8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E952A-8B83-A480-A125-78BFCEA7AF40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B3994-467F-4927-33E7-37112948E9BE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91192F-F832-8308-36EB-44F0105FB82B}"/>
              </a:ext>
            </a:extLst>
          </p:cNvPr>
          <p:cNvCxnSpPr>
            <a:cxnSpLocks/>
          </p:cNvCxnSpPr>
          <p:nvPr/>
        </p:nvCxnSpPr>
        <p:spPr>
          <a:xfrm>
            <a:off x="4564659" y="4671455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9B61217-86E2-D856-AA49-3FACDCEE35F7}"/>
              </a:ext>
            </a:extLst>
          </p:cNvPr>
          <p:cNvCxnSpPr>
            <a:cxnSpLocks/>
          </p:cNvCxnSpPr>
          <p:nvPr/>
        </p:nvCxnSpPr>
        <p:spPr>
          <a:xfrm flipV="1">
            <a:off x="6918753" y="2611877"/>
            <a:ext cx="0" cy="202335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0E4FD1E-9F2A-86A3-902B-97801DC6A8E1}"/>
              </a:ext>
            </a:extLst>
          </p:cNvPr>
          <p:cNvCxnSpPr>
            <a:cxnSpLocks/>
          </p:cNvCxnSpPr>
          <p:nvPr/>
        </p:nvCxnSpPr>
        <p:spPr>
          <a:xfrm flipV="1">
            <a:off x="4590599" y="2640528"/>
            <a:ext cx="0" cy="202335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46BB39-E881-770D-CAA9-EF94A4441DCC}"/>
              </a:ext>
            </a:extLst>
          </p:cNvPr>
          <p:cNvCxnSpPr>
            <a:cxnSpLocks/>
          </p:cNvCxnSpPr>
          <p:nvPr/>
        </p:nvCxnSpPr>
        <p:spPr>
          <a:xfrm>
            <a:off x="4606812" y="2548647"/>
            <a:ext cx="226978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689AFCBC-AAC6-C3EC-5C8C-BDFD3E1C1C44}"/>
              </a:ext>
            </a:extLst>
          </p:cNvPr>
          <p:cNvSpPr/>
          <p:nvPr/>
        </p:nvSpPr>
        <p:spPr>
          <a:xfrm>
            <a:off x="6779322" y="2390319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B6DAC3B6-A227-5DC2-F381-4775E06BED9F}"/>
              </a:ext>
            </a:extLst>
          </p:cNvPr>
          <p:cNvSpPr/>
          <p:nvPr/>
        </p:nvSpPr>
        <p:spPr>
          <a:xfrm>
            <a:off x="4443826" y="2383657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20878908-AEC7-89E8-02C6-D540B7B36E03}"/>
              </a:ext>
            </a:extLst>
          </p:cNvPr>
          <p:cNvSpPr/>
          <p:nvPr/>
        </p:nvSpPr>
        <p:spPr>
          <a:xfrm>
            <a:off x="4443825" y="451310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72E13978-236A-8D83-913B-149BAE9A909A}"/>
              </a:ext>
            </a:extLst>
          </p:cNvPr>
          <p:cNvSpPr/>
          <p:nvPr/>
        </p:nvSpPr>
        <p:spPr>
          <a:xfrm>
            <a:off x="6773597" y="444554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DA7274-9FF9-6385-7164-E3DF70C3C0D5}"/>
              </a:ext>
            </a:extLst>
          </p:cNvPr>
          <p:cNvSpPr txBox="1"/>
          <p:nvPr/>
        </p:nvSpPr>
        <p:spPr>
          <a:xfrm>
            <a:off x="8390194" y="1575883"/>
            <a:ext cx="3101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Every choice between consumption and health results in a position along each  of these curves</a:t>
            </a:r>
          </a:p>
        </p:txBody>
      </p:sp>
    </p:spTree>
    <p:extLst>
      <p:ext uri="{BB962C8B-B14F-4D97-AF65-F5344CB8AC3E}">
        <p14:creationId xmlns:p14="http://schemas.microsoft.com/office/powerpoint/2010/main" val="32611025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78EE-186D-1FDE-ED1B-86043246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89B7C306-8C72-CFD1-C6CF-5752C7EF0284}"/>
              </a:ext>
            </a:extLst>
          </p:cNvPr>
          <p:cNvSpPr/>
          <p:nvPr/>
        </p:nvSpPr>
        <p:spPr>
          <a:xfrm rot="10436256">
            <a:off x="6502427" y="185970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0A96BF-1C84-6DB2-35B5-1C5DC07A5A3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741706" y="3881335"/>
            <a:ext cx="2828360" cy="180934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A697CB-C383-4FBD-0642-DD9AAFA5788A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4D65A457-AA9D-00E1-327B-705F39669E7E}"/>
              </a:ext>
            </a:extLst>
          </p:cNvPr>
          <p:cNvSpPr/>
          <p:nvPr/>
        </p:nvSpPr>
        <p:spPr>
          <a:xfrm>
            <a:off x="2694563" y="2062265"/>
            <a:ext cx="5068109" cy="3715966"/>
          </a:xfrm>
          <a:prstGeom prst="arc">
            <a:avLst>
              <a:gd name="adj1" fmla="val 17191949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5D72825-938B-AEE9-2B85-271E552B30DA}"/>
              </a:ext>
            </a:extLst>
          </p:cNvPr>
          <p:cNvSpPr/>
          <p:nvPr/>
        </p:nvSpPr>
        <p:spPr>
          <a:xfrm>
            <a:off x="-124072" y="2274451"/>
            <a:ext cx="5865778" cy="321376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3E2BC-F32C-6359-5AF0-3E7D1039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Where we are headed: The “Simplified”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B7A6D9-2CAE-E905-A9A6-521B7E866884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155CC-7EC3-0C75-5CAA-592B1A7F2B7E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739FA8-920A-4AE5-5563-C1EC1EDF61FF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485594-ED6F-4BEB-68D4-FF6CCE8393E0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6AD372-9175-F95E-E9C4-E12CF6F5E0AE}"/>
              </a:ext>
            </a:extLst>
          </p:cNvPr>
          <p:cNvSpPr txBox="1"/>
          <p:nvPr/>
        </p:nvSpPr>
        <p:spPr>
          <a:xfrm>
            <a:off x="1595156" y="355817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  <a:br>
              <a:rPr lang="en-CA" dirty="0"/>
            </a:br>
            <a:r>
              <a:rPr lang="en-CA" dirty="0"/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98C541-DEBA-66AA-E057-1AD75DA4A227}"/>
              </a:ext>
            </a:extLst>
          </p:cNvPr>
          <p:cNvSpPr txBox="1"/>
          <p:nvPr/>
        </p:nvSpPr>
        <p:spPr>
          <a:xfrm>
            <a:off x="5851187" y="604817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405A07E-C208-667B-046F-F5484954CA23}"/>
              </a:ext>
            </a:extLst>
          </p:cNvPr>
          <p:cNvCxnSpPr>
            <a:cxnSpLocks/>
          </p:cNvCxnSpPr>
          <p:nvPr/>
        </p:nvCxnSpPr>
        <p:spPr>
          <a:xfrm>
            <a:off x="4564659" y="4671455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DACC85-6C39-DCB9-7C31-BD4D9CD14253}"/>
              </a:ext>
            </a:extLst>
          </p:cNvPr>
          <p:cNvCxnSpPr>
            <a:cxnSpLocks/>
          </p:cNvCxnSpPr>
          <p:nvPr/>
        </p:nvCxnSpPr>
        <p:spPr>
          <a:xfrm flipV="1">
            <a:off x="6918753" y="2611877"/>
            <a:ext cx="0" cy="202335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E739BF-F4B0-97B3-8195-77AF62D176E0}"/>
              </a:ext>
            </a:extLst>
          </p:cNvPr>
          <p:cNvCxnSpPr>
            <a:cxnSpLocks/>
          </p:cNvCxnSpPr>
          <p:nvPr/>
        </p:nvCxnSpPr>
        <p:spPr>
          <a:xfrm flipV="1">
            <a:off x="4590599" y="2640528"/>
            <a:ext cx="0" cy="202335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17D43C8-031C-B6A1-AEA2-C2457001F333}"/>
              </a:ext>
            </a:extLst>
          </p:cNvPr>
          <p:cNvCxnSpPr>
            <a:cxnSpLocks/>
          </p:cNvCxnSpPr>
          <p:nvPr/>
        </p:nvCxnSpPr>
        <p:spPr>
          <a:xfrm>
            <a:off x="4606812" y="2548647"/>
            <a:ext cx="226978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9092AD77-F7F2-BCF1-712A-09A476BC293B}"/>
              </a:ext>
            </a:extLst>
          </p:cNvPr>
          <p:cNvSpPr/>
          <p:nvPr/>
        </p:nvSpPr>
        <p:spPr>
          <a:xfrm>
            <a:off x="6779322" y="2390319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50E8C6FF-CCEF-260C-268F-8811C073FAE9}"/>
              </a:ext>
            </a:extLst>
          </p:cNvPr>
          <p:cNvSpPr/>
          <p:nvPr/>
        </p:nvSpPr>
        <p:spPr>
          <a:xfrm>
            <a:off x="4443826" y="2383657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32D96751-063A-274D-D058-BEDC7044BB98}"/>
              </a:ext>
            </a:extLst>
          </p:cNvPr>
          <p:cNvSpPr/>
          <p:nvPr/>
        </p:nvSpPr>
        <p:spPr>
          <a:xfrm>
            <a:off x="4443825" y="451310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84435C6A-0580-3A1D-BB2C-62FB657D0DCD}"/>
              </a:ext>
            </a:extLst>
          </p:cNvPr>
          <p:cNvSpPr/>
          <p:nvPr/>
        </p:nvSpPr>
        <p:spPr>
          <a:xfrm>
            <a:off x="6773597" y="444554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FA4F03-647C-97A0-275F-DD35DC540FE0}"/>
              </a:ext>
            </a:extLst>
          </p:cNvPr>
          <p:cNvSpPr txBox="1"/>
          <p:nvPr/>
        </p:nvSpPr>
        <p:spPr>
          <a:xfrm>
            <a:off x="8867515" y="1285249"/>
            <a:ext cx="3101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choices that are made by individuals depend on their preferences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318CD-840F-531D-9067-86DD664DBCE8}"/>
              </a:ext>
            </a:extLst>
          </p:cNvPr>
          <p:cNvSpPr txBox="1"/>
          <p:nvPr/>
        </p:nvSpPr>
        <p:spPr>
          <a:xfrm>
            <a:off x="8912922" y="2240676"/>
            <a:ext cx="3101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Indifference/ Utility Level Curves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03ADE1F-247C-B946-9367-08A7A590ECCD}"/>
              </a:ext>
            </a:extLst>
          </p:cNvPr>
          <p:cNvSpPr/>
          <p:nvPr/>
        </p:nvSpPr>
        <p:spPr>
          <a:xfrm rot="10042502" flipV="1">
            <a:off x="7822079" y="2516539"/>
            <a:ext cx="833065" cy="29541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82889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2A6C-9B08-28F0-26DA-F6286B8E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5884E135-9F69-3D64-DE0E-A1CAFBACDE1E}"/>
              </a:ext>
            </a:extLst>
          </p:cNvPr>
          <p:cNvSpPr/>
          <p:nvPr/>
        </p:nvSpPr>
        <p:spPr>
          <a:xfrm>
            <a:off x="2631802" y="4432887"/>
            <a:ext cx="2329105" cy="2645764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490A56-3E70-15BB-5EE1-FCA4A40A651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741706" y="3881335"/>
            <a:ext cx="2828360" cy="180934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135869-A693-2A2D-36D0-4BCFF1AFC6F5}"/>
              </a:ext>
            </a:extLst>
          </p:cNvPr>
          <p:cNvCxnSpPr>
            <a:cxnSpLocks/>
          </p:cNvCxnSpPr>
          <p:nvPr/>
        </p:nvCxnSpPr>
        <p:spPr>
          <a:xfrm>
            <a:off x="3579780" y="3881336"/>
            <a:ext cx="2188722" cy="1819069"/>
          </a:xfrm>
          <a:prstGeom prst="line">
            <a:avLst/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0FAFBB89-0A9D-98EE-C54E-492BC5AD33ED}"/>
              </a:ext>
            </a:extLst>
          </p:cNvPr>
          <p:cNvSpPr/>
          <p:nvPr/>
        </p:nvSpPr>
        <p:spPr>
          <a:xfrm>
            <a:off x="2694563" y="2062265"/>
            <a:ext cx="5068109" cy="3715966"/>
          </a:xfrm>
          <a:prstGeom prst="arc">
            <a:avLst>
              <a:gd name="adj1" fmla="val 17191949"/>
              <a:gd name="adj2" fmla="val 0"/>
            </a:avLst>
          </a:prstGeom>
          <a:ln w="57150">
            <a:solidFill>
              <a:srgbClr val="E785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C970494-4F8F-00CF-3ED5-8C6D0DC34D72}"/>
              </a:ext>
            </a:extLst>
          </p:cNvPr>
          <p:cNvSpPr/>
          <p:nvPr/>
        </p:nvSpPr>
        <p:spPr>
          <a:xfrm>
            <a:off x="-124072" y="2274451"/>
            <a:ext cx="5865778" cy="3213768"/>
          </a:xfrm>
          <a:prstGeom prst="arc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35515-9EEA-6923-A91A-27EA873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51" y="565794"/>
            <a:ext cx="10634472" cy="1117092"/>
          </a:xfrm>
        </p:spPr>
        <p:txBody>
          <a:bodyPr/>
          <a:lstStyle/>
          <a:p>
            <a:r>
              <a:rPr lang="en-CA" sz="4000" dirty="0"/>
              <a:t>Where we are headed: The “Simplified” Grossman Model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FDB3A-E2F5-E89D-3A46-DD7B364A73E7}"/>
              </a:ext>
            </a:extLst>
          </p:cNvPr>
          <p:cNvCxnSpPr/>
          <p:nvPr/>
        </p:nvCxnSpPr>
        <p:spPr>
          <a:xfrm>
            <a:off x="5768502" y="1867711"/>
            <a:ext cx="0" cy="43969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8A5C31-B6E6-4896-03F1-47F6F9C56895}"/>
              </a:ext>
            </a:extLst>
          </p:cNvPr>
          <p:cNvCxnSpPr>
            <a:cxnSpLocks/>
          </p:cNvCxnSpPr>
          <p:nvPr/>
        </p:nvCxnSpPr>
        <p:spPr>
          <a:xfrm>
            <a:off x="2626468" y="3881336"/>
            <a:ext cx="6449438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7D1E01-B836-ABF5-79DF-93549D215E07}"/>
              </a:ext>
            </a:extLst>
          </p:cNvPr>
          <p:cNvSpPr txBox="1"/>
          <p:nvPr/>
        </p:nvSpPr>
        <p:spPr>
          <a:xfrm>
            <a:off x="8550613" y="3881496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Consumption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9BFC45-9B63-D404-21BA-143F25147A60}"/>
              </a:ext>
            </a:extLst>
          </p:cNvPr>
          <p:cNvSpPr txBox="1"/>
          <p:nvPr/>
        </p:nvSpPr>
        <p:spPr>
          <a:xfrm>
            <a:off x="5335530" y="149822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F4C5E-6A8A-5AEC-26B9-71E761BEA9CA}"/>
              </a:ext>
            </a:extLst>
          </p:cNvPr>
          <p:cNvCxnSpPr>
            <a:cxnSpLocks/>
          </p:cNvCxnSpPr>
          <p:nvPr/>
        </p:nvCxnSpPr>
        <p:spPr>
          <a:xfrm>
            <a:off x="4564659" y="4671455"/>
            <a:ext cx="235409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19ED1C-57DF-CCC9-0A34-46FC69721D2D}"/>
              </a:ext>
            </a:extLst>
          </p:cNvPr>
          <p:cNvCxnSpPr>
            <a:cxnSpLocks/>
          </p:cNvCxnSpPr>
          <p:nvPr/>
        </p:nvCxnSpPr>
        <p:spPr>
          <a:xfrm flipV="1">
            <a:off x="6918753" y="2611877"/>
            <a:ext cx="0" cy="202335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5846C2-832E-4198-8E5B-80ABC03AB9E8}"/>
              </a:ext>
            </a:extLst>
          </p:cNvPr>
          <p:cNvCxnSpPr>
            <a:cxnSpLocks/>
          </p:cNvCxnSpPr>
          <p:nvPr/>
        </p:nvCxnSpPr>
        <p:spPr>
          <a:xfrm flipV="1">
            <a:off x="4590599" y="2640528"/>
            <a:ext cx="0" cy="202335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6D9E3F-11B3-9715-647E-B986E315A2FB}"/>
              </a:ext>
            </a:extLst>
          </p:cNvPr>
          <p:cNvCxnSpPr>
            <a:cxnSpLocks/>
          </p:cNvCxnSpPr>
          <p:nvPr/>
        </p:nvCxnSpPr>
        <p:spPr>
          <a:xfrm>
            <a:off x="4606812" y="2548647"/>
            <a:ext cx="226978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E8A22DAB-1851-3302-D51A-15EEB94C8CBC}"/>
              </a:ext>
            </a:extLst>
          </p:cNvPr>
          <p:cNvSpPr/>
          <p:nvPr/>
        </p:nvSpPr>
        <p:spPr>
          <a:xfrm>
            <a:off x="6779322" y="2390319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14E168FE-21D7-1C48-204C-694EE8C63B44}"/>
              </a:ext>
            </a:extLst>
          </p:cNvPr>
          <p:cNvSpPr/>
          <p:nvPr/>
        </p:nvSpPr>
        <p:spPr>
          <a:xfrm>
            <a:off x="4443826" y="2383657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CBAFE456-F1AB-D3E5-0F08-89753CC0DEC1}"/>
              </a:ext>
            </a:extLst>
          </p:cNvPr>
          <p:cNvSpPr/>
          <p:nvPr/>
        </p:nvSpPr>
        <p:spPr>
          <a:xfrm>
            <a:off x="4443825" y="4513103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1331C904-EAD5-04C4-9B30-4A0D175A7688}"/>
              </a:ext>
            </a:extLst>
          </p:cNvPr>
          <p:cNvSpPr/>
          <p:nvPr/>
        </p:nvSpPr>
        <p:spPr>
          <a:xfrm>
            <a:off x="6773597" y="4445541"/>
            <a:ext cx="282101" cy="30155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127AEE-8AF1-2DA4-B55D-53DC9D0F97D1}"/>
              </a:ext>
            </a:extLst>
          </p:cNvPr>
          <p:cNvSpPr txBox="1"/>
          <p:nvPr/>
        </p:nvSpPr>
        <p:spPr>
          <a:xfrm>
            <a:off x="8390194" y="1575883"/>
            <a:ext cx="3101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Every choice between consumption and health results in a position along each  of these curves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3E834-88FA-E6AB-0553-730B3913D541}"/>
              </a:ext>
            </a:extLst>
          </p:cNvPr>
          <p:cNvSpPr txBox="1"/>
          <p:nvPr/>
        </p:nvSpPr>
        <p:spPr>
          <a:xfrm>
            <a:off x="283504" y="5376987"/>
            <a:ext cx="3101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We can also have Indifference/Utility Level Curves Here.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8DA2682-0916-FB5E-0DBE-62286627966E}"/>
              </a:ext>
            </a:extLst>
          </p:cNvPr>
          <p:cNvSpPr/>
          <p:nvPr/>
        </p:nvSpPr>
        <p:spPr>
          <a:xfrm rot="18926497" flipV="1">
            <a:off x="3639782" y="4936756"/>
            <a:ext cx="833065" cy="29541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8971202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5329</TotalTime>
  <Words>2655</Words>
  <Application>Microsoft Office PowerPoint</Application>
  <PresentationFormat>Widescreen</PresentationFormat>
  <Paragraphs>351</Paragraphs>
  <Slides>57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Arial</vt:lpstr>
      <vt:lpstr>Cambria Math</vt:lpstr>
      <vt:lpstr>Seaford</vt:lpstr>
      <vt:lpstr>Wingdings</vt:lpstr>
      <vt:lpstr>LevelVTI</vt:lpstr>
      <vt:lpstr>Health Economics Lecture #3</vt:lpstr>
      <vt:lpstr>Learning Objectives</vt:lpstr>
      <vt:lpstr>The Big Picture: The Demand for Health</vt:lpstr>
      <vt:lpstr>How Economists Think About Health</vt:lpstr>
      <vt:lpstr>Two Important Empirical Facts </vt:lpstr>
      <vt:lpstr>How Economists Think About Health</vt:lpstr>
      <vt:lpstr>Two People To Thank</vt:lpstr>
      <vt:lpstr>How consumers make choices: Indifference Curves and Budget Constraints.</vt:lpstr>
      <vt:lpstr>An Introduction to the Budget Constraint</vt:lpstr>
      <vt:lpstr>An Introduction to the Budget Constraint</vt:lpstr>
      <vt:lpstr>An Introduction to the Budget Constraint</vt:lpstr>
      <vt:lpstr>An Introduction to the Budget Constraint</vt:lpstr>
      <vt:lpstr>An Introduction to the Budget Constraint</vt:lpstr>
      <vt:lpstr>The Effect of a Increase in Price of Good 1</vt:lpstr>
      <vt:lpstr>The Effect of a Increase in Price of Good 2</vt:lpstr>
      <vt:lpstr>The Effect of  a Decline in Income</vt:lpstr>
      <vt:lpstr>Things for you to think about.</vt:lpstr>
      <vt:lpstr>How we use the Budget Constraint</vt:lpstr>
      <vt:lpstr>How consumers make choices: Indifference Curves and Budget Constraints.</vt:lpstr>
      <vt:lpstr>An Introduction to Indifference Curves</vt:lpstr>
      <vt:lpstr>An Introduction to Indifference Curves</vt:lpstr>
      <vt:lpstr>An Introduction to Indifference Curves</vt:lpstr>
      <vt:lpstr>An Introduction to Indifference Curves</vt:lpstr>
      <vt:lpstr>The Budget Constraint and Indifference Curves Together</vt:lpstr>
      <vt:lpstr>The Budget Constraint and Indifference Curves Together</vt:lpstr>
      <vt:lpstr>How consumers make choices: Indifference Curves and Budget Constraints.</vt:lpstr>
      <vt:lpstr>The Composite Commodity Theorem: The Statement</vt:lpstr>
      <vt:lpstr>The Composite Commodity Theorem: What You Need to Know</vt:lpstr>
      <vt:lpstr>The Production of Health: Health Inputs and Health Outputs.</vt:lpstr>
      <vt:lpstr>Modelling the Production of Health</vt:lpstr>
      <vt:lpstr>Modelling the Production of Health</vt:lpstr>
      <vt:lpstr>Modelling the Production of Health</vt:lpstr>
      <vt:lpstr>Modelling the Production of Health: Something to Think About</vt:lpstr>
      <vt:lpstr>Trade-offs between Investing in Health and Consumption</vt:lpstr>
      <vt:lpstr>Health and Consumption Possibilities Curve</vt:lpstr>
      <vt:lpstr>Health and Consumption Possibilities Curve</vt:lpstr>
      <vt:lpstr>Health and Consumption Possibilities Curve</vt:lpstr>
      <vt:lpstr>Health and Consumption Possibilities Curve</vt:lpstr>
      <vt:lpstr>Health and Consumption Possibilities Curve</vt:lpstr>
      <vt:lpstr>Health and Consumption Possibilities Curve: Some things to think about</vt:lpstr>
      <vt:lpstr>Comparative Statics/Sensitivity Analysis with the Grossman Model</vt:lpstr>
      <vt:lpstr>Objectives for this section</vt:lpstr>
      <vt:lpstr>Equilibrium in the Grossman Model</vt:lpstr>
      <vt:lpstr>Equilibrium in the Grossman Model</vt:lpstr>
      <vt:lpstr>Equilibrium in the Grossman Model</vt:lpstr>
      <vt:lpstr>Scenario #1: A decrease in the Price of Health Inputs</vt:lpstr>
      <vt:lpstr>Scenario #2: Public Health Awareness About Handwashing and Health</vt:lpstr>
      <vt:lpstr>Scenario #3: Increase in Income</vt:lpstr>
      <vt:lpstr>Applying this model to your group presentations</vt:lpstr>
      <vt:lpstr>Learning Objectives</vt:lpstr>
      <vt:lpstr>HIDDEN SLIDES FOR CLASS</vt:lpstr>
      <vt:lpstr>A Warning About the Next Slides</vt:lpstr>
      <vt:lpstr>Where we are headed: The “Simplified” Grossman Model</vt:lpstr>
      <vt:lpstr>Where we are headed: The “Simplified” Grossman Model</vt:lpstr>
      <vt:lpstr>Where we are headed: The “Simplified” Grossman Model</vt:lpstr>
      <vt:lpstr>Where we are headed: The “Simplified” Grossman Model</vt:lpstr>
      <vt:lpstr>Where we are headed: The “Simplified” Grossman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52</cp:revision>
  <dcterms:created xsi:type="dcterms:W3CDTF">2025-07-13T05:00:08Z</dcterms:created>
  <dcterms:modified xsi:type="dcterms:W3CDTF">2025-09-26T15:28:04Z</dcterms:modified>
</cp:coreProperties>
</file>