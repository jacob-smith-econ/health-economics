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99" r:id="rId1"/>
  </p:sldMasterIdLst>
  <p:notesMasterIdLst>
    <p:notesMasterId r:id="rId43"/>
  </p:notesMasterIdLst>
  <p:sldIdLst>
    <p:sldId id="256" r:id="rId2"/>
    <p:sldId id="257" r:id="rId3"/>
    <p:sldId id="317" r:id="rId4"/>
    <p:sldId id="318" r:id="rId5"/>
    <p:sldId id="319" r:id="rId6"/>
    <p:sldId id="258" r:id="rId7"/>
    <p:sldId id="261" r:id="rId8"/>
    <p:sldId id="274" r:id="rId9"/>
    <p:sldId id="263" r:id="rId10"/>
    <p:sldId id="281" r:id="rId11"/>
    <p:sldId id="296" r:id="rId12"/>
    <p:sldId id="271" r:id="rId13"/>
    <p:sldId id="272" r:id="rId14"/>
    <p:sldId id="270" r:id="rId15"/>
    <p:sldId id="293" r:id="rId16"/>
    <p:sldId id="282" r:id="rId17"/>
    <p:sldId id="283" r:id="rId18"/>
    <p:sldId id="273" r:id="rId19"/>
    <p:sldId id="284" r:id="rId20"/>
    <p:sldId id="295" r:id="rId21"/>
    <p:sldId id="294" r:id="rId22"/>
    <p:sldId id="285" r:id="rId23"/>
    <p:sldId id="286" r:id="rId24"/>
    <p:sldId id="288" r:id="rId25"/>
    <p:sldId id="306" r:id="rId26"/>
    <p:sldId id="289" r:id="rId27"/>
    <p:sldId id="287" r:id="rId28"/>
    <p:sldId id="305" r:id="rId29"/>
    <p:sldId id="277" r:id="rId30"/>
    <p:sldId id="290" r:id="rId31"/>
    <p:sldId id="297" r:id="rId32"/>
    <p:sldId id="298" r:id="rId33"/>
    <p:sldId id="275" r:id="rId34"/>
    <p:sldId id="280" r:id="rId35"/>
    <p:sldId id="299" r:id="rId36"/>
    <p:sldId id="300" r:id="rId37"/>
    <p:sldId id="312" r:id="rId38"/>
    <p:sldId id="307" r:id="rId39"/>
    <p:sldId id="308" r:id="rId40"/>
    <p:sldId id="313" r:id="rId41"/>
    <p:sldId id="316" r:id="rId4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3284" autoAdjust="0"/>
  </p:normalViewPr>
  <p:slideViewPr>
    <p:cSldViewPr snapToGrid="0">
      <p:cViewPr varScale="1">
        <p:scale>
          <a:sx n="100" d="100"/>
          <a:sy n="100" d="100"/>
        </p:scale>
        <p:origin x="37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NULL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Alexandra%20Smith\Downloads\t001a-eng.csv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dirty="0">
                <a:solidFill>
                  <a:schemeClr val="tx1"/>
                </a:solidFill>
              </a:rPr>
              <a:t>Life Expectancy at Birth: Select OCED Countries</a:t>
            </a:r>
            <a:r>
              <a:rPr lang="en-US" b="1" baseline="0" dirty="0">
                <a:solidFill>
                  <a:schemeClr val="tx1"/>
                </a:solidFill>
              </a:rPr>
              <a:t> 2022</a:t>
            </a:r>
            <a:endParaRPr lang="en-US" b="1" dirty="0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4.6566030313973071E-2"/>
          <c:y val="1.8724044806491789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'export-2025-08-05T16_00_13.640Z'!$B$3</c:f>
              <c:strCache>
                <c:ptCount val="1"/>
                <c:pt idx="0">
                  <c:v>Life expectancy at birth</c:v>
                </c:pt>
              </c:strCache>
            </c:strRef>
          </c:tx>
          <c:spPr>
            <a:solidFill>
              <a:srgbClr val="0070C0"/>
            </a:solidFill>
            <a:ln w="28575">
              <a:solidFill>
                <a:schemeClr val="tx1"/>
              </a:solidFill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876FA1A0-7D59-4408-BE04-9E12CD2F80DA}" type="VALUE">
                      <a:rPr lang="en-US" smtClean="0"/>
                      <a:pPr/>
                      <a:t>[VALUE]</a:t>
                    </a:fld>
                    <a:endParaRPr lang="en-CA"/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3CF8-4622-8E7B-E7D91ED6642E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'export-2025-08-05T16_00_13.640Z'!$A$4:$A$10</c:f>
              <c:strCache>
                <c:ptCount val="7"/>
                <c:pt idx="0">
                  <c:v>Australia</c:v>
                </c:pt>
                <c:pt idx="1">
                  <c:v>Sweden</c:v>
                </c:pt>
                <c:pt idx="2">
                  <c:v>France</c:v>
                </c:pt>
                <c:pt idx="3">
                  <c:v>Netherlands</c:v>
                </c:pt>
                <c:pt idx="4">
                  <c:v>Canada</c:v>
                </c:pt>
                <c:pt idx="5">
                  <c:v>Germany</c:v>
                </c:pt>
                <c:pt idx="6">
                  <c:v>United States</c:v>
                </c:pt>
              </c:strCache>
            </c:strRef>
          </c:cat>
          <c:val>
            <c:numRef>
              <c:f>'export-2025-08-05T16_00_13.640Z'!$B$4:$B$10</c:f>
              <c:numCache>
                <c:formatCode>General</c:formatCode>
                <c:ptCount val="7"/>
                <c:pt idx="0">
                  <c:v>83.2</c:v>
                </c:pt>
                <c:pt idx="1">
                  <c:v>83.1</c:v>
                </c:pt>
                <c:pt idx="2">
                  <c:v>82.3</c:v>
                </c:pt>
                <c:pt idx="3">
                  <c:v>81.7</c:v>
                </c:pt>
                <c:pt idx="4">
                  <c:v>81.3</c:v>
                </c:pt>
                <c:pt idx="5">
                  <c:v>80.7</c:v>
                </c:pt>
                <c:pt idx="6">
                  <c:v>77.5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F8-4622-8E7B-E7D91ED664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8"/>
        <c:overlap val="-27"/>
        <c:axId val="805391664"/>
        <c:axId val="805369584"/>
      </c:barChart>
      <c:catAx>
        <c:axId val="80539166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5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05369584"/>
        <c:crosses val="autoZero"/>
        <c:auto val="1"/>
        <c:lblAlgn val="ctr"/>
        <c:lblOffset val="100"/>
        <c:noMultiLvlLbl val="0"/>
      </c:catAx>
      <c:valAx>
        <c:axId val="80536958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0539166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l"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CA" b="1" dirty="0">
                <a:solidFill>
                  <a:schemeClr val="tx1"/>
                </a:solidFill>
              </a:rPr>
              <a:t>Fraction of Population Overweight</a:t>
            </a:r>
            <a:r>
              <a:rPr lang="en-CA" b="1" baseline="0" dirty="0">
                <a:solidFill>
                  <a:schemeClr val="tx1"/>
                </a:solidFill>
              </a:rPr>
              <a:t> or Obese:</a:t>
            </a:r>
            <a:br>
              <a:rPr lang="en-CA" b="1" baseline="0" dirty="0">
                <a:solidFill>
                  <a:schemeClr val="tx1"/>
                </a:solidFill>
              </a:rPr>
            </a:br>
            <a:r>
              <a:rPr lang="en-CA" b="1" baseline="0" dirty="0">
                <a:solidFill>
                  <a:schemeClr val="tx1"/>
                </a:solidFill>
              </a:rPr>
              <a:t>OCED Health Statistics 2023</a:t>
            </a:r>
            <a:endParaRPr lang="en-CA" b="1" dirty="0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3.5366214004292996E-2"/>
          <c:y val="2.729039962862580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l"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CA"/>
        </a:p>
      </c:txPr>
    </c:title>
    <c:autoTitleDeleted val="0"/>
    <c:plotArea>
      <c:layout>
        <c:manualLayout>
          <c:layoutTarget val="inner"/>
          <c:xMode val="edge"/>
          <c:yMode val="edge"/>
          <c:x val="3.0135872936431104E-2"/>
          <c:y val="0.13356388976608119"/>
          <c:w val="0.95976431654767802"/>
          <c:h val="0.71332736590127532"/>
        </c:manualLayout>
      </c:layout>
      <c:barChart>
        <c:barDir val="col"/>
        <c:grouping val="clustered"/>
        <c:varyColors val="0"/>
        <c:ser>
          <c:idx val="2"/>
          <c:order val="2"/>
          <c:tx>
            <c:strRef>
              <c:f>'g4-12'!$D$22</c:f>
              <c:strCache>
                <c:ptCount val="1"/>
                <c:pt idx="0">
                  <c:v>Obese</c:v>
                </c:pt>
              </c:strCache>
            </c:strRef>
          </c:tx>
          <c:spPr>
            <a:solidFill>
              <a:schemeClr val="accent3"/>
            </a:solidFill>
            <a:ln w="28575">
              <a:solidFill>
                <a:schemeClr val="tx1"/>
              </a:solidFill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A987D96A-7B37-423F-8EA3-C788A2B513D9}" type="VALUE">
                      <a:rPr lang="en-US" smtClean="0"/>
                      <a:pPr/>
                      <a:t>[VALUE]</a:t>
                    </a:fld>
                    <a:r>
                      <a:rPr lang="en-US"/>
                      <a:t>%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6-14D3-46A2-8F8F-9EE1F59FAD0B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3C4FEC1D-284B-4724-8C00-6BCE212D15B2}" type="VALUE">
                      <a:rPr lang="en-US" smtClean="0"/>
                      <a:pPr/>
                      <a:t>[VALUE]</a:t>
                    </a:fld>
                    <a:r>
                      <a:rPr lang="en-US"/>
                      <a:t>%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9-14D3-46A2-8F8F-9EE1F59FAD0B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9F29D5E5-7BEE-4C1F-8D22-31737B844E04}" type="VALUE">
                      <a:rPr lang="en-US" smtClean="0"/>
                      <a:pPr/>
                      <a:t>[VALUE]</a:t>
                    </a:fld>
                    <a:r>
                      <a:rPr lang="en-US"/>
                      <a:t>%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10-14D3-46A2-8F8F-9EE1F59FAD0B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1282A583-44EE-4E39-9F05-F33A69BE8DA5}" type="VALUE">
                      <a:rPr lang="en-US" smtClean="0"/>
                      <a:pPr/>
                      <a:t>[VALUE]</a:t>
                    </a:fld>
                    <a:r>
                      <a:rPr lang="en-US"/>
                      <a:t>%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13-14D3-46A2-8F8F-9EE1F59FAD0B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5E970310-DE41-4A69-8599-727DAC8D9C63}" type="VALUE">
                      <a:rPr lang="en-US" smtClean="0"/>
                      <a:pPr/>
                      <a:t>[VALUE]</a:t>
                    </a:fld>
                    <a:r>
                      <a:rPr lang="en-US"/>
                      <a:t>%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15-14D3-46A2-8F8F-9EE1F59FAD0B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/>
                      <a:t>22%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7-14D3-46A2-8F8F-9EE1F59FAD0B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/>
                      <a:t>34%</a:t>
                    </a:r>
                    <a:endParaRPr lang="en-US" dirty="0"/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9-14D3-46A2-8F8F-9EE1F59FAD0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('g4-12'!$A$25,'g4-12'!$A$27,'g4-12'!$A$29,'g4-12'!$A$33,'g4-12'!$A$37,'g4-12'!$A$42,'g4-12'!$A$57)</c:f>
              <c:strCache>
                <c:ptCount val="7"/>
                <c:pt idx="0">
                  <c:v>France¹</c:v>
                </c:pt>
                <c:pt idx="1">
                  <c:v>Australia¹</c:v>
                </c:pt>
                <c:pt idx="2">
                  <c:v>Netherlands</c:v>
                </c:pt>
                <c:pt idx="3">
                  <c:v>Sweden</c:v>
                </c:pt>
                <c:pt idx="4">
                  <c:v>Germany</c:v>
                </c:pt>
                <c:pt idx="5">
                  <c:v>Canada</c:v>
                </c:pt>
                <c:pt idx="6">
                  <c:v>United States</c:v>
                </c:pt>
              </c:strCache>
              <c:extLst/>
            </c:strRef>
          </c:cat>
          <c:val>
            <c:numRef>
              <c:f>('g4-12'!$D$25,'g4-12'!$D$27,'g4-12'!$D$29,'g4-12'!$D$33,'g4-12'!$D$37,'g4-12'!$D$42,'g4-12'!$D$57)</c:f>
              <c:numCache>
                <c:formatCode>0</c:formatCode>
                <c:ptCount val="7"/>
                <c:pt idx="0">
                  <c:v>14.4</c:v>
                </c:pt>
                <c:pt idx="1">
                  <c:v>19.5</c:v>
                </c:pt>
                <c:pt idx="2">
                  <c:v>13.9</c:v>
                </c:pt>
                <c:pt idx="3">
                  <c:v>15.3</c:v>
                </c:pt>
                <c:pt idx="4">
                  <c:v>16.7</c:v>
                </c:pt>
                <c:pt idx="5">
                  <c:v>21.6</c:v>
                </c:pt>
                <c:pt idx="6">
                  <c:v>33.5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14D3-46A2-8F8F-9EE1F59FAD0B}"/>
            </c:ext>
          </c:extLst>
        </c:ser>
        <c:ser>
          <c:idx val="3"/>
          <c:order val="3"/>
          <c:tx>
            <c:strRef>
              <c:f>'g4-12'!$E$22</c:f>
              <c:strCache>
                <c:ptCount val="1"/>
                <c:pt idx="0">
                  <c:v>Overweight (but not obese)</c:v>
                </c:pt>
              </c:strCache>
            </c:strRef>
          </c:tx>
          <c:spPr>
            <a:solidFill>
              <a:schemeClr val="accent4"/>
            </a:solidFill>
            <a:ln w="28575">
              <a:solidFill>
                <a:schemeClr val="tx2"/>
              </a:solidFill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fld id="{AD6FE783-8F38-43CA-996E-6043B76862F1}" type="VALUE">
                      <a:rPr lang="en-US" smtClean="0"/>
                      <a:pPr/>
                      <a:t>[VALUE]</a:t>
                    </a:fld>
                    <a:r>
                      <a:rPr lang="en-US"/>
                      <a:t>%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14D3-46A2-8F8F-9EE1F59FAD0B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F7AF046E-46EE-48FE-BCD3-8B4104C3B13B}" type="VALUE">
                      <a:rPr lang="en-US" smtClean="0"/>
                      <a:pPr/>
                      <a:t>[VALUE]</a:t>
                    </a:fld>
                    <a:r>
                      <a:rPr lang="en-US"/>
                      <a:t>%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11-14D3-46A2-8F8F-9EE1F59FAD0B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329459F1-A595-48C6-95C4-9637E84B2100}" type="VALUE">
                      <a:rPr lang="en-US" smtClean="0"/>
                      <a:pPr/>
                      <a:t>[VALUE]</a:t>
                    </a:fld>
                    <a:r>
                      <a:rPr lang="en-US"/>
                      <a:t>%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12-14D3-46A2-8F8F-9EE1F59FAD0B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fld id="{1EC5ADE2-96F6-448A-987D-8C503FB6DD4E}" type="VALUE">
                      <a:rPr lang="en-US" smtClean="0"/>
                      <a:pPr/>
                      <a:t>[VALUE]</a:t>
                    </a:fld>
                    <a:r>
                      <a:rPr lang="en-US"/>
                      <a:t>%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14-14D3-46A2-8F8F-9EE1F59FAD0B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fld id="{65F07BEF-C55C-4B5E-B2A9-5762F7E315B4}" type="VALUE">
                      <a:rPr lang="en-US" smtClean="0"/>
                      <a:pPr/>
                      <a:t>[VALUE]</a:t>
                    </a:fld>
                    <a:r>
                      <a:rPr lang="en-US"/>
                      <a:t>%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16-14D3-46A2-8F8F-9EE1F59FAD0B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/>
                      <a:t>34%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8-14D3-46A2-8F8F-9EE1F59FAD0B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/>
                      <a:t>34%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A-14D3-46A2-8F8F-9EE1F59FAD0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('g4-12'!$A$25,'g4-12'!$A$27,'g4-12'!$A$29,'g4-12'!$A$33,'g4-12'!$A$37,'g4-12'!$A$42,'g4-12'!$A$57)</c:f>
              <c:strCache>
                <c:ptCount val="7"/>
                <c:pt idx="0">
                  <c:v>France¹</c:v>
                </c:pt>
                <c:pt idx="1">
                  <c:v>Australia¹</c:v>
                </c:pt>
                <c:pt idx="2">
                  <c:v>Netherlands</c:v>
                </c:pt>
                <c:pt idx="3">
                  <c:v>Sweden</c:v>
                </c:pt>
                <c:pt idx="4">
                  <c:v>Germany</c:v>
                </c:pt>
                <c:pt idx="5">
                  <c:v>Canada</c:v>
                </c:pt>
                <c:pt idx="6">
                  <c:v>United States</c:v>
                </c:pt>
              </c:strCache>
              <c:extLst/>
            </c:strRef>
          </c:cat>
          <c:val>
            <c:numRef>
              <c:f>('g4-12'!$E$25,'g4-12'!$E$27,'g4-12'!$E$29,'g4-12'!$E$33,'g4-12'!$E$37,'g4-12'!$E$42,'g4-12'!$E$57)</c:f>
              <c:numCache>
                <c:formatCode>0</c:formatCode>
                <c:ptCount val="7"/>
                <c:pt idx="0">
                  <c:v>30.9</c:v>
                </c:pt>
                <c:pt idx="1">
                  <c:v>28.1</c:v>
                </c:pt>
                <c:pt idx="2">
                  <c:v>34.6</c:v>
                </c:pt>
                <c:pt idx="3">
                  <c:v>36</c:v>
                </c:pt>
                <c:pt idx="4">
                  <c:v>36</c:v>
                </c:pt>
                <c:pt idx="5">
                  <c:v>33.799999999999997</c:v>
                </c:pt>
                <c:pt idx="6">
                  <c:v>34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1-14D3-46A2-8F8F-9EE1F59FAD0B}"/>
            </c:ext>
          </c:extLst>
        </c:ser>
        <c:ser>
          <c:idx val="5"/>
          <c:order val="5"/>
          <c:tx>
            <c:strRef>
              <c:f>'g4-12'!$G$22</c:f>
              <c:strCache>
                <c:ptCount val="1"/>
                <c:pt idx="0">
                  <c:v>Overweight and Obese Rates</c:v>
                </c:pt>
              </c:strCache>
            </c:strRef>
          </c:tx>
          <c:spPr>
            <a:solidFill>
              <a:schemeClr val="accent6"/>
            </a:solidFill>
            <a:ln w="28575">
              <a:solidFill>
                <a:schemeClr val="tx1"/>
              </a:solidFill>
            </a:ln>
            <a:effectLst/>
          </c:spPr>
          <c:invertIfNegative val="0"/>
          <c:dLbls>
            <c:dLbl>
              <c:idx val="0"/>
              <c:tx>
                <c:rich>
                  <a:bodyPr/>
                  <a:lstStyle/>
                  <a:p>
                    <a:r>
                      <a:rPr lang="en-US" dirty="0"/>
                      <a:t>45%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14D3-46A2-8F8F-9EE1F59FAD0B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/>
                      <a:t>48</a:t>
                    </a:r>
                    <a:endParaRPr lang="en-US" dirty="0"/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14D3-46A2-8F8F-9EE1F59FAD0B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/>
                      <a:t>49%</a:t>
                    </a:r>
                    <a:endParaRPr lang="en-US" dirty="0"/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14D3-46A2-8F8F-9EE1F59FAD0B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/>
                      <a:t>51%</a:t>
                    </a:r>
                    <a:endParaRPr lang="en-US" dirty="0"/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14D3-46A2-8F8F-9EE1F59FAD0B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/>
                      <a:t>53%</a:t>
                    </a:r>
                    <a:endParaRPr lang="en-US" dirty="0"/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14D3-46A2-8F8F-9EE1F59FAD0B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/>
                      <a:t>56%</a:t>
                    </a:r>
                    <a:endParaRPr lang="en-US" dirty="0"/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14D3-46A2-8F8F-9EE1F59FAD0B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dirty="0"/>
                      <a:t>68%</a:t>
                    </a:r>
                  </a:p>
                </c:rich>
              </c:tx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14D3-46A2-8F8F-9EE1F59FAD0B}"/>
                </c:ext>
              </c:extLst>
            </c:dLbl>
            <c:numFmt formatCode="General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2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('g4-12'!$A$25,'g4-12'!$A$27,'g4-12'!$A$29,'g4-12'!$A$33,'g4-12'!$A$37,'g4-12'!$A$42,'g4-12'!$A$57)</c:f>
              <c:strCache>
                <c:ptCount val="7"/>
                <c:pt idx="0">
                  <c:v>France¹</c:v>
                </c:pt>
                <c:pt idx="1">
                  <c:v>Australia¹</c:v>
                </c:pt>
                <c:pt idx="2">
                  <c:v>Netherlands</c:v>
                </c:pt>
                <c:pt idx="3">
                  <c:v>Sweden</c:v>
                </c:pt>
                <c:pt idx="4">
                  <c:v>Germany</c:v>
                </c:pt>
                <c:pt idx="5">
                  <c:v>Canada</c:v>
                </c:pt>
                <c:pt idx="6">
                  <c:v>United States</c:v>
                </c:pt>
              </c:strCache>
              <c:extLst/>
            </c:strRef>
          </c:cat>
          <c:val>
            <c:numRef>
              <c:f>('g4-12'!$G$25,'g4-12'!$G$27,'g4-12'!$G$29,'g4-12'!$G$33,'g4-12'!$G$37,'g4-12'!$G$42,'g4-12'!$G$57)</c:f>
              <c:numCache>
                <c:formatCode>0</c:formatCode>
                <c:ptCount val="7"/>
                <c:pt idx="0">
                  <c:v>45.3</c:v>
                </c:pt>
                <c:pt idx="1">
                  <c:v>47.6</c:v>
                </c:pt>
                <c:pt idx="2">
                  <c:v>48.5</c:v>
                </c:pt>
                <c:pt idx="3">
                  <c:v>51.3</c:v>
                </c:pt>
                <c:pt idx="4">
                  <c:v>52.7</c:v>
                </c:pt>
                <c:pt idx="5">
                  <c:v>55.4</c:v>
                </c:pt>
                <c:pt idx="6">
                  <c:v>67.5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2-14D3-46A2-8F8F-9EE1F59FAD0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39"/>
        <c:overlap val="-19"/>
        <c:axId val="1222584992"/>
        <c:axId val="1222581632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'g4-12'!$B$22</c15:sqref>
                        </c15:formulaRef>
                      </c:ext>
                    </c:extLst>
                    <c:strCache>
                      <c:ptCount val="1"/>
                      <c:pt idx="0">
                        <c:v>Men (overweight including obese)</c:v>
                      </c:pt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('g4-12'!$A$25,'g4-12'!$A$27,'g4-12'!$A$29,'g4-12'!$A$33,'g4-12'!$A$37,'g4-12'!$A$42,'g4-12'!$A$57)</c15:sqref>
                        </c15:formulaRef>
                      </c:ext>
                    </c:extLst>
                    <c:strCache>
                      <c:ptCount val="7"/>
                      <c:pt idx="0">
                        <c:v>France¹</c:v>
                      </c:pt>
                      <c:pt idx="1">
                        <c:v>Australia¹</c:v>
                      </c:pt>
                      <c:pt idx="2">
                        <c:v>Netherlands</c:v>
                      </c:pt>
                      <c:pt idx="3">
                        <c:v>Sweden</c:v>
                      </c:pt>
                      <c:pt idx="4">
                        <c:v>Germany</c:v>
                      </c:pt>
                      <c:pt idx="5">
                        <c:v>Canada</c:v>
                      </c:pt>
                      <c:pt idx="6">
                        <c:v>United States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('g4-12'!$B$25,'g4-12'!$B$27,'g4-12'!$B$29,'g4-12'!$B$33,'g4-12'!$B$37,'g4-12'!$B$42,'g4-12'!$B$57)</c15:sqref>
                        </c15:formulaRef>
                      </c:ext>
                    </c:extLst>
                    <c:numCache>
                      <c:formatCode>0</c:formatCode>
                      <c:ptCount val="7"/>
                      <c:pt idx="0">
                        <c:v>50.3</c:v>
                      </c:pt>
                      <c:pt idx="1">
                        <c:v>55.3</c:v>
                      </c:pt>
                      <c:pt idx="2">
                        <c:v>50.9</c:v>
                      </c:pt>
                      <c:pt idx="3">
                        <c:v>57.2</c:v>
                      </c:pt>
                      <c:pt idx="4">
                        <c:v>62.5</c:v>
                      </c:pt>
                      <c:pt idx="5">
                        <c:v>61.1</c:v>
                      </c:pt>
                      <c:pt idx="6">
                        <c:v>72.900000000000006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3-14D3-46A2-8F8F-9EE1F59FAD0B}"/>
                  </c:ext>
                </c:extLst>
              </c15:ser>
            </c15:filteredBarSeries>
            <c15:filteredBar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'g4-12'!$C$22</c15:sqref>
                        </c15:formulaRef>
                      </c:ext>
                    </c:extLst>
                    <c:strCache>
                      <c:ptCount val="1"/>
                      <c:pt idx="0">
                        <c:v>Women (overweight including obese)</c:v>
                      </c:pt>
                    </c:strCache>
                  </c:strRef>
                </c:tx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('g4-12'!$A$25,'g4-12'!$A$27,'g4-12'!$A$29,'g4-12'!$A$33,'g4-12'!$A$37,'g4-12'!$A$42,'g4-12'!$A$57)</c15:sqref>
                        </c15:formulaRef>
                      </c:ext>
                    </c:extLst>
                    <c:strCache>
                      <c:ptCount val="7"/>
                      <c:pt idx="0">
                        <c:v>France¹</c:v>
                      </c:pt>
                      <c:pt idx="1">
                        <c:v>Australia¹</c:v>
                      </c:pt>
                      <c:pt idx="2">
                        <c:v>Netherlands</c:v>
                      </c:pt>
                      <c:pt idx="3">
                        <c:v>Sweden</c:v>
                      </c:pt>
                      <c:pt idx="4">
                        <c:v>Germany</c:v>
                      </c:pt>
                      <c:pt idx="5">
                        <c:v>Canada</c:v>
                      </c:pt>
                      <c:pt idx="6">
                        <c:v>United States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('g4-12'!$C$25,'g4-12'!$C$27,'g4-12'!$C$29,'g4-12'!$C$33,'g4-12'!$C$37,'g4-12'!$C$42,'g4-12'!$C$57)</c15:sqref>
                        </c15:formulaRef>
                      </c:ext>
                    </c:extLst>
                    <c:numCache>
                      <c:formatCode>0</c:formatCode>
                      <c:ptCount val="7"/>
                      <c:pt idx="0">
                        <c:v>40.700000000000003</c:v>
                      </c:pt>
                      <c:pt idx="1">
                        <c:v>40.200000000000003</c:v>
                      </c:pt>
                      <c:pt idx="2">
                        <c:v>46.1</c:v>
                      </c:pt>
                      <c:pt idx="3">
                        <c:v>45.3</c:v>
                      </c:pt>
                      <c:pt idx="4">
                        <c:v>42.6</c:v>
                      </c:pt>
                      <c:pt idx="5">
                        <c:v>49.8</c:v>
                      </c:pt>
                      <c:pt idx="6">
                        <c:v>62.4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14D3-46A2-8F8F-9EE1F59FAD0B}"/>
                  </c:ext>
                </c:extLst>
              </c15:ser>
            </c15:filteredBarSeries>
            <c15:filteredBar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'g4-12'!$F$22</c15:sqref>
                        </c15:formulaRef>
                      </c:ext>
                    </c:extLst>
                    <c:strCache>
                      <c:ptCount val="1"/>
                      <c:pt idx="0">
                        <c:v>Years if different from 2021</c:v>
                      </c:pt>
                    </c:strCache>
                  </c:strRef>
                </c:tx>
                <c:spPr>
                  <a:solidFill>
                    <a:schemeClr val="accent5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('g4-12'!$A$25,'g4-12'!$A$27,'g4-12'!$A$29,'g4-12'!$A$33,'g4-12'!$A$37,'g4-12'!$A$42,'g4-12'!$A$57)</c15:sqref>
                        </c15:formulaRef>
                      </c:ext>
                    </c:extLst>
                    <c:strCache>
                      <c:ptCount val="7"/>
                      <c:pt idx="0">
                        <c:v>France¹</c:v>
                      </c:pt>
                      <c:pt idx="1">
                        <c:v>Australia¹</c:v>
                      </c:pt>
                      <c:pt idx="2">
                        <c:v>Netherlands</c:v>
                      </c:pt>
                      <c:pt idx="3">
                        <c:v>Sweden</c:v>
                      </c:pt>
                      <c:pt idx="4">
                        <c:v>Germany</c:v>
                      </c:pt>
                      <c:pt idx="5">
                        <c:v>Canada</c:v>
                      </c:pt>
                      <c:pt idx="6">
                        <c:v>United States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('g4-12'!$F$25,'g4-12'!$F$27,'g4-12'!$F$29,'g4-12'!$F$33,'g4-12'!$F$37,'g4-12'!$F$42,'g4-12'!$F$57)</c15:sqref>
                        </c15:formulaRef>
                      </c:ext>
                    </c:extLst>
                    <c:numCache>
                      <c:formatCode>0</c:formatCode>
                      <c:ptCount val="7"/>
                      <c:pt idx="0">
                        <c:v>2019</c:v>
                      </c:pt>
                      <c:pt idx="1">
                        <c:v>2017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14D3-46A2-8F8F-9EE1F59FAD0B}"/>
                  </c:ext>
                </c:extLst>
              </c15:ser>
            </c15:filteredBarSeries>
          </c:ext>
        </c:extLst>
      </c:barChart>
      <c:catAx>
        <c:axId val="12225849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2581632"/>
        <c:crosses val="autoZero"/>
        <c:auto val="1"/>
        <c:lblAlgn val="ctr"/>
        <c:lblOffset val="100"/>
        <c:noMultiLvlLbl val="0"/>
      </c:catAx>
      <c:valAx>
        <c:axId val="12225816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258499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0654483626643141"/>
          <c:y val="0.9279690244327059"/>
          <c:w val="0.5305141519287192"/>
          <c:h val="5.930946858759418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l"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CA" b="1" dirty="0">
                <a:solidFill>
                  <a:schemeClr val="tx1"/>
                </a:solidFill>
              </a:rPr>
              <a:t>Suicide Rates</a:t>
            </a:r>
            <a:br>
              <a:rPr lang="en-CA" b="1" dirty="0">
                <a:solidFill>
                  <a:schemeClr val="tx1"/>
                </a:solidFill>
              </a:rPr>
            </a:br>
            <a:r>
              <a:rPr lang="en-CA" b="1" dirty="0">
                <a:solidFill>
                  <a:schemeClr val="tx1"/>
                </a:solidFill>
              </a:rPr>
              <a:t>Total, Deaths per 100</a:t>
            </a:r>
            <a:r>
              <a:rPr lang="en-CA" b="1" baseline="0" dirty="0">
                <a:solidFill>
                  <a:schemeClr val="tx1"/>
                </a:solidFill>
              </a:rPr>
              <a:t> 000 Inhabitants, 2020</a:t>
            </a:r>
            <a:endParaRPr lang="en-CA" b="1" dirty="0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3.1589242673572902E-2"/>
          <c:y val="1.715530666316742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l"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CA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rgbClr val="0070C0"/>
            </a:solidFill>
            <a:ln w="38100">
              <a:solidFill>
                <a:schemeClr val="tx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'export-2025-08-05T16_56_53.923Z'!$A$4:$A$10</c:f>
              <c:strCache>
                <c:ptCount val="7"/>
                <c:pt idx="0">
                  <c:v>United States</c:v>
                </c:pt>
                <c:pt idx="1">
                  <c:v>France</c:v>
                </c:pt>
                <c:pt idx="2">
                  <c:v>Australia</c:v>
                </c:pt>
                <c:pt idx="3">
                  <c:v>Sweden</c:v>
                </c:pt>
                <c:pt idx="4">
                  <c:v>Canada</c:v>
                </c:pt>
                <c:pt idx="5">
                  <c:v>Netherlands</c:v>
                </c:pt>
                <c:pt idx="6">
                  <c:v>Germany</c:v>
                </c:pt>
              </c:strCache>
            </c:strRef>
          </c:cat>
          <c:val>
            <c:numRef>
              <c:f>'export-2025-08-05T16_56_53.923Z'!$B$4:$B$10</c:f>
              <c:numCache>
                <c:formatCode>General</c:formatCode>
                <c:ptCount val="7"/>
                <c:pt idx="0">
                  <c:v>13.7</c:v>
                </c:pt>
                <c:pt idx="1">
                  <c:v>12.8</c:v>
                </c:pt>
                <c:pt idx="2">
                  <c:v>12.6</c:v>
                </c:pt>
                <c:pt idx="3">
                  <c:v>11.6</c:v>
                </c:pt>
                <c:pt idx="4">
                  <c:v>10.7</c:v>
                </c:pt>
                <c:pt idx="5">
                  <c:v>10</c:v>
                </c:pt>
                <c:pt idx="6">
                  <c:v>9.6999999999999993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B7C-45C1-BEA5-972D4AE90A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22605152"/>
        <c:axId val="1222625312"/>
      </c:barChart>
      <c:catAx>
        <c:axId val="122260515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2625312"/>
        <c:crosses val="autoZero"/>
        <c:auto val="1"/>
        <c:lblAlgn val="ctr"/>
        <c:lblOffset val="100"/>
        <c:noMultiLvlLbl val="0"/>
      </c:catAx>
      <c:valAx>
        <c:axId val="12226253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1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260515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l"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CA" b="1" dirty="0">
                <a:solidFill>
                  <a:schemeClr val="tx1"/>
                </a:solidFill>
              </a:rPr>
              <a:t>Opioid-related</a:t>
            </a:r>
            <a:r>
              <a:rPr lang="en-CA" b="1" baseline="0" dirty="0">
                <a:solidFill>
                  <a:schemeClr val="tx1"/>
                </a:solidFill>
              </a:rPr>
              <a:t> death rates</a:t>
            </a:r>
            <a:br>
              <a:rPr lang="en-CA" b="1" baseline="0" dirty="0">
                <a:solidFill>
                  <a:schemeClr val="tx1"/>
                </a:solidFill>
              </a:rPr>
            </a:br>
            <a:r>
              <a:rPr lang="en-CA" b="1" baseline="0" dirty="0">
                <a:solidFill>
                  <a:schemeClr val="tx1"/>
                </a:solidFill>
              </a:rPr>
              <a:t>People aged 15-60, 2010 and 2019</a:t>
            </a:r>
            <a:endParaRPr lang="en-CA" b="1" dirty="0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4.7965517350034209E-2"/>
          <c:y val="9.9961550222611231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l"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CA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'g4-6'!$B$21</c:f>
              <c:strCache>
                <c:ptCount val="1"/>
                <c:pt idx="0">
                  <c:v>2010</c:v>
                </c:pt>
              </c:strCache>
            </c:strRef>
          </c:tx>
          <c:spPr>
            <a:solidFill>
              <a:schemeClr val="accent1"/>
            </a:solidFill>
            <a:ln w="38100">
              <a:solidFill>
                <a:schemeClr val="tx1"/>
              </a:solidFill>
            </a:ln>
            <a:effectLst/>
          </c:spPr>
          <c:invertIfNegative val="0"/>
          <c:dLbls>
            <c:dLbl>
              <c:idx val="0"/>
              <c:layout>
                <c:manualLayout>
                  <c:x val="0"/>
                  <c:y val="3.5586115104544527E-2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9A21-47F1-A4F7-43BE61589D07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('g4-6'!$A$45,'g4-6'!$A$48,'g4-6'!$A$54,'g4-6'!$A$59,'g4-6'!$A$65,'g4-6'!$A$68,'g4-6'!$A$70)</c:f>
              <c:strCache>
                <c:ptCount val="7"/>
                <c:pt idx="0">
                  <c:v>Netherlands</c:v>
                </c:pt>
                <c:pt idx="1">
                  <c:v>France</c:v>
                </c:pt>
                <c:pt idx="2">
                  <c:v>Germany</c:v>
                </c:pt>
                <c:pt idx="3">
                  <c:v>Australia</c:v>
                </c:pt>
                <c:pt idx="4">
                  <c:v>Sweden</c:v>
                </c:pt>
                <c:pt idx="5">
                  <c:v>Canada</c:v>
                </c:pt>
                <c:pt idx="6">
                  <c:v>United States</c:v>
                </c:pt>
              </c:strCache>
              <c:extLst/>
            </c:strRef>
          </c:cat>
          <c:val>
            <c:numRef>
              <c:f>('g4-6'!$B$45,'g4-6'!$B$48,'g4-6'!$B$54,'g4-6'!$B$59,'g4-6'!$B$65,'g4-6'!$B$68,'g4-6'!$B$70)</c:f>
              <c:numCache>
                <c:formatCode>0.0</c:formatCode>
                <c:ptCount val="7"/>
                <c:pt idx="0">
                  <c:v>8.3081710228171559</c:v>
                </c:pt>
                <c:pt idx="1">
                  <c:v>14.329865076656427</c:v>
                </c:pt>
                <c:pt idx="2">
                  <c:v>17.968070746529271</c:v>
                </c:pt>
                <c:pt idx="3">
                  <c:v>21.836613075242997</c:v>
                </c:pt>
                <c:pt idx="4">
                  <c:v>31.053092411601504</c:v>
                </c:pt>
                <c:pt idx="5">
                  <c:v>44.645167733393109</c:v>
                </c:pt>
                <c:pt idx="6">
                  <c:v>115.83798797545045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9A21-47F1-A4F7-43BE61589D07}"/>
            </c:ext>
          </c:extLst>
        </c:ser>
        <c:ser>
          <c:idx val="1"/>
          <c:order val="1"/>
          <c:tx>
            <c:strRef>
              <c:f>'g4-6'!$C$21</c:f>
              <c:strCache>
                <c:ptCount val="1"/>
                <c:pt idx="0">
                  <c:v>2019</c:v>
                </c:pt>
              </c:strCache>
            </c:strRef>
          </c:tx>
          <c:spPr>
            <a:solidFill>
              <a:schemeClr val="accent2"/>
            </a:solidFill>
            <a:ln w="38100">
              <a:solidFill>
                <a:schemeClr val="tx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('g4-6'!$A$45,'g4-6'!$A$48,'g4-6'!$A$54,'g4-6'!$A$59,'g4-6'!$A$65,'g4-6'!$A$68,'g4-6'!$A$70)</c:f>
              <c:strCache>
                <c:ptCount val="7"/>
                <c:pt idx="0">
                  <c:v>Netherlands</c:v>
                </c:pt>
                <c:pt idx="1">
                  <c:v>France</c:v>
                </c:pt>
                <c:pt idx="2">
                  <c:v>Germany</c:v>
                </c:pt>
                <c:pt idx="3">
                  <c:v>Australia</c:v>
                </c:pt>
                <c:pt idx="4">
                  <c:v>Sweden</c:v>
                </c:pt>
                <c:pt idx="5">
                  <c:v>Canada</c:v>
                </c:pt>
                <c:pt idx="6">
                  <c:v>United States</c:v>
                </c:pt>
              </c:strCache>
              <c:extLst/>
            </c:strRef>
          </c:cat>
          <c:val>
            <c:numRef>
              <c:f>('g4-6'!$C$45,'g4-6'!$C$48,'g4-6'!$C$54,'g4-6'!$C$59,'g4-6'!$C$65,'g4-6'!$C$68,'g4-6'!$C$70)</c:f>
              <c:numCache>
                <c:formatCode>0.0</c:formatCode>
                <c:ptCount val="7"/>
                <c:pt idx="0">
                  <c:v>10.299769698796243</c:v>
                </c:pt>
                <c:pt idx="1">
                  <c:v>14.331106134230343</c:v>
                </c:pt>
                <c:pt idx="2">
                  <c:v>21.543922893125643</c:v>
                </c:pt>
                <c:pt idx="3">
                  <c:v>29.83810807646082</c:v>
                </c:pt>
                <c:pt idx="4">
                  <c:v>50.382884917650763</c:v>
                </c:pt>
                <c:pt idx="5">
                  <c:v>75.736275532032252</c:v>
                </c:pt>
                <c:pt idx="6">
                  <c:v>223.09908796774468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1-9A21-47F1-A4F7-43BE61589D0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27"/>
        <c:axId val="1222654112"/>
        <c:axId val="1222636352"/>
      </c:barChart>
      <c:catAx>
        <c:axId val="122265411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2636352"/>
        <c:crosses val="autoZero"/>
        <c:auto val="1"/>
        <c:lblAlgn val="ctr"/>
        <c:lblOffset val="100"/>
        <c:noMultiLvlLbl val="0"/>
      </c:catAx>
      <c:valAx>
        <c:axId val="1222636352"/>
        <c:scaling>
          <c:orientation val="minMax"/>
          <c:max val="25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2654112"/>
        <c:crosses val="autoZero"/>
        <c:crossBetween val="between"/>
        <c:majorUnit val="50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l"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CA" b="1" dirty="0">
                <a:solidFill>
                  <a:schemeClr val="tx1"/>
                </a:solidFill>
              </a:rPr>
              <a:t>Death From Cancer: </a:t>
            </a:r>
            <a:br>
              <a:rPr lang="en-CA" b="1" dirty="0">
                <a:solidFill>
                  <a:schemeClr val="tx1"/>
                </a:solidFill>
              </a:rPr>
            </a:br>
            <a:r>
              <a:rPr lang="en-CA" b="1" dirty="0">
                <a:solidFill>
                  <a:schemeClr val="tx1"/>
                </a:solidFill>
              </a:rPr>
              <a:t>Total, Deaths per 100 000 inhabitants, OCED 2020</a:t>
            </a:r>
          </a:p>
        </c:rich>
      </c:tx>
      <c:layout>
        <c:manualLayout>
          <c:xMode val="edge"/>
          <c:yMode val="edge"/>
          <c:x val="3.816541730371048E-2"/>
          <c:y val="1.435042842243593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l"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solidFill>
              <a:schemeClr val="accent3"/>
            </a:solidFill>
            <a:ln w="38100">
              <a:solidFill>
                <a:schemeClr val="tx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'export-2025-08-05T16_48_53.336Z'!$A$4:$A$10</c:f>
              <c:strCache>
                <c:ptCount val="7"/>
                <c:pt idx="0">
                  <c:v>Netherlands</c:v>
                </c:pt>
                <c:pt idx="1">
                  <c:v>Germany</c:v>
                </c:pt>
                <c:pt idx="2">
                  <c:v>Canada</c:v>
                </c:pt>
                <c:pt idx="3">
                  <c:v>France</c:v>
                </c:pt>
                <c:pt idx="4">
                  <c:v>Australia</c:v>
                </c:pt>
                <c:pt idx="5">
                  <c:v>United States</c:v>
                </c:pt>
                <c:pt idx="6">
                  <c:v>Sweden</c:v>
                </c:pt>
              </c:strCache>
            </c:strRef>
          </c:cat>
          <c:val>
            <c:numRef>
              <c:f>'export-2025-08-05T16_48_53.336Z'!$B$4:$B$10</c:f>
              <c:numCache>
                <c:formatCode>General</c:formatCode>
                <c:ptCount val="7"/>
                <c:pt idx="0">
                  <c:v>217.2</c:v>
                </c:pt>
                <c:pt idx="1">
                  <c:v>206.2</c:v>
                </c:pt>
                <c:pt idx="2">
                  <c:v>196.3</c:v>
                </c:pt>
                <c:pt idx="3">
                  <c:v>194.8</c:v>
                </c:pt>
                <c:pt idx="4">
                  <c:v>189</c:v>
                </c:pt>
                <c:pt idx="5">
                  <c:v>184.1</c:v>
                </c:pt>
                <c:pt idx="6">
                  <c:v>182.3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4C-4BEB-BCC0-D40270A1D21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22627712"/>
        <c:axId val="1222622432"/>
      </c:barChart>
      <c:catAx>
        <c:axId val="122262771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2622432"/>
        <c:crosses val="autoZero"/>
        <c:auto val="1"/>
        <c:lblAlgn val="ctr"/>
        <c:lblOffset val="100"/>
        <c:noMultiLvlLbl val="0"/>
      </c:catAx>
      <c:valAx>
        <c:axId val="12226224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262771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l"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CA" b="1" dirty="0">
                <a:solidFill>
                  <a:schemeClr val="tx1"/>
                </a:solidFill>
              </a:rPr>
              <a:t>Wait</a:t>
            </a:r>
            <a:r>
              <a:rPr lang="en-CA" b="1" baseline="0" dirty="0">
                <a:solidFill>
                  <a:schemeClr val="tx1"/>
                </a:solidFill>
              </a:rPr>
              <a:t> Time Statistics for Select OCED Countries</a:t>
            </a:r>
            <a:br>
              <a:rPr lang="en-CA" b="1" baseline="0" dirty="0">
                <a:solidFill>
                  <a:schemeClr val="tx1"/>
                </a:solidFill>
              </a:rPr>
            </a:br>
            <a:r>
              <a:rPr lang="en-CA" b="1" baseline="0" dirty="0">
                <a:solidFill>
                  <a:schemeClr val="tx1"/>
                </a:solidFill>
              </a:rPr>
              <a:t>World Population Review 2025</a:t>
            </a:r>
            <a:endParaRPr lang="en-CA" b="1" dirty="0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4.115870335800835E-2"/>
          <c:y val="1.76011604754623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l"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CA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'health-care-wait-times-by-count'!$C$1</c:f>
              <c:strCache>
                <c:ptCount val="1"/>
                <c:pt idx="0">
                  <c:v>Wait&gt;1 to see GP</c:v>
                </c:pt>
              </c:strCache>
            </c:strRef>
          </c:tx>
          <c:spPr>
            <a:solidFill>
              <a:schemeClr val="accent1"/>
            </a:solidFill>
            <a:ln w="28575">
              <a:solidFill>
                <a:schemeClr val="tx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'health-care-wait-times-by-count'!$B$2:$B$10</c:f>
              <c:strCache>
                <c:ptCount val="9"/>
                <c:pt idx="0">
                  <c:v>Canada</c:v>
                </c:pt>
                <c:pt idx="1">
                  <c:v>United States</c:v>
                </c:pt>
                <c:pt idx="2">
                  <c:v>Sweden</c:v>
                </c:pt>
                <c:pt idx="3">
                  <c:v>Norway</c:v>
                </c:pt>
                <c:pt idx="4">
                  <c:v>United Kingdom</c:v>
                </c:pt>
                <c:pt idx="5">
                  <c:v>New Zealand</c:v>
                </c:pt>
                <c:pt idx="6">
                  <c:v>France</c:v>
                </c:pt>
                <c:pt idx="7">
                  <c:v>Australia</c:v>
                </c:pt>
                <c:pt idx="8">
                  <c:v>Germany</c:v>
                </c:pt>
              </c:strCache>
            </c:strRef>
          </c:cat>
          <c:val>
            <c:numRef>
              <c:f>'health-care-wait-times-by-count'!$C$2:$C$10</c:f>
              <c:numCache>
                <c:formatCode>General</c:formatCode>
                <c:ptCount val="9"/>
                <c:pt idx="0">
                  <c:v>33</c:v>
                </c:pt>
                <c:pt idx="1">
                  <c:v>28</c:v>
                </c:pt>
                <c:pt idx="2">
                  <c:v>24</c:v>
                </c:pt>
                <c:pt idx="3">
                  <c:v>22</c:v>
                </c:pt>
                <c:pt idx="4">
                  <c:v>21</c:v>
                </c:pt>
                <c:pt idx="5">
                  <c:v>17</c:v>
                </c:pt>
                <c:pt idx="6">
                  <c:v>14</c:v>
                </c:pt>
                <c:pt idx="7">
                  <c:v>14</c:v>
                </c:pt>
                <c:pt idx="8">
                  <c:v>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034-4B8B-9747-E8EA16CC4B43}"/>
            </c:ext>
          </c:extLst>
        </c:ser>
        <c:ser>
          <c:idx val="1"/>
          <c:order val="1"/>
          <c:tx>
            <c:strRef>
              <c:f>'health-care-wait-times-by-count'!$D$1</c:f>
              <c:strCache>
                <c:ptCount val="1"/>
                <c:pt idx="0">
                  <c:v>Wait&gt; 1 month for specialist</c:v>
                </c:pt>
              </c:strCache>
            </c:strRef>
          </c:tx>
          <c:spPr>
            <a:solidFill>
              <a:schemeClr val="accent2"/>
            </a:solidFill>
            <a:ln w="28575">
              <a:solidFill>
                <a:schemeClr val="tx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'health-care-wait-times-by-count'!$B$2:$B$10</c:f>
              <c:strCache>
                <c:ptCount val="9"/>
                <c:pt idx="0">
                  <c:v>Canada</c:v>
                </c:pt>
                <c:pt idx="1">
                  <c:v>United States</c:v>
                </c:pt>
                <c:pt idx="2">
                  <c:v>Sweden</c:v>
                </c:pt>
                <c:pt idx="3">
                  <c:v>Norway</c:v>
                </c:pt>
                <c:pt idx="4">
                  <c:v>United Kingdom</c:v>
                </c:pt>
                <c:pt idx="5">
                  <c:v>New Zealand</c:v>
                </c:pt>
                <c:pt idx="6">
                  <c:v>France</c:v>
                </c:pt>
                <c:pt idx="7">
                  <c:v>Australia</c:v>
                </c:pt>
                <c:pt idx="8">
                  <c:v>Germany</c:v>
                </c:pt>
              </c:strCache>
            </c:strRef>
          </c:cat>
          <c:val>
            <c:numRef>
              <c:f>'health-care-wait-times-by-count'!$D$2:$D$10</c:f>
              <c:numCache>
                <c:formatCode>General</c:formatCode>
                <c:ptCount val="9"/>
                <c:pt idx="0">
                  <c:v>61</c:v>
                </c:pt>
                <c:pt idx="1">
                  <c:v>27</c:v>
                </c:pt>
                <c:pt idx="2">
                  <c:v>52</c:v>
                </c:pt>
                <c:pt idx="3">
                  <c:v>61</c:v>
                </c:pt>
                <c:pt idx="4">
                  <c:v>41</c:v>
                </c:pt>
                <c:pt idx="5">
                  <c:v>48</c:v>
                </c:pt>
                <c:pt idx="6">
                  <c:v>36</c:v>
                </c:pt>
                <c:pt idx="7">
                  <c:v>39</c:v>
                </c:pt>
                <c:pt idx="8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034-4B8B-9747-E8EA16CC4B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39"/>
        <c:overlap val="-27"/>
        <c:axId val="1222608512"/>
        <c:axId val="1222609472"/>
      </c:barChart>
      <c:catAx>
        <c:axId val="122260851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2609472"/>
        <c:crosses val="autoZero"/>
        <c:auto val="1"/>
        <c:lblAlgn val="ctr"/>
        <c:lblOffset val="100"/>
        <c:noMultiLvlLbl val="0"/>
      </c:catAx>
      <c:valAx>
        <c:axId val="12226094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26085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l">
              <a:defRPr sz="1400" b="0" i="0" u="none" strike="noStrike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r>
              <a:rPr lang="en-CA" b="1" dirty="0">
                <a:solidFill>
                  <a:schemeClr val="tx1"/>
                </a:solidFill>
              </a:rPr>
              <a:t>Wait</a:t>
            </a:r>
            <a:r>
              <a:rPr lang="en-CA" b="1" baseline="0" dirty="0">
                <a:solidFill>
                  <a:schemeClr val="tx1"/>
                </a:solidFill>
              </a:rPr>
              <a:t> Time (Days) for Select Elective Procedures</a:t>
            </a:r>
            <a:br>
              <a:rPr lang="en-CA" b="1" baseline="0" dirty="0">
                <a:solidFill>
                  <a:schemeClr val="tx1"/>
                </a:solidFill>
              </a:rPr>
            </a:br>
            <a:r>
              <a:rPr lang="en-CA" b="1" baseline="0" dirty="0">
                <a:solidFill>
                  <a:schemeClr val="tx1"/>
                </a:solidFill>
              </a:rPr>
              <a:t>Canada VS United States</a:t>
            </a:r>
            <a:endParaRPr lang="en-CA" b="1" dirty="0">
              <a:solidFill>
                <a:schemeClr val="tx1"/>
              </a:solidFill>
            </a:endParaRPr>
          </a:p>
        </c:rich>
      </c:tx>
      <c:layout>
        <c:manualLayout>
          <c:xMode val="edge"/>
          <c:yMode val="edge"/>
          <c:x val="4.6971489425604369E-2"/>
          <c:y val="1.717680887351241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l">
            <a:defRPr sz="1400" b="0" i="0" u="none" strike="noStrike" kern="1200" spc="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CA"/>
        </a:p>
      </c:txPr>
    </c:title>
    <c:autoTitleDeleted val="0"/>
    <c:plotArea>
      <c:layout/>
      <c:barChart>
        <c:barDir val="col"/>
        <c:grouping val="clustered"/>
        <c:varyColors val="0"/>
        <c:ser>
          <c:idx val="2"/>
          <c:order val="2"/>
          <c:tx>
            <c:strRef>
              <c:f>'health-care-wait-times-by-count'!$E$1</c:f>
              <c:strCache>
                <c:ptCount val="1"/>
                <c:pt idx="0">
                  <c:v>Cataract Surgery</c:v>
                </c:pt>
              </c:strCache>
            </c:strRef>
          </c:tx>
          <c:spPr>
            <a:solidFill>
              <a:schemeClr val="accent3"/>
            </a:solidFill>
            <a:ln w="28575">
              <a:solidFill>
                <a:schemeClr val="tx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'health-care-wait-times-by-count'!$B$2:$B$3</c:f>
              <c:strCache>
                <c:ptCount val="2"/>
                <c:pt idx="0">
                  <c:v>Canada</c:v>
                </c:pt>
                <c:pt idx="1">
                  <c:v>United States</c:v>
                </c:pt>
              </c:strCache>
              <c:extLst/>
            </c:strRef>
          </c:cat>
          <c:val>
            <c:numRef>
              <c:f>'health-care-wait-times-by-count'!$E$2:$E$3</c:f>
              <c:numCache>
                <c:formatCode>General</c:formatCode>
                <c:ptCount val="2"/>
                <c:pt idx="0">
                  <c:v>66</c:v>
                </c:pt>
                <c:pt idx="1">
                  <c:v>62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51CA-452B-9701-272F2152C590}"/>
            </c:ext>
          </c:extLst>
        </c:ser>
        <c:ser>
          <c:idx val="3"/>
          <c:order val="3"/>
          <c:tx>
            <c:strRef>
              <c:f>'health-care-wait-times-by-count'!$F$1</c:f>
              <c:strCache>
                <c:ptCount val="1"/>
                <c:pt idx="0">
                  <c:v>Hip Replacement</c:v>
                </c:pt>
              </c:strCache>
            </c:strRef>
          </c:tx>
          <c:spPr>
            <a:solidFill>
              <a:schemeClr val="accent4"/>
            </a:solidFill>
            <a:ln w="28575">
              <a:solidFill>
                <a:schemeClr val="tx1"/>
              </a:solidFill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'health-care-wait-times-by-count'!$B$2:$B$3</c:f>
              <c:strCache>
                <c:ptCount val="2"/>
                <c:pt idx="0">
                  <c:v>Canada</c:v>
                </c:pt>
                <c:pt idx="1">
                  <c:v>United States</c:v>
                </c:pt>
              </c:strCache>
              <c:extLst/>
            </c:strRef>
          </c:cat>
          <c:val>
            <c:numRef>
              <c:f>'health-care-wait-times-by-count'!$F$2:$F$3</c:f>
              <c:numCache>
                <c:formatCode>General</c:formatCode>
                <c:ptCount val="2"/>
                <c:pt idx="0">
                  <c:v>105</c:v>
                </c:pt>
                <c:pt idx="1">
                  <c:v>88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1-51CA-452B-9701-272F2152C590}"/>
            </c:ext>
          </c:extLst>
        </c:ser>
        <c:ser>
          <c:idx val="4"/>
          <c:order val="4"/>
          <c:tx>
            <c:strRef>
              <c:f>'health-care-wait-times-by-count'!$G$1</c:f>
              <c:strCache>
                <c:ptCount val="1"/>
                <c:pt idx="0">
                  <c:v>Knee Replacement</c:v>
                </c:pt>
              </c:strCache>
            </c:strRef>
          </c:tx>
          <c:spPr>
            <a:solidFill>
              <a:schemeClr val="accent5"/>
            </a:solidFill>
            <a:ln w="28575">
              <a:solidFill>
                <a:schemeClr val="tx1"/>
              </a:solidFill>
            </a:ln>
            <a:effectLst/>
          </c:spPr>
          <c:invertIfNegative val="0"/>
          <c:dLbls>
            <c:dLbl>
              <c:idx val="0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5-51CA-452B-9701-272F2152C590}"/>
                </c:ext>
              </c:extLst>
            </c:dLbl>
            <c:dLbl>
              <c:idx val="1"/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400" b="0" i="0" u="none" strike="noStrike" kern="1200" baseline="0">
                      <a:solidFill>
                        <a:schemeClr val="bg1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en-US"/>
                </a:p>
              </c:txPr>
              <c:dLblPos val="in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6="http://schemas.microsoft.com/office/drawing/2014/chart" uri="{C3380CC4-5D6E-409C-BE32-E72D297353CC}">
                  <c16:uniqueId val="{00000006-51CA-452B-9701-272F2152C590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'health-care-wait-times-by-count'!$B$2:$B$3</c:f>
              <c:strCache>
                <c:ptCount val="2"/>
                <c:pt idx="0">
                  <c:v>Canada</c:v>
                </c:pt>
                <c:pt idx="1">
                  <c:v>United States</c:v>
                </c:pt>
              </c:strCache>
              <c:extLst/>
            </c:strRef>
          </c:cat>
          <c:val>
            <c:numRef>
              <c:f>'health-care-wait-times-by-count'!$G$2:$G$3</c:f>
              <c:numCache>
                <c:formatCode>General</c:formatCode>
                <c:ptCount val="2"/>
                <c:pt idx="0">
                  <c:v>122</c:v>
                </c:pt>
                <c:pt idx="1">
                  <c:v>80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2-51CA-452B-9701-272F2152C5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222608512"/>
        <c:axId val="1222609472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'health-care-wait-times-by-count'!$C$1</c15:sqref>
                        </c15:formulaRef>
                      </c:ext>
                    </c:extLst>
                    <c:strCache>
                      <c:ptCount val="1"/>
                      <c:pt idx="0">
                        <c:v>Wait&gt;1 to see GP</c:v>
                      </c:pt>
                    </c:strCache>
                  </c:strRef>
                </c:tx>
                <c:spPr>
                  <a:solidFill>
                    <a:schemeClr val="accent1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>
                      <c:ext uri="{02D57815-91ED-43cb-92C2-25804820EDAC}">
                        <c15:formulaRef>
                          <c15:sqref>'health-care-wait-times-by-count'!$B$2:$B$3</c15:sqref>
                        </c15:formulaRef>
                      </c:ext>
                    </c:extLst>
                    <c:strCache>
                      <c:ptCount val="2"/>
                      <c:pt idx="0">
                        <c:v>Canada</c:v>
                      </c:pt>
                      <c:pt idx="1">
                        <c:v>United States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'health-care-wait-times-by-count'!$C$2:$C$3</c15:sqref>
                        </c15:formulaRef>
                      </c:ext>
                    </c:extLst>
                    <c:numCache>
                      <c:formatCode>General</c:formatCode>
                      <c:ptCount val="2"/>
                      <c:pt idx="0">
                        <c:v>33</c:v>
                      </c:pt>
                      <c:pt idx="1">
                        <c:v>28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3-51CA-452B-9701-272F2152C590}"/>
                  </c:ext>
                </c:extLst>
              </c15:ser>
            </c15:filteredBarSeries>
            <c15:filteredBar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'health-care-wait-times-by-count'!$D$1</c15:sqref>
                        </c15:formulaRef>
                      </c:ext>
                    </c:extLst>
                    <c:strCache>
                      <c:ptCount val="1"/>
                      <c:pt idx="0">
                        <c:v>Wait&gt; 1 month for specialist</c:v>
                      </c:pt>
                    </c:strCache>
                  </c:strRef>
                </c:tx>
                <c:spPr>
                  <a:solidFill>
                    <a:schemeClr val="accent2"/>
                  </a:solidFill>
                  <a:ln>
                    <a:noFill/>
                  </a:ln>
                  <a:effectLst/>
                </c:spPr>
                <c:invertIfNegative val="0"/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'health-care-wait-times-by-count'!$B$2:$B$3</c15:sqref>
                        </c15:formulaRef>
                      </c:ext>
                    </c:extLst>
                    <c:strCache>
                      <c:ptCount val="2"/>
                      <c:pt idx="0">
                        <c:v>Canada</c:v>
                      </c:pt>
                      <c:pt idx="1">
                        <c:v>United States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'health-care-wait-times-by-count'!$D$2:$D$3</c15:sqref>
                        </c15:formulaRef>
                      </c:ext>
                    </c:extLst>
                    <c:numCache>
                      <c:formatCode>General</c:formatCode>
                      <c:ptCount val="2"/>
                      <c:pt idx="0">
                        <c:v>61</c:v>
                      </c:pt>
                      <c:pt idx="1">
                        <c:v>27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51CA-452B-9701-272F2152C590}"/>
                  </c:ext>
                </c:extLst>
              </c15:ser>
            </c15:filteredBarSeries>
          </c:ext>
        </c:extLst>
      </c:barChart>
      <c:catAx>
        <c:axId val="122260851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2609472"/>
        <c:crosses val="autoZero"/>
        <c:auto val="1"/>
        <c:lblAlgn val="ctr"/>
        <c:lblOffset val="100"/>
        <c:noMultiLvlLbl val="0"/>
      </c:catAx>
      <c:valAx>
        <c:axId val="12226094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26085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 algn="l"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b="1" i="0" dirty="0">
                <a:effectLst/>
              </a:rPr>
              <a:t>Wait time</a:t>
            </a:r>
            <a:r>
              <a:rPr lang="en-US" b="1" i="0" baseline="0" dirty="0">
                <a:effectLst/>
              </a:rPr>
              <a:t> to see a medical specialist  in Canada</a:t>
            </a:r>
            <a:br>
              <a:rPr lang="en-US" b="1" i="0" baseline="0" dirty="0">
                <a:effectLst/>
              </a:rPr>
            </a:br>
            <a:r>
              <a:rPr lang="en-US" b="1" i="0" baseline="0" dirty="0">
                <a:effectLst/>
              </a:rPr>
              <a:t>(Percent of population by Gender)</a:t>
            </a:r>
            <a:endParaRPr lang="en-US" b="1" i="0" dirty="0">
              <a:effectLst/>
            </a:endParaRPr>
          </a:p>
        </c:rich>
      </c:tx>
      <c:layout>
        <c:manualLayout>
          <c:xMode val="edge"/>
          <c:yMode val="edge"/>
          <c:x val="5.8488971108088254E-2"/>
          <c:y val="1.7970346098960952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l"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't001a-eng'!$M$6</c:f>
              <c:strCache>
                <c:ptCount val="1"/>
                <c:pt idx="0">
                  <c:v>Men+ (reference)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't001a-eng'!$L$7:$L$12</c:f>
              <c:strCache>
                <c:ptCount val="6"/>
                <c:pt idx="0">
                  <c:v> Less than one month</c:v>
                </c:pt>
                <c:pt idx="1">
                  <c:v> One month to less than three months</c:v>
                </c:pt>
                <c:pt idx="2">
                  <c:v> Three months to less than six months</c:v>
                </c:pt>
                <c:pt idx="3">
                  <c:v> Six months to less than a year</c:v>
                </c:pt>
                <c:pt idx="4">
                  <c:v> One year to less than two years</c:v>
                </c:pt>
                <c:pt idx="5">
                  <c:v> Two years or more</c:v>
                </c:pt>
              </c:strCache>
            </c:strRef>
          </c:cat>
          <c:val>
            <c:numRef>
              <c:f>'t001a-eng'!$M$7:$M$12</c:f>
              <c:numCache>
                <c:formatCode>General</c:formatCode>
                <c:ptCount val="6"/>
                <c:pt idx="0">
                  <c:v>36</c:v>
                </c:pt>
                <c:pt idx="1">
                  <c:v>30.5</c:v>
                </c:pt>
                <c:pt idx="2">
                  <c:v>17.899999999999999</c:v>
                </c:pt>
                <c:pt idx="3">
                  <c:v>9.6</c:v>
                </c:pt>
                <c:pt idx="4">
                  <c:v>4</c:v>
                </c:pt>
                <c:pt idx="5">
                  <c:v>2.1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640-47B1-A47D-DF1581D519D6}"/>
            </c:ext>
          </c:extLst>
        </c:ser>
        <c:ser>
          <c:idx val="1"/>
          <c:order val="1"/>
          <c:tx>
            <c:strRef>
              <c:f>'t001a-eng'!$N$6</c:f>
              <c:strCache>
                <c:ptCount val="1"/>
                <c:pt idx="0">
                  <c:v>Women+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't001a-eng'!$L$7:$L$12</c:f>
              <c:strCache>
                <c:ptCount val="6"/>
                <c:pt idx="0">
                  <c:v> Less than one month</c:v>
                </c:pt>
                <c:pt idx="1">
                  <c:v> One month to less than three months</c:v>
                </c:pt>
                <c:pt idx="2">
                  <c:v> Three months to less than six months</c:v>
                </c:pt>
                <c:pt idx="3">
                  <c:v> Six months to less than a year</c:v>
                </c:pt>
                <c:pt idx="4">
                  <c:v> One year to less than two years</c:v>
                </c:pt>
                <c:pt idx="5">
                  <c:v> Two years or more</c:v>
                </c:pt>
              </c:strCache>
            </c:strRef>
          </c:cat>
          <c:val>
            <c:numRef>
              <c:f>'t001a-eng'!$N$7:$N$12</c:f>
              <c:numCache>
                <c:formatCode>General</c:formatCode>
                <c:ptCount val="6"/>
                <c:pt idx="0">
                  <c:v>33.200000000000003</c:v>
                </c:pt>
                <c:pt idx="1">
                  <c:v>29.1</c:v>
                </c:pt>
                <c:pt idx="2">
                  <c:v>17.399999999999999</c:v>
                </c:pt>
                <c:pt idx="3">
                  <c:v>13</c:v>
                </c:pt>
                <c:pt idx="4">
                  <c:v>5.3</c:v>
                </c:pt>
                <c:pt idx="5">
                  <c:v>2.1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640-47B1-A47D-DF1581D519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2127711984"/>
        <c:axId val="2127710064"/>
      </c:barChart>
      <c:catAx>
        <c:axId val="212771198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27710064"/>
        <c:crosses val="autoZero"/>
        <c:auto val="1"/>
        <c:lblAlgn val="ctr"/>
        <c:lblOffset val="100"/>
        <c:noMultiLvlLbl val="0"/>
      </c:catAx>
      <c:valAx>
        <c:axId val="21277100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277119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B42A39A-187B-429B-8A9D-325D249B1B68}" type="doc">
      <dgm:prSet loTypeId="urn:microsoft.com/office/officeart/2009/3/layout/PlusandMinus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CA"/>
        </a:p>
      </dgm:t>
    </dgm:pt>
    <dgm:pt modelId="{0E7C84C4-6D10-4E34-886F-799AAAED81B9}">
      <dgm:prSet phldrT="[Text]"/>
      <dgm:spPr/>
      <dgm:t>
        <a:bodyPr/>
        <a:lstStyle/>
        <a:p>
          <a:r>
            <a:rPr lang="en-CA" b="1" dirty="0"/>
            <a:t>Health Economics</a:t>
          </a:r>
        </a:p>
      </dgm:t>
    </dgm:pt>
    <dgm:pt modelId="{E4516BB8-327F-491B-83E1-B23786627E4D}" type="parTrans" cxnId="{B87C0262-77E5-47E7-ABAA-069315D6C9FC}">
      <dgm:prSet/>
      <dgm:spPr/>
      <dgm:t>
        <a:bodyPr/>
        <a:lstStyle/>
        <a:p>
          <a:endParaRPr lang="en-CA"/>
        </a:p>
      </dgm:t>
    </dgm:pt>
    <dgm:pt modelId="{52B1C8F5-4699-40E7-A465-00A153EA8758}" type="sibTrans" cxnId="{B87C0262-77E5-47E7-ABAA-069315D6C9FC}">
      <dgm:prSet/>
      <dgm:spPr/>
      <dgm:t>
        <a:bodyPr/>
        <a:lstStyle/>
        <a:p>
          <a:endParaRPr lang="en-CA"/>
        </a:p>
      </dgm:t>
    </dgm:pt>
    <dgm:pt modelId="{51449D9F-84CA-42F6-BB09-200353B1A31E}">
      <dgm:prSet phldrT="[Text]"/>
      <dgm:spPr/>
      <dgm:t>
        <a:bodyPr/>
        <a:lstStyle/>
        <a:p>
          <a:r>
            <a:rPr lang="en-CA" b="1" dirty="0"/>
            <a:t>Health Technology Assessment</a:t>
          </a:r>
        </a:p>
      </dgm:t>
    </dgm:pt>
    <dgm:pt modelId="{460F42FA-6525-40D0-8578-75144B6EACF5}" type="parTrans" cxnId="{338E1F55-6828-454F-A1B0-39DC3E53F8E5}">
      <dgm:prSet/>
      <dgm:spPr/>
      <dgm:t>
        <a:bodyPr/>
        <a:lstStyle/>
        <a:p>
          <a:endParaRPr lang="en-CA"/>
        </a:p>
      </dgm:t>
    </dgm:pt>
    <dgm:pt modelId="{0910CFB2-E601-4D1B-B62F-9672365D8E41}" type="sibTrans" cxnId="{338E1F55-6828-454F-A1B0-39DC3E53F8E5}">
      <dgm:prSet/>
      <dgm:spPr/>
      <dgm:t>
        <a:bodyPr/>
        <a:lstStyle/>
        <a:p>
          <a:endParaRPr lang="en-CA"/>
        </a:p>
      </dgm:t>
    </dgm:pt>
    <dgm:pt modelId="{49F31278-9587-40E3-9C1F-D0F1F233E593}">
      <dgm:prSet phldrT="[Text]"/>
      <dgm:spPr/>
      <dgm:t>
        <a:bodyPr/>
        <a:lstStyle/>
        <a:p>
          <a:r>
            <a:rPr lang="en-CA" dirty="0"/>
            <a:t>Studies how Economic policies impact population health outcomes and Institutions which provide medical services.</a:t>
          </a:r>
        </a:p>
      </dgm:t>
    </dgm:pt>
    <dgm:pt modelId="{A9B87447-E691-4B31-8EE7-50AD26637402}" type="parTrans" cxnId="{4AAB894E-80E0-4E1B-8A90-1EA8DB0064B3}">
      <dgm:prSet/>
      <dgm:spPr/>
      <dgm:t>
        <a:bodyPr/>
        <a:lstStyle/>
        <a:p>
          <a:endParaRPr lang="en-CA"/>
        </a:p>
      </dgm:t>
    </dgm:pt>
    <dgm:pt modelId="{0B966767-B671-46DC-B075-E17BB895220A}" type="sibTrans" cxnId="{4AAB894E-80E0-4E1B-8A90-1EA8DB0064B3}">
      <dgm:prSet/>
      <dgm:spPr/>
      <dgm:t>
        <a:bodyPr/>
        <a:lstStyle/>
        <a:p>
          <a:endParaRPr lang="en-CA"/>
        </a:p>
      </dgm:t>
    </dgm:pt>
    <dgm:pt modelId="{46A17DC2-229D-4815-B80A-DA511342E3B7}">
      <dgm:prSet phldrT="[Text]"/>
      <dgm:spPr/>
      <dgm:t>
        <a:bodyPr/>
        <a:lstStyle/>
        <a:p>
          <a:r>
            <a:rPr lang="en-CA" dirty="0"/>
            <a:t>Studies how to bring new treatments and therapies to market by defining a drug’s value for money.</a:t>
          </a:r>
        </a:p>
      </dgm:t>
    </dgm:pt>
    <dgm:pt modelId="{4F20024B-4294-4526-BDB1-FDA41E3ACE5C}" type="parTrans" cxnId="{EA627F54-6C3D-4436-A105-9EA434E8B1D5}">
      <dgm:prSet/>
      <dgm:spPr/>
      <dgm:t>
        <a:bodyPr/>
        <a:lstStyle/>
        <a:p>
          <a:endParaRPr lang="en-CA"/>
        </a:p>
      </dgm:t>
    </dgm:pt>
    <dgm:pt modelId="{662FABE6-5E05-432C-9867-B6226D1AD163}" type="sibTrans" cxnId="{EA627F54-6C3D-4436-A105-9EA434E8B1D5}">
      <dgm:prSet/>
      <dgm:spPr/>
      <dgm:t>
        <a:bodyPr/>
        <a:lstStyle/>
        <a:p>
          <a:endParaRPr lang="en-CA"/>
        </a:p>
      </dgm:t>
    </dgm:pt>
    <dgm:pt modelId="{052D066A-2778-440A-AF9E-90CA16F02906}">
      <dgm:prSet phldrT="[Text]"/>
      <dgm:spPr/>
      <dgm:t>
        <a:bodyPr/>
        <a:lstStyle/>
        <a:p>
          <a:r>
            <a:rPr lang="en-CA" dirty="0"/>
            <a:t>Topics Include:</a:t>
          </a:r>
        </a:p>
      </dgm:t>
    </dgm:pt>
    <dgm:pt modelId="{8C39BAC8-7F58-410D-A5CB-0818C19D90AB}" type="parTrans" cxnId="{768620F6-CF71-4141-95E5-52F84A9760BC}">
      <dgm:prSet/>
      <dgm:spPr/>
      <dgm:t>
        <a:bodyPr/>
        <a:lstStyle/>
        <a:p>
          <a:endParaRPr lang="en-CA"/>
        </a:p>
      </dgm:t>
    </dgm:pt>
    <dgm:pt modelId="{BAF6B9AF-17A7-4046-9A9A-B5E9B7B2BE9C}" type="sibTrans" cxnId="{768620F6-CF71-4141-95E5-52F84A9760BC}">
      <dgm:prSet/>
      <dgm:spPr/>
      <dgm:t>
        <a:bodyPr/>
        <a:lstStyle/>
        <a:p>
          <a:endParaRPr lang="en-CA"/>
        </a:p>
      </dgm:t>
    </dgm:pt>
    <dgm:pt modelId="{764097B5-37E4-49C8-B567-7E03714E6219}">
      <dgm:prSet phldrT="[Text]"/>
      <dgm:spPr/>
      <dgm:t>
        <a:bodyPr/>
        <a:lstStyle/>
        <a:p>
          <a:r>
            <a:rPr lang="en-CA" dirty="0"/>
            <a:t>How much will funding of a drug cost? (Budget Impact analysis)</a:t>
          </a:r>
        </a:p>
      </dgm:t>
    </dgm:pt>
    <dgm:pt modelId="{8A573993-B703-4094-AA81-8E7E2A47024D}" type="parTrans" cxnId="{94579726-80E2-43CD-81CC-8D1EE2014A49}">
      <dgm:prSet/>
      <dgm:spPr/>
      <dgm:t>
        <a:bodyPr/>
        <a:lstStyle/>
        <a:p>
          <a:endParaRPr lang="en-CA"/>
        </a:p>
      </dgm:t>
    </dgm:pt>
    <dgm:pt modelId="{B648D6D0-109F-4525-9C90-19AE6F990A67}" type="sibTrans" cxnId="{94579726-80E2-43CD-81CC-8D1EE2014A49}">
      <dgm:prSet/>
      <dgm:spPr/>
      <dgm:t>
        <a:bodyPr/>
        <a:lstStyle/>
        <a:p>
          <a:endParaRPr lang="en-CA"/>
        </a:p>
      </dgm:t>
    </dgm:pt>
    <dgm:pt modelId="{A2D725FC-2B9D-4DF6-9380-31F39D8B81AF}">
      <dgm:prSet phldrT="[Text]"/>
      <dgm:spPr/>
      <dgm:t>
        <a:bodyPr/>
        <a:lstStyle/>
        <a:p>
          <a:endParaRPr lang="en-CA" dirty="0"/>
        </a:p>
      </dgm:t>
    </dgm:pt>
    <dgm:pt modelId="{E3B49A76-F602-4786-8E5B-6AEAE409EF3E}" type="parTrans" cxnId="{2C663287-8880-4AE8-9A91-D3FEF704EB72}">
      <dgm:prSet/>
      <dgm:spPr/>
      <dgm:t>
        <a:bodyPr/>
        <a:lstStyle/>
        <a:p>
          <a:endParaRPr lang="en-CA"/>
        </a:p>
      </dgm:t>
    </dgm:pt>
    <dgm:pt modelId="{5D96FF7A-71B6-4912-9D51-52F72D231868}" type="sibTrans" cxnId="{2C663287-8880-4AE8-9A91-D3FEF704EB72}">
      <dgm:prSet/>
      <dgm:spPr/>
      <dgm:t>
        <a:bodyPr/>
        <a:lstStyle/>
        <a:p>
          <a:endParaRPr lang="en-CA"/>
        </a:p>
      </dgm:t>
    </dgm:pt>
    <dgm:pt modelId="{4A2ECF66-61EA-4092-A5F0-0AABA5798ADC}">
      <dgm:prSet phldrT="[Text]"/>
      <dgm:spPr/>
      <dgm:t>
        <a:bodyPr/>
        <a:lstStyle/>
        <a:p>
          <a:r>
            <a:rPr lang="en-CA" dirty="0"/>
            <a:t>Some questions we address here are:</a:t>
          </a:r>
        </a:p>
      </dgm:t>
    </dgm:pt>
    <dgm:pt modelId="{DE7914FA-85E4-482F-881D-F90AF1E5042F}" type="parTrans" cxnId="{AA819E67-338A-4C0F-ADCF-8B5C6B8A0813}">
      <dgm:prSet/>
      <dgm:spPr/>
      <dgm:t>
        <a:bodyPr/>
        <a:lstStyle/>
        <a:p>
          <a:endParaRPr lang="en-CA"/>
        </a:p>
      </dgm:t>
    </dgm:pt>
    <dgm:pt modelId="{0B2CB76C-6F8F-4574-B8A1-FDA82D047815}" type="sibTrans" cxnId="{AA819E67-338A-4C0F-ADCF-8B5C6B8A0813}">
      <dgm:prSet/>
      <dgm:spPr/>
      <dgm:t>
        <a:bodyPr/>
        <a:lstStyle/>
        <a:p>
          <a:endParaRPr lang="en-CA"/>
        </a:p>
      </dgm:t>
    </dgm:pt>
    <dgm:pt modelId="{A5620C10-762F-4C79-A93F-22183901E278}">
      <dgm:prSet phldrT="[Text]"/>
      <dgm:spPr/>
      <dgm:t>
        <a:bodyPr/>
        <a:lstStyle/>
        <a:p>
          <a:r>
            <a:rPr lang="en-CA" dirty="0"/>
            <a:t>Can a smoking tax make smoking less appealing?</a:t>
          </a:r>
        </a:p>
      </dgm:t>
    </dgm:pt>
    <dgm:pt modelId="{6C0BB4BA-8F04-458C-AD60-4CF1DBC457D0}" type="parTrans" cxnId="{3C4EE36E-E8C6-49A6-81A0-59C4312FB704}">
      <dgm:prSet/>
      <dgm:spPr/>
      <dgm:t>
        <a:bodyPr/>
        <a:lstStyle/>
        <a:p>
          <a:endParaRPr lang="en-CA"/>
        </a:p>
      </dgm:t>
    </dgm:pt>
    <dgm:pt modelId="{509865D8-5775-4F01-9F1A-B00625510EC4}" type="sibTrans" cxnId="{3C4EE36E-E8C6-49A6-81A0-59C4312FB704}">
      <dgm:prSet/>
      <dgm:spPr/>
      <dgm:t>
        <a:bodyPr/>
        <a:lstStyle/>
        <a:p>
          <a:endParaRPr lang="en-CA"/>
        </a:p>
      </dgm:t>
    </dgm:pt>
    <dgm:pt modelId="{BF70A1E9-987C-477E-8AA5-BE5E8E1F463F}">
      <dgm:prSet phldrT="[Text]"/>
      <dgm:spPr/>
      <dgm:t>
        <a:bodyPr/>
        <a:lstStyle/>
        <a:p>
          <a:r>
            <a:rPr lang="en-CA" dirty="0"/>
            <a:t>What economic factors determines the health and longevity of people?</a:t>
          </a:r>
        </a:p>
      </dgm:t>
    </dgm:pt>
    <dgm:pt modelId="{3DA63C89-5620-42EB-9ED8-35E6AE344339}" type="parTrans" cxnId="{FF6B8593-5E8D-465D-8C7C-DD9F0F765723}">
      <dgm:prSet/>
      <dgm:spPr/>
      <dgm:t>
        <a:bodyPr/>
        <a:lstStyle/>
        <a:p>
          <a:endParaRPr lang="en-CA"/>
        </a:p>
      </dgm:t>
    </dgm:pt>
    <dgm:pt modelId="{AD456983-3D9C-4D1E-94A2-C9D7E48AD7AC}" type="sibTrans" cxnId="{FF6B8593-5E8D-465D-8C7C-DD9F0F765723}">
      <dgm:prSet/>
      <dgm:spPr/>
      <dgm:t>
        <a:bodyPr/>
        <a:lstStyle/>
        <a:p>
          <a:endParaRPr lang="en-CA"/>
        </a:p>
      </dgm:t>
    </dgm:pt>
    <dgm:pt modelId="{8B11D35F-2473-4D37-B2AC-9A29946F15B4}">
      <dgm:prSet phldrT="[Text]"/>
      <dgm:spPr/>
      <dgm:t>
        <a:bodyPr/>
        <a:lstStyle/>
        <a:p>
          <a:r>
            <a:rPr lang="en-CA" dirty="0"/>
            <a:t>Does physician practice style change when we change their compensation structure.</a:t>
          </a:r>
        </a:p>
      </dgm:t>
    </dgm:pt>
    <dgm:pt modelId="{311D37A9-0316-40FB-BC47-4B386FBDC657}" type="parTrans" cxnId="{A04AB3D4-D57F-47FF-91D7-F58E3794196C}">
      <dgm:prSet/>
      <dgm:spPr/>
      <dgm:t>
        <a:bodyPr/>
        <a:lstStyle/>
        <a:p>
          <a:endParaRPr lang="en-CA"/>
        </a:p>
      </dgm:t>
    </dgm:pt>
    <dgm:pt modelId="{0AA587B4-7FF0-4E05-AAF1-D7200DA87F5A}" type="sibTrans" cxnId="{A04AB3D4-D57F-47FF-91D7-F58E3794196C}">
      <dgm:prSet/>
      <dgm:spPr/>
      <dgm:t>
        <a:bodyPr/>
        <a:lstStyle/>
        <a:p>
          <a:endParaRPr lang="en-CA"/>
        </a:p>
      </dgm:t>
    </dgm:pt>
    <dgm:pt modelId="{402628FA-FD3B-4082-80B0-24BAB9331F66}">
      <dgm:prSet phldrT="[Text]"/>
      <dgm:spPr/>
      <dgm:t>
        <a:bodyPr/>
        <a:lstStyle/>
        <a:p>
          <a:r>
            <a:rPr lang="en-CA" dirty="0"/>
            <a:t>What is a drug’s value for money? (Cost effectiveness analysis)</a:t>
          </a:r>
        </a:p>
      </dgm:t>
    </dgm:pt>
    <dgm:pt modelId="{D8792A7D-2F1D-4915-918F-1A24D9A782AF}" type="parTrans" cxnId="{00A45B88-62E9-43E9-8859-FE9471BC44BB}">
      <dgm:prSet/>
      <dgm:spPr/>
      <dgm:t>
        <a:bodyPr/>
        <a:lstStyle/>
        <a:p>
          <a:endParaRPr lang="en-CA"/>
        </a:p>
      </dgm:t>
    </dgm:pt>
    <dgm:pt modelId="{EF1CAB59-943D-4F62-9627-BB231476F3BD}" type="sibTrans" cxnId="{00A45B88-62E9-43E9-8859-FE9471BC44BB}">
      <dgm:prSet/>
      <dgm:spPr/>
      <dgm:t>
        <a:bodyPr/>
        <a:lstStyle/>
        <a:p>
          <a:endParaRPr lang="en-CA"/>
        </a:p>
      </dgm:t>
    </dgm:pt>
    <dgm:pt modelId="{FA456C32-1935-4528-B38E-6202F6DE4455}" type="pres">
      <dgm:prSet presAssocID="{9B42A39A-187B-429B-8A9D-325D249B1B68}" presName="Name0" presStyleCnt="0">
        <dgm:presLayoutVars>
          <dgm:chMax val="2"/>
          <dgm:chPref val="2"/>
          <dgm:dir/>
          <dgm:animOne/>
          <dgm:resizeHandles val="exact"/>
        </dgm:presLayoutVars>
      </dgm:prSet>
      <dgm:spPr/>
    </dgm:pt>
    <dgm:pt modelId="{7D72D6A0-01B0-443C-8A00-8855318756B4}" type="pres">
      <dgm:prSet presAssocID="{9B42A39A-187B-429B-8A9D-325D249B1B68}" presName="Background" presStyleLbl="bgImgPlace1" presStyleIdx="0" presStyleCnt="1" custLinFactNeighborX="630" custLinFactNeighborY="12115"/>
      <dgm:spPr/>
    </dgm:pt>
    <dgm:pt modelId="{A5E46E06-86C1-40C8-BD3F-A5DB61AFC402}" type="pres">
      <dgm:prSet presAssocID="{9B42A39A-187B-429B-8A9D-325D249B1B68}" presName="ParentText1" presStyleLbl="revTx" presStyleIdx="0" presStyleCnt="2">
        <dgm:presLayoutVars>
          <dgm:chMax val="0"/>
          <dgm:chPref val="0"/>
          <dgm:bulletEnabled val="1"/>
        </dgm:presLayoutVars>
      </dgm:prSet>
      <dgm:spPr/>
    </dgm:pt>
    <dgm:pt modelId="{54FC03BA-548F-465A-864C-49F5B23FF80A}" type="pres">
      <dgm:prSet presAssocID="{9B42A39A-187B-429B-8A9D-325D249B1B68}" presName="ParentText2" presStyleLbl="revTx" presStyleIdx="1" presStyleCnt="2" custScaleX="110049" custLinFactNeighborX="4676" custLinFactNeighborY="1261">
        <dgm:presLayoutVars>
          <dgm:chMax val="0"/>
          <dgm:chPref val="0"/>
          <dgm:bulletEnabled val="1"/>
        </dgm:presLayoutVars>
      </dgm:prSet>
      <dgm:spPr/>
    </dgm:pt>
    <dgm:pt modelId="{F5B919F3-6902-4700-BAD7-7DC963918A78}" type="pres">
      <dgm:prSet presAssocID="{9B42A39A-187B-429B-8A9D-325D249B1B68}" presName="Plus" presStyleLbl="alignNode1" presStyleIdx="0" presStyleCnt="2" custScaleX="69278" custScaleY="75415" custLinFactNeighborX="-4861" custLinFactNeighborY="17476"/>
      <dgm:spPr/>
    </dgm:pt>
    <dgm:pt modelId="{CECE9D5F-A6E3-49E7-84A6-D7CA29285A7D}" type="pres">
      <dgm:prSet presAssocID="{9B42A39A-187B-429B-8A9D-325D249B1B68}" presName="Minus" presStyleLbl="alignNode1" presStyleIdx="1" presStyleCnt="2" custLinFactY="368576" custLinFactNeighborX="29265" custLinFactNeighborY="400000"/>
      <dgm:spPr>
        <a:noFill/>
        <a:ln>
          <a:noFill/>
        </a:ln>
      </dgm:spPr>
    </dgm:pt>
    <dgm:pt modelId="{5DFAD30C-9E0D-4535-B8D9-CA07BCD1C070}" type="pres">
      <dgm:prSet presAssocID="{9B42A39A-187B-429B-8A9D-325D249B1B68}" presName="Divider" presStyleLbl="parChTrans1D1" presStyleIdx="0" presStyleCnt="1"/>
      <dgm:spPr/>
    </dgm:pt>
  </dgm:ptLst>
  <dgm:cxnLst>
    <dgm:cxn modelId="{96248400-23E5-4EE7-9518-C4E1893AA66C}" type="presOf" srcId="{49F31278-9587-40E3-9C1F-D0F1F233E593}" destId="{A5E46E06-86C1-40C8-BD3F-A5DB61AFC402}" srcOrd="0" destOrd="1" presId="urn:microsoft.com/office/officeart/2009/3/layout/PlusandMinus"/>
    <dgm:cxn modelId="{94579726-80E2-43CD-81CC-8D1EE2014A49}" srcId="{51449D9F-84CA-42F6-BB09-200353B1A31E}" destId="{764097B5-37E4-49C8-B567-7E03714E6219}" srcOrd="2" destOrd="0" parTransId="{8A573993-B703-4094-AA81-8E7E2A47024D}" sibTransId="{B648D6D0-109F-4525-9C90-19AE6F990A67}"/>
    <dgm:cxn modelId="{B72FBA39-8C90-4161-9841-FB4DA58FB46C}" type="presOf" srcId="{9B42A39A-187B-429B-8A9D-325D249B1B68}" destId="{FA456C32-1935-4528-B38E-6202F6DE4455}" srcOrd="0" destOrd="0" presId="urn:microsoft.com/office/officeart/2009/3/layout/PlusandMinus"/>
    <dgm:cxn modelId="{34D9B73B-7DF7-40B2-95B0-77EDD975A32C}" type="presOf" srcId="{A5620C10-762F-4C79-A93F-22183901E278}" destId="{A5E46E06-86C1-40C8-BD3F-A5DB61AFC402}" srcOrd="0" destOrd="3" presId="urn:microsoft.com/office/officeart/2009/3/layout/PlusandMinus"/>
    <dgm:cxn modelId="{B87C0262-77E5-47E7-ABAA-069315D6C9FC}" srcId="{9B42A39A-187B-429B-8A9D-325D249B1B68}" destId="{0E7C84C4-6D10-4E34-886F-799AAAED81B9}" srcOrd="0" destOrd="0" parTransId="{E4516BB8-327F-491B-83E1-B23786627E4D}" sibTransId="{52B1C8F5-4699-40E7-A465-00A153EA8758}"/>
    <dgm:cxn modelId="{AA819E67-338A-4C0F-ADCF-8B5C6B8A0813}" srcId="{0E7C84C4-6D10-4E34-886F-799AAAED81B9}" destId="{4A2ECF66-61EA-4092-A5F0-0AABA5798ADC}" srcOrd="1" destOrd="0" parTransId="{DE7914FA-85E4-482F-881D-F90AF1E5042F}" sibTransId="{0B2CB76C-6F8F-4574-B8A1-FDA82D047815}"/>
    <dgm:cxn modelId="{391D9F6C-B51C-4F69-AF6D-81F8F97CFCFC}" type="presOf" srcId="{A2D725FC-2B9D-4DF6-9380-31F39D8B81AF}" destId="{54FC03BA-548F-465A-864C-49F5B23FF80A}" srcOrd="0" destOrd="5" presId="urn:microsoft.com/office/officeart/2009/3/layout/PlusandMinus"/>
    <dgm:cxn modelId="{4AAB894E-80E0-4E1B-8A90-1EA8DB0064B3}" srcId="{0E7C84C4-6D10-4E34-886F-799AAAED81B9}" destId="{49F31278-9587-40E3-9C1F-D0F1F233E593}" srcOrd="0" destOrd="0" parTransId="{A9B87447-E691-4B31-8EE7-50AD26637402}" sibTransId="{0B966767-B671-46DC-B075-E17BB895220A}"/>
    <dgm:cxn modelId="{3C4EE36E-E8C6-49A6-81A0-59C4312FB704}" srcId="{4A2ECF66-61EA-4092-A5F0-0AABA5798ADC}" destId="{A5620C10-762F-4C79-A93F-22183901E278}" srcOrd="0" destOrd="0" parTransId="{6C0BB4BA-8F04-458C-AD60-4CF1DBC457D0}" sibTransId="{509865D8-5775-4F01-9F1A-B00625510EC4}"/>
    <dgm:cxn modelId="{EA627F54-6C3D-4436-A105-9EA434E8B1D5}" srcId="{51449D9F-84CA-42F6-BB09-200353B1A31E}" destId="{46A17DC2-229D-4815-B80A-DA511342E3B7}" srcOrd="0" destOrd="0" parTransId="{4F20024B-4294-4526-BDB1-FDA41E3ACE5C}" sibTransId="{662FABE6-5E05-432C-9867-B6226D1AD163}"/>
    <dgm:cxn modelId="{338E1F55-6828-454F-A1B0-39DC3E53F8E5}" srcId="{9B42A39A-187B-429B-8A9D-325D249B1B68}" destId="{51449D9F-84CA-42F6-BB09-200353B1A31E}" srcOrd="1" destOrd="0" parTransId="{460F42FA-6525-40D0-8578-75144B6EACF5}" sibTransId="{0910CFB2-E601-4D1B-B62F-9672365D8E41}"/>
    <dgm:cxn modelId="{A9FB345A-B0E3-4C50-86BA-53D4B0182150}" type="presOf" srcId="{4A2ECF66-61EA-4092-A5F0-0AABA5798ADC}" destId="{A5E46E06-86C1-40C8-BD3F-A5DB61AFC402}" srcOrd="0" destOrd="2" presId="urn:microsoft.com/office/officeart/2009/3/layout/PlusandMinus"/>
    <dgm:cxn modelId="{2C663287-8880-4AE8-9A91-D3FEF704EB72}" srcId="{764097B5-37E4-49C8-B567-7E03714E6219}" destId="{A2D725FC-2B9D-4DF6-9380-31F39D8B81AF}" srcOrd="0" destOrd="0" parTransId="{E3B49A76-F602-4786-8E5B-6AEAE409EF3E}" sibTransId="{5D96FF7A-71B6-4912-9D51-52F72D231868}"/>
    <dgm:cxn modelId="{00A45B88-62E9-43E9-8859-FE9471BC44BB}" srcId="{052D066A-2778-440A-AF9E-90CA16F02906}" destId="{402628FA-FD3B-4082-80B0-24BAB9331F66}" srcOrd="0" destOrd="0" parTransId="{D8792A7D-2F1D-4915-918F-1A24D9A782AF}" sibTransId="{EF1CAB59-943D-4F62-9627-BB231476F3BD}"/>
    <dgm:cxn modelId="{9286738A-2787-415B-9E3E-EAAF1243BA60}" type="presOf" srcId="{764097B5-37E4-49C8-B567-7E03714E6219}" destId="{54FC03BA-548F-465A-864C-49F5B23FF80A}" srcOrd="0" destOrd="4" presId="urn:microsoft.com/office/officeart/2009/3/layout/PlusandMinus"/>
    <dgm:cxn modelId="{FF6B8593-5E8D-465D-8C7C-DD9F0F765723}" srcId="{4A2ECF66-61EA-4092-A5F0-0AABA5798ADC}" destId="{BF70A1E9-987C-477E-8AA5-BE5E8E1F463F}" srcOrd="1" destOrd="0" parTransId="{3DA63C89-5620-42EB-9ED8-35E6AE344339}" sibTransId="{AD456983-3D9C-4D1E-94A2-C9D7E48AD7AC}"/>
    <dgm:cxn modelId="{7ECD3DA4-D376-4AEE-9CCB-14DF41CF5D81}" type="presOf" srcId="{402628FA-FD3B-4082-80B0-24BAB9331F66}" destId="{54FC03BA-548F-465A-864C-49F5B23FF80A}" srcOrd="0" destOrd="3" presId="urn:microsoft.com/office/officeart/2009/3/layout/PlusandMinus"/>
    <dgm:cxn modelId="{1655AAAB-7FEE-49FA-9565-7676533713D6}" type="presOf" srcId="{8B11D35F-2473-4D37-B2AC-9A29946F15B4}" destId="{A5E46E06-86C1-40C8-BD3F-A5DB61AFC402}" srcOrd="0" destOrd="5" presId="urn:microsoft.com/office/officeart/2009/3/layout/PlusandMinus"/>
    <dgm:cxn modelId="{47629CBA-2048-4FE2-BA4A-352066713797}" type="presOf" srcId="{46A17DC2-229D-4815-B80A-DA511342E3B7}" destId="{54FC03BA-548F-465A-864C-49F5B23FF80A}" srcOrd="0" destOrd="1" presId="urn:microsoft.com/office/officeart/2009/3/layout/PlusandMinus"/>
    <dgm:cxn modelId="{8FF8BBC6-FEE1-479C-933C-F6F065532E9C}" type="presOf" srcId="{BF70A1E9-987C-477E-8AA5-BE5E8E1F463F}" destId="{A5E46E06-86C1-40C8-BD3F-A5DB61AFC402}" srcOrd="0" destOrd="4" presId="urn:microsoft.com/office/officeart/2009/3/layout/PlusandMinus"/>
    <dgm:cxn modelId="{1FAFA3CA-4265-4DEE-924A-0F097C13511A}" type="presOf" srcId="{51449D9F-84CA-42F6-BB09-200353B1A31E}" destId="{54FC03BA-548F-465A-864C-49F5B23FF80A}" srcOrd="0" destOrd="0" presId="urn:microsoft.com/office/officeart/2009/3/layout/PlusandMinus"/>
    <dgm:cxn modelId="{51748BCF-30D6-45E6-B158-0A77A9287F02}" type="presOf" srcId="{0E7C84C4-6D10-4E34-886F-799AAAED81B9}" destId="{A5E46E06-86C1-40C8-BD3F-A5DB61AFC402}" srcOrd="0" destOrd="0" presId="urn:microsoft.com/office/officeart/2009/3/layout/PlusandMinus"/>
    <dgm:cxn modelId="{A04AB3D4-D57F-47FF-91D7-F58E3794196C}" srcId="{4A2ECF66-61EA-4092-A5F0-0AABA5798ADC}" destId="{8B11D35F-2473-4D37-B2AC-9A29946F15B4}" srcOrd="2" destOrd="0" parTransId="{311D37A9-0316-40FB-BC47-4B386FBDC657}" sibTransId="{0AA587B4-7FF0-4E05-AAF1-D7200DA87F5A}"/>
    <dgm:cxn modelId="{95B233EE-3DA8-42A4-B67F-B9EE28AF9994}" type="presOf" srcId="{052D066A-2778-440A-AF9E-90CA16F02906}" destId="{54FC03BA-548F-465A-864C-49F5B23FF80A}" srcOrd="0" destOrd="2" presId="urn:microsoft.com/office/officeart/2009/3/layout/PlusandMinus"/>
    <dgm:cxn modelId="{768620F6-CF71-4141-95E5-52F84A9760BC}" srcId="{51449D9F-84CA-42F6-BB09-200353B1A31E}" destId="{052D066A-2778-440A-AF9E-90CA16F02906}" srcOrd="1" destOrd="0" parTransId="{8C39BAC8-7F58-410D-A5CB-0818C19D90AB}" sibTransId="{BAF6B9AF-17A7-4046-9A9A-B5E9B7B2BE9C}"/>
    <dgm:cxn modelId="{CC52E351-19A9-4235-ACA7-8DBCB0A29B14}" type="presParOf" srcId="{FA456C32-1935-4528-B38E-6202F6DE4455}" destId="{7D72D6A0-01B0-443C-8A00-8855318756B4}" srcOrd="0" destOrd="0" presId="urn:microsoft.com/office/officeart/2009/3/layout/PlusandMinus"/>
    <dgm:cxn modelId="{AF950181-4193-4923-B622-4A8E3FACD18B}" type="presParOf" srcId="{FA456C32-1935-4528-B38E-6202F6DE4455}" destId="{A5E46E06-86C1-40C8-BD3F-A5DB61AFC402}" srcOrd="1" destOrd="0" presId="urn:microsoft.com/office/officeart/2009/3/layout/PlusandMinus"/>
    <dgm:cxn modelId="{110675CF-9EAD-4209-BA39-29D76DE78A0B}" type="presParOf" srcId="{FA456C32-1935-4528-B38E-6202F6DE4455}" destId="{54FC03BA-548F-465A-864C-49F5B23FF80A}" srcOrd="2" destOrd="0" presId="urn:microsoft.com/office/officeart/2009/3/layout/PlusandMinus"/>
    <dgm:cxn modelId="{5C78AF8F-A1B7-433C-9DAE-20483F65694D}" type="presParOf" srcId="{FA456C32-1935-4528-B38E-6202F6DE4455}" destId="{F5B919F3-6902-4700-BAD7-7DC963918A78}" srcOrd="3" destOrd="0" presId="urn:microsoft.com/office/officeart/2009/3/layout/PlusandMinus"/>
    <dgm:cxn modelId="{980B41D9-095D-483E-869B-630A77C02B4C}" type="presParOf" srcId="{FA456C32-1935-4528-B38E-6202F6DE4455}" destId="{CECE9D5F-A6E3-49E7-84A6-D7CA29285A7D}" srcOrd="4" destOrd="0" presId="urn:microsoft.com/office/officeart/2009/3/layout/PlusandMinus"/>
    <dgm:cxn modelId="{B7F3F7D9-468F-4131-8909-811C9FA170DA}" type="presParOf" srcId="{FA456C32-1935-4528-B38E-6202F6DE4455}" destId="{5DFAD30C-9E0D-4535-B8D9-CA07BCD1C070}" srcOrd="5" destOrd="0" presId="urn:microsoft.com/office/officeart/2009/3/layout/PlusandMinu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D72D6A0-01B0-443C-8A00-8855318756B4}">
      <dsp:nvSpPr>
        <dsp:cNvPr id="0" name=""/>
        <dsp:cNvSpPr/>
      </dsp:nvSpPr>
      <dsp:spPr>
        <a:xfrm>
          <a:off x="2153101" y="806215"/>
          <a:ext cx="7106818" cy="3672760"/>
        </a:xfrm>
        <a:prstGeom prst="rect">
          <a:avLst/>
        </a:prstGeom>
        <a:solidFill>
          <a:schemeClr val="accent1">
            <a:tint val="5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5E46E06-86C1-40C8-BD3F-A5DB61AFC402}">
      <dsp:nvSpPr>
        <dsp:cNvPr id="0" name=""/>
        <dsp:cNvSpPr/>
      </dsp:nvSpPr>
      <dsp:spPr>
        <a:xfrm>
          <a:off x="2320715" y="1114789"/>
          <a:ext cx="3300177" cy="3142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b="1" kern="1200" dirty="0"/>
            <a:t>Health Economics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400" kern="1200" dirty="0"/>
            <a:t>Studies how Economic policies impact population health outcomes and Institutions which provide medical services.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400" kern="1200" dirty="0"/>
            <a:t>Some questions we address here are: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400" kern="1200" dirty="0"/>
            <a:t>Can a smoking tax make smoking less appealing?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400" kern="1200" dirty="0"/>
            <a:t>What economic factors determines the health and longevity of people?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400" kern="1200" dirty="0"/>
            <a:t>Does physician practice style change when we change their compensation structure.</a:t>
          </a:r>
        </a:p>
      </dsp:txBody>
      <dsp:txXfrm>
        <a:off x="2320715" y="1114789"/>
        <a:ext cx="3300177" cy="3142001"/>
      </dsp:txXfrm>
    </dsp:sp>
    <dsp:sp modelId="{54FC03BA-548F-465A-864C-49F5B23FF80A}">
      <dsp:nvSpPr>
        <dsp:cNvPr id="0" name=""/>
        <dsp:cNvSpPr/>
      </dsp:nvSpPr>
      <dsp:spPr>
        <a:xfrm>
          <a:off x="5682911" y="1154409"/>
          <a:ext cx="3631812" cy="314200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290" tIns="34290" rIns="34290" bIns="3429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1800" b="1" kern="1200" dirty="0"/>
            <a:t>Health Technology Assessment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400" kern="1200" dirty="0"/>
            <a:t>Studies how to bring new treatments and therapies to market by defining a drug’s value for money.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400" kern="1200" dirty="0"/>
            <a:t>Topics Include: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400" kern="1200" dirty="0"/>
            <a:t>What is a drug’s value for money? (Cost effectiveness analysis)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CA" sz="1400" kern="1200" dirty="0"/>
            <a:t>How much will funding of a drug cost? (Budget Impact analysis)</a:t>
          </a:r>
        </a:p>
        <a:p>
          <a:pPr marL="228600" lvl="2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CA" sz="1400" kern="1200" dirty="0"/>
        </a:p>
      </dsp:txBody>
      <dsp:txXfrm>
        <a:off x="5682911" y="1154409"/>
        <a:ext cx="3631812" cy="3142001"/>
      </dsp:txXfrm>
    </dsp:sp>
    <dsp:sp modelId="{F5B919F3-6902-4700-BAD7-7DC963918A78}">
      <dsp:nvSpPr>
        <dsp:cNvPr id="0" name=""/>
        <dsp:cNvSpPr/>
      </dsp:nvSpPr>
      <dsp:spPr>
        <a:xfrm>
          <a:off x="1518952" y="363647"/>
          <a:ext cx="962055" cy="1047279"/>
        </a:xfrm>
        <a:prstGeom prst="plus">
          <a:avLst>
            <a:gd name="adj" fmla="val 3281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CE9D5F-A6E3-49E7-84A6-D7CA29285A7D}">
      <dsp:nvSpPr>
        <dsp:cNvPr id="0" name=""/>
        <dsp:cNvSpPr/>
      </dsp:nvSpPr>
      <dsp:spPr>
        <a:xfrm>
          <a:off x="8617389" y="3892094"/>
          <a:ext cx="1307001" cy="447897"/>
        </a:xfrm>
        <a:prstGeom prst="rect">
          <a:avLst/>
        </a:prstGeom>
        <a:noFill/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FAD30C-9E0D-4535-B8D9-CA07BCD1C070}">
      <dsp:nvSpPr>
        <dsp:cNvPr id="0" name=""/>
        <dsp:cNvSpPr/>
      </dsp:nvSpPr>
      <dsp:spPr>
        <a:xfrm>
          <a:off x="5661737" y="1121507"/>
          <a:ext cx="816" cy="3000913"/>
        </a:xfrm>
        <a:prstGeom prst="line">
          <a:avLst/>
        </a:pr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PlusandMinus">
  <dgm:title val=""/>
  <dgm:desc val=""/>
  <dgm:catLst>
    <dgm:cat type="relationship" pri="36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clrData>
  <dgm:layoutNode name="Name0">
    <dgm:varLst>
      <dgm:chMax val="2"/>
      <dgm:chPref val="2"/>
      <dgm:dir/>
      <dgm:animOne/>
      <dgm:resizeHandles val="exact"/>
    </dgm:varLst>
    <dgm:alg type="composite">
      <dgm:param type="ar" val="1.8238"/>
    </dgm:alg>
    <dgm:shape xmlns:r="http://schemas.openxmlformats.org/officeDocument/2006/relationships" r:blip="">
      <dgm:adjLst/>
    </dgm:shape>
    <dgm:choose name="Name1">
      <dgm:if name="Name2" func="var" arg="dir" op="equ" val="norm">
        <dgm:constrLst>
          <dgm:constr type="primFontSz" for="des" ptType="node" op="equ" val="65"/>
          <dgm:constr type="l" for="ch" forName="Background" refType="w" fact="0.09"/>
          <dgm:constr type="t" for="ch" forName="Background" refType="h" fact="0.1641"/>
          <dgm:constr type="w" for="ch" forName="Background" refType="w" fact="0.87"/>
          <dgm:constr type="h" for="ch" forName="Background" refType="h" fact="0.82"/>
          <dgm:constr type="l" for="ch" forName="ParentText1" refType="w" fact="0.116"/>
          <dgm:constr type="t" for="ch" forName="ParentText1" refType="h" fact="0.26"/>
          <dgm:constr type="w" for="ch" forName="ParentText1" refType="w" fact="0.404"/>
          <dgm:constr type="h" for="ch" forName="ParentText1" refType="h" fact="0.7015"/>
          <dgm:constr type="l" for="ch" forName="ParentText2" refType="w" fact="0.529"/>
          <dgm:constr type="t" for="ch" forName="ParentText2" refType="h" fact="0.26"/>
          <dgm:constr type="w" for="ch" forName="ParentText2" refType="w" fact="0.404"/>
          <dgm:constr type="h" for="ch" forName="ParentText2" refType="h" fact="0.7015"/>
          <dgm:constr type="l" for="ch" forName="Plus" refType="w" fact="0"/>
          <dgm:constr type="t" for="ch" forName="Plus" refType="h" fact="0"/>
          <dgm:constr type="w" for="ch" forName="Plus" refType="w" fact="0.17"/>
          <dgm:constr type="h" for="ch" forName="Plus" refType="w" refFor="ch" refForName="Plus"/>
          <dgm:constr type="l" for="ch" forName="Minus" refType="w" fact="0.84"/>
          <dgm:constr type="t" for="ch" forName="Minus" refType="h" fact="0.1115"/>
          <dgm:constr type="w" for="ch" forName="Minus" refType="w" fact="0.16"/>
          <dgm:constr type="h" for="ch" forName="Minus" refType="h" fact="0.1"/>
          <dgm:constr type="l" for="ch" forName="Divider" refType="w" fact="0.525"/>
          <dgm:constr type="t" for="ch" forName="Divider" refType="h" fact="0.2615"/>
          <dgm:constr type="w" for="ch" forName="Divider" refType="w" fact="0.0001"/>
          <dgm:constr type="h" for="ch" forName="Divider" refType="h" fact="0.67"/>
        </dgm:constrLst>
      </dgm:if>
      <dgm:else name="Name3">
        <dgm:constrLst>
          <dgm:constr type="primFontSz" for="des" ptType="node" op="equ" val="65"/>
          <dgm:constr type="r" for="ch" forName="Background" refType="w" fact="-0.09"/>
          <dgm:constr type="t" for="ch" forName="Background" refType="h" fact="0.1641"/>
          <dgm:constr type="w" for="ch" forName="Background" refType="w" fact="0.87"/>
          <dgm:constr type="h" for="ch" forName="Background" refType="h" fact="0.82"/>
          <dgm:constr type="r" for="ch" forName="ParentText1" refType="w" fact="-0.116"/>
          <dgm:constr type="t" for="ch" forName="ParentText1" refType="h" fact="0.26"/>
          <dgm:constr type="w" for="ch" forName="ParentText1" refType="w" fact="0.404"/>
          <dgm:constr type="h" for="ch" forName="ParentText1" refType="h" fact="0.7015"/>
          <dgm:constr type="r" for="ch" forName="ParentText2" refType="w" fact="-0.529"/>
          <dgm:constr type="t" for="ch" forName="ParentText2" refType="h" fact="0.26"/>
          <dgm:constr type="w" for="ch" forName="ParentText2" refType="w" fact="0.404"/>
          <dgm:constr type="h" for="ch" forName="ParentText2" refType="h" fact="0.7015"/>
          <dgm:constr type="r" for="ch" forName="Plus" refType="w" fact="0"/>
          <dgm:constr type="t" for="ch" forName="Plus" refType="h" fact="0"/>
          <dgm:constr type="w" for="ch" forName="Plus" refType="w" fact="0.17"/>
          <dgm:constr type="h" for="ch" forName="Plus" refType="w" refFor="ch" refForName="Plus"/>
          <dgm:constr type="r" for="ch" forName="Minus" refType="w" fact="-0.84"/>
          <dgm:constr type="t" for="ch" forName="Minus" refType="h" fact="0.1115"/>
          <dgm:constr type="w" for="ch" forName="Minus" refType="w" fact="0.16"/>
          <dgm:constr type="h" for="ch" forName="Minus" refType="h" fact="0.1"/>
          <dgm:constr type="r" for="ch" forName="Divider" refType="w" fact="-0.525"/>
          <dgm:constr type="t" for="ch" forName="Divider" refType="h" fact="0.2615"/>
          <dgm:constr type="w" for="ch" forName="Divider" refType="w" fact="0.0001"/>
          <dgm:constr type="h" for="ch" forName="Divider" refType="h" fact="0.67"/>
        </dgm:constrLst>
      </dgm:else>
    </dgm:choose>
    <dgm:layoutNode name="Background" styleLbl="bgImgPlace1">
      <dgm:alg type="sp"/>
      <dgm:shape xmlns:r="http://schemas.openxmlformats.org/officeDocument/2006/relationships" type="rect" r:blip="">
        <dgm:adjLst/>
      </dgm:shape>
      <dgm:presOf/>
    </dgm:layoutNode>
    <dgm:layoutNode name="ParentText1" styleLbl="revTx">
      <dgm:varLst>
        <dgm:chMax val="0"/>
        <dgm:chPref val="0"/>
        <dgm:bulletEnabled val="1"/>
      </dgm:varLst>
      <dgm:alg type="tx">
        <dgm:param type="parTxLTRAlign" val="l"/>
        <dgm:param type="txAnchorVert" val="t"/>
      </dgm:alg>
      <dgm:shape xmlns:r="http://schemas.openxmlformats.org/officeDocument/2006/relationships" type="rect" r:blip="">
        <dgm:adjLst/>
      </dgm:shape>
      <dgm:presOf axis="ch desOrSelf" ptType="node node" st="1 1" cnt="1 0"/>
      <dgm:constrLst>
        <dgm:constr type="lMarg" refType="primFontSz" fact="0.15"/>
        <dgm:constr type="rMarg" refType="primFontSz" fact="0.15"/>
        <dgm:constr type="tMarg" refType="primFontSz" fact="0.15"/>
        <dgm:constr type="bMarg" refType="primFontSz" fact="0.15"/>
      </dgm:constrLst>
      <dgm:ruleLst>
        <dgm:rule type="primFontSz" val="5" fact="NaN" max="NaN"/>
      </dgm:ruleLst>
    </dgm:layoutNode>
    <dgm:layoutNode name="ParentText2" styleLbl="revTx">
      <dgm:varLst>
        <dgm:chMax val="0"/>
        <dgm:chPref val="0"/>
        <dgm:bulletEnabled val="1"/>
      </dgm:varLst>
      <dgm:alg type="tx">
        <dgm:param type="parTxLTRAlign" val="l"/>
        <dgm:param type="txAnchorVert" val="t"/>
      </dgm:alg>
      <dgm:shape xmlns:r="http://schemas.openxmlformats.org/officeDocument/2006/relationships" type="rect" r:blip="">
        <dgm:adjLst/>
      </dgm:shape>
      <dgm:presOf axis="ch desOrSelf" ptType="node node" st="2 1" cnt="1 0"/>
      <dgm:constrLst>
        <dgm:constr type="lMarg" refType="primFontSz" fact="0.15"/>
        <dgm:constr type="rMarg" refType="primFontSz" fact="0.15"/>
        <dgm:constr type="tMarg" refType="primFontSz" fact="0.15"/>
        <dgm:constr type="bMarg" refType="primFontSz" fact="0.15"/>
      </dgm:constrLst>
      <dgm:ruleLst>
        <dgm:rule type="primFontSz" val="5" fact="NaN" max="NaN"/>
      </dgm:ruleLst>
    </dgm:layoutNode>
    <dgm:layoutNode name="Plus" styleLbl="alignNode1">
      <dgm:alg type="sp"/>
      <dgm:shape xmlns:r="http://schemas.openxmlformats.org/officeDocument/2006/relationships" type="plus" r:blip="">
        <dgm:adjLst>
          <dgm:adj idx="1" val="0.3281"/>
        </dgm:adjLst>
      </dgm:shape>
      <dgm:presOf/>
    </dgm:layoutNode>
    <dgm:layoutNode name="Minus" styleLbl="alignNode1">
      <dgm:alg type="sp"/>
      <dgm:shape xmlns:r="http://schemas.openxmlformats.org/officeDocument/2006/relationships" type="rect" r:blip="">
        <dgm:adjLst/>
      </dgm:shape>
      <dgm:presOf/>
    </dgm:layoutNode>
    <dgm:layoutNode name="Divider" styleLbl="parChTrans1D1">
      <dgm:alg type="sp"/>
      <dgm:shape xmlns:r="http://schemas.openxmlformats.org/officeDocument/2006/relationships" type="line" r:blip="">
        <dgm:adjLst/>
      </dgm:shape>
      <dgm:presOf/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69A107-93FC-4C73-A81C-593CBB10CFEF}" type="datetimeFigureOut">
              <a:rPr lang="en-CA" smtClean="0"/>
              <a:t>2025-11-08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3E61FF-07A4-4C6C-B06F-DD1DA8ACF568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8738358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D5F97-D639-9634-6F8D-97A77BEF4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2C37858-9E6A-3CAA-9F0F-583E3EF205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3405F5-603B-B2ED-7E14-F11ED2691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F55651-7D3E-E30E-FD3D-CF0CCF21BA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E61FF-07A4-4C6C-B06F-DD1DA8ACF568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42481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3E61FF-07A4-4C6C-B06F-DD1DA8ACF568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637648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342FE-E00B-4FAF-8F73-F722060EBA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600" y="978408"/>
            <a:ext cx="10506991" cy="2531555"/>
          </a:xfrm>
          <a:prstGeom prst="rect">
            <a:avLst/>
          </a:prstGeom>
        </p:spPr>
        <p:txBody>
          <a:bodyPr anchor="b"/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C1CCE2-4461-473E-B23C-34C8CCF04B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2600" y="3602038"/>
            <a:ext cx="10506991" cy="2277554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AA551A-CE2F-4E35-A714-B1F04D4B4E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B5C907-6594-4DFF-A32B-449C3BA968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376D75-E9DA-4660-AC52-51BA63FCB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2EFA84C-D756-4DC7-AA46-68D776F37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6393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943735-A77F-440D-9448-6AE7C204D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634472" cy="2157984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6C6EE-D55E-454B-B28C-EC73D1DB4A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2A2905-6D2E-4319-9521-61452AB8F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AC7550-84E8-49D3-B419-6F5F327DA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AD2C6B-EA5D-4D97-BC84-6C860D5363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0066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61B299E6-11CC-4181-86C3-528A13F1F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3922232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803473-0A64-4F9F-833B-8D64E39019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9"/>
            <a:ext cx="10515600" cy="2716769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873736-B424-40F2-B562-6DC10E5ED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2600" y="4171445"/>
            <a:ext cx="10515600" cy="1918205"/>
          </a:xfrm>
        </p:spPr>
        <p:txBody>
          <a:bodyPr>
            <a:normAutofit/>
          </a:bodyPr>
          <a:lstStyle>
            <a:lvl1pPr marL="0" indent="0">
              <a:buNone/>
              <a:defRPr lang="en-US" sz="24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348851-37C0-478D-B722-D76C817DC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3E063E-66CE-4C18-91FA-D14AE052D7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A66D3D-FD62-470C-BC3C-A03771A32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DFF0049-0231-4557-A707-569556F0CA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3922232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57A0DB1-87C8-4BF4-B2A2-F9CA6ED05A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C29209-8A8F-48A7-8BA2-AFADA37CBD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49551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166BE9C-AE7C-4C39-9694-C32D6939B9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483577"/>
            <a:ext cx="11147071" cy="2434824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8ACC42C-303A-4BDF-990A-2B07967BC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599" y="978408"/>
            <a:ext cx="11147071" cy="17552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C55CEF-353E-4E14-83AD-ACADDC08D9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2600" y="3103131"/>
            <a:ext cx="5418551" cy="30738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55ECEF-9654-4AC1-BF77-7BC602BBD4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11120" y="3103131"/>
            <a:ext cx="5418551" cy="30738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922FC8-BC06-407B-A82B-DA62B33A1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15B701-4E1F-48AA-8A3C-ED5DD9151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6BCA31-8AC7-46F5-BCAB-41D54DF83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1BA86D8-2A29-4A0E-AEA0-39B41C4187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291840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085E13E-918A-4D04-9E84-94148D7C87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14863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5E892-D975-4DD6-8583-A14DDBE85F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1" y="978407"/>
            <a:ext cx="11145039" cy="1339584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1F7700-CECC-4881-BE5C-A13CD825B7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632" y="2500921"/>
            <a:ext cx="5346222" cy="823912"/>
          </a:xfrm>
        </p:spPr>
        <p:txBody>
          <a:bodyPr anchor="b">
            <a:normAutofit/>
          </a:bodyPr>
          <a:lstStyle>
            <a:lvl1pPr marL="0" indent="0">
              <a:buNone/>
              <a:defRPr lang="en-US" sz="2400" b="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A50766-520A-44C5-943E-569222B741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632" y="3428999"/>
            <a:ext cx="5346222" cy="2760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2F7E42-976A-4239-8006-D68538D4B7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57120" y="2500921"/>
            <a:ext cx="5372551" cy="823912"/>
          </a:xfrm>
        </p:spPr>
        <p:txBody>
          <a:bodyPr anchor="b"/>
          <a:lstStyle>
            <a:lvl1pPr marL="0" indent="0">
              <a:buNone/>
              <a:defRPr lang="en-US" sz="2400" b="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F8CA329-951F-4391-ADC5-7EA320B7782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57120" y="3428999"/>
            <a:ext cx="5372551" cy="27606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BEC22A-DA46-460C-B865-D928C20AE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EB2D647-42C5-4AB7-BB71-3A4406571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84632" y="6419088"/>
            <a:ext cx="4114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0B2B67-714C-46DA-85E5-598B4244D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89591" y="-7190"/>
            <a:ext cx="640080" cy="365125"/>
          </a:xfrm>
        </p:spPr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7989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D4B6724-AB30-4E7C-BE2B-ECD94FF1B4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1007" y="3933311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01D4BAB-2678-4A19-A575-C47CAF144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634472" cy="2591509"/>
          </a:xfrm>
          <a:prstGeom prst="rect">
            <a:avLst/>
          </a:prstGeo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47C89E-0ABD-4FD2-924C-894345ADF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53026CE-9CC8-403B-88B1-184D16532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B3D616-3C18-401B-A792-E75149FDF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4EC6F70-D800-4067-A36A-5BBFC8018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393331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2B66CB6-8988-4FBA-8524-726765A5F2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1007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90361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C73F84-0C6B-4EF4-9405-C38982499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CEC807-744E-4C5C-8B15-09AED3E57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FBCB19-9F4B-474C-85C1-4A645A971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333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6A88B0-DD6B-449B-AE32-D3192081E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978408"/>
            <a:ext cx="4287393" cy="2450592"/>
          </a:xfrm>
          <a:prstGeom prst="rect">
            <a:avLst/>
          </a:prstGeom>
        </p:spPr>
        <p:txBody>
          <a:bodyPr anchor="b"/>
          <a:lstStyle>
            <a:lvl1pPr>
              <a:defRPr lang="en-US" sz="5400" kern="120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22ED6-5B69-4B3B-BF96-3A75F2107F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7" y="987425"/>
            <a:ext cx="6446484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704043-D45F-440A-A15D-2718A913E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632" y="3645074"/>
            <a:ext cx="4287393" cy="2223914"/>
          </a:xfrm>
        </p:spPr>
        <p:txBody>
          <a:bodyPr/>
          <a:lstStyle>
            <a:lvl1pPr marL="0" indent="0">
              <a:buNone/>
              <a:defRPr lang="en-US" sz="2400" i="1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0072DC-7326-43E7-806C-B690C439E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3F89A0F-B8C6-4AA6-A9C4-4A454F422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57A616-A4F2-4FC5-88DE-B4E6BA5428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8114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B773D-D007-4687-BA9C-9F229829B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632" y="978407"/>
            <a:ext cx="4287393" cy="2450593"/>
          </a:xfrm>
          <a:prstGeom prst="rect">
            <a:avLst/>
          </a:prstGeom>
        </p:spPr>
        <p:txBody>
          <a:bodyPr anchor="b"/>
          <a:lstStyle>
            <a:lvl1pPr>
              <a:defRPr lang="en-US" sz="5400" kern="120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3A75FC-78D2-4EF5-884F-11B7BACF79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7" y="987425"/>
            <a:ext cx="6446483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D7CE0BB-D335-4391-A23F-194C575CAF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632" y="3645074"/>
            <a:ext cx="4287393" cy="2223914"/>
          </a:xfrm>
        </p:spPr>
        <p:txBody>
          <a:bodyPr/>
          <a:lstStyle>
            <a:lvl1pPr marL="0" indent="0">
              <a:buNone/>
              <a:defRPr lang="en-US" sz="2400" i="1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7701E1-B97B-4DA5-B9AD-07B7C12476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6D9CF8-F42F-4618-9F26-8BFE56487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CA2023-1ECA-4A96-BDC7-F7FA4368B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27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1999A10-4355-4A13-B008-196B21ABEE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82600" y="483576"/>
            <a:ext cx="11147071" cy="2434825"/>
          </a:xfrm>
          <a:prstGeom prst="rect">
            <a:avLst/>
          </a:prstGeom>
          <a:solidFill>
            <a:schemeClr val="accent1">
              <a:alpha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36D448-AFEA-4483-B0E4-002840525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506991" cy="17552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216234-4516-4303-8F60-A8127D89A5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192" y="3103131"/>
            <a:ext cx="10506991" cy="30929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6B5D50-A474-462B-A807-DF186B1C2F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BF1DAF-2E2D-46ED-AA3E-3D2FE4039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2FC771-EB13-4EB5-A0A2-3968C6ABB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3B596B8-8230-4695-8D76-F06AFA8156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2918401"/>
            <a:ext cx="11147071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53EBF93-5FD9-4F4E-8485-7B937145C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8233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66B4D06-C7C6-4949-8EB2-F03ED999A2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041710" y="978408"/>
            <a:ext cx="2947881" cy="5124777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921B9D-8C11-4176-AF22-89F972E212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632" y="978408"/>
            <a:ext cx="7256453" cy="512477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FA9E1C-8E18-4A35-9BD8-427B1D14B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B8F32D-D8B6-4B9E-9CBF-DCAC30B7B93D}" type="datetimeFigureOut">
              <a:rPr lang="en-US" smtClean="0"/>
              <a:t>11/8/2025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116CDB-7BB6-4DD2-A626-6DA8E569F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0403B-439E-449F-83B1-799EEC239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553ECD-7F6D-420D-93CA-D8D15EB427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9327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C87A535-3CAC-46BC-B2B2-3AE83EC3A5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978408"/>
            <a:ext cx="10506991" cy="215309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8EBDBD-59EC-46ED-BE79-6D37B531D6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2600" y="3306870"/>
            <a:ext cx="10506991" cy="25727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921F5C-FD3D-42C7-90F4-5ECE6FFCFE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84632" y="10058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81B8F32D-D8B6-4B9E-9CBF-DCAC30B7B93D}" type="datetimeFigureOut">
              <a:rPr lang="en-US" smtClean="0"/>
              <a:pPr/>
              <a:t>11/8/2025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E63D50-6D0B-4963-97B9-A32AE63235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4632" y="6419088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B5E08-CAC3-4C87-B143-5F8956AE90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89591" y="1005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60553ECD-7F6D-420D-93CA-D8D15EB427A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08D74AC-B125-4E11-BA53-E9E383966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DC76EBE-FB9D-4054-B5D8-19E3EAFE40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chemeClr val="tx2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6976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8" r:id="rId1"/>
    <p:sldLayoutId id="2147483789" r:id="rId2"/>
    <p:sldLayoutId id="2147483790" r:id="rId3"/>
    <p:sldLayoutId id="2147483791" r:id="rId4"/>
    <p:sldLayoutId id="2147483792" r:id="rId5"/>
    <p:sldLayoutId id="2147483793" r:id="rId6"/>
    <p:sldLayoutId id="2147483794" r:id="rId7"/>
    <p:sldLayoutId id="2147483795" r:id="rId8"/>
    <p:sldLayoutId id="2147483796" r:id="rId9"/>
    <p:sldLayoutId id="2147483797" r:id="rId10"/>
    <p:sldLayoutId id="2147483798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jpeg"/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Relationship Id="rId9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hyperlink" Target="https://doi.org/10.1787/7a7afb35-en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ackground Fill">
            <a:extLst>
              <a:ext uri="{FF2B5EF4-FFF2-40B4-BE49-F238E27FC236}">
                <a16:creationId xmlns:a16="http://schemas.microsoft.com/office/drawing/2014/main" id="{B6D694DB-A3FC-4F14-A225-17BEBA4416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D914C8D-3DB1-C1A7-6E7E-D775B424B8F7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t="7422" r="-1" b="8287"/>
          <a:stretch>
            <a:fillRect/>
          </a:stretch>
        </p:blipFill>
        <p:spPr>
          <a:xfrm>
            <a:off x="3059" y="10"/>
            <a:ext cx="12188941" cy="6857990"/>
          </a:xfrm>
          <a:prstGeom prst="rect">
            <a:avLst/>
          </a:prstGeom>
          <a:solidFill>
            <a:schemeClr val="accent1"/>
          </a:solidFill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6233B4D5-2565-4CC0-A9B1-C9EA9E9DE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89239" y="-389238"/>
            <a:ext cx="6858000" cy="7636476"/>
          </a:xfrm>
          <a:prstGeom prst="rect">
            <a:avLst/>
          </a:prstGeom>
          <a:gradFill>
            <a:gsLst>
              <a:gs pos="100000">
                <a:srgbClr val="000000">
                  <a:alpha val="0"/>
                </a:srgbClr>
              </a:gs>
              <a:gs pos="0">
                <a:schemeClr val="tx1"/>
              </a:gs>
              <a:gs pos="0">
                <a:srgbClr val="000000">
                  <a:alpha val="7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D0FB50-B90C-9526-E834-006C790BE7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9" y="1122363"/>
            <a:ext cx="5638801" cy="1868487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CA" sz="5100" dirty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Health Economics</a:t>
            </a:r>
            <a:br>
              <a:rPr lang="en-CA" sz="5100" dirty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</a:br>
            <a:r>
              <a:rPr lang="en-CA" sz="5100" dirty="0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rPr>
              <a:t>Lecture #1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F9C7FB-3F59-5796-DCA9-B54919671C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57199" y="3623356"/>
            <a:ext cx="5638801" cy="1634443"/>
          </a:xfrm>
        </p:spPr>
        <p:txBody>
          <a:bodyPr>
            <a:normAutofit/>
          </a:bodyPr>
          <a:lstStyle/>
          <a:p>
            <a:r>
              <a:rPr lang="en-CA" b="1" dirty="0">
                <a:ln w="6350">
                  <a:noFill/>
                  <a:prstDash val="solid"/>
                </a:ln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</a:rPr>
              <a:t>Topic: An Introduction to Health Economics MSMG 5240</a:t>
            </a: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6D02D326-F829-4915-A540-3A4D5ADFC3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489855"/>
            <a:ext cx="11147071" cy="0"/>
          </a:xfrm>
          <a:prstGeom prst="line">
            <a:avLst/>
          </a:prstGeom>
          <a:ln w="28575">
            <a:solidFill>
              <a:srgbClr val="FFF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528E080-CC35-4F6C-9D3C-949904DC4D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82600" y="6368138"/>
            <a:ext cx="11147071" cy="0"/>
          </a:xfrm>
          <a:prstGeom prst="line">
            <a:avLst/>
          </a:prstGeom>
          <a:ln w="28575">
            <a:solidFill>
              <a:srgbClr val="FFFFFF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28" name="Picture 4" descr="image">
            <a:extLst>
              <a:ext uri="{FF2B5EF4-FFF2-40B4-BE49-F238E27FC236}">
                <a16:creationId xmlns:a16="http://schemas.microsoft.com/office/drawing/2014/main" id="{07EDE8EE-97B2-4FFC-8019-3B0C8C737F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53241" y="5934750"/>
            <a:ext cx="2857500" cy="866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FA484E-AC5D-C709-0DD9-E23DB796CAD2}"/>
              </a:ext>
            </a:extLst>
          </p:cNvPr>
          <p:cNvSpPr txBox="1"/>
          <p:nvPr/>
        </p:nvSpPr>
        <p:spPr>
          <a:xfrm>
            <a:off x="482600" y="6428403"/>
            <a:ext cx="43340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>
                <a:solidFill>
                  <a:schemeClr val="bg1"/>
                </a:solidFill>
              </a:rPr>
              <a:t>Prepared by Jacob Smith, Trent University</a:t>
            </a:r>
          </a:p>
        </p:txBody>
      </p:sp>
    </p:spTree>
    <p:extLst>
      <p:ext uri="{BB962C8B-B14F-4D97-AF65-F5344CB8AC3E}">
        <p14:creationId xmlns:p14="http://schemas.microsoft.com/office/powerpoint/2010/main" val="32671801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A5715-D549-5DFA-82EB-2573E410C0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645033"/>
            <a:ext cx="10280650" cy="840867"/>
          </a:xfrm>
        </p:spPr>
        <p:txBody>
          <a:bodyPr/>
          <a:lstStyle/>
          <a:p>
            <a:r>
              <a:rPr lang="en-CA" dirty="0"/>
              <a:t>Learning 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804CF6-59F3-1BC6-3F09-48554FD0B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485900"/>
            <a:ext cx="10506991" cy="4203191"/>
          </a:xfrm>
        </p:spPr>
        <p:txBody>
          <a:bodyPr>
            <a:normAutofit/>
          </a:bodyPr>
          <a:lstStyle/>
          <a:p>
            <a:r>
              <a:rPr lang="en-CA" dirty="0"/>
              <a:t>In this lecture we will discuss: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What is Economics?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What is health economics?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Health Expenditures in Canada and the World: A Comparative Overview</a:t>
            </a:r>
          </a:p>
          <a:p>
            <a:pPr marL="1200150" lvl="1" indent="-514350">
              <a:buFont typeface="+mj-lt"/>
              <a:buAutoNum type="romanLcPeriod"/>
            </a:pPr>
            <a:r>
              <a:rPr lang="en-CA" dirty="0"/>
              <a:t>Comparing Healthcare Systems- Costs</a:t>
            </a:r>
          </a:p>
          <a:p>
            <a:pPr marL="1200150" lvl="1" indent="-514350">
              <a:buFont typeface="+mj-lt"/>
              <a:buAutoNum type="romanLcPeriod"/>
            </a:pPr>
            <a:r>
              <a:rPr lang="en-CA" dirty="0"/>
              <a:t>Comparing Healthcare Systems- Health Outcomes</a:t>
            </a:r>
          </a:p>
          <a:p>
            <a:pPr marL="1200150" lvl="1" indent="-514350">
              <a:buFont typeface="+mj-lt"/>
              <a:buAutoNum type="romanLcPeriod"/>
            </a:pPr>
            <a:r>
              <a:rPr lang="en-CA" dirty="0"/>
              <a:t>Comparing Healthcare Systems- Wait Times and Access to Care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Social Determinants of Health</a:t>
            </a:r>
            <a:br>
              <a:rPr lang="en-CA" dirty="0"/>
            </a:br>
            <a:endParaRPr lang="en-CA" dirty="0"/>
          </a:p>
          <a:p>
            <a:endParaRPr lang="en-CA" dirty="0"/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CA" dirty="0"/>
          </a:p>
          <a:p>
            <a:pPr marL="457200" indent="-457200">
              <a:buFont typeface="+mj-lt"/>
              <a:buAutoNum type="arabicPeriod"/>
            </a:pPr>
            <a:endParaRPr lang="en-CA" dirty="0"/>
          </a:p>
          <a:p>
            <a:pPr marL="457200" indent="-457200">
              <a:buFont typeface="+mj-lt"/>
              <a:buAutoNum type="arabicPeriod"/>
            </a:pPr>
            <a:endParaRPr lang="en-CA" dirty="0"/>
          </a:p>
          <a:p>
            <a:pPr marL="457200" indent="-457200">
              <a:buFont typeface="+mj-lt"/>
              <a:buAutoNum type="arabicPeriod"/>
            </a:pPr>
            <a:endParaRPr lang="en-CA" dirty="0"/>
          </a:p>
          <a:p>
            <a:pPr marL="457200" indent="-457200">
              <a:buFont typeface="+mj-lt"/>
              <a:buAutoNum type="arabicPeriod"/>
            </a:pPr>
            <a:endParaRPr lang="en-CA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42C93A9-61D0-70D3-75C4-A43F2AB757B8}"/>
              </a:ext>
            </a:extLst>
          </p:cNvPr>
          <p:cNvSpPr/>
          <p:nvPr/>
        </p:nvSpPr>
        <p:spPr>
          <a:xfrm>
            <a:off x="1462591" y="5072656"/>
            <a:ext cx="9014909" cy="1140311"/>
          </a:xfrm>
          <a:prstGeom prst="roundRect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CA" b="1" i="1" u="sng" dirty="0">
                <a:solidFill>
                  <a:schemeClr val="tx1"/>
                </a:solidFill>
              </a:rPr>
              <a:t>Goal of this Lecture: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CA" b="1" i="1" dirty="0">
                <a:solidFill>
                  <a:schemeClr val="tx1"/>
                </a:solidFill>
              </a:rPr>
              <a:t>Introduce you to Health economics and why its an interesting field to work in.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CA" b="1" i="1" dirty="0">
                <a:solidFill>
                  <a:schemeClr val="tx1"/>
                </a:solidFill>
              </a:rPr>
              <a:t>get you familiar with the kind of data we look at in Health Economics.</a:t>
            </a:r>
          </a:p>
        </p:txBody>
      </p:sp>
    </p:spTree>
    <p:extLst>
      <p:ext uri="{BB962C8B-B14F-4D97-AF65-F5344CB8AC3E}">
        <p14:creationId xmlns:p14="http://schemas.microsoft.com/office/powerpoint/2010/main" val="11757251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948AA5-C7B0-5591-2D32-4856D20FB3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1613B-0BEB-B987-F917-4AEFFB1969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 is Economics?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9F4FE9-BAB5-DE15-0D5F-4EB763128E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An introduction to the subject and scholarly community</a:t>
            </a:r>
          </a:p>
        </p:txBody>
      </p:sp>
    </p:spTree>
    <p:extLst>
      <p:ext uri="{BB962C8B-B14F-4D97-AF65-F5344CB8AC3E}">
        <p14:creationId xmlns:p14="http://schemas.microsoft.com/office/powerpoint/2010/main" val="1686226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8E8CB-01BC-99FD-F8B5-BB6855312E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5EFC12-3F89-761F-6864-38886780A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What is Economics?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C7FC58-3F22-1D14-6AB1-40B5D6094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943100"/>
            <a:ext cx="10506991" cy="3936491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 dirty="0"/>
              <a:t>Economics</a:t>
            </a:r>
            <a:r>
              <a:rPr lang="en-US" dirty="0"/>
              <a:t> is a behavioral science that studies the production, distribution, and consumption of goods and services.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A shorter definition is that </a:t>
            </a:r>
            <a:r>
              <a:rPr lang="en-CA" b="1" dirty="0"/>
              <a:t>Economics </a:t>
            </a:r>
            <a:r>
              <a:rPr lang="en-CA" dirty="0"/>
              <a:t>is the study of the allocation of scarce resources.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An eve </a:t>
            </a:r>
            <a:r>
              <a:rPr lang="en-CA" i="1" dirty="0"/>
              <a:t>shorter </a:t>
            </a:r>
            <a:r>
              <a:rPr lang="en-CA" dirty="0"/>
              <a:t>definition is that economics is the study of  </a:t>
            </a:r>
            <a:r>
              <a:rPr lang="en-CA" b="1" dirty="0"/>
              <a:t>WHAT, </a:t>
            </a:r>
            <a:r>
              <a:rPr lang="en-CA" dirty="0"/>
              <a:t>goes </a:t>
            </a:r>
            <a:r>
              <a:rPr lang="en-CA" b="1" dirty="0"/>
              <a:t>WHERE </a:t>
            </a:r>
            <a:r>
              <a:rPr lang="en-CA" dirty="0"/>
              <a:t>and </a:t>
            </a:r>
            <a:r>
              <a:rPr lang="en-CA" b="1" dirty="0"/>
              <a:t>WHY.</a:t>
            </a:r>
            <a:r>
              <a:rPr lang="en-CA" b="1" i="1" dirty="0"/>
              <a:t> </a:t>
            </a:r>
          </a:p>
          <a:p>
            <a:pPr marL="1028700" lvl="1" indent="-342900">
              <a:buFont typeface="Wingdings" panose="05000000000000000000" pitchFamily="2" charset="2"/>
              <a:buChar char="§"/>
            </a:pPr>
            <a:r>
              <a:rPr lang="en-CA" b="1" dirty="0"/>
              <a:t>What-</a:t>
            </a:r>
            <a:r>
              <a:rPr lang="en-CA" dirty="0"/>
              <a:t> Goods and Services</a:t>
            </a:r>
          </a:p>
          <a:p>
            <a:pPr marL="1028700" lvl="1" indent="-342900">
              <a:buFont typeface="Wingdings" panose="05000000000000000000" pitchFamily="2" charset="2"/>
              <a:buChar char="§"/>
            </a:pPr>
            <a:r>
              <a:rPr lang="en-CA" b="1" dirty="0"/>
              <a:t>Where-</a:t>
            </a:r>
            <a:r>
              <a:rPr lang="en-CA" dirty="0"/>
              <a:t> Consumers, Producers and Governments</a:t>
            </a:r>
          </a:p>
          <a:p>
            <a:pPr marL="1028700" lvl="1" indent="-342900">
              <a:buFont typeface="Wingdings" panose="05000000000000000000" pitchFamily="2" charset="2"/>
              <a:buChar char="§"/>
            </a:pPr>
            <a:r>
              <a:rPr lang="en-CA" b="1" dirty="0"/>
              <a:t>Why- </a:t>
            </a:r>
            <a:r>
              <a:rPr lang="en-CA" dirty="0"/>
              <a:t>Consumer’s Willingness to Pay, Producers willingness to accept or because the government said so.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When we start discussing the tools of economics in the next lecture, this last definition will make the </a:t>
            </a:r>
            <a:r>
              <a:rPr lang="en-CA"/>
              <a:t>most sense.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31373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373B8-8A9D-0C37-0410-753605356B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B37B5-03AE-8458-07DA-34DC275B0C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Branches of Economics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01C00-E5A4-A57B-53FA-6DF222C79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943100"/>
            <a:ext cx="10506991" cy="3936491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There are two branches of economics </a:t>
            </a:r>
            <a:r>
              <a:rPr lang="en-CA" b="1" dirty="0"/>
              <a:t>Microeconomics </a:t>
            </a:r>
            <a:r>
              <a:rPr lang="en-CA" dirty="0"/>
              <a:t>and </a:t>
            </a:r>
            <a:r>
              <a:rPr lang="en-CA" b="1" dirty="0"/>
              <a:t>Macroeconomics</a:t>
            </a:r>
            <a:r>
              <a:rPr lang="en-CA" dirty="0"/>
              <a:t>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b="1" dirty="0"/>
              <a:t>Microeconomics </a:t>
            </a:r>
            <a:r>
              <a:rPr lang="en-CA" dirty="0"/>
              <a:t>studies allocation decisions by consumers and producers and how they interact in markets.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b="1" dirty="0"/>
              <a:t>Macroeconomics</a:t>
            </a:r>
            <a:r>
              <a:rPr lang="en-CA" dirty="0"/>
              <a:t> studies economies through their aggregates such as GDP, Inflation and unemployment rate.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b="1" dirty="0"/>
              <a:t>Health Economics </a:t>
            </a:r>
            <a:r>
              <a:rPr lang="en-CA" dirty="0"/>
              <a:t>is a subfield of Microeconomics so the tools there will be most relevant however there have been some macro applications in the recent past (with reference to lockdown policy during covid).</a:t>
            </a:r>
          </a:p>
        </p:txBody>
      </p:sp>
    </p:spTree>
    <p:extLst>
      <p:ext uri="{BB962C8B-B14F-4D97-AF65-F5344CB8AC3E}">
        <p14:creationId xmlns:p14="http://schemas.microsoft.com/office/powerpoint/2010/main" val="20506478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98056-0EB6-1F9E-7D25-800D155C5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What is Health Economics?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B3E2BB-99CF-7281-13AC-89D064C1BB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CA" dirty="0"/>
              <a:t>An introduction to the subject and scholarly community</a:t>
            </a:r>
          </a:p>
        </p:txBody>
      </p:sp>
    </p:spTree>
    <p:extLst>
      <p:ext uri="{BB962C8B-B14F-4D97-AF65-F5344CB8AC3E}">
        <p14:creationId xmlns:p14="http://schemas.microsoft.com/office/powerpoint/2010/main" val="31575420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6173B-970C-AF58-5529-D35565815F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BBD02-2CCA-11A3-F56C-F303A5255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A Short History of Health Economics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7C9E11-CE34-B26F-3F0A-353AA0FAC3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943100"/>
            <a:ext cx="8000497" cy="3860171"/>
          </a:xfrm>
        </p:spPr>
        <p:txBody>
          <a:bodyPr>
            <a:normAutofit fontScale="92500" lnSpcReduction="20000"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Health economics is a subdiscipline of economics</a:t>
            </a:r>
            <a:br>
              <a:rPr lang="en-CA" dirty="0"/>
            </a:br>
            <a:r>
              <a:rPr lang="en-CA" dirty="0"/>
              <a:t>which studies the allocation of scarce resources</a:t>
            </a:r>
            <a:br>
              <a:rPr lang="en-CA" dirty="0"/>
            </a:br>
            <a:r>
              <a:rPr lang="en-CA" dirty="0"/>
              <a:t>in healthcare environments.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Most credit the creation of the</a:t>
            </a:r>
            <a:br>
              <a:rPr lang="en-CA" dirty="0"/>
            </a:br>
            <a:r>
              <a:rPr lang="en-CA" dirty="0"/>
              <a:t>research program of health economics due to</a:t>
            </a:r>
            <a:br>
              <a:rPr lang="en-CA" dirty="0"/>
            </a:br>
            <a:r>
              <a:rPr lang="en-CA" dirty="0"/>
              <a:t>Ken Arrow’s 1963 Publication: “</a:t>
            </a:r>
            <a:r>
              <a:rPr lang="en-US" dirty="0"/>
              <a:t>Uncertainty and the welfare economics of medical care”.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dirty="0"/>
              <a:t>The provision of medical services is different than the provision of all other goods is because by nature the market is full of </a:t>
            </a:r>
            <a:r>
              <a:rPr lang="en-US" b="1" dirty="0"/>
              <a:t>Information Asymmetry </a:t>
            </a:r>
            <a:r>
              <a:rPr lang="en-US" dirty="0"/>
              <a:t>and often there is no direct compensation between patients and physicians (this relationship is often mitigated by an insurance company).</a:t>
            </a:r>
            <a:endParaRPr lang="en-CA" dirty="0"/>
          </a:p>
        </p:txBody>
      </p:sp>
      <p:pic>
        <p:nvPicPr>
          <p:cNvPr id="2050" name="Picture 2" descr="undefined">
            <a:extLst>
              <a:ext uri="{FF2B5EF4-FFF2-40B4-BE49-F238E27FC236}">
                <a16:creationId xmlns:a16="http://schemas.microsoft.com/office/drawing/2014/main" id="{15F03E63-434E-226D-FD7D-4960ED6381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66252" y="1943100"/>
            <a:ext cx="2750820" cy="3438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4CA6A16-30EA-9CEB-77AD-49274B7269DD}"/>
              </a:ext>
            </a:extLst>
          </p:cNvPr>
          <p:cNvSpPr txBox="1"/>
          <p:nvPr/>
        </p:nvSpPr>
        <p:spPr>
          <a:xfrm>
            <a:off x="8272631" y="5287059"/>
            <a:ext cx="264348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dirty="0"/>
              <a:t>Ken Arrow: </a:t>
            </a:r>
            <a:br>
              <a:rPr lang="en-CA" i="1" dirty="0"/>
            </a:br>
            <a:r>
              <a:rPr lang="en-CA" i="1" dirty="0"/>
              <a:t>Nobel Prize Winner 1972</a:t>
            </a:r>
          </a:p>
        </p:txBody>
      </p:sp>
    </p:spTree>
    <p:extLst>
      <p:ext uri="{BB962C8B-B14F-4D97-AF65-F5344CB8AC3E}">
        <p14:creationId xmlns:p14="http://schemas.microsoft.com/office/powerpoint/2010/main" val="24281541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B3AB9-9FB9-8445-5223-913CE9666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E227F-65E0-AEF5-62B6-8DD56D0F14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Characteristics of Health Economists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9EAC9-DEEC-065B-393F-46D8889C95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943100"/>
            <a:ext cx="10506991" cy="3936491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Health economics is further unique because unlike other fields of economics, </a:t>
            </a:r>
            <a:r>
              <a:rPr lang="en-CA" b="1" dirty="0"/>
              <a:t>it is the most interdisciplinary </a:t>
            </a:r>
            <a:r>
              <a:rPr lang="en-CA" dirty="0"/>
              <a:t>in the sense of there being lots of people outside of economics departments doing this work.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You’ll often see people who work as health economists that come from schools of public health and economics departments with the former typically dominating industry jobs.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The reason? Questions of resource allocation naturally come up when talking about ways to improve population health.</a:t>
            </a:r>
          </a:p>
        </p:txBody>
      </p:sp>
    </p:spTree>
    <p:extLst>
      <p:ext uri="{BB962C8B-B14F-4D97-AF65-F5344CB8AC3E}">
        <p14:creationId xmlns:p14="http://schemas.microsoft.com/office/powerpoint/2010/main" val="21574925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8230ED-055A-3BD4-8B5E-BA1E1AEA8A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D57F2-7B16-66D1-7380-D5B2DB31A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Health Economics VS Health Technology Assessment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1BD339A5-AA8C-A619-52A5-CEF2FC04A93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1391664"/>
              </p:ext>
            </p:extLst>
          </p:nvPr>
        </p:nvGraphicFramePr>
        <p:xfrm>
          <a:off x="202665" y="1601313"/>
          <a:ext cx="11128353" cy="44789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EBD3BFE-36C1-19FE-9CE3-273416695FB4}"/>
                  </a:ext>
                </a:extLst>
              </p:cNvPr>
              <p:cNvSpPr txBox="1"/>
              <p:nvPr/>
            </p:nvSpPr>
            <p:spPr>
              <a:xfrm>
                <a:off x="8993171" y="5343712"/>
                <a:ext cx="837152" cy="110799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CA" sz="6600" b="0" i="1" smtClean="0">
                          <a:solidFill>
                            <a:schemeClr val="accent1"/>
                          </a:solidFill>
                          <a:latin typeface="Cambria Math" panose="02040503050406030204" pitchFamily="18" charset="0"/>
                        </a:rPr>
                        <m:t>𝜆</m:t>
                      </m:r>
                    </m:oMath>
                  </m:oMathPara>
                </a14:m>
                <a:endParaRPr lang="en-CA" sz="66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1EBD3BFE-36C1-19FE-9CE3-273416695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3171" y="5343712"/>
                <a:ext cx="837152" cy="110799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76265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D47D52-D4D7-EA9E-A3A5-F0CD9CB5C0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115840-3349-BC9A-EF30-B60B5B18F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Some Unique Features of Health Economics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2FFE73-1DE0-C271-4CFF-0D40757F88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943100"/>
            <a:ext cx="10506991" cy="3936491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CA" dirty="0"/>
              <a:t>Some more ways that health economics is unique include:</a:t>
            </a:r>
          </a:p>
          <a:p>
            <a:pPr marL="1143000" lvl="1" indent="-457200">
              <a:buFont typeface="+mj-lt"/>
              <a:buAutoNum type="arabicPeriod"/>
            </a:pPr>
            <a:r>
              <a:rPr lang="en-CA" dirty="0"/>
              <a:t>It’s a field that actively involves non economists (mostly those from schools of public health or med schools).</a:t>
            </a:r>
          </a:p>
          <a:p>
            <a:pPr marL="1143000" lvl="1" indent="-457200">
              <a:buFont typeface="+mj-lt"/>
              <a:buAutoNum type="arabicPeriod"/>
            </a:pPr>
            <a:r>
              <a:rPr lang="en-CA" dirty="0"/>
              <a:t>Most policy variables are non-numeric (Most applied questions are fund vs don’t fund).</a:t>
            </a:r>
          </a:p>
          <a:p>
            <a:pPr marL="1143000" lvl="1" indent="-457200">
              <a:buFont typeface="+mj-lt"/>
              <a:buAutoNum type="arabicPeriod"/>
            </a:pPr>
            <a:r>
              <a:rPr lang="en-CA" dirty="0"/>
              <a:t>When they are numeric there is a vast (as seen in the schedule of medical benefits)</a:t>
            </a:r>
          </a:p>
          <a:p>
            <a:pPr marL="1143000" lvl="1" indent="-457200">
              <a:buFont typeface="+mj-lt"/>
              <a:buAutoNum type="arabicPeriod"/>
            </a:pPr>
            <a:r>
              <a:rPr lang="en-CA" dirty="0"/>
              <a:t>The kind of bargaining for medical services are often not direct and involve the use of third parties such as insurance companies.</a:t>
            </a:r>
          </a:p>
          <a:p>
            <a:pPr marL="1143000" lvl="1" indent="-457200">
              <a:buFont typeface="+mj-lt"/>
              <a:buAutoNum type="arabicPeriod"/>
            </a:pPr>
            <a:r>
              <a:rPr lang="en-CA" dirty="0"/>
              <a:t>This is a field that makes interpersonal comparisons of utility (i.e. we often value the wellbeing of one group against another).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3233634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2C895-635C-1C2C-2524-F40A2A255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4ACF3B-CBEB-A951-61BF-404D6E5928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0651" y="247712"/>
            <a:ext cx="10634472" cy="1117092"/>
          </a:xfrm>
        </p:spPr>
        <p:txBody>
          <a:bodyPr/>
          <a:lstStyle/>
          <a:p>
            <a:r>
              <a:rPr lang="en-CA" sz="4800" dirty="0"/>
              <a:t>Some Famous Health Economists</a:t>
            </a:r>
          </a:p>
        </p:txBody>
      </p:sp>
      <p:pic>
        <p:nvPicPr>
          <p:cNvPr id="2052" name="Picture 4" descr="Michael Grossman | IZA - Institute of Labor Economics">
            <a:extLst>
              <a:ext uri="{FF2B5EF4-FFF2-40B4-BE49-F238E27FC236}">
                <a16:creationId xmlns:a16="http://schemas.microsoft.com/office/drawing/2014/main" id="{7CC5A9CA-9CB2-DB67-B5C5-411B93F0C3A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0483"/>
          <a:stretch>
            <a:fillRect/>
          </a:stretch>
        </p:blipFill>
        <p:spPr bwMode="auto">
          <a:xfrm>
            <a:off x="3664096" y="1160550"/>
            <a:ext cx="1921735" cy="2297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House Panel Beats Up on Gruber">
            <a:extLst>
              <a:ext uri="{FF2B5EF4-FFF2-40B4-BE49-F238E27FC236}">
                <a16:creationId xmlns:a16="http://schemas.microsoft.com/office/drawing/2014/main" id="{02F1C624-A77E-A2AA-D045-952A31BF7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23" y="1135240"/>
            <a:ext cx="3331775" cy="2217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Amy Finkelstein | MIT Economics">
            <a:extLst>
              <a:ext uri="{FF2B5EF4-FFF2-40B4-BE49-F238E27FC236}">
                <a16:creationId xmlns:a16="http://schemas.microsoft.com/office/drawing/2014/main" id="{7471D4F6-1654-46EE-F48A-67F8539914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8001" y="1146133"/>
            <a:ext cx="2297907" cy="2297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Victor R. Fuchs, ‘Dean’ of American Health Care Economists, Dies at 99 -  The New York Times">
            <a:extLst>
              <a:ext uri="{FF2B5EF4-FFF2-40B4-BE49-F238E27FC236}">
                <a16:creationId xmlns:a16="http://schemas.microsoft.com/office/drawing/2014/main" id="{D7105E3F-3C61-8469-6914-984A2F545D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3646" y="1135240"/>
            <a:ext cx="2297907" cy="2293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0" name="Picture 12" descr="Mark Pauly - Knowledge at Wharton">
            <a:extLst>
              <a:ext uri="{FF2B5EF4-FFF2-40B4-BE49-F238E27FC236}">
                <a16:creationId xmlns:a16="http://schemas.microsoft.com/office/drawing/2014/main" id="{941DF7F6-D114-4625-6A77-CA4E2BDC3E5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81" r="12971"/>
          <a:stretch>
            <a:fillRect/>
          </a:stretch>
        </p:blipFill>
        <p:spPr bwMode="auto">
          <a:xfrm>
            <a:off x="173409" y="3843506"/>
            <a:ext cx="2308861" cy="2140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AFF8AC1-1262-B23B-5755-655B66BFF0BB}"/>
              </a:ext>
            </a:extLst>
          </p:cNvPr>
          <p:cNvSpPr txBox="1"/>
          <p:nvPr/>
        </p:nvSpPr>
        <p:spPr>
          <a:xfrm>
            <a:off x="66223" y="3275672"/>
            <a:ext cx="1890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Jonathan Gruber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1B60180-B9A5-CC31-5614-53AD2FDEC3DC}"/>
              </a:ext>
            </a:extLst>
          </p:cNvPr>
          <p:cNvSpPr txBox="1"/>
          <p:nvPr/>
        </p:nvSpPr>
        <p:spPr>
          <a:xfrm>
            <a:off x="3526998" y="3429000"/>
            <a:ext cx="20588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Michael Grossman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2591B78-3B6A-D74A-193F-DF8ADA43A31E}"/>
              </a:ext>
            </a:extLst>
          </p:cNvPr>
          <p:cNvSpPr txBox="1"/>
          <p:nvPr/>
        </p:nvSpPr>
        <p:spPr>
          <a:xfrm>
            <a:off x="5918001" y="3474174"/>
            <a:ext cx="18204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Amy Finkelstein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D47E51-939A-B078-2F16-015E1C2A3015}"/>
              </a:ext>
            </a:extLst>
          </p:cNvPr>
          <p:cNvSpPr txBox="1"/>
          <p:nvPr/>
        </p:nvSpPr>
        <p:spPr>
          <a:xfrm>
            <a:off x="8548078" y="3414171"/>
            <a:ext cx="14564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Victor Fuchs</a:t>
            </a:r>
          </a:p>
        </p:txBody>
      </p:sp>
      <p:pic>
        <p:nvPicPr>
          <p:cNvPr id="2064" name="Picture 16" descr="Mike Drummond - OHE">
            <a:extLst>
              <a:ext uri="{FF2B5EF4-FFF2-40B4-BE49-F238E27FC236}">
                <a16:creationId xmlns:a16="http://schemas.microsoft.com/office/drawing/2014/main" id="{FEBA7FDC-A31D-1821-5842-A983D732EAD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936"/>
          <a:stretch>
            <a:fillRect/>
          </a:stretch>
        </p:blipFill>
        <p:spPr bwMode="auto">
          <a:xfrm>
            <a:off x="2659314" y="3843506"/>
            <a:ext cx="1735368" cy="21407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B93D845-3350-B002-9574-C730E28B0200}"/>
              </a:ext>
            </a:extLst>
          </p:cNvPr>
          <p:cNvSpPr txBox="1"/>
          <p:nvPr/>
        </p:nvSpPr>
        <p:spPr>
          <a:xfrm>
            <a:off x="94596" y="5930748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Mark Pauly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AD86555-372D-E625-9406-D17326033F8B}"/>
              </a:ext>
            </a:extLst>
          </p:cNvPr>
          <p:cNvSpPr txBox="1"/>
          <p:nvPr/>
        </p:nvSpPr>
        <p:spPr>
          <a:xfrm>
            <a:off x="2561083" y="5930748"/>
            <a:ext cx="21980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Michael Drummond</a:t>
            </a:r>
          </a:p>
        </p:txBody>
      </p:sp>
      <p:pic>
        <p:nvPicPr>
          <p:cNvPr id="2066" name="Picture 18" descr="MARKERS OF THE MIDDLE CLASS, A Respondent Talk by Evelyn Forget (economist)  | February 16, 2017 • 7pm - Plug In ICA">
            <a:extLst>
              <a:ext uri="{FF2B5EF4-FFF2-40B4-BE49-F238E27FC236}">
                <a16:creationId xmlns:a16="http://schemas.microsoft.com/office/drawing/2014/main" id="{A94AFFFA-262D-11AF-B574-772682DAD5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9223"/>
          <a:stretch>
            <a:fillRect/>
          </a:stretch>
        </p:blipFill>
        <p:spPr bwMode="auto">
          <a:xfrm>
            <a:off x="4936165" y="3873640"/>
            <a:ext cx="2593350" cy="2061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71AA856-BC9D-DAA9-1B4C-F8C8354773D9}"/>
              </a:ext>
            </a:extLst>
          </p:cNvPr>
          <p:cNvSpPr txBox="1"/>
          <p:nvPr/>
        </p:nvSpPr>
        <p:spPr>
          <a:xfrm>
            <a:off x="4936165" y="5901463"/>
            <a:ext cx="15765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Evelyn Forget</a:t>
            </a:r>
          </a:p>
        </p:txBody>
      </p:sp>
      <p:pic>
        <p:nvPicPr>
          <p:cNvPr id="2068" name="Picture 20">
            <a:extLst>
              <a:ext uri="{FF2B5EF4-FFF2-40B4-BE49-F238E27FC236}">
                <a16:creationId xmlns:a16="http://schemas.microsoft.com/office/drawing/2014/main" id="{1CD69A5A-238F-C429-E591-B35FAAFD48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15908" y="3754745"/>
            <a:ext cx="2185392" cy="2185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9FFE17A-CBCF-4CE5-0053-5D45584DE91F}"/>
              </a:ext>
            </a:extLst>
          </p:cNvPr>
          <p:cNvSpPr txBox="1"/>
          <p:nvPr/>
        </p:nvSpPr>
        <p:spPr>
          <a:xfrm>
            <a:off x="8088096" y="5895128"/>
            <a:ext cx="16945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Han Bleichrodt</a:t>
            </a:r>
          </a:p>
        </p:txBody>
      </p:sp>
    </p:spTree>
    <p:extLst>
      <p:ext uri="{BB962C8B-B14F-4D97-AF65-F5344CB8AC3E}">
        <p14:creationId xmlns:p14="http://schemas.microsoft.com/office/powerpoint/2010/main" val="3988603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B31C6-07EE-3419-D5F2-C7B5479534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689CB-4D3C-BEAC-C5A2-67FA91A3E1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Professional Organizations</a:t>
            </a:r>
          </a:p>
        </p:txBody>
      </p:sp>
      <p:pic>
        <p:nvPicPr>
          <p:cNvPr id="1026" name="Picture 2" descr="International Health Economics Association">
            <a:extLst>
              <a:ext uri="{FF2B5EF4-FFF2-40B4-BE49-F238E27FC236}">
                <a16:creationId xmlns:a16="http://schemas.microsoft.com/office/drawing/2014/main" id="{D02C4CB3-336E-7440-0A13-C7CAAA5A63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38801" y="1952886"/>
            <a:ext cx="3590925" cy="14761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ite Logo">
            <a:extLst>
              <a:ext uri="{FF2B5EF4-FFF2-40B4-BE49-F238E27FC236}">
                <a16:creationId xmlns:a16="http://schemas.microsoft.com/office/drawing/2014/main" id="{23178B64-5543-0185-23ED-FE228DD98B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7133" y="3551855"/>
            <a:ext cx="3590925" cy="1165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SPOR—The Professional Society for Health Economics and Outcomes Research">
            <a:extLst>
              <a:ext uri="{FF2B5EF4-FFF2-40B4-BE49-F238E27FC236}">
                <a16:creationId xmlns:a16="http://schemas.microsoft.com/office/drawing/2014/main" id="{8CFDE98A-728A-794B-A5BA-323CD25EB8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63943" y="2854192"/>
            <a:ext cx="2289309" cy="2289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68598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278176-3DC0-DFC1-EF2E-0F2BC83EA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Health Expenditures in Canada and the World: A Comparative Overview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4410207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81D08C-6CCC-87DD-6BBD-72C4E8219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48F16-76FF-7689-A6C7-AC26BA82D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Thinking about healthcare systems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B024D-AA27-47A1-91FF-F9E10595A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943100"/>
            <a:ext cx="10506991" cy="393649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The first line of thinking about health economics is to think along two dimensions.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These are:</a:t>
            </a:r>
          </a:p>
          <a:p>
            <a:pPr marL="1143000" lvl="1" indent="-457200">
              <a:buFont typeface="+mj-lt"/>
              <a:buAutoNum type="arabicPeriod"/>
            </a:pPr>
            <a:r>
              <a:rPr lang="en-CA" dirty="0"/>
              <a:t>Costs</a:t>
            </a:r>
          </a:p>
          <a:p>
            <a:pPr marL="1143000" lvl="1" indent="-457200">
              <a:buFont typeface="+mj-lt"/>
              <a:buAutoNum type="arabicPeriod"/>
            </a:pPr>
            <a:r>
              <a:rPr lang="en-CA" dirty="0"/>
              <a:t>Health Outcomes.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dirty="0"/>
              <a:t>While this wont tell the full story, it will provide a map for where to start looking.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CA" dirty="0"/>
              <a:t>The next couple of slides will go over this in particular.</a:t>
            </a:r>
          </a:p>
        </p:txBody>
      </p:sp>
    </p:spTree>
    <p:extLst>
      <p:ext uri="{BB962C8B-B14F-4D97-AF65-F5344CB8AC3E}">
        <p14:creationId xmlns:p14="http://schemas.microsoft.com/office/powerpoint/2010/main" val="17060269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22FF0-E9FB-E091-3BA1-C9275B085F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Comparing Healthcare Systems- Costs</a:t>
            </a:r>
          </a:p>
        </p:txBody>
      </p:sp>
    </p:spTree>
    <p:extLst>
      <p:ext uri="{BB962C8B-B14F-4D97-AF65-F5344CB8AC3E}">
        <p14:creationId xmlns:p14="http://schemas.microsoft.com/office/powerpoint/2010/main" val="41124236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44A3A-762C-B0F0-9E45-D1928E503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of health care spending compared with other countries/regions&#10;&#10;AI-generated content may be incorrect.">
            <a:extLst>
              <a:ext uri="{FF2B5EF4-FFF2-40B4-BE49-F238E27FC236}">
                <a16:creationId xmlns:a16="http://schemas.microsoft.com/office/drawing/2014/main" id="{A5F3F952-3DF8-D04A-4CB5-26227B0110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2576" y="560430"/>
            <a:ext cx="7718752" cy="5366804"/>
          </a:xfrm>
        </p:spPr>
      </p:pic>
    </p:spTree>
    <p:extLst>
      <p:ext uri="{BB962C8B-B14F-4D97-AF65-F5344CB8AC3E}">
        <p14:creationId xmlns:p14="http://schemas.microsoft.com/office/powerpoint/2010/main" val="31375232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D252C8-84A1-ED08-5AED-6A57018DE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with purple bars&#10;&#10;AI-generated content may be incorrect.">
            <a:extLst>
              <a:ext uri="{FF2B5EF4-FFF2-40B4-BE49-F238E27FC236}">
                <a16:creationId xmlns:a16="http://schemas.microsoft.com/office/drawing/2014/main" id="{59313B21-04E7-0F40-04C4-6772B90599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43162" y="692142"/>
            <a:ext cx="8105675" cy="5473715"/>
          </a:xfrm>
        </p:spPr>
      </p:pic>
    </p:spTree>
    <p:extLst>
      <p:ext uri="{BB962C8B-B14F-4D97-AF65-F5344CB8AC3E}">
        <p14:creationId xmlns:p14="http://schemas.microsoft.com/office/powerpoint/2010/main" val="42765245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21FC6-5C70-B3F6-916D-97A02DD88F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aph of health care costs&#10;&#10;AI-generated content may be incorrect.">
            <a:extLst>
              <a:ext uri="{FF2B5EF4-FFF2-40B4-BE49-F238E27FC236}">
                <a16:creationId xmlns:a16="http://schemas.microsoft.com/office/drawing/2014/main" id="{5DEBD82C-E74C-6DF8-33EA-FBFFA32038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72952" y="609048"/>
            <a:ext cx="7144437" cy="5639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621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E0C56-82D0-F50C-0DED-B51732C76D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A graph of health care expenses&#10;&#10;AI-generated content may be incorrect.">
            <a:extLst>
              <a:ext uri="{FF2B5EF4-FFF2-40B4-BE49-F238E27FC236}">
                <a16:creationId xmlns:a16="http://schemas.microsoft.com/office/drawing/2014/main" id="{16E8C23A-D6A7-115D-7049-E85A91F067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86000" y="585613"/>
            <a:ext cx="7098030" cy="5686774"/>
          </a:xfrm>
        </p:spPr>
      </p:pic>
    </p:spTree>
    <p:extLst>
      <p:ext uri="{BB962C8B-B14F-4D97-AF65-F5344CB8AC3E}">
        <p14:creationId xmlns:p14="http://schemas.microsoft.com/office/powerpoint/2010/main" val="27356428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9506C-1EF7-429D-4194-16D97122A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C2879-39E2-62B5-1353-C3D7AC2078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Summary of findings on health system costs.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5C7C07-CAEE-2D6E-80A0-B085154791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943100"/>
            <a:ext cx="10506991" cy="393649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As of 2022, approximately 11.2% of Canda’s GDP makes up healthcare spending.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Hospitals make up the largest share of health care spending around 25%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The United states spends nearly double Canada’s GDP per capita for health care.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The private share of healthcare expenditure in the US is the largest among OCED countries.</a:t>
            </a:r>
          </a:p>
        </p:txBody>
      </p:sp>
    </p:spTree>
    <p:extLst>
      <p:ext uri="{BB962C8B-B14F-4D97-AF65-F5344CB8AC3E}">
        <p14:creationId xmlns:p14="http://schemas.microsoft.com/office/powerpoint/2010/main" val="40593221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526E39-C5C5-862C-04F8-09AEB8CCE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FACC3-DDDD-0C1F-568D-7C47E0477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Comparing Healthcare Systems- Health Outcomes</a:t>
            </a:r>
          </a:p>
        </p:txBody>
      </p:sp>
    </p:spTree>
    <p:extLst>
      <p:ext uri="{BB962C8B-B14F-4D97-AF65-F5344CB8AC3E}">
        <p14:creationId xmlns:p14="http://schemas.microsoft.com/office/powerpoint/2010/main" val="37835690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114F4-BC6E-6C36-D2E9-6A2FADE950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CD99008F-7771-390E-FF62-6C693911EBA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04975395"/>
              </p:ext>
            </p:extLst>
          </p:nvPr>
        </p:nvGraphicFramePr>
        <p:xfrm>
          <a:off x="1271952" y="479770"/>
          <a:ext cx="8775689" cy="54261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981CEF34-63BB-DEC4-901A-7D094DCF1094}"/>
              </a:ext>
            </a:extLst>
          </p:cNvPr>
          <p:cNvSpPr txBox="1"/>
          <p:nvPr/>
        </p:nvSpPr>
        <p:spPr>
          <a:xfrm>
            <a:off x="1271952" y="5905948"/>
            <a:ext cx="53539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200" i="1" dirty="0"/>
              <a:t>Source: https://www.oecd.org/en/data/indicators/life-expectancy-at-birth.html</a:t>
            </a:r>
          </a:p>
        </p:txBody>
      </p:sp>
    </p:spTree>
    <p:extLst>
      <p:ext uri="{BB962C8B-B14F-4D97-AF65-F5344CB8AC3E}">
        <p14:creationId xmlns:p14="http://schemas.microsoft.com/office/powerpoint/2010/main" val="39172643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2B8ED-70F5-B663-1237-7E17E3364B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893C9-47C4-E672-8EF1-A577DF8E3D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0081" y="5841402"/>
            <a:ext cx="10506991" cy="221069"/>
          </a:xfrm>
        </p:spPr>
        <p:txBody>
          <a:bodyPr>
            <a:normAutofit fontScale="40000" lnSpcReduction="20000"/>
          </a:bodyPr>
          <a:lstStyle/>
          <a:p>
            <a:r>
              <a:rPr lang="en-US" dirty="0"/>
              <a:t>OECD (2023), </a:t>
            </a:r>
            <a:r>
              <a:rPr lang="en-US" i="1" dirty="0"/>
              <a:t>Health at a Glance 2023: OECD Indicators</a:t>
            </a:r>
            <a:r>
              <a:rPr lang="en-US" dirty="0"/>
              <a:t>, OECD Publishing, Paris, </a:t>
            </a:r>
            <a:r>
              <a:rPr lang="en-US" dirty="0">
                <a:hlinkClick r:id="rId2"/>
              </a:rPr>
              <a:t>https://doi.org/10.1787/7a7afb35-en</a:t>
            </a:r>
            <a:r>
              <a:rPr lang="en-US" dirty="0"/>
              <a:t>.</a:t>
            </a:r>
            <a:endParaRPr lang="en-CA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E676E1FF-5D2D-8544-A0AE-9D6A932D2D1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78571389"/>
              </p:ext>
            </p:extLst>
          </p:nvPr>
        </p:nvGraphicFramePr>
        <p:xfrm>
          <a:off x="451822" y="473337"/>
          <a:ext cx="11317044" cy="52820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7214036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CABDEC-8267-26CB-3E55-C7D7B04A9F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38742323-270D-D6E3-A670-B7A00418D6C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58488317"/>
              </p:ext>
            </p:extLst>
          </p:nvPr>
        </p:nvGraphicFramePr>
        <p:xfrm>
          <a:off x="630563" y="473336"/>
          <a:ext cx="10051780" cy="54637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71A322FD-AF9D-A052-DD35-E2441F9B1A70}"/>
              </a:ext>
            </a:extLst>
          </p:cNvPr>
          <p:cNvSpPr txBox="1"/>
          <p:nvPr/>
        </p:nvSpPr>
        <p:spPr>
          <a:xfrm>
            <a:off x="630563" y="5937036"/>
            <a:ext cx="466839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200" i="1" dirty="0"/>
              <a:t>Source: https://www.oecd.org/en/data/indicators/suicide-rates.html?</a:t>
            </a:r>
          </a:p>
        </p:txBody>
      </p:sp>
    </p:spTree>
    <p:extLst>
      <p:ext uri="{BB962C8B-B14F-4D97-AF65-F5344CB8AC3E}">
        <p14:creationId xmlns:p14="http://schemas.microsoft.com/office/powerpoint/2010/main" val="367407665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>
            <a:extLst>
              <a:ext uri="{FF2B5EF4-FFF2-40B4-BE49-F238E27FC236}">
                <a16:creationId xmlns:a16="http://schemas.microsoft.com/office/drawing/2014/main" id="{4E7D83DA-1507-B3B8-8D03-C0F25DCB06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889"/>
          <a:stretch>
            <a:fillRect/>
          </a:stretch>
        </p:blipFill>
        <p:spPr bwMode="auto">
          <a:xfrm>
            <a:off x="75643" y="1606358"/>
            <a:ext cx="6020358" cy="35811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>
            <a:extLst>
              <a:ext uri="{FF2B5EF4-FFF2-40B4-BE49-F238E27FC236}">
                <a16:creationId xmlns:a16="http://schemas.microsoft.com/office/drawing/2014/main" id="{CFD0E0BE-DB63-12D5-0609-402C35113B3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00"/>
          <a:stretch>
            <a:fillRect/>
          </a:stretch>
        </p:blipFill>
        <p:spPr bwMode="auto">
          <a:xfrm>
            <a:off x="6171643" y="1356140"/>
            <a:ext cx="6020357" cy="3721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A70662B-C7B4-D9FA-AD9C-451059C54B49}"/>
              </a:ext>
            </a:extLst>
          </p:cNvPr>
          <p:cNvSpPr txBox="1"/>
          <p:nvPr/>
        </p:nvSpPr>
        <p:spPr>
          <a:xfrm>
            <a:off x="631874" y="879231"/>
            <a:ext cx="65484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/>
              <a:t>Firearm </a:t>
            </a:r>
            <a:r>
              <a:rPr lang="en-CA" b="1"/>
              <a:t>and Non-Firearm </a:t>
            </a:r>
            <a:r>
              <a:rPr lang="en-CA" b="1" dirty="0"/>
              <a:t>Suicides: Canada VS United States</a:t>
            </a:r>
            <a:br>
              <a:rPr lang="en-CA" b="1" dirty="0"/>
            </a:br>
            <a:r>
              <a:rPr lang="en-CA" b="1" dirty="0"/>
              <a:t>2016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5F07CFD-D6A2-16CD-14BB-F49477C0C148}"/>
              </a:ext>
            </a:extLst>
          </p:cNvPr>
          <p:cNvSpPr txBox="1"/>
          <p:nvPr/>
        </p:nvSpPr>
        <p:spPr>
          <a:xfrm>
            <a:off x="631874" y="5435345"/>
            <a:ext cx="627350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/>
              <a:t>Source: </a:t>
            </a:r>
            <a:r>
              <a:rPr lang="en-US" sz="1400" i="1" dirty="0" err="1"/>
              <a:t>Raifman</a:t>
            </a:r>
            <a:r>
              <a:rPr lang="en-US" sz="1400" i="1" dirty="0"/>
              <a:t>, J., Sampson, L., &amp; Galea, S. (2020). Suicide fatalities in the US compared to Canada: Potential suicides averted with lower firearm ownership in the US. </a:t>
            </a:r>
            <a:r>
              <a:rPr lang="en-US" sz="1400" i="1" dirty="0" err="1"/>
              <a:t>PLoS</a:t>
            </a:r>
            <a:r>
              <a:rPr lang="en-US" sz="1400" i="1" dirty="0"/>
              <a:t> one, 15(4), e0232252.</a:t>
            </a:r>
            <a:endParaRPr lang="en-CA" sz="1400" i="1" dirty="0"/>
          </a:p>
        </p:txBody>
      </p:sp>
    </p:spTree>
    <p:extLst>
      <p:ext uri="{BB962C8B-B14F-4D97-AF65-F5344CB8AC3E}">
        <p14:creationId xmlns:p14="http://schemas.microsoft.com/office/powerpoint/2010/main" val="400817221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3C4A59-2CB3-3E3A-0DDB-84BEC84E6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4CB81456-696E-DF6A-A616-E7FEE979EB0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10991034"/>
              </p:ext>
            </p:extLst>
          </p:nvPr>
        </p:nvGraphicFramePr>
        <p:xfrm>
          <a:off x="1072040" y="755983"/>
          <a:ext cx="9664091" cy="534603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B6A6B68-A97C-0645-F4F9-E2DC046D41ED}"/>
              </a:ext>
            </a:extLst>
          </p:cNvPr>
          <p:cNvSpPr txBox="1"/>
          <p:nvPr/>
        </p:nvSpPr>
        <p:spPr>
          <a:xfrm>
            <a:off x="1072040" y="5927464"/>
            <a:ext cx="699619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i="1" dirty="0"/>
              <a:t>Source: https://www.oecd.org/en/publications/addressing-problematic-opioid-use-in-oecd-countries_a18286f0-en/full-report/component-6.html#chapter-d1e392</a:t>
            </a:r>
          </a:p>
        </p:txBody>
      </p:sp>
    </p:spTree>
    <p:extLst>
      <p:ext uri="{BB962C8B-B14F-4D97-AF65-F5344CB8AC3E}">
        <p14:creationId xmlns:p14="http://schemas.microsoft.com/office/powerpoint/2010/main" val="235526596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B7BE2B-5892-1ABF-0084-33715EA93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5E6238B-E2BD-C464-4FF3-7AC1E13117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80139988"/>
              </p:ext>
            </p:extLst>
          </p:nvPr>
        </p:nvGraphicFramePr>
        <p:xfrm>
          <a:off x="878541" y="774027"/>
          <a:ext cx="10434918" cy="53099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4A6B51E3-3D8E-C33A-ABC2-A8DB0BB3820A}"/>
              </a:ext>
            </a:extLst>
          </p:cNvPr>
          <p:cNvSpPr txBox="1"/>
          <p:nvPr/>
        </p:nvSpPr>
        <p:spPr>
          <a:xfrm>
            <a:off x="760206" y="6083973"/>
            <a:ext cx="519366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1200" dirty="0"/>
              <a:t>Source: https://www.oecd.org/en/data/indicators/deaths-from-cancer.html</a:t>
            </a:r>
          </a:p>
        </p:txBody>
      </p:sp>
    </p:spTree>
    <p:extLst>
      <p:ext uri="{BB962C8B-B14F-4D97-AF65-F5344CB8AC3E}">
        <p14:creationId xmlns:p14="http://schemas.microsoft.com/office/powerpoint/2010/main" val="12583389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805C3E-4AC7-8897-7BFD-68B734E2D6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DFC5A0-DEAC-2EFE-C02C-EF8CD6512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Summary of Results on Health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E247E8-F2EA-2901-63EE-2D1DA7E366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2018403"/>
            <a:ext cx="10506991" cy="393649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Those in the United states appear to have a shorter life expectancy than other OCED countries.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This mostly due to illicit drug use and higher suicide rates.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Higher suicide rates have a lot to do with access to “lethal means” such as firearms.</a:t>
            </a:r>
          </a:p>
        </p:txBody>
      </p:sp>
    </p:spTree>
    <p:extLst>
      <p:ext uri="{BB962C8B-B14F-4D97-AF65-F5344CB8AC3E}">
        <p14:creationId xmlns:p14="http://schemas.microsoft.com/office/powerpoint/2010/main" val="15997470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E1B03-9882-44C6-1BE5-9D1D88E12D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Comparing Healthcare Systems- Wait Times and Access to Care</a:t>
            </a:r>
          </a:p>
        </p:txBody>
      </p:sp>
    </p:spTree>
    <p:extLst>
      <p:ext uri="{BB962C8B-B14F-4D97-AF65-F5344CB8AC3E}">
        <p14:creationId xmlns:p14="http://schemas.microsoft.com/office/powerpoint/2010/main" val="257761087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1D5F5C-2FF4-F25A-1311-D1D6C3981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97E842-5838-837D-3F8E-391B319A9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A word on wait times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5564B4-6345-57D0-41D9-C1D782A2AA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0784" y="1714501"/>
            <a:ext cx="5627743" cy="3599778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The market for medical procedures is unique as often there is no direct bargaining over the price of a procedure.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Bargaining Is often mitigated through a third party payer (be this private or public insurance).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One of the metrics we care to look at (but is often overlooked in most courses in health economics) is wait times for procedures.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5E9AEB5-8FC1-5D1F-F485-5365723CA3FF}"/>
              </a:ext>
            </a:extLst>
          </p:cNvPr>
          <p:cNvCxnSpPr/>
          <p:nvPr/>
        </p:nvCxnSpPr>
        <p:spPr>
          <a:xfrm flipV="1">
            <a:off x="7433534" y="2054711"/>
            <a:ext cx="1656677" cy="2280621"/>
          </a:xfrm>
          <a:prstGeom prst="straightConnector1">
            <a:avLst/>
          </a:prstGeom>
          <a:ln w="5715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CBC4E84-7D06-E63E-8AE9-B1DD5B7B32F4}"/>
              </a:ext>
            </a:extLst>
          </p:cNvPr>
          <p:cNvCxnSpPr>
            <a:cxnSpLocks/>
          </p:cNvCxnSpPr>
          <p:nvPr/>
        </p:nvCxnSpPr>
        <p:spPr>
          <a:xfrm flipH="1" flipV="1">
            <a:off x="9381563" y="2054711"/>
            <a:ext cx="1547309" cy="2452744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0535E50-F475-D805-2A54-7BABAE709769}"/>
              </a:ext>
            </a:extLst>
          </p:cNvPr>
          <p:cNvCxnSpPr>
            <a:cxnSpLocks/>
          </p:cNvCxnSpPr>
          <p:nvPr/>
        </p:nvCxnSpPr>
        <p:spPr>
          <a:xfrm flipH="1">
            <a:off x="7854874" y="4627582"/>
            <a:ext cx="2635624" cy="0"/>
          </a:xfrm>
          <a:prstGeom prst="straightConnector1">
            <a:avLst/>
          </a:prstGeom>
          <a:ln w="38100">
            <a:solidFill>
              <a:schemeClr val="tx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70A8CF5-8FA4-36FD-A8FD-A1D925819764}"/>
              </a:ext>
            </a:extLst>
          </p:cNvPr>
          <p:cNvSpPr txBox="1"/>
          <p:nvPr/>
        </p:nvSpPr>
        <p:spPr>
          <a:xfrm>
            <a:off x="6791959" y="4442916"/>
            <a:ext cx="917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Patient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D73F7F4-8FF7-EFF1-3DC7-282A75178BAA}"/>
              </a:ext>
            </a:extLst>
          </p:cNvPr>
          <p:cNvSpPr txBox="1"/>
          <p:nvPr/>
        </p:nvSpPr>
        <p:spPr>
          <a:xfrm>
            <a:off x="10533977" y="4464425"/>
            <a:ext cx="129009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Healthcare</a:t>
            </a:r>
            <a:br>
              <a:rPr lang="en-CA" dirty="0"/>
            </a:br>
            <a:r>
              <a:rPr lang="en-CA" dirty="0"/>
              <a:t>Provider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961473D-7445-3257-7CEA-243F55D7C198}"/>
              </a:ext>
            </a:extLst>
          </p:cNvPr>
          <p:cNvSpPr txBox="1"/>
          <p:nvPr/>
        </p:nvSpPr>
        <p:spPr>
          <a:xfrm>
            <a:off x="8316555" y="1675959"/>
            <a:ext cx="1982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/>
              <a:t>Third-Party Payer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68D6CC0-4FA9-AEEC-99E7-594A8EFE7033}"/>
              </a:ext>
            </a:extLst>
          </p:cNvPr>
          <p:cNvSpPr txBox="1"/>
          <p:nvPr/>
        </p:nvSpPr>
        <p:spPr>
          <a:xfrm>
            <a:off x="7229139" y="5110756"/>
            <a:ext cx="39125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i="1" u="sng" dirty="0"/>
              <a:t>The Triangle of Healthcare Provision</a:t>
            </a:r>
          </a:p>
        </p:txBody>
      </p:sp>
    </p:spTree>
    <p:extLst>
      <p:ext uri="{BB962C8B-B14F-4D97-AF65-F5344CB8AC3E}">
        <p14:creationId xmlns:p14="http://schemas.microsoft.com/office/powerpoint/2010/main" val="20880863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560F3-B72F-62F5-8675-7884BDF800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oShape 2">
            <a:extLst>
              <a:ext uri="{FF2B5EF4-FFF2-40B4-BE49-F238E27FC236}">
                <a16:creationId xmlns:a16="http://schemas.microsoft.com/office/drawing/2014/main" id="{FE5EB258-923D-F9B3-D2F3-904C3631043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/>
          </a:p>
        </p:txBody>
      </p:sp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F24062FE-B163-8BB2-967A-A4C0200DECD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14411719"/>
              </p:ext>
            </p:extLst>
          </p:nvPr>
        </p:nvGraphicFramePr>
        <p:xfrm>
          <a:off x="1645919" y="505608"/>
          <a:ext cx="9176273" cy="542185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425668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F24062FE-B163-8BB2-967A-A4C0200DECD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80170470"/>
              </p:ext>
            </p:extLst>
          </p:nvPr>
        </p:nvGraphicFramePr>
        <p:xfrm>
          <a:off x="2009579" y="645788"/>
          <a:ext cx="8172842" cy="53082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9657166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476EF6-E6B2-7958-4606-7FEB844D7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515C1-40E5-E88A-EAFE-BB15606F15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Summary of Results on Wait Times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4FA3BA-843E-29AE-C2A5-CCA7B29D53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943100"/>
            <a:ext cx="10506991" cy="393649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In general, Canada has some of the longest wait times for seeing a doctor or specialist compared to other OCED countries.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The United States has better, but not the shortest wait time for procedures.</a:t>
            </a:r>
          </a:p>
        </p:txBody>
      </p:sp>
    </p:spTree>
    <p:extLst>
      <p:ext uri="{BB962C8B-B14F-4D97-AF65-F5344CB8AC3E}">
        <p14:creationId xmlns:p14="http://schemas.microsoft.com/office/powerpoint/2010/main" val="355236867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6047A-9A05-3BEB-2853-9395E309A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22B23-4FC8-69F0-7ECD-2629C3EC6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Social Determinants of Health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766460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C906D-8BA3-AD3A-B340-ABFB251288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C831C4-B5F8-625B-C043-B7A616DC9D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What are the social determinants of health?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897BA0-835D-4F45-40D2-0707FDBA92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943100"/>
            <a:ext cx="10506991" cy="3936491"/>
          </a:xfrm>
        </p:spPr>
        <p:txBody>
          <a:bodyPr>
            <a:normAutofit fontScale="92500"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Everyone is born in a unique set of circumstances.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Some of these can be changed (like household income, education) others  can't (like sex and race).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Both factors which can be changed and can't be changed can impact the distribution of health outcomes.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Exposure to these facts lead people in two directions:</a:t>
            </a:r>
          </a:p>
          <a:p>
            <a:pPr marL="342900" indent="-342900">
              <a:buFontTx/>
              <a:buChar char="-"/>
            </a:pPr>
            <a:r>
              <a:rPr lang="en-CA" dirty="0"/>
              <a:t>This is a result of systemic discrimination (How sociologists think about it)</a:t>
            </a:r>
          </a:p>
          <a:p>
            <a:pPr marL="342900" indent="-342900">
              <a:buFontTx/>
              <a:buChar char="-"/>
            </a:pPr>
            <a:r>
              <a:rPr lang="en-CA" dirty="0"/>
              <a:t>This is a result of choices and genetic endowment. (how most economists think about it).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In any case, these are facts that motivate further investigation.</a:t>
            </a:r>
          </a:p>
          <a:p>
            <a:pPr marL="342900" indent="-342900">
              <a:buFontTx/>
              <a:buChar char="-"/>
            </a:pP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5227007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F9CEB4-F8F1-AB17-0420-D4561821D4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5DE5443-D7FE-FC14-BDAD-14E2BB3BD3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8353" y="721845"/>
            <a:ext cx="8442448" cy="5414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3190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This figure is a scatter plot with best fit lines titled 'Community Education Levels and Mortality Rates'. The y-axis, labeled 'All-cause mortality rate per 100,000', ranges from 800 to 1400 in increments of 200. The x-axis, labeled 'Share of local population with college degrees', ranges from 10% to 50%. Three time periods are represented: 1990, 2000, and 2010. The 1990 line Starts at about 1350 mortality rate at 10% college-educated share. It has a Slight negative slope, decreasing to around 1200 at nearly 40% share. The 2000 line Starts around 1300 at about 13% share. It has a Steeper slope than 1990 and Decreases to about 1100 at 40% share. It Continues to decline to around 1050 at 47% share. The 2010 line has the Lowest starting point and steepest decline. It Begins at about 1150 mortality rate at 14% share and Reaches about 900 at 40% share, before Decreasing further to around 800 at 50% share. The source line reads, Source: Researchers' calculations using data from Multiple Cause Mortality Files and the US Census.">
            <a:extLst>
              <a:ext uri="{FF2B5EF4-FFF2-40B4-BE49-F238E27FC236}">
                <a16:creationId xmlns:a16="http://schemas.microsoft.com/office/drawing/2014/main" id="{6A360E05-3415-05A8-B99F-F9D4F4CD47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1035" y="551738"/>
            <a:ext cx="7727315" cy="5502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537327E-982E-A465-7A11-ECCF62810447}"/>
              </a:ext>
            </a:extLst>
          </p:cNvPr>
          <p:cNvSpPr txBox="1"/>
          <p:nvPr/>
        </p:nvSpPr>
        <p:spPr>
          <a:xfrm>
            <a:off x="1931035" y="5983096"/>
            <a:ext cx="40411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1200" dirty="0"/>
              <a:t>Source: https://www.nber.org/bh/20242/why-do-more-educated-communities-have-better-health-outcomes</a:t>
            </a:r>
          </a:p>
        </p:txBody>
      </p:sp>
    </p:spTree>
    <p:extLst>
      <p:ext uri="{BB962C8B-B14F-4D97-AF65-F5344CB8AC3E}">
        <p14:creationId xmlns:p14="http://schemas.microsoft.com/office/powerpoint/2010/main" val="138816349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81F8CFE-668F-B7E1-390F-F9B0AB15CB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1644" y="573336"/>
            <a:ext cx="5639846" cy="57113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46FB91E-8CC3-93A1-E3DC-5593E8097E32}"/>
              </a:ext>
            </a:extLst>
          </p:cNvPr>
          <p:cNvSpPr txBox="1"/>
          <p:nvPr/>
        </p:nvSpPr>
        <p:spPr>
          <a:xfrm>
            <a:off x="8535353" y="5010062"/>
            <a:ext cx="345662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Source: </a:t>
            </a:r>
            <a:r>
              <a:rPr lang="en-US" sz="1200" b="0" i="1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Zajacova</a:t>
            </a:r>
            <a:r>
              <a:rPr lang="en-US" sz="12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A., &amp; Lawrence, E. M. (2018). The relationship between education and health: reducing disparities through a contextual approach. Annual review of public health, 39, 273-289.</a:t>
            </a:r>
            <a:endParaRPr lang="en-CA" sz="1200" i="1" dirty="0"/>
          </a:p>
        </p:txBody>
      </p:sp>
    </p:spTree>
    <p:extLst>
      <p:ext uri="{BB962C8B-B14F-4D97-AF65-F5344CB8AC3E}">
        <p14:creationId xmlns:p14="http://schemas.microsoft.com/office/powerpoint/2010/main" val="133053887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5EE66-C60F-9DFF-E16D-DD8982D2E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BA09E020-2E76-E6F2-0B8A-5974E474357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06857722"/>
              </p:ext>
            </p:extLst>
          </p:nvPr>
        </p:nvGraphicFramePr>
        <p:xfrm>
          <a:off x="341021" y="613186"/>
          <a:ext cx="10384353" cy="52712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8A31908-2FA0-B7B4-DC62-6A8434FF089D}"/>
              </a:ext>
            </a:extLst>
          </p:cNvPr>
          <p:cNvSpPr txBox="1"/>
          <p:nvPr/>
        </p:nvSpPr>
        <p:spPr>
          <a:xfrm>
            <a:off x="458993" y="5798371"/>
            <a:ext cx="563700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/>
              <a:t>Source: Wait times to see a medical specialist in Canada, 2024 Data table 1</a:t>
            </a:r>
            <a:br>
              <a:rPr lang="en-US" dirty="0"/>
            </a:b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401954266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0BADE-3DED-CEC9-BEE5-9DDC4198E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E99B6-F2F4-84E5-CDDC-EF12E7320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Summary of results on Social Determinants of Health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00C0D4-2867-9F25-243F-F1007050B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943100"/>
            <a:ext cx="10506991" cy="393649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People have genetic endowments which determine life expectancy, however things like educational attainment appears to also play a role.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Two important relationships are the relationship between education vs mortality and education vs health status.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There are differences between men and women in their wait times for care, however on its own we can't say much (in countries other than Canada there is a paradox).</a:t>
            </a:r>
          </a:p>
        </p:txBody>
      </p:sp>
    </p:spTree>
    <p:extLst>
      <p:ext uri="{BB962C8B-B14F-4D97-AF65-F5344CB8AC3E}">
        <p14:creationId xmlns:p14="http://schemas.microsoft.com/office/powerpoint/2010/main" val="52227848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D25FDE-E180-E1D7-C966-0CA49B365E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91EBE0-3CEA-4256-8298-5139916C1C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600" y="597408"/>
            <a:ext cx="10634472" cy="1117092"/>
          </a:xfrm>
        </p:spPr>
        <p:txBody>
          <a:bodyPr/>
          <a:lstStyle/>
          <a:p>
            <a:r>
              <a:rPr lang="en-CA" sz="4800" dirty="0"/>
              <a:t>Concluding Remarks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6B2144-9741-CCB8-C3EF-2B352CCD22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2600" y="1943100"/>
            <a:ext cx="10506991" cy="3936491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CA" dirty="0"/>
              <a:t>This lecture we covered:</a:t>
            </a:r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What is health economics?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Health Expenditures in Canada and the World: A Comparative Overview</a:t>
            </a:r>
          </a:p>
          <a:p>
            <a:pPr marL="1200150" lvl="1" indent="-514350">
              <a:buFont typeface="+mj-lt"/>
              <a:buAutoNum type="romanLcPeriod"/>
            </a:pPr>
            <a:r>
              <a:rPr lang="en-CA" dirty="0"/>
              <a:t>Comparing Healthcare Systems- Costs</a:t>
            </a:r>
          </a:p>
          <a:p>
            <a:pPr marL="1200150" lvl="1" indent="-514350">
              <a:buFont typeface="+mj-lt"/>
              <a:buAutoNum type="romanLcPeriod"/>
            </a:pPr>
            <a:r>
              <a:rPr lang="en-CA" dirty="0"/>
              <a:t>Comparing Healthcare Systems- Health Outcomes</a:t>
            </a:r>
          </a:p>
          <a:p>
            <a:pPr marL="1200150" lvl="1" indent="-514350">
              <a:buFont typeface="+mj-lt"/>
              <a:buAutoNum type="romanLcPeriod"/>
            </a:pPr>
            <a:r>
              <a:rPr lang="en-CA" dirty="0"/>
              <a:t>Comparing Healthcare Systems- Wait Times and Access to Care</a:t>
            </a: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CA" dirty="0"/>
              <a:t>Social Determinants of Health</a:t>
            </a:r>
            <a:br>
              <a:rPr lang="en-CA" dirty="0"/>
            </a:b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48275677"/>
      </p:ext>
    </p:extLst>
  </p:cSld>
  <p:clrMapOvr>
    <a:masterClrMapping/>
  </p:clrMapOvr>
</p:sld>
</file>

<file path=ppt/theme/theme1.xml><?xml version="1.0" encoding="utf-8"?>
<a:theme xmlns:a="http://schemas.openxmlformats.org/drawingml/2006/main" name="LevelVTI">
  <a:themeElements>
    <a:clrScheme name="Custom 88">
      <a:dk1>
        <a:sysClr val="windowText" lastClr="000000"/>
      </a:dk1>
      <a:lt1>
        <a:sysClr val="window" lastClr="FFFFFF"/>
      </a:lt1>
      <a:dk2>
        <a:srgbClr val="182230"/>
      </a:dk2>
      <a:lt2>
        <a:srgbClr val="F2F2F2"/>
      </a:lt2>
      <a:accent1>
        <a:srgbClr val="00BAC8"/>
      </a:accent1>
      <a:accent2>
        <a:srgbClr val="794DFF"/>
      </a:accent2>
      <a:accent3>
        <a:srgbClr val="00D17D"/>
      </a:accent3>
      <a:accent4>
        <a:srgbClr val="E69500"/>
      </a:accent4>
      <a:accent5>
        <a:srgbClr val="FE5D21"/>
      </a:accent5>
      <a:accent6>
        <a:srgbClr val="939393"/>
      </a:accent6>
      <a:hlink>
        <a:srgbClr val="3E8FF1"/>
      </a:hlink>
      <a:folHlink>
        <a:srgbClr val="939393"/>
      </a:folHlink>
    </a:clrScheme>
    <a:fontScheme name="Seaford">
      <a:majorFont>
        <a:latin typeface="Seaford"/>
        <a:ea typeface=""/>
        <a:cs typeface=""/>
      </a:majorFont>
      <a:minorFont>
        <a:latin typeface="Seafor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LevelVTI" id="{64F43929-0387-4D33-907F-72B939BCAF99}" vid="{D804DF84-3298-4A39-BA0E-21F83D68BC2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5471</TotalTime>
  <Words>1724</Words>
  <Application>Microsoft Office PowerPoint</Application>
  <PresentationFormat>Widescreen</PresentationFormat>
  <Paragraphs>172</Paragraphs>
  <Slides>41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7" baseType="lpstr">
      <vt:lpstr>Aptos</vt:lpstr>
      <vt:lpstr>Arial</vt:lpstr>
      <vt:lpstr>Cambria Math</vt:lpstr>
      <vt:lpstr>Seaford</vt:lpstr>
      <vt:lpstr>Wingdings</vt:lpstr>
      <vt:lpstr>LevelVTI</vt:lpstr>
      <vt:lpstr>Health Economics Lecture #1</vt:lpstr>
      <vt:lpstr>Learning Objectives</vt:lpstr>
      <vt:lpstr>What is Economics?</vt:lpstr>
      <vt:lpstr>What is Economics?</vt:lpstr>
      <vt:lpstr>Branches of Economics</vt:lpstr>
      <vt:lpstr>What is Health Economics?</vt:lpstr>
      <vt:lpstr>A Short History of Health Economics</vt:lpstr>
      <vt:lpstr>Characteristics of Health Economists</vt:lpstr>
      <vt:lpstr>Health Economics VS Health Technology Assessment</vt:lpstr>
      <vt:lpstr>Some Unique Features of Health Economics</vt:lpstr>
      <vt:lpstr>Some Famous Health Economists</vt:lpstr>
      <vt:lpstr>Professional Organizations</vt:lpstr>
      <vt:lpstr>Health Expenditures in Canada and the World: A Comparative Overview</vt:lpstr>
      <vt:lpstr>Thinking about healthcare systems</vt:lpstr>
      <vt:lpstr>Comparing Healthcare Systems- Costs</vt:lpstr>
      <vt:lpstr>PowerPoint Presentation</vt:lpstr>
      <vt:lpstr>PowerPoint Presentation</vt:lpstr>
      <vt:lpstr>PowerPoint Presentation</vt:lpstr>
      <vt:lpstr>PowerPoint Presentation</vt:lpstr>
      <vt:lpstr>Summary of findings on health system costs.</vt:lpstr>
      <vt:lpstr>Comparing Healthcare Systems- Health Outcomes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Summary of Results on Health Outcomes</vt:lpstr>
      <vt:lpstr>Comparing Healthcare Systems- Wait Times and Access to Care</vt:lpstr>
      <vt:lpstr>A word on wait times</vt:lpstr>
      <vt:lpstr>PowerPoint Presentation</vt:lpstr>
      <vt:lpstr>PowerPoint Presentation</vt:lpstr>
      <vt:lpstr>Summary of Results on Wait Times</vt:lpstr>
      <vt:lpstr>The Social Determinants of Health</vt:lpstr>
      <vt:lpstr>What are the social determinants of health?</vt:lpstr>
      <vt:lpstr>PowerPoint Presentation</vt:lpstr>
      <vt:lpstr>PowerPoint Presentation</vt:lpstr>
      <vt:lpstr>PowerPoint Presentation</vt:lpstr>
      <vt:lpstr>PowerPoint Presentation</vt:lpstr>
      <vt:lpstr>Summary of results on Social Determinants of Health</vt:lpstr>
      <vt:lpstr>Concluding Remarks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Smith</dc:creator>
  <cp:lastModifiedBy>Jacob Smith</cp:lastModifiedBy>
  <cp:revision>31</cp:revision>
  <dcterms:created xsi:type="dcterms:W3CDTF">2025-07-13T05:00:08Z</dcterms:created>
  <dcterms:modified xsi:type="dcterms:W3CDTF">2025-11-09T02:46:11Z</dcterms:modified>
</cp:coreProperties>
</file>