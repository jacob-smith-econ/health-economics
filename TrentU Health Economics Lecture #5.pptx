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99" r:id="rId1"/>
  </p:sldMasterIdLst>
  <p:notesMasterIdLst>
    <p:notesMasterId r:id="rId23"/>
  </p:notesMasterIdLst>
  <p:sldIdLst>
    <p:sldId id="256" r:id="rId2"/>
    <p:sldId id="257" r:id="rId3"/>
    <p:sldId id="258" r:id="rId4"/>
    <p:sldId id="282" r:id="rId5"/>
    <p:sldId id="288" r:id="rId6"/>
    <p:sldId id="289" r:id="rId7"/>
    <p:sldId id="275" r:id="rId8"/>
    <p:sldId id="279" r:id="rId9"/>
    <p:sldId id="292" r:id="rId10"/>
    <p:sldId id="293" r:id="rId11"/>
    <p:sldId id="276" r:id="rId12"/>
    <p:sldId id="291" r:id="rId13"/>
    <p:sldId id="295" r:id="rId14"/>
    <p:sldId id="294" r:id="rId15"/>
    <p:sldId id="278" r:id="rId16"/>
    <p:sldId id="303" r:id="rId17"/>
    <p:sldId id="296" r:id="rId18"/>
    <p:sldId id="304" r:id="rId19"/>
    <p:sldId id="297" r:id="rId20"/>
    <p:sldId id="300" r:id="rId21"/>
    <p:sldId id="30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7" autoAdjust="0"/>
    <p:restoredTop sz="93284" autoAdjust="0"/>
  </p:normalViewPr>
  <p:slideViewPr>
    <p:cSldViewPr snapToGrid="0">
      <p:cViewPr varScale="1">
        <p:scale>
          <a:sx n="100" d="100"/>
          <a:sy n="100" d="100"/>
        </p:scale>
        <p:origin x="37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B02671-2647-4DC7-B95B-AC1540BB806A}" type="doc">
      <dgm:prSet loTypeId="urn:microsoft.com/office/officeart/2005/8/layout/h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FF4A3E16-4427-4317-8D28-65F248521EA4}">
      <dgm:prSet phldrT="[Text]" phldr="0"/>
      <dgm:spPr/>
      <dgm:t>
        <a:bodyPr/>
        <a:lstStyle/>
        <a:p>
          <a:r>
            <a:rPr lang="en-CA" dirty="0"/>
            <a:t>Physicians</a:t>
          </a:r>
        </a:p>
      </dgm:t>
    </dgm:pt>
    <dgm:pt modelId="{7B8384F2-6C74-4571-B789-6C088B16CE95}" type="parTrans" cxnId="{8513216F-CFDA-4A52-A04C-1DBDCCFE9A06}">
      <dgm:prSet/>
      <dgm:spPr/>
      <dgm:t>
        <a:bodyPr/>
        <a:lstStyle/>
        <a:p>
          <a:endParaRPr lang="en-CA"/>
        </a:p>
      </dgm:t>
    </dgm:pt>
    <dgm:pt modelId="{34E99E4A-1268-453C-9044-AA1386EB2420}" type="sibTrans" cxnId="{8513216F-CFDA-4A52-A04C-1DBDCCFE9A06}">
      <dgm:prSet/>
      <dgm:spPr/>
      <dgm:t>
        <a:bodyPr/>
        <a:lstStyle/>
        <a:p>
          <a:endParaRPr lang="en-CA"/>
        </a:p>
      </dgm:t>
    </dgm:pt>
    <dgm:pt modelId="{BCAFD1BB-F5DD-491D-A973-1C85D9127525}">
      <dgm:prSet phldrT="[Text]" phldr="0"/>
      <dgm:spPr/>
      <dgm:t>
        <a:bodyPr/>
        <a:lstStyle/>
        <a:p>
          <a:r>
            <a:rPr lang="en-CA" dirty="0"/>
            <a:t>Consider both patient well-being and their incomes.</a:t>
          </a:r>
        </a:p>
      </dgm:t>
    </dgm:pt>
    <dgm:pt modelId="{42E13C00-AC5A-4870-B57A-BD67711D249B}" type="parTrans" cxnId="{E1F2F001-2C00-4601-ADAE-75EFA9D7E1F4}">
      <dgm:prSet/>
      <dgm:spPr/>
      <dgm:t>
        <a:bodyPr/>
        <a:lstStyle/>
        <a:p>
          <a:endParaRPr lang="en-CA"/>
        </a:p>
      </dgm:t>
    </dgm:pt>
    <dgm:pt modelId="{EDEFCAF3-87A9-4915-A6E4-243EF13DCBC4}" type="sibTrans" cxnId="{E1F2F001-2C00-4601-ADAE-75EFA9D7E1F4}">
      <dgm:prSet/>
      <dgm:spPr/>
      <dgm:t>
        <a:bodyPr/>
        <a:lstStyle/>
        <a:p>
          <a:endParaRPr lang="en-CA"/>
        </a:p>
      </dgm:t>
    </dgm:pt>
    <dgm:pt modelId="{3B9EE7AA-B1EF-4825-97D5-9F6561B6FDE7}">
      <dgm:prSet phldrT="[Text]" phldr="0"/>
      <dgm:spPr/>
      <dgm:t>
        <a:bodyPr/>
        <a:lstStyle/>
        <a:p>
          <a:r>
            <a:rPr lang="en-US" dirty="0"/>
            <a:t>Has more information about patient health status compared to patient.</a:t>
          </a:r>
          <a:endParaRPr lang="en-CA" dirty="0"/>
        </a:p>
      </dgm:t>
    </dgm:pt>
    <dgm:pt modelId="{7113BFB9-F7FE-4A61-8AB3-2082B4BB4216}" type="parTrans" cxnId="{0140ABC6-D583-4DA5-AE78-C5207DC9D92F}">
      <dgm:prSet/>
      <dgm:spPr/>
      <dgm:t>
        <a:bodyPr/>
        <a:lstStyle/>
        <a:p>
          <a:endParaRPr lang="en-CA"/>
        </a:p>
      </dgm:t>
    </dgm:pt>
    <dgm:pt modelId="{DD2B3C39-1744-4498-8E1D-E3E286559131}" type="sibTrans" cxnId="{0140ABC6-D583-4DA5-AE78-C5207DC9D92F}">
      <dgm:prSet/>
      <dgm:spPr/>
      <dgm:t>
        <a:bodyPr/>
        <a:lstStyle/>
        <a:p>
          <a:endParaRPr lang="en-CA"/>
        </a:p>
      </dgm:t>
    </dgm:pt>
    <dgm:pt modelId="{B9459DDE-FC78-4B8A-9167-A814736CD86F}">
      <dgm:prSet phldrT="[Text]" phldr="0"/>
      <dgm:spPr/>
      <dgm:t>
        <a:bodyPr/>
        <a:lstStyle/>
        <a:p>
          <a:r>
            <a:rPr lang="en-CA" dirty="0"/>
            <a:t>Patients</a:t>
          </a:r>
        </a:p>
      </dgm:t>
    </dgm:pt>
    <dgm:pt modelId="{99297C81-AC67-4AD8-84F4-2824E10B49B1}" type="parTrans" cxnId="{2D361F70-E407-4140-8F72-1B0DD298B0F9}">
      <dgm:prSet/>
      <dgm:spPr/>
      <dgm:t>
        <a:bodyPr/>
        <a:lstStyle/>
        <a:p>
          <a:endParaRPr lang="en-CA"/>
        </a:p>
      </dgm:t>
    </dgm:pt>
    <dgm:pt modelId="{64FE40D6-3A41-4D8D-B6CC-F2804AA5396D}" type="sibTrans" cxnId="{2D361F70-E407-4140-8F72-1B0DD298B0F9}">
      <dgm:prSet/>
      <dgm:spPr/>
      <dgm:t>
        <a:bodyPr/>
        <a:lstStyle/>
        <a:p>
          <a:endParaRPr lang="en-CA"/>
        </a:p>
      </dgm:t>
    </dgm:pt>
    <dgm:pt modelId="{8D148700-8177-4484-BBCD-0028687B1218}">
      <dgm:prSet phldrT="[Text]" phldr="0"/>
      <dgm:spPr/>
      <dgm:t>
        <a:bodyPr/>
        <a:lstStyle/>
        <a:p>
          <a:r>
            <a:rPr lang="en-CA" dirty="0"/>
            <a:t>Typically have an Inelastic demand for health care.</a:t>
          </a:r>
        </a:p>
      </dgm:t>
    </dgm:pt>
    <dgm:pt modelId="{92E55424-00EE-4538-AF6C-C773C563B091}" type="parTrans" cxnId="{6F135716-21AE-4989-B152-7BFF3DE21BCC}">
      <dgm:prSet/>
      <dgm:spPr/>
      <dgm:t>
        <a:bodyPr/>
        <a:lstStyle/>
        <a:p>
          <a:endParaRPr lang="en-CA"/>
        </a:p>
      </dgm:t>
    </dgm:pt>
    <dgm:pt modelId="{447584E5-4976-442A-9E09-391F0F7D23AD}" type="sibTrans" cxnId="{6F135716-21AE-4989-B152-7BFF3DE21BCC}">
      <dgm:prSet/>
      <dgm:spPr/>
      <dgm:t>
        <a:bodyPr/>
        <a:lstStyle/>
        <a:p>
          <a:endParaRPr lang="en-CA"/>
        </a:p>
      </dgm:t>
    </dgm:pt>
    <dgm:pt modelId="{A2381342-1395-4E96-B174-DD1F828D1386}">
      <dgm:prSet phldrT="[Text]" phldr="0"/>
      <dgm:spPr/>
      <dgm:t>
        <a:bodyPr/>
        <a:lstStyle/>
        <a:p>
          <a:r>
            <a:rPr lang="en-CA" dirty="0"/>
            <a:t>Often does not pay for health care directly.</a:t>
          </a:r>
        </a:p>
      </dgm:t>
    </dgm:pt>
    <dgm:pt modelId="{44EA946C-B6DD-42FB-8AC6-405FEBFCA89A}" type="parTrans" cxnId="{04AF5569-F8F8-451D-AE21-C34538CD665E}">
      <dgm:prSet/>
      <dgm:spPr/>
      <dgm:t>
        <a:bodyPr/>
        <a:lstStyle/>
        <a:p>
          <a:endParaRPr lang="en-CA"/>
        </a:p>
      </dgm:t>
    </dgm:pt>
    <dgm:pt modelId="{75A032DB-424A-47EC-A921-4B910C1247E5}" type="sibTrans" cxnId="{04AF5569-F8F8-451D-AE21-C34538CD665E}">
      <dgm:prSet/>
      <dgm:spPr/>
      <dgm:t>
        <a:bodyPr/>
        <a:lstStyle/>
        <a:p>
          <a:endParaRPr lang="en-CA"/>
        </a:p>
      </dgm:t>
    </dgm:pt>
    <dgm:pt modelId="{174C4296-2746-49F7-A26C-1532672D6A7A}">
      <dgm:prSet phldrT="[Text]" phldr="0"/>
      <dgm:spPr/>
      <dgm:t>
        <a:bodyPr/>
        <a:lstStyle/>
        <a:p>
          <a:r>
            <a:rPr lang="en-CA" dirty="0"/>
            <a:t>Has less information about own health status compared to physicians.</a:t>
          </a:r>
        </a:p>
      </dgm:t>
    </dgm:pt>
    <dgm:pt modelId="{8CE5693E-1347-4699-88F1-CBE3F10CC20C}" type="parTrans" cxnId="{F0B94371-F8C8-4BDE-956C-5EF4FE3DC2B5}">
      <dgm:prSet/>
      <dgm:spPr/>
      <dgm:t>
        <a:bodyPr/>
        <a:lstStyle/>
        <a:p>
          <a:endParaRPr lang="en-CA"/>
        </a:p>
      </dgm:t>
    </dgm:pt>
    <dgm:pt modelId="{F45D1708-5300-4331-8EA2-AB03FBF26AEA}" type="sibTrans" cxnId="{F0B94371-F8C8-4BDE-956C-5EF4FE3DC2B5}">
      <dgm:prSet/>
      <dgm:spPr/>
      <dgm:t>
        <a:bodyPr/>
        <a:lstStyle/>
        <a:p>
          <a:endParaRPr lang="en-CA"/>
        </a:p>
      </dgm:t>
    </dgm:pt>
    <dgm:pt modelId="{FED352BA-7EEA-4531-BF6D-2C2229CF60AE}">
      <dgm:prSet phldrT="[Text]" phldr="0"/>
      <dgm:spPr/>
      <dgm:t>
        <a:bodyPr/>
        <a:lstStyle/>
        <a:p>
          <a:r>
            <a:rPr lang="en-US" dirty="0"/>
            <a:t>Limited in profit maximization by patient condition.</a:t>
          </a:r>
          <a:endParaRPr lang="en-CA" dirty="0"/>
        </a:p>
      </dgm:t>
    </dgm:pt>
    <dgm:pt modelId="{EDA8E1AE-547E-4919-B2A1-08A5C1A9E14E}" type="parTrans" cxnId="{2315FA9A-D5C1-400C-943D-9E543B8B4852}">
      <dgm:prSet/>
      <dgm:spPr/>
      <dgm:t>
        <a:bodyPr/>
        <a:lstStyle/>
        <a:p>
          <a:endParaRPr lang="en-CA"/>
        </a:p>
      </dgm:t>
    </dgm:pt>
    <dgm:pt modelId="{26C16FE0-5C0C-4637-B621-9FC0903B4CA7}" type="sibTrans" cxnId="{2315FA9A-D5C1-400C-943D-9E543B8B4852}">
      <dgm:prSet/>
      <dgm:spPr/>
      <dgm:t>
        <a:bodyPr/>
        <a:lstStyle/>
        <a:p>
          <a:endParaRPr lang="en-CA"/>
        </a:p>
      </dgm:t>
    </dgm:pt>
    <dgm:pt modelId="{7B3F61C2-4300-4CBC-B0D9-A7714F74E92A}">
      <dgm:prSet phldrT="[Text]" phldr="0"/>
      <dgm:spPr/>
      <dgm:t>
        <a:bodyPr/>
        <a:lstStyle/>
        <a:p>
          <a:r>
            <a:rPr lang="en-US" dirty="0"/>
            <a:t>Are often paid  by patients indirectly (i.e. through insurance).</a:t>
          </a:r>
          <a:endParaRPr lang="en-CA" dirty="0"/>
        </a:p>
      </dgm:t>
    </dgm:pt>
    <dgm:pt modelId="{F947D048-7BB4-4FDC-B70D-25DB8EA7DCEC}" type="parTrans" cxnId="{34F52666-D746-421C-9A9A-2A2AC9DBC4AA}">
      <dgm:prSet/>
      <dgm:spPr/>
      <dgm:t>
        <a:bodyPr/>
        <a:lstStyle/>
        <a:p>
          <a:endParaRPr lang="en-CA"/>
        </a:p>
      </dgm:t>
    </dgm:pt>
    <dgm:pt modelId="{B6681B6B-ACB8-4B3E-A09E-50916089ED67}" type="sibTrans" cxnId="{34F52666-D746-421C-9A9A-2A2AC9DBC4AA}">
      <dgm:prSet/>
      <dgm:spPr/>
      <dgm:t>
        <a:bodyPr/>
        <a:lstStyle/>
        <a:p>
          <a:endParaRPr lang="en-CA"/>
        </a:p>
      </dgm:t>
    </dgm:pt>
    <dgm:pt modelId="{E9886D28-EFD5-41F1-8719-90299F974947}" type="pres">
      <dgm:prSet presAssocID="{CEB02671-2647-4DC7-B95B-AC1540BB806A}" presName="linearFlow" presStyleCnt="0">
        <dgm:presLayoutVars>
          <dgm:dir/>
          <dgm:animLvl val="lvl"/>
          <dgm:resizeHandles/>
        </dgm:presLayoutVars>
      </dgm:prSet>
      <dgm:spPr/>
    </dgm:pt>
    <dgm:pt modelId="{96633745-548B-44D8-871E-FB3E6977D659}" type="pres">
      <dgm:prSet presAssocID="{FF4A3E16-4427-4317-8D28-65F248521EA4}" presName="compositeNode" presStyleCnt="0">
        <dgm:presLayoutVars>
          <dgm:bulletEnabled val="1"/>
        </dgm:presLayoutVars>
      </dgm:prSet>
      <dgm:spPr/>
    </dgm:pt>
    <dgm:pt modelId="{C79BBD4B-E8D6-4458-BF0F-D2F67AC14807}" type="pres">
      <dgm:prSet presAssocID="{FF4A3E16-4427-4317-8D28-65F248521EA4}" presName="image" presStyleLbl="fgImgPlace1" presStyleIdx="0" presStyleCnt="2" custLinFactNeighborX="-11263" custLinFactNeighborY="-18529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FFFF4AD4-EE5F-4CAD-AB4B-99A1A3531A60}" type="pres">
      <dgm:prSet presAssocID="{FF4A3E16-4427-4317-8D28-65F248521EA4}" presName="childNode" presStyleLbl="node1" presStyleIdx="0" presStyleCnt="2">
        <dgm:presLayoutVars>
          <dgm:bulletEnabled val="1"/>
        </dgm:presLayoutVars>
      </dgm:prSet>
      <dgm:spPr/>
    </dgm:pt>
    <dgm:pt modelId="{FB8ED3A9-98D3-494F-B1AC-3AF291119821}" type="pres">
      <dgm:prSet presAssocID="{FF4A3E16-4427-4317-8D28-65F248521EA4}" presName="parentNode" presStyleLbl="revTx" presStyleIdx="0" presStyleCnt="2">
        <dgm:presLayoutVars>
          <dgm:chMax val="0"/>
          <dgm:bulletEnabled val="1"/>
        </dgm:presLayoutVars>
      </dgm:prSet>
      <dgm:spPr/>
    </dgm:pt>
    <dgm:pt modelId="{A45235EA-6B9B-4A15-914F-350553274E48}" type="pres">
      <dgm:prSet presAssocID="{34E99E4A-1268-453C-9044-AA1386EB2420}" presName="sibTrans" presStyleCnt="0"/>
      <dgm:spPr/>
    </dgm:pt>
    <dgm:pt modelId="{3E7D1EA4-A867-45DF-A505-0E1579681F0C}" type="pres">
      <dgm:prSet presAssocID="{B9459DDE-FC78-4B8A-9167-A814736CD86F}" presName="compositeNode" presStyleCnt="0">
        <dgm:presLayoutVars>
          <dgm:bulletEnabled val="1"/>
        </dgm:presLayoutVars>
      </dgm:prSet>
      <dgm:spPr/>
    </dgm:pt>
    <dgm:pt modelId="{88361CF3-4162-439A-9A4F-D3DE11A96E0E}" type="pres">
      <dgm:prSet presAssocID="{B9459DDE-FC78-4B8A-9167-A814736CD86F}" presName="image" presStyleLbl="fgImgPlace1" presStyleIdx="1" presStyleCnt="2" custLinFactNeighborX="-4916" custLinFactNeighborY="-2928"/>
      <dgm:spPr>
        <a:blipFill rotWithShape="1"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52AE5BA1-E803-4E87-9865-70F1B964B53A}" type="pres">
      <dgm:prSet presAssocID="{B9459DDE-FC78-4B8A-9167-A814736CD86F}" presName="childNode" presStyleLbl="node1" presStyleIdx="1" presStyleCnt="2" custLinFactNeighborX="-1445" custLinFactNeighborY="-1528">
        <dgm:presLayoutVars>
          <dgm:bulletEnabled val="1"/>
        </dgm:presLayoutVars>
      </dgm:prSet>
      <dgm:spPr/>
    </dgm:pt>
    <dgm:pt modelId="{93A790CD-9124-4262-B2AB-C764334F2627}" type="pres">
      <dgm:prSet presAssocID="{B9459DDE-FC78-4B8A-9167-A814736CD86F}" presName="parentNode" presStyleLbl="revTx" presStyleIdx="1" presStyleCnt="2">
        <dgm:presLayoutVars>
          <dgm:chMax val="0"/>
          <dgm:bulletEnabled val="1"/>
        </dgm:presLayoutVars>
      </dgm:prSet>
      <dgm:spPr/>
    </dgm:pt>
  </dgm:ptLst>
  <dgm:cxnLst>
    <dgm:cxn modelId="{E1F2F001-2C00-4601-ADAE-75EFA9D7E1F4}" srcId="{FF4A3E16-4427-4317-8D28-65F248521EA4}" destId="{BCAFD1BB-F5DD-491D-A973-1C85D9127525}" srcOrd="0" destOrd="0" parTransId="{42E13C00-AC5A-4870-B57A-BD67711D249B}" sibTransId="{EDEFCAF3-87A9-4915-A6E4-243EF13DCBC4}"/>
    <dgm:cxn modelId="{F3A9FB07-F6BD-49F7-84DB-5618BB4DF696}" type="presOf" srcId="{BCAFD1BB-F5DD-491D-A973-1C85D9127525}" destId="{FFFF4AD4-EE5F-4CAD-AB4B-99A1A3531A60}" srcOrd="0" destOrd="0" presId="urn:microsoft.com/office/officeart/2005/8/layout/hList2"/>
    <dgm:cxn modelId="{6F135716-21AE-4989-B152-7BFF3DE21BCC}" srcId="{B9459DDE-FC78-4B8A-9167-A814736CD86F}" destId="{8D148700-8177-4484-BBCD-0028687B1218}" srcOrd="0" destOrd="0" parTransId="{92E55424-00EE-4538-AF6C-C773C563B091}" sibTransId="{447584E5-4976-442A-9E09-391F0F7D23AD}"/>
    <dgm:cxn modelId="{A20B2217-B510-42BA-93C3-FF78859E4EE5}" type="presOf" srcId="{7B3F61C2-4300-4CBC-B0D9-A7714F74E92A}" destId="{FFFF4AD4-EE5F-4CAD-AB4B-99A1A3531A60}" srcOrd="0" destOrd="3" presId="urn:microsoft.com/office/officeart/2005/8/layout/hList2"/>
    <dgm:cxn modelId="{821C751C-F042-40C3-A641-ACC93E2518A3}" type="presOf" srcId="{174C4296-2746-49F7-A26C-1532672D6A7A}" destId="{52AE5BA1-E803-4E87-9865-70F1B964B53A}" srcOrd="0" destOrd="2" presId="urn:microsoft.com/office/officeart/2005/8/layout/hList2"/>
    <dgm:cxn modelId="{4EA53F21-FDF0-4A01-ADC4-F55254F5FF3D}" type="presOf" srcId="{8D148700-8177-4484-BBCD-0028687B1218}" destId="{52AE5BA1-E803-4E87-9865-70F1B964B53A}" srcOrd="0" destOrd="0" presId="urn:microsoft.com/office/officeart/2005/8/layout/hList2"/>
    <dgm:cxn modelId="{34F52666-D746-421C-9A9A-2A2AC9DBC4AA}" srcId="{FF4A3E16-4427-4317-8D28-65F248521EA4}" destId="{7B3F61C2-4300-4CBC-B0D9-A7714F74E92A}" srcOrd="3" destOrd="0" parTransId="{F947D048-7BB4-4FDC-B70D-25DB8EA7DCEC}" sibTransId="{B6681B6B-ACB8-4B3E-A09E-50916089ED67}"/>
    <dgm:cxn modelId="{D0AF3848-9246-4C27-98E1-C259377AFAD1}" type="presOf" srcId="{B9459DDE-FC78-4B8A-9167-A814736CD86F}" destId="{93A790CD-9124-4262-B2AB-C764334F2627}" srcOrd="0" destOrd="0" presId="urn:microsoft.com/office/officeart/2005/8/layout/hList2"/>
    <dgm:cxn modelId="{04AF5569-F8F8-451D-AE21-C34538CD665E}" srcId="{B9459DDE-FC78-4B8A-9167-A814736CD86F}" destId="{A2381342-1395-4E96-B174-DD1F828D1386}" srcOrd="1" destOrd="0" parTransId="{44EA946C-B6DD-42FB-8AC6-405FEBFCA89A}" sibTransId="{75A032DB-424A-47EC-A921-4B910C1247E5}"/>
    <dgm:cxn modelId="{C3058D4D-F088-4718-8CC2-F04D77ECB053}" type="presOf" srcId="{FED352BA-7EEA-4531-BF6D-2C2229CF60AE}" destId="{FFFF4AD4-EE5F-4CAD-AB4B-99A1A3531A60}" srcOrd="0" destOrd="2" presId="urn:microsoft.com/office/officeart/2005/8/layout/hList2"/>
    <dgm:cxn modelId="{8513216F-CFDA-4A52-A04C-1DBDCCFE9A06}" srcId="{CEB02671-2647-4DC7-B95B-AC1540BB806A}" destId="{FF4A3E16-4427-4317-8D28-65F248521EA4}" srcOrd="0" destOrd="0" parTransId="{7B8384F2-6C74-4571-B789-6C088B16CE95}" sibTransId="{34E99E4A-1268-453C-9044-AA1386EB2420}"/>
    <dgm:cxn modelId="{2D361F70-E407-4140-8F72-1B0DD298B0F9}" srcId="{CEB02671-2647-4DC7-B95B-AC1540BB806A}" destId="{B9459DDE-FC78-4B8A-9167-A814736CD86F}" srcOrd="1" destOrd="0" parTransId="{99297C81-AC67-4AD8-84F4-2824E10B49B1}" sibTransId="{64FE40D6-3A41-4D8D-B6CC-F2804AA5396D}"/>
    <dgm:cxn modelId="{F0B94371-F8C8-4BDE-956C-5EF4FE3DC2B5}" srcId="{B9459DDE-FC78-4B8A-9167-A814736CD86F}" destId="{174C4296-2746-49F7-A26C-1532672D6A7A}" srcOrd="2" destOrd="0" parTransId="{8CE5693E-1347-4699-88F1-CBE3F10CC20C}" sibTransId="{F45D1708-5300-4331-8EA2-AB03FBF26AEA}"/>
    <dgm:cxn modelId="{E07F5471-FEC1-42F7-8517-CEF29C2E0750}" type="presOf" srcId="{FF4A3E16-4427-4317-8D28-65F248521EA4}" destId="{FB8ED3A9-98D3-494F-B1AC-3AF291119821}" srcOrd="0" destOrd="0" presId="urn:microsoft.com/office/officeart/2005/8/layout/hList2"/>
    <dgm:cxn modelId="{70FBA656-C2F2-4CE3-94B6-4FEFDD2AA145}" type="presOf" srcId="{3B9EE7AA-B1EF-4825-97D5-9F6561B6FDE7}" destId="{FFFF4AD4-EE5F-4CAD-AB4B-99A1A3531A60}" srcOrd="0" destOrd="1" presId="urn:microsoft.com/office/officeart/2005/8/layout/hList2"/>
    <dgm:cxn modelId="{2315FA9A-D5C1-400C-943D-9E543B8B4852}" srcId="{FF4A3E16-4427-4317-8D28-65F248521EA4}" destId="{FED352BA-7EEA-4531-BF6D-2C2229CF60AE}" srcOrd="2" destOrd="0" parTransId="{EDA8E1AE-547E-4919-B2A1-08A5C1A9E14E}" sibTransId="{26C16FE0-5C0C-4637-B621-9FC0903B4CA7}"/>
    <dgm:cxn modelId="{D2A226AE-BE5A-4A9A-86B2-A40B1482E255}" type="presOf" srcId="{A2381342-1395-4E96-B174-DD1F828D1386}" destId="{52AE5BA1-E803-4E87-9865-70F1B964B53A}" srcOrd="0" destOrd="1" presId="urn:microsoft.com/office/officeart/2005/8/layout/hList2"/>
    <dgm:cxn modelId="{FA479DAE-012E-4A98-8C0E-59F43C375A5C}" type="presOf" srcId="{CEB02671-2647-4DC7-B95B-AC1540BB806A}" destId="{E9886D28-EFD5-41F1-8719-90299F974947}" srcOrd="0" destOrd="0" presId="urn:microsoft.com/office/officeart/2005/8/layout/hList2"/>
    <dgm:cxn modelId="{0140ABC6-D583-4DA5-AE78-C5207DC9D92F}" srcId="{FF4A3E16-4427-4317-8D28-65F248521EA4}" destId="{3B9EE7AA-B1EF-4825-97D5-9F6561B6FDE7}" srcOrd="1" destOrd="0" parTransId="{7113BFB9-F7FE-4A61-8AB3-2082B4BB4216}" sibTransId="{DD2B3C39-1744-4498-8E1D-E3E286559131}"/>
    <dgm:cxn modelId="{E13644B1-E5C2-4471-AE76-07A7B466C3C3}" type="presParOf" srcId="{E9886D28-EFD5-41F1-8719-90299F974947}" destId="{96633745-548B-44D8-871E-FB3E6977D659}" srcOrd="0" destOrd="0" presId="urn:microsoft.com/office/officeart/2005/8/layout/hList2"/>
    <dgm:cxn modelId="{2BB09352-D385-4317-BAD3-69734216ECCA}" type="presParOf" srcId="{96633745-548B-44D8-871E-FB3E6977D659}" destId="{C79BBD4B-E8D6-4458-BF0F-D2F67AC14807}" srcOrd="0" destOrd="0" presId="urn:microsoft.com/office/officeart/2005/8/layout/hList2"/>
    <dgm:cxn modelId="{2032D800-B5F0-4CA0-B233-C9F06599C3C9}" type="presParOf" srcId="{96633745-548B-44D8-871E-FB3E6977D659}" destId="{FFFF4AD4-EE5F-4CAD-AB4B-99A1A3531A60}" srcOrd="1" destOrd="0" presId="urn:microsoft.com/office/officeart/2005/8/layout/hList2"/>
    <dgm:cxn modelId="{53CC0A48-829D-48DA-AF41-09EA155EF586}" type="presParOf" srcId="{96633745-548B-44D8-871E-FB3E6977D659}" destId="{FB8ED3A9-98D3-494F-B1AC-3AF291119821}" srcOrd="2" destOrd="0" presId="urn:microsoft.com/office/officeart/2005/8/layout/hList2"/>
    <dgm:cxn modelId="{9B2C65DC-36FD-43B6-936D-BD42652446F7}" type="presParOf" srcId="{E9886D28-EFD5-41F1-8719-90299F974947}" destId="{A45235EA-6B9B-4A15-914F-350553274E48}" srcOrd="1" destOrd="0" presId="urn:microsoft.com/office/officeart/2005/8/layout/hList2"/>
    <dgm:cxn modelId="{19E05311-D65F-497C-AF77-3CB9EE73CB00}" type="presParOf" srcId="{E9886D28-EFD5-41F1-8719-90299F974947}" destId="{3E7D1EA4-A867-45DF-A505-0E1579681F0C}" srcOrd="2" destOrd="0" presId="urn:microsoft.com/office/officeart/2005/8/layout/hList2"/>
    <dgm:cxn modelId="{7BE8637C-FAC1-421C-91DB-1AAD57EDC242}" type="presParOf" srcId="{3E7D1EA4-A867-45DF-A505-0E1579681F0C}" destId="{88361CF3-4162-439A-9A4F-D3DE11A96E0E}" srcOrd="0" destOrd="0" presId="urn:microsoft.com/office/officeart/2005/8/layout/hList2"/>
    <dgm:cxn modelId="{C9E62CE1-DDD2-4B09-B605-8ECB0CEBC997}" type="presParOf" srcId="{3E7D1EA4-A867-45DF-A505-0E1579681F0C}" destId="{52AE5BA1-E803-4E87-9865-70F1B964B53A}" srcOrd="1" destOrd="0" presId="urn:microsoft.com/office/officeart/2005/8/layout/hList2"/>
    <dgm:cxn modelId="{E4AEAB45-3A8D-410C-B04B-93C5D477A82A}" type="presParOf" srcId="{3E7D1EA4-A867-45DF-A505-0E1579681F0C}" destId="{93A790CD-9124-4262-B2AB-C764334F2627}" srcOrd="2" destOrd="0" presId="urn:microsoft.com/office/officeart/2005/8/layout/h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8ED3A9-98D3-494F-B1AC-3AF291119821}">
      <dsp:nvSpPr>
        <dsp:cNvPr id="0" name=""/>
        <dsp:cNvSpPr/>
      </dsp:nvSpPr>
      <dsp:spPr>
        <a:xfrm rot="16200000">
          <a:off x="-1554155" y="2466707"/>
          <a:ext cx="3717198" cy="5242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462403" bIns="0" numCol="1" spcCol="1270" anchor="t" anchorCtr="0">
          <a:noAutofit/>
        </a:bodyPr>
        <a:lstStyle/>
        <a:p>
          <a:pPr marL="0" lvl="0" indent="0" algn="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600" kern="1200" dirty="0"/>
            <a:t>Physicians</a:t>
          </a:r>
        </a:p>
      </dsp:txBody>
      <dsp:txXfrm>
        <a:off x="-1554155" y="2466707"/>
        <a:ext cx="3717198" cy="524299"/>
      </dsp:txXfrm>
    </dsp:sp>
    <dsp:sp modelId="{FFFF4AD4-EE5F-4CAD-AB4B-99A1A3531A60}">
      <dsp:nvSpPr>
        <dsp:cNvPr id="0" name=""/>
        <dsp:cNvSpPr/>
      </dsp:nvSpPr>
      <dsp:spPr>
        <a:xfrm>
          <a:off x="566593" y="870257"/>
          <a:ext cx="2611566" cy="37171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462403" rIns="135128" bIns="135128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500" kern="1200" dirty="0"/>
            <a:t>Consider both patient well-being and their incomes.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Has more information about patient health status compared to patient.</a:t>
          </a:r>
          <a:endParaRPr lang="en-CA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Limited in profit maximization by patient condition.</a:t>
          </a:r>
          <a:endParaRPr lang="en-CA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Are often paid  by patients indirectly (i.e. through insurance).</a:t>
          </a:r>
          <a:endParaRPr lang="en-CA" sz="1500" kern="1200" dirty="0"/>
        </a:p>
      </dsp:txBody>
      <dsp:txXfrm>
        <a:off x="566593" y="870257"/>
        <a:ext cx="2611566" cy="3717198"/>
      </dsp:txXfrm>
    </dsp:sp>
    <dsp:sp modelId="{C79BBD4B-E8D6-4458-BF0F-D2F67AC14807}">
      <dsp:nvSpPr>
        <dsp:cNvPr id="0" name=""/>
        <dsp:cNvSpPr/>
      </dsp:nvSpPr>
      <dsp:spPr>
        <a:xfrm>
          <a:off x="0" y="0"/>
          <a:ext cx="1048598" cy="1048598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A790CD-9124-4262-B2AB-C764334F2627}">
      <dsp:nvSpPr>
        <dsp:cNvPr id="0" name=""/>
        <dsp:cNvSpPr/>
      </dsp:nvSpPr>
      <dsp:spPr>
        <a:xfrm rot="16200000">
          <a:off x="2242285" y="2466707"/>
          <a:ext cx="3717198" cy="5242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462403" bIns="0" numCol="1" spcCol="1270" anchor="t" anchorCtr="0">
          <a:noAutofit/>
        </a:bodyPr>
        <a:lstStyle/>
        <a:p>
          <a:pPr marL="0" lvl="0" indent="0" algn="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600" kern="1200" dirty="0"/>
            <a:t>Patients</a:t>
          </a:r>
        </a:p>
      </dsp:txBody>
      <dsp:txXfrm>
        <a:off x="2242285" y="2466707"/>
        <a:ext cx="3717198" cy="524299"/>
      </dsp:txXfrm>
    </dsp:sp>
    <dsp:sp modelId="{52AE5BA1-E803-4E87-9865-70F1B964B53A}">
      <dsp:nvSpPr>
        <dsp:cNvPr id="0" name=""/>
        <dsp:cNvSpPr/>
      </dsp:nvSpPr>
      <dsp:spPr>
        <a:xfrm>
          <a:off x="4325297" y="813459"/>
          <a:ext cx="2611566" cy="37171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462403" rIns="135128" bIns="135128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500" kern="1200" dirty="0"/>
            <a:t>Typically have an Inelastic demand for health care.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500" kern="1200" dirty="0"/>
            <a:t>Often does not pay for health care directly.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500" kern="1200" dirty="0"/>
            <a:t>Has less information about own health status compared to physicians.</a:t>
          </a:r>
        </a:p>
      </dsp:txBody>
      <dsp:txXfrm>
        <a:off x="4325297" y="813459"/>
        <a:ext cx="2611566" cy="3717198"/>
      </dsp:txXfrm>
    </dsp:sp>
    <dsp:sp modelId="{88361CF3-4162-439A-9A4F-D3DE11A96E0E}">
      <dsp:nvSpPr>
        <dsp:cNvPr id="0" name=""/>
        <dsp:cNvSpPr/>
      </dsp:nvSpPr>
      <dsp:spPr>
        <a:xfrm>
          <a:off x="3787185" y="147479"/>
          <a:ext cx="1048598" cy="1048598"/>
        </a:xfrm>
        <a:prstGeom prst="rect">
          <a:avLst/>
        </a:prstGeom>
        <a:blipFill rotWithShape="1"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2">
  <dgm:title val=""/>
  <dgm:desc val=""/>
  <dgm:catLst>
    <dgm:cat type="list" pri="6000"/>
    <dgm:cat type="relationship" pri="16000"/>
    <dgm:cat type="picture" pri="29000"/>
    <dgm:cat type="pictureconvert" pri="2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/>
    </dgm:varLst>
    <dgm:choose name="Name0">
      <dgm:if name="Name1" func="var" arg="dir" op="equ" val="norm">
        <dgm:alg type="lin">
          <dgm:param type="linDir" val="fromL"/>
          <dgm:param type="nodeVertAlign" val="t"/>
        </dgm:alg>
      </dgm:if>
      <dgm:else name="Name2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refType="h"/>
      <dgm:constr type="w" for="ch" forName="sibTrans" refType="w" refFor="ch" refForName="compositeNode" op="equ" fact="0.2"/>
      <dgm:constr type="h" for="des" forName="childNode" op="equ"/>
      <dgm:constr type="w" for="des" forName="childNode" op="equ"/>
      <dgm:constr type="w" for="des" forName="parentNode" op="equ"/>
      <dgm:constr type="h" for="des" forName="image" op="equ"/>
      <dgm:constr type="w" for="des" forName="image" op="equ"/>
      <dgm:constr type="primFontSz" for="des" forName="parentNode" op="equ" val="65"/>
      <dgm:constr type="primFontSz" for="des" forName="childNode" op="equ" val="65"/>
    </dgm:constrLst>
    <dgm:ruleLst/>
    <dgm:forEach name="Name3" axis="ch" ptType="node">
      <dgm:layoutNode name="compositeNode">
        <dgm:varLst>
          <dgm:bulletEnabled val="1"/>
        </dgm:varLst>
        <dgm:alg type="composite"/>
        <dgm:presOf/>
        <dgm:choose name="Name4">
          <dgm:if name="Name5" func="var" arg="dir" op="equ" val="norm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l" for="ch" forName="image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l" for="ch" forName="childNode" refType="w" refFor="ch" refForName="image" fact="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l" for="ch" forName="parentNode"/>
              <dgm:constr type="r" for="ch" forName="parentNode" refType="l" refFor="ch" refForName="childNode"/>
              <dgm:constr type="rMarg" for="ch" forName="parentNode" refType="w" refFor="ch" refForName="image" fact="1.25"/>
            </dgm:constrLst>
          </dgm:if>
          <dgm:else name="Name6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r" for="ch" forName="image" refType="w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r" for="ch" forName="childNode" refType="w"/>
              <dgm:constr type="rOff" for="ch" forName="childNode" refType="w" refFor="ch" refForName="image" fact="-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r" for="ch" forName="parentNode" refType="w"/>
              <dgm:constr type="l" for="ch" forName="parentNode" refType="r" refFor="ch" refForName="childNode"/>
              <dgm:constr type="lOff" for="ch" forName="parentNode" refType="rOff" refFor="ch" refForName="childNode"/>
              <dgm:constr type="lMarg" for="ch" forName="parentNode" refType="w" refFor="ch" refForName="image" fact="1.25"/>
            </dgm:constrLst>
          </dgm:else>
        </dgm:choose>
        <dgm:ruleLst>
          <dgm:rule type="w" for="ch" forName="childNode" val="NaN" fact="0.4" max="NaN"/>
          <dgm:rule type="h" for="ch" forName="childNode" val="NaN" fact="0.5" max="NaN"/>
        </dgm:ruleLst>
        <dgm:layoutNode name="image" styleLbl="fgImgPlace1">
          <dgm:alg type="sp"/>
          <dgm:shape xmlns:r="http://schemas.openxmlformats.org/officeDocument/2006/relationships" type="rect" r:blip="" zOrderOff="4" blipPhldr="1">
            <dgm:adjLst/>
          </dgm:shape>
          <dgm:presOf/>
          <dgm:constrLst/>
          <dgm:ruleLst/>
        </dgm:layoutNode>
        <dgm:layoutNode name="childNode" styleLbl="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 zOrderOff="2">
            <dgm:adjLst/>
          </dgm:shape>
          <dgm:presOf axis="des" ptType="node"/>
          <dgm:constrLst/>
          <dgm:ruleLst>
            <dgm:rule type="primFontSz" val="5" fact="NaN" max="NaN"/>
          </dgm:ruleLst>
        </dgm:layoutNode>
        <dgm:layoutNode name="parentNode" styleLbl="revTx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>
                <dgm:adjLst/>
              </dgm:shape>
              <dgm:presOf axis="self"/>
              <dgm:constrLst>
                <dgm:constr type="lMarg"/>
                <dgm:constr type="bMarg"/>
                <dgm:constr type="tMarg"/>
              </dgm:constrLst>
            </dgm:if>
            <dgm:else name="Name9">
              <dgm:alg type="tx">
                <dgm:param type="autoTxRot" val="grav"/>
                <dgm:param type="parTxLTRAlign" val="l"/>
                <dgm:param type="parTxRTLAlign" val="l"/>
              </dgm:alg>
              <dgm:shape xmlns:r="http://schemas.openxmlformats.org/officeDocument/2006/relationships" rot="90" type="rect" r:blip="">
                <dgm:adjLst/>
              </dgm:shape>
              <dgm:presOf axis="self"/>
              <dgm:constrLst>
                <dgm:constr type="rMarg"/>
                <dgm:constr type="bMarg"/>
                <dgm:constr type="tMarg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69A107-93FC-4C73-A81C-593CBB10CFEF}" type="datetimeFigureOut">
              <a:rPr lang="en-CA" smtClean="0"/>
              <a:t>2025-10-30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3E61FF-07A4-4C6C-B06F-DD1DA8ACF56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3835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E61FF-07A4-4C6C-B06F-DD1DA8ACF568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637648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A22D7-1813-E300-F627-D3FC74A0A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765518-3DA2-6AD7-40D3-FC5FBC18E0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CEA148-A17B-E1EF-F60C-222660A029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7F719B-46F9-7E98-E59B-B418A2E851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E61FF-07A4-4C6C-B06F-DD1DA8ACF568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755884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62DED-A34E-CE94-B2A6-6B2ADA2A9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76B7D7-23F7-54E7-41DE-3C64C40059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99468A-BDCB-46C2-CF2C-7FF38E4C54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802F1-BDFE-8B1F-1020-C293E4BFAE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E61FF-07A4-4C6C-B06F-DD1DA8ACF568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0708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73502-794E-89E1-A357-C9406A2C9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9D6A62-DB73-6D78-28B5-303AD5D69A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F73C8C-578C-C263-E6BA-9C105A13C5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8ED55A-7B92-8731-835D-CB9A32E618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E61FF-07A4-4C6C-B06F-DD1DA8ACF568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16421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342FE-E00B-4FAF-8F73-F722060EB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0" y="978408"/>
            <a:ext cx="10506991" cy="2531555"/>
          </a:xfrm>
          <a:prstGeom prst="rect">
            <a:avLst/>
          </a:prstGeom>
        </p:spPr>
        <p:txBody>
          <a:bodyPr anchor="b"/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C1CCE2-4461-473E-B23C-34C8CCF04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600" y="3602038"/>
            <a:ext cx="10506991" cy="227755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A551A-CE2F-4E35-A714-B1F04D4B4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5C907-6594-4DFF-A32B-449C3BA96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76D75-E9DA-4660-AC52-51BA63FCB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EFA84C-D756-4DC7-AA46-68D776F3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6393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43735-A77F-440D-9448-6AE7C204D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1579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6C6EE-D55E-454B-B28C-EC73D1DB4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A2905-6D2E-4319-9521-61452AB8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C7550-84E8-49D3-B419-6F5F327DA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D2C6B-EA5D-4D97-BC84-6C860D536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066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1B299E6-11CC-4181-86C3-528A13F1F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22232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803473-0A64-4F9F-833B-8D64E3901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9"/>
            <a:ext cx="10515600" cy="2716769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73736-B424-40F2-B562-6DC10E5ED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4171445"/>
            <a:ext cx="10515600" cy="1918205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48851-37C0-478D-B722-D76C817DC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E063E-66CE-4C18-91FA-D14AE052D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66D3D-FD62-470C-BC3C-A03771A32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FF0049-0231-4557-A707-569556F0C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3922232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7A0DB1-87C8-4BF4-B2A2-F9CA6ED05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C29209-8A8F-48A7-8BA2-AFADA37CB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955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166BE9C-AE7C-4C39-9694-C32D6939B9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483577"/>
            <a:ext cx="11147071" cy="2434824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ACC42C-303A-4BDF-990A-2B07967BC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599" y="978408"/>
            <a:ext cx="1114707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55CEF-353E-4E14-83AD-ACADDC08D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260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5ECEF-9654-4AC1-BF77-7BC602BBD4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112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22FC8-BC06-407B-A82B-DA62B33A1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5B701-4E1F-48AA-8A3C-ED5DD9151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6BCA31-8AC7-46F5-BCAB-41D54DF83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BA86D8-2A29-4A0E-AEA0-39B41C418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85E13E-918A-4D04-9E84-94148D7C8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1486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5E892-D975-4DD6-8583-A14DDBE8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1" y="978407"/>
            <a:ext cx="11145039" cy="1339584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F7700-CECC-4881-BE5C-A13CD825B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632" y="2500921"/>
            <a:ext cx="5346222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4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50766-520A-44C5-943E-569222B74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632" y="3428999"/>
            <a:ext cx="5346222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2F7E42-976A-4239-8006-D68538D4B7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120" y="2500921"/>
            <a:ext cx="5372551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8CA329-951F-4391-ADC5-7EA320B778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120" y="3428999"/>
            <a:ext cx="5372551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BEC22A-DA46-460C-B865-D928C20AE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B2D647-42C5-4AB7-BB71-3A4406571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" y="6419088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0B2B67-714C-46DA-85E5-598B4244D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9591" y="-7190"/>
            <a:ext cx="640080" cy="365125"/>
          </a:xfrm>
        </p:spPr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989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D4B6724-AB30-4E7C-BE2B-ECD94FF1B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33311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D4BAB-2678-4A19-A575-C47CAF144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591509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47C89E-0ABD-4FD2-924C-894345ADF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3026CE-9CC8-403B-88B1-184D16532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B3D616-3C18-401B-A792-E75149FD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EC6F70-D800-4067-A36A-5BBFC8018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393331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B66CB6-8988-4FBA-8524-726765A5F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9036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C73F84-0C6B-4EF4-9405-C38982499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CEC807-744E-4C5C-8B15-09AED3E57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BCB19-9F4B-474C-85C1-4A645A971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333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A88B0-DD6B-449B-AE32-D3192081E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8"/>
            <a:ext cx="4287393" cy="2450592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22ED6-5B69-4B3B-BF96-3A75F2107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7" y="987425"/>
            <a:ext cx="6446484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704043-D45F-440A-A15D-2718A913E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072DC-7326-43E7-806C-B690C439E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89A0F-B8C6-4AA6-A9C4-4A454F422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57A616-A4F2-4FC5-88DE-B4E6BA542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114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B773D-D007-4687-BA9C-9F229829B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7"/>
            <a:ext cx="4287393" cy="2450593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3A75FC-78D2-4EF5-884F-11B7BACF79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987425"/>
            <a:ext cx="644648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CE0BB-D335-4391-A23F-194C575CA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701E1-B97B-4DA5-B9AD-07B7C1247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D9CF8-F42F-4618-9F26-8BFE56487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A2023-1ECA-4A96-BDC7-F7FA4368B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7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1999A10-4355-4A13-B008-196B21ABEE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2600" y="483576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36D448-AFEA-4483-B0E4-002840525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16234-4516-4303-8F60-A8127D89A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192" y="3103131"/>
            <a:ext cx="10506991" cy="30929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B5D50-A474-462B-A807-DF186B1C2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F1DAF-2E2D-46ED-AA3E-3D2FE4039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FC771-EB13-4EB5-A0A2-3968C6ABB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B596B8-8230-4695-8D76-F06AFA815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3EBF93-5FD9-4F4E-8485-7B937145C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8233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6B4D06-C7C6-4949-8EB2-F03ED999A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041710" y="978408"/>
            <a:ext cx="2947881" cy="5124777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21B9D-8C11-4176-AF22-89F972E21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632" y="978408"/>
            <a:ext cx="7256453" cy="51247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A9E1C-8E18-4A35-9BD8-427B1D14B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16CDB-7BB6-4DD2-A626-6DA8E569F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0403B-439E-449F-83B1-799EEC239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932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87A535-3CAC-46BC-B2B2-3AE83EC3A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21530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EBDBD-59EC-46ED-BE79-6D37B531D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3306870"/>
            <a:ext cx="10506991" cy="2572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21F5C-FD3D-42C7-90F4-5ECE6FFCFE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84632" y="1005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81B8F32D-D8B6-4B9E-9CBF-DCAC30B7B93D}" type="datetimeFigureOut">
              <a:rPr lang="en-US" smtClean="0"/>
              <a:pPr/>
              <a:t>10/30/2025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63D50-6D0B-4963-97B9-A32AE63235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41908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B5E08-CAC3-4C87-B143-5F8956AE90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9591" y="1005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0553ECD-7F6D-420D-93CA-D8D15EB427A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697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7" r:id="rId10"/>
    <p:sldLayoutId id="2147483798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2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3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ackground Fill">
            <a:extLst>
              <a:ext uri="{FF2B5EF4-FFF2-40B4-BE49-F238E27FC236}">
                <a16:creationId xmlns:a16="http://schemas.microsoft.com/office/drawing/2014/main" id="{B6D694DB-A3FC-4F14-A225-17BEBA44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914C8D-3DB1-C1A7-6E7E-D775B424B8F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7422" r="-1" b="8287"/>
          <a:stretch>
            <a:fillRect/>
          </a:stretch>
        </p:blipFill>
        <p:spPr>
          <a:xfrm>
            <a:off x="3059" y="10"/>
            <a:ext cx="12188941" cy="6857990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6233B4D5-2565-4CC0-A9B1-C9EA9E9DE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D0FB50-B90C-9526-E834-006C790BE7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1122363"/>
            <a:ext cx="5638801" cy="186848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CA" sz="5100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Health Economics</a:t>
            </a:r>
            <a:br>
              <a:rPr lang="en-CA" sz="5100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CA" sz="5100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Lecture #5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F9C7FB-3F59-5796-DCA9-B54919671C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3623356"/>
            <a:ext cx="5638801" cy="1634443"/>
          </a:xfrm>
        </p:spPr>
        <p:txBody>
          <a:bodyPr>
            <a:normAutofit/>
          </a:bodyPr>
          <a:lstStyle/>
          <a:p>
            <a:r>
              <a:rPr lang="en-CA" b="1" dirty="0">
                <a:ln w="6350">
                  <a:noFill/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Topic: Physician Behaviour</a:t>
            </a:r>
            <a:br>
              <a:rPr lang="en-CA" b="1" dirty="0">
                <a:ln w="6350">
                  <a:noFill/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CA" b="1" dirty="0">
                <a:ln w="6350">
                  <a:noFill/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Economics MSMG 5240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D02D326-F829-4915-A540-3A4D5ADFC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528E080-CC35-4F6C-9D3C-949904DC4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8" name="Picture 4" descr="image">
            <a:extLst>
              <a:ext uri="{FF2B5EF4-FFF2-40B4-BE49-F238E27FC236}">
                <a16:creationId xmlns:a16="http://schemas.microsoft.com/office/drawing/2014/main" id="{07EDE8EE-97B2-4FFC-8019-3B0C8C737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3241" y="5934750"/>
            <a:ext cx="2857500" cy="866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FA484E-AC5D-C709-0DD9-E23DB796CAD2}"/>
              </a:ext>
            </a:extLst>
          </p:cNvPr>
          <p:cNvSpPr txBox="1"/>
          <p:nvPr/>
        </p:nvSpPr>
        <p:spPr>
          <a:xfrm>
            <a:off x="482600" y="6428403"/>
            <a:ext cx="4334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chemeClr val="bg1"/>
                </a:solidFill>
              </a:rPr>
              <a:t>Prepared by Jacob Smith, Trent University</a:t>
            </a:r>
          </a:p>
        </p:txBody>
      </p:sp>
    </p:spTree>
    <p:extLst>
      <p:ext uri="{BB962C8B-B14F-4D97-AF65-F5344CB8AC3E}">
        <p14:creationId xmlns:p14="http://schemas.microsoft.com/office/powerpoint/2010/main" val="3267180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A5715-D549-5DFA-82EB-2573E410C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645033"/>
            <a:ext cx="10280650" cy="840867"/>
          </a:xfrm>
        </p:spPr>
        <p:txBody>
          <a:bodyPr/>
          <a:lstStyle/>
          <a:p>
            <a:r>
              <a:rPr lang="en-CA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04CF6-59F3-1BC6-3F09-48554FD0B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676400"/>
            <a:ext cx="10506991" cy="4203191"/>
          </a:xfrm>
        </p:spPr>
        <p:txBody>
          <a:bodyPr>
            <a:normAutofit/>
          </a:bodyPr>
          <a:lstStyle/>
          <a:p>
            <a:r>
              <a:rPr lang="en-CA" dirty="0"/>
              <a:t>In this lecture, we will discuss: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The Physician’s Problem.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Theory I: The Physician as a Profit-Maximizing Firm.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Theory II: The Target Income Hypothesis and Supplier-Induced Demand.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Empirical Evidence supporting each theory of physician behaviour.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42C93A9-61D0-70D3-75C4-A43F2AB757B8}"/>
              </a:ext>
            </a:extLst>
          </p:cNvPr>
          <p:cNvSpPr/>
          <p:nvPr/>
        </p:nvSpPr>
        <p:spPr>
          <a:xfrm>
            <a:off x="1748341" y="4929780"/>
            <a:ext cx="9014909" cy="114031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b="1" i="1" u="sng" dirty="0">
                <a:solidFill>
                  <a:schemeClr val="tx1"/>
                </a:solidFill>
              </a:rPr>
              <a:t>Goal of this Lecture: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b="1" i="1" dirty="0">
                <a:solidFill>
                  <a:schemeClr val="tx1"/>
                </a:solidFill>
              </a:rPr>
              <a:t>Describe the nature of physician behaviour.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b="1" i="1" dirty="0">
                <a:solidFill>
                  <a:schemeClr val="tx1"/>
                </a:solidFill>
              </a:rPr>
              <a:t>Discuss why the market for medical care is different than other markets.</a:t>
            </a:r>
          </a:p>
        </p:txBody>
      </p:sp>
    </p:spTree>
    <p:extLst>
      <p:ext uri="{BB962C8B-B14F-4D97-AF65-F5344CB8AC3E}">
        <p14:creationId xmlns:p14="http://schemas.microsoft.com/office/powerpoint/2010/main" val="1175725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98056-0EB6-1F9E-7D25-800D155C5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Physicians Problem</a:t>
            </a:r>
          </a:p>
        </p:txBody>
      </p:sp>
    </p:spTree>
    <p:extLst>
      <p:ext uri="{BB962C8B-B14F-4D97-AF65-F5344CB8AC3E}">
        <p14:creationId xmlns:p14="http://schemas.microsoft.com/office/powerpoint/2010/main" val="3157542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1392F-2D34-DA64-615C-F0AD3FFB0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1DBAB1F-90FF-D682-D4D2-933DB55292E5}"/>
              </a:ext>
            </a:extLst>
          </p:cNvPr>
          <p:cNvCxnSpPr>
            <a:cxnSpLocks/>
          </p:cNvCxnSpPr>
          <p:nvPr/>
        </p:nvCxnSpPr>
        <p:spPr>
          <a:xfrm>
            <a:off x="5301115" y="3103293"/>
            <a:ext cx="1702115" cy="15270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E9DA65D-A1E7-3883-0656-F148E96BFCFE}"/>
              </a:ext>
            </a:extLst>
          </p:cNvPr>
          <p:cNvCxnSpPr/>
          <p:nvPr/>
        </p:nvCxnSpPr>
        <p:spPr>
          <a:xfrm flipV="1">
            <a:off x="5327041" y="3262309"/>
            <a:ext cx="1685925" cy="1400175"/>
          </a:xfrm>
          <a:prstGeom prst="line">
            <a:avLst/>
          </a:prstGeom>
          <a:ln w="5715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48DC3A8-E55E-5118-4089-756C4B13E33E}"/>
              </a:ext>
            </a:extLst>
          </p:cNvPr>
          <p:cNvCxnSpPr/>
          <p:nvPr/>
        </p:nvCxnSpPr>
        <p:spPr>
          <a:xfrm flipV="1">
            <a:off x="619125" y="4381500"/>
            <a:ext cx="1685925" cy="1400175"/>
          </a:xfrm>
          <a:prstGeom prst="line">
            <a:avLst/>
          </a:prstGeom>
          <a:ln w="5715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2CC98F8-ACFD-B15E-7DEB-B777A0492D1E}"/>
              </a:ext>
            </a:extLst>
          </p:cNvPr>
          <p:cNvCxnSpPr>
            <a:cxnSpLocks/>
          </p:cNvCxnSpPr>
          <p:nvPr/>
        </p:nvCxnSpPr>
        <p:spPr>
          <a:xfrm>
            <a:off x="9827896" y="4384741"/>
            <a:ext cx="1702115" cy="15270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6EC7983-F85A-8108-2B04-28E1F482B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45" y="251360"/>
            <a:ext cx="11249442" cy="1117092"/>
          </a:xfrm>
        </p:spPr>
        <p:txBody>
          <a:bodyPr/>
          <a:lstStyle/>
          <a:p>
            <a:r>
              <a:rPr lang="en-CA" sz="4000" dirty="0"/>
              <a:t>A Review of the Theory of the Firm and Markets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846E6-0154-A9D3-55A9-0AFA5686C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149" y="1279416"/>
            <a:ext cx="10506991" cy="1195700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In markets for nonmedical services the incentives differ.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Firms try to sell products at the right price and amount which maximizes profits.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Consumers make purchasing decisions as ones that maximize their utility.</a:t>
            </a:r>
          </a:p>
        </p:txBody>
      </p:sp>
      <p:pic>
        <p:nvPicPr>
          <p:cNvPr id="7" name="Graphic 6" descr="Store with solid fill">
            <a:extLst>
              <a:ext uri="{FF2B5EF4-FFF2-40B4-BE49-F238E27FC236}">
                <a16:creationId xmlns:a16="http://schemas.microsoft.com/office/drawing/2014/main" id="{BDBBB55B-F201-0CF5-0F82-AC11C94388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10840" y="5033772"/>
            <a:ext cx="1264920" cy="1264920"/>
          </a:xfrm>
          <a:prstGeom prst="rect">
            <a:avLst/>
          </a:prstGeom>
        </p:spPr>
      </p:pic>
      <p:pic>
        <p:nvPicPr>
          <p:cNvPr id="9" name="Graphic 8" descr="User with solid fill">
            <a:extLst>
              <a:ext uri="{FF2B5EF4-FFF2-40B4-BE49-F238E27FC236}">
                <a16:creationId xmlns:a16="http://schemas.microsoft.com/office/drawing/2014/main" id="{E16C20F9-3DE7-8DEB-325E-317B0E4D91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03870" y="4958142"/>
            <a:ext cx="1264921" cy="1264921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C8CC1F3-F5D9-1B67-9C71-D745C8F20C82}"/>
              </a:ext>
            </a:extLst>
          </p:cNvPr>
          <p:cNvCxnSpPr/>
          <p:nvPr/>
        </p:nvCxnSpPr>
        <p:spPr>
          <a:xfrm>
            <a:off x="4324350" y="5911784"/>
            <a:ext cx="377952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557B488-FC72-340D-7B63-34B7BBF2E3C4}"/>
              </a:ext>
            </a:extLst>
          </p:cNvPr>
          <p:cNvCxnSpPr>
            <a:cxnSpLocks/>
          </p:cNvCxnSpPr>
          <p:nvPr/>
        </p:nvCxnSpPr>
        <p:spPr>
          <a:xfrm flipH="1">
            <a:off x="4324350" y="5447157"/>
            <a:ext cx="377952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257BFB5-8EF4-379A-97BB-1FD17AB9FFA8}"/>
              </a:ext>
            </a:extLst>
          </p:cNvPr>
          <p:cNvSpPr/>
          <p:nvPr/>
        </p:nvSpPr>
        <p:spPr>
          <a:xfrm>
            <a:off x="619125" y="3952874"/>
            <a:ext cx="2204084" cy="206692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0BB5EE-C72F-318D-E7AD-665C54391A30}"/>
              </a:ext>
            </a:extLst>
          </p:cNvPr>
          <p:cNvSpPr/>
          <p:nvPr/>
        </p:nvSpPr>
        <p:spPr>
          <a:xfrm>
            <a:off x="9827896" y="3962397"/>
            <a:ext cx="2204084" cy="206692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E7FB91-327A-0248-61BC-7835EF580DB1}"/>
              </a:ext>
            </a:extLst>
          </p:cNvPr>
          <p:cNvSpPr/>
          <p:nvPr/>
        </p:nvSpPr>
        <p:spPr>
          <a:xfrm>
            <a:off x="5301115" y="2804777"/>
            <a:ext cx="2204084" cy="206692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2426CC-CAD9-67EC-7C09-EBDB0D283856}"/>
              </a:ext>
            </a:extLst>
          </p:cNvPr>
          <p:cNvSpPr/>
          <p:nvPr/>
        </p:nvSpPr>
        <p:spPr>
          <a:xfrm>
            <a:off x="482600" y="3838575"/>
            <a:ext cx="2708275" cy="2985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7D09B4-255B-F5AE-CF6C-CBF15E766D6B}"/>
              </a:ext>
            </a:extLst>
          </p:cNvPr>
          <p:cNvSpPr/>
          <p:nvPr/>
        </p:nvSpPr>
        <p:spPr>
          <a:xfrm>
            <a:off x="2600325" y="3990975"/>
            <a:ext cx="367663" cy="22320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7CED4A-E9C3-7CC2-D2EF-9FCC65076F2D}"/>
              </a:ext>
            </a:extLst>
          </p:cNvPr>
          <p:cNvSpPr/>
          <p:nvPr/>
        </p:nvSpPr>
        <p:spPr>
          <a:xfrm>
            <a:off x="7367088" y="2657997"/>
            <a:ext cx="367663" cy="22320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5B420B-7C22-5B4E-B9A2-44551FC56E6D}"/>
              </a:ext>
            </a:extLst>
          </p:cNvPr>
          <p:cNvSpPr/>
          <p:nvPr/>
        </p:nvSpPr>
        <p:spPr>
          <a:xfrm>
            <a:off x="5049019" y="2641226"/>
            <a:ext cx="2708275" cy="2985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47BD71A-5C34-D311-E02E-737A52AA8AB7}"/>
              </a:ext>
            </a:extLst>
          </p:cNvPr>
          <p:cNvSpPr/>
          <p:nvPr/>
        </p:nvSpPr>
        <p:spPr>
          <a:xfrm>
            <a:off x="11790998" y="3864871"/>
            <a:ext cx="367663" cy="22320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0BCDD7-37A5-92E8-4841-E0AD963BB8DE}"/>
              </a:ext>
            </a:extLst>
          </p:cNvPr>
          <p:cNvSpPr/>
          <p:nvPr/>
        </p:nvSpPr>
        <p:spPr>
          <a:xfrm>
            <a:off x="9472929" y="3848100"/>
            <a:ext cx="2708275" cy="2985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E2E8333-8EE6-E60C-11BB-356760B19B73}"/>
              </a:ext>
            </a:extLst>
          </p:cNvPr>
          <p:cNvSpPr txBox="1"/>
          <p:nvPr/>
        </p:nvSpPr>
        <p:spPr>
          <a:xfrm>
            <a:off x="4602560" y="2821959"/>
            <a:ext cx="1159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Price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7B5BB35-6FE2-D4EB-ACB6-490C2119851A}"/>
              </a:ext>
            </a:extLst>
          </p:cNvPr>
          <p:cNvSpPr txBox="1"/>
          <p:nvPr/>
        </p:nvSpPr>
        <p:spPr>
          <a:xfrm>
            <a:off x="6927242" y="4803005"/>
            <a:ext cx="1159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Quantity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83E1CF8-E3B3-5C8F-453D-A81DE5171141}"/>
              </a:ext>
            </a:extLst>
          </p:cNvPr>
          <p:cNvSpPr txBox="1"/>
          <p:nvPr/>
        </p:nvSpPr>
        <p:spPr>
          <a:xfrm>
            <a:off x="1872085" y="5972793"/>
            <a:ext cx="1159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Quantity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D2D09E8-D08B-8432-DC00-D7B3CA17B5FC}"/>
              </a:ext>
            </a:extLst>
          </p:cNvPr>
          <p:cNvSpPr txBox="1"/>
          <p:nvPr/>
        </p:nvSpPr>
        <p:spPr>
          <a:xfrm>
            <a:off x="11103737" y="6009819"/>
            <a:ext cx="1159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Quantity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DFFC2D7-5340-5920-7460-9023F1B28887}"/>
              </a:ext>
            </a:extLst>
          </p:cNvPr>
          <p:cNvSpPr txBox="1"/>
          <p:nvPr/>
        </p:nvSpPr>
        <p:spPr>
          <a:xfrm>
            <a:off x="58761" y="3808904"/>
            <a:ext cx="1159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Price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0CEB948-6BF4-87A1-EA4C-2CD4E31F34B3}"/>
              </a:ext>
            </a:extLst>
          </p:cNvPr>
          <p:cNvSpPr txBox="1"/>
          <p:nvPr/>
        </p:nvSpPr>
        <p:spPr>
          <a:xfrm>
            <a:off x="9238403" y="3768208"/>
            <a:ext cx="1159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Price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F815EA1-379F-8149-CC64-F77C17D36A51}"/>
              </a:ext>
            </a:extLst>
          </p:cNvPr>
          <p:cNvCxnSpPr/>
          <p:nvPr/>
        </p:nvCxnSpPr>
        <p:spPr>
          <a:xfrm>
            <a:off x="6203632" y="3952874"/>
            <a:ext cx="10478" cy="918828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15EF223-956E-5B0B-6E14-05A7C6D83180}"/>
              </a:ext>
            </a:extLst>
          </p:cNvPr>
          <p:cNvCxnSpPr>
            <a:cxnSpLocks/>
          </p:cNvCxnSpPr>
          <p:nvPr/>
        </p:nvCxnSpPr>
        <p:spPr>
          <a:xfrm flipH="1">
            <a:off x="5279420" y="3895324"/>
            <a:ext cx="924212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81D9BB6-F163-01FA-F94B-FCCEE0FD6B8F}"/>
                  </a:ext>
                </a:extLst>
              </p:cNvPr>
              <p:cNvSpPr txBox="1"/>
              <p:nvPr/>
            </p:nvSpPr>
            <p:spPr>
              <a:xfrm>
                <a:off x="4538501" y="3680205"/>
                <a:ext cx="11593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p>
                          <m:r>
                            <a:rPr lang="en-CA" b="0" i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81D9BB6-F163-01FA-F94B-FCCEE0FD6B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8501" y="3680205"/>
                <a:ext cx="11593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D014CDE-A4C4-59F0-A732-97BA823609FE}"/>
                  </a:ext>
                </a:extLst>
              </p:cNvPr>
              <p:cNvSpPr txBox="1"/>
              <p:nvPr/>
            </p:nvSpPr>
            <p:spPr>
              <a:xfrm>
                <a:off x="5663566" y="4854081"/>
                <a:ext cx="11593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p>
                          <m:r>
                            <a:rPr lang="en-CA" b="0" i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D014CDE-A4C4-59F0-A732-97BA823609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3566" y="4854081"/>
                <a:ext cx="1159300" cy="369332"/>
              </a:xfrm>
              <a:prstGeom prst="rect">
                <a:avLst/>
              </a:prstGeom>
              <a:blipFill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8250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DE7F9-15FB-3067-19ED-8D59EF508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1DF4C-2F4E-52B3-6ED7-15D8679A4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725" y="210687"/>
            <a:ext cx="10634472" cy="1117092"/>
          </a:xfrm>
        </p:spPr>
        <p:txBody>
          <a:bodyPr/>
          <a:lstStyle/>
          <a:p>
            <a:r>
              <a:rPr lang="en-CA" sz="4800" dirty="0"/>
              <a:t>The Market for Medical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F5C5B-26F3-B112-44C5-245600A83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9440" y="1076615"/>
            <a:ext cx="5030317" cy="5324185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</a:t>
            </a:r>
            <a:r>
              <a:rPr lang="en-CA" dirty="0"/>
              <a:t>he market for medical services is quite different from other markets due to 3 factors:</a:t>
            </a:r>
          </a:p>
          <a:p>
            <a:pPr marL="1143000" lvl="1" indent="-457200">
              <a:buFont typeface="+mj-lt"/>
              <a:buAutoNum type="arabicPeriod"/>
            </a:pPr>
            <a:r>
              <a:rPr lang="en-CA" b="1" dirty="0"/>
              <a:t>Asymmetry of Information</a:t>
            </a:r>
            <a:br>
              <a:rPr lang="en-CA" b="1" dirty="0"/>
            </a:br>
            <a:r>
              <a:rPr lang="en-CA" dirty="0"/>
              <a:t>- Physicians often have a better sense on the optimal amount and type of treatment to provide patients compared to patients themselves.</a:t>
            </a:r>
          </a:p>
          <a:p>
            <a:pPr marL="1143000" lvl="1" indent="-457200">
              <a:buFont typeface="+mj-lt"/>
              <a:buAutoNum type="arabicPeriod"/>
            </a:pPr>
            <a:r>
              <a:rPr lang="en-CA" b="1" dirty="0"/>
              <a:t>Altruism-</a:t>
            </a:r>
            <a:r>
              <a:rPr lang="en-CA" dirty="0"/>
              <a:t> Physicians are often considered as (partially) “ethical” suppliers of health care who think of patient well-being when determining their provision of care in addition to their own incomes.</a:t>
            </a:r>
          </a:p>
          <a:p>
            <a:pPr marL="1143000" lvl="1" indent="-457200">
              <a:buFont typeface="+mj-lt"/>
              <a:buAutoNum type="arabicPeriod"/>
            </a:pPr>
            <a:r>
              <a:rPr lang="en-CA" b="1" dirty="0"/>
              <a:t>Third Party Payment</a:t>
            </a:r>
            <a:r>
              <a:rPr lang="en-CA" dirty="0"/>
              <a:t>- Physicians are often not paid directly by </a:t>
            </a:r>
            <a:r>
              <a:rPr lang="en-CA" dirty="0" err="1"/>
              <a:t>patients,but</a:t>
            </a:r>
            <a:r>
              <a:rPr lang="en-CA" dirty="0"/>
              <a:t> are instead paid by a third party for their services (i.e. an insurance company).</a:t>
            </a:r>
            <a:endParaRPr lang="en-CA" b="1" dirty="0"/>
          </a:p>
          <a:p>
            <a:pPr marL="1143000" lvl="1" indent="-457200">
              <a:buFont typeface="+mj-lt"/>
              <a:buAutoNum type="arabicPeriod"/>
            </a:pPr>
            <a:endParaRPr lang="en-CA" b="1" dirty="0"/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40A9D8BD-3758-A5F5-4DC0-C576B3ED20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7278345"/>
              </p:ext>
            </p:extLst>
          </p:nvPr>
        </p:nvGraphicFramePr>
        <p:xfrm>
          <a:off x="212244" y="1635161"/>
          <a:ext cx="7016895" cy="47656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49666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24699-EBFA-EA5E-CABE-050EEE81E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8EAA6-7DDD-4A37-8503-A1200D410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US" sz="4800" dirty="0"/>
              <a:t>The Physician’s Dilemma</a:t>
            </a:r>
            <a:endParaRPr lang="en-CA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37B6F-8338-B44F-4783-9177CFB93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9575" y="1623808"/>
            <a:ext cx="5571350" cy="4546092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Because the physician possesses superior information regarding patient health status, there is an incentive to provide less efficient care.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These can manifest themselves as:</a:t>
            </a:r>
            <a:endParaRPr lang="en-CA" dirty="0"/>
          </a:p>
          <a:p>
            <a:pPr marL="1028700" lvl="1" indent="-342900">
              <a:buFont typeface="Seaford" panose="00000500000000000000" pitchFamily="2" charset="0"/>
              <a:buChar char="–"/>
            </a:pPr>
            <a:r>
              <a:rPr lang="en-CA" dirty="0"/>
              <a:t>Increased unnecessary diagnostic tests.</a:t>
            </a:r>
          </a:p>
          <a:p>
            <a:pPr marL="1028700" lvl="1" indent="-342900">
              <a:buFont typeface="Seaford" panose="00000500000000000000" pitchFamily="2" charset="0"/>
              <a:buChar char="–"/>
            </a:pPr>
            <a:r>
              <a:rPr lang="en-US" dirty="0"/>
              <a:t>“upcoding” (billing for consult procedures which are not reflective of work done).</a:t>
            </a:r>
          </a:p>
          <a:p>
            <a:pPr marL="1028700" lvl="1" indent="-342900">
              <a:buFont typeface="Seaford" panose="00000500000000000000" pitchFamily="2" charset="0"/>
              <a:buChar char="–"/>
            </a:pPr>
            <a:r>
              <a:rPr lang="en-US" dirty="0"/>
              <a:t>Requesting patient appointments when appointments are not needed.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This information asymmetry allows physicians to engage in </a:t>
            </a:r>
            <a:r>
              <a:rPr lang="en-US" b="1" dirty="0"/>
              <a:t>Supplier Induced Demand</a:t>
            </a:r>
            <a:r>
              <a:rPr lang="en-US" dirty="0"/>
              <a:t>.</a:t>
            </a:r>
          </a:p>
        </p:txBody>
      </p:sp>
      <p:pic>
        <p:nvPicPr>
          <p:cNvPr id="5" name="Graphic 4" descr="Doctor female with solid fill">
            <a:extLst>
              <a:ext uri="{FF2B5EF4-FFF2-40B4-BE49-F238E27FC236}">
                <a16:creationId xmlns:a16="http://schemas.microsoft.com/office/drawing/2014/main" id="{FF87E480-BB79-66F9-4448-032D712C8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67206" y="1714500"/>
            <a:ext cx="1365531" cy="1365531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D3E6A40-F38C-695D-70DA-C98177F22CAE}"/>
              </a:ext>
            </a:extLst>
          </p:cNvPr>
          <p:cNvCxnSpPr>
            <a:cxnSpLocks/>
          </p:cNvCxnSpPr>
          <p:nvPr/>
        </p:nvCxnSpPr>
        <p:spPr>
          <a:xfrm>
            <a:off x="3326130" y="3074670"/>
            <a:ext cx="1406871" cy="164436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phic 13" descr="Dollar with solid fill">
            <a:extLst>
              <a:ext uri="{FF2B5EF4-FFF2-40B4-BE49-F238E27FC236}">
                <a16:creationId xmlns:a16="http://schemas.microsoft.com/office/drawing/2014/main" id="{E0FE0549-D46E-6C4D-D3DD-E0427AEF68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1475" y="4555617"/>
            <a:ext cx="914400" cy="914400"/>
          </a:xfrm>
          <a:prstGeom prst="rect">
            <a:avLst/>
          </a:prstGeom>
        </p:spPr>
      </p:pic>
      <p:pic>
        <p:nvPicPr>
          <p:cNvPr id="17" name="Graphic 16" descr="Sling with solid fill">
            <a:extLst>
              <a:ext uri="{FF2B5EF4-FFF2-40B4-BE49-F238E27FC236}">
                <a16:creationId xmlns:a16="http://schemas.microsoft.com/office/drawing/2014/main" id="{E91BFC2E-4B3F-7F8C-2481-F0A88DE72B3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53725" y="4469892"/>
            <a:ext cx="1085850" cy="1085850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B612399-9E68-7A09-CE31-82C84C143736}"/>
              </a:ext>
            </a:extLst>
          </p:cNvPr>
          <p:cNvCxnSpPr>
            <a:cxnSpLocks/>
          </p:cNvCxnSpPr>
          <p:nvPr/>
        </p:nvCxnSpPr>
        <p:spPr>
          <a:xfrm flipH="1">
            <a:off x="1878137" y="3074670"/>
            <a:ext cx="1447993" cy="164973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97B54BE-6038-932F-0174-1576766BBDD9}"/>
              </a:ext>
            </a:extLst>
          </p:cNvPr>
          <p:cNvSpPr txBox="1"/>
          <p:nvPr/>
        </p:nvSpPr>
        <p:spPr>
          <a:xfrm>
            <a:off x="131915" y="1975512"/>
            <a:ext cx="2611285" cy="147732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/>
              <a:t>Physician behavior is often a combination of profit-maximizing behavior and altruistic behavior</a:t>
            </a:r>
            <a:endParaRPr lang="en-CA" i="1" dirty="0"/>
          </a:p>
        </p:txBody>
      </p:sp>
    </p:spTree>
    <p:extLst>
      <p:ext uri="{BB962C8B-B14F-4D97-AF65-F5344CB8AC3E}">
        <p14:creationId xmlns:p14="http://schemas.microsoft.com/office/powerpoint/2010/main" val="1440599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F19EF-AD2F-4CF7-70EE-42F6FFE88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6AA35-0C1F-1136-1AB1-F2709291F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Theory I: The Physician as a Profit Maximizing Firm.</a:t>
            </a:r>
          </a:p>
        </p:txBody>
      </p:sp>
    </p:spTree>
    <p:extLst>
      <p:ext uri="{BB962C8B-B14F-4D97-AF65-F5344CB8AC3E}">
        <p14:creationId xmlns:p14="http://schemas.microsoft.com/office/powerpoint/2010/main" val="3093565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EE57B-3485-51E2-7AA6-022EA0F65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3281B68-1518-A4A7-3BA5-F35D3DAEE5F7}"/>
              </a:ext>
            </a:extLst>
          </p:cNvPr>
          <p:cNvCxnSpPr>
            <a:cxnSpLocks/>
          </p:cNvCxnSpPr>
          <p:nvPr/>
        </p:nvCxnSpPr>
        <p:spPr>
          <a:xfrm flipV="1">
            <a:off x="1151053" y="2211738"/>
            <a:ext cx="3505152" cy="3371109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DB3EA91F-3E54-A0C3-E3B0-0212C5A2BE0B}"/>
              </a:ext>
            </a:extLst>
          </p:cNvPr>
          <p:cNvSpPr/>
          <p:nvPr/>
        </p:nvSpPr>
        <p:spPr>
          <a:xfrm>
            <a:off x="1151053" y="1714500"/>
            <a:ext cx="4443984" cy="41605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58E6D9-1021-7183-35AD-90BD3D0E72A6}"/>
              </a:ext>
            </a:extLst>
          </p:cNvPr>
          <p:cNvSpPr/>
          <p:nvPr/>
        </p:nvSpPr>
        <p:spPr>
          <a:xfrm>
            <a:off x="748717" y="1548956"/>
            <a:ext cx="5431536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49174F-7D15-9B66-76F5-9D3394A7303F}"/>
              </a:ext>
            </a:extLst>
          </p:cNvPr>
          <p:cNvSpPr/>
          <p:nvPr/>
        </p:nvSpPr>
        <p:spPr>
          <a:xfrm rot="5400000">
            <a:off x="3059291" y="3309969"/>
            <a:ext cx="5431536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A99E72-282C-0318-F1A3-C44D3736009D}"/>
              </a:ext>
            </a:extLst>
          </p:cNvPr>
          <p:cNvSpPr txBox="1"/>
          <p:nvPr/>
        </p:nvSpPr>
        <p:spPr>
          <a:xfrm>
            <a:off x="482600" y="2099575"/>
            <a:ext cx="718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Price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83B8C2-DD02-5A40-ECFE-FCDF7DF746F9}"/>
              </a:ext>
            </a:extLst>
          </p:cNvPr>
          <p:cNvSpPr txBox="1"/>
          <p:nvPr/>
        </p:nvSpPr>
        <p:spPr>
          <a:xfrm>
            <a:off x="4602400" y="5785185"/>
            <a:ext cx="13917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Quantity of</a:t>
            </a:r>
            <a:br>
              <a:rPr lang="en-CA" b="1" dirty="0"/>
            </a:br>
            <a:r>
              <a:rPr lang="en-CA" b="1" dirty="0"/>
              <a:t>Healthcare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D3DC49-738B-1759-837B-7F97B8FFA65D}"/>
              </a:ext>
            </a:extLst>
          </p:cNvPr>
          <p:cNvSpPr txBox="1"/>
          <p:nvPr/>
        </p:nvSpPr>
        <p:spPr>
          <a:xfrm>
            <a:off x="4643845" y="2103961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Supply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6B2A34A-061B-96C2-7467-746DE852E8DC}"/>
              </a:ext>
            </a:extLst>
          </p:cNvPr>
          <p:cNvCxnSpPr>
            <a:cxnSpLocks/>
          </p:cNvCxnSpPr>
          <p:nvPr/>
        </p:nvCxnSpPr>
        <p:spPr>
          <a:xfrm flipV="1">
            <a:off x="1140152" y="3638454"/>
            <a:ext cx="2004071" cy="8446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EAED20E-466D-E603-A462-F72C1AA54E02}"/>
              </a:ext>
            </a:extLst>
          </p:cNvPr>
          <p:cNvCxnSpPr>
            <a:cxnSpLocks/>
          </p:cNvCxnSpPr>
          <p:nvPr/>
        </p:nvCxnSpPr>
        <p:spPr>
          <a:xfrm flipH="1">
            <a:off x="3112648" y="3638454"/>
            <a:ext cx="31575" cy="2224592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07F6677-42D8-59A7-A064-345D1B357A1E}"/>
                  </a:ext>
                </a:extLst>
              </p:cNvPr>
              <p:cNvSpPr txBox="1"/>
              <p:nvPr/>
            </p:nvSpPr>
            <p:spPr>
              <a:xfrm>
                <a:off x="2903629" y="5830454"/>
                <a:ext cx="5084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𝐐</m:t>
                          </m:r>
                        </m:e>
                        <m:sub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CA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07F6677-42D8-59A7-A064-345D1B357A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3629" y="5830454"/>
                <a:ext cx="508408" cy="369332"/>
              </a:xfrm>
              <a:prstGeom prst="rect">
                <a:avLst/>
              </a:prstGeom>
              <a:blipFill>
                <a:blip r:embed="rId2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6BF87C14-171B-67CF-AFAA-F0D759684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The Physician as a Profit Maximizing Firm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57072F-86F2-29C1-F99A-A72DB8A998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90622" y="1036912"/>
                <a:ext cx="6036967" cy="5447408"/>
              </a:xfrm>
            </p:spPr>
            <p:txBody>
              <a:bodyPr>
                <a:normAutofit fontScale="85000" lnSpcReduction="20000"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US" dirty="0"/>
                  <a:t>The first analytical choice that can be made when analyzing physician behavior is assuming they are like any other firm or business that maximizes profits.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US" dirty="0"/>
                  <a:t>Mathematically, they solve the following problem:</a:t>
                </a:r>
                <a:br>
                  <a:rPr lang="en-US" dirty="0"/>
                </a:b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Where: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is the firm’s profits.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: the price of medical care.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: the quantity of medical care supplied.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the cost of providing medical care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.</a:t>
                </a:r>
                <a:br>
                  <a:rPr lang="en-US" dirty="0"/>
                </a:br>
                <a:endParaRPr lang="en-US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US" dirty="0"/>
                  <a:t> In this environment, the law of supply holds, and higher (lower) prices incentivize physicians to provide more (less) healthcare.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57072F-86F2-29C1-F99A-A72DB8A998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90622" y="1036912"/>
                <a:ext cx="6036967" cy="5447408"/>
              </a:xfrm>
              <a:blipFill>
                <a:blip r:embed="rId3"/>
                <a:stretch>
                  <a:fillRect l="-1111" t="-1790" r="-131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9D90CEC-0778-BAE9-35B1-3A99EDDDBE33}"/>
                  </a:ext>
                </a:extLst>
              </p:cNvPr>
              <p:cNvSpPr txBox="1"/>
              <p:nvPr/>
            </p:nvSpPr>
            <p:spPr>
              <a:xfrm>
                <a:off x="722823" y="3453788"/>
                <a:ext cx="5035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CA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9D90CEC-0778-BAE9-35B1-3A99EDDDBE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823" y="3453788"/>
                <a:ext cx="503599" cy="369332"/>
              </a:xfrm>
              <a:prstGeom prst="rect">
                <a:avLst/>
              </a:prstGeom>
              <a:blipFill>
                <a:blip r:embed="rId4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2509DE7-F49C-61D6-C4FC-32FBF61AAB70}"/>
              </a:ext>
            </a:extLst>
          </p:cNvPr>
          <p:cNvCxnSpPr>
            <a:cxnSpLocks/>
          </p:cNvCxnSpPr>
          <p:nvPr/>
        </p:nvCxnSpPr>
        <p:spPr>
          <a:xfrm>
            <a:off x="1603851" y="2284241"/>
            <a:ext cx="3337560" cy="2952751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E016DE2-2C70-ECEC-EA70-8183AB0E5161}"/>
              </a:ext>
            </a:extLst>
          </p:cNvPr>
          <p:cNvSpPr txBox="1"/>
          <p:nvPr/>
        </p:nvSpPr>
        <p:spPr>
          <a:xfrm>
            <a:off x="4969053" y="5091087"/>
            <a:ext cx="1063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Demand</a:t>
            </a:r>
          </a:p>
        </p:txBody>
      </p:sp>
    </p:spTree>
    <p:extLst>
      <p:ext uri="{BB962C8B-B14F-4D97-AF65-F5344CB8AC3E}">
        <p14:creationId xmlns:p14="http://schemas.microsoft.com/office/powerpoint/2010/main" val="1020012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A202F-2E89-9924-BEE8-96987C50C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4F1B56D-BFA8-8D2B-AD1A-CEDC1C28D528}"/>
              </a:ext>
            </a:extLst>
          </p:cNvPr>
          <p:cNvCxnSpPr>
            <a:cxnSpLocks/>
          </p:cNvCxnSpPr>
          <p:nvPr/>
        </p:nvCxnSpPr>
        <p:spPr>
          <a:xfrm flipV="1">
            <a:off x="1151053" y="2211738"/>
            <a:ext cx="3505152" cy="3371109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FC88767F-BF1D-8A5C-2DDE-C4A9684DA236}"/>
              </a:ext>
            </a:extLst>
          </p:cNvPr>
          <p:cNvSpPr/>
          <p:nvPr/>
        </p:nvSpPr>
        <p:spPr>
          <a:xfrm>
            <a:off x="1151053" y="1714500"/>
            <a:ext cx="4443984" cy="41605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CC3E5E-873E-612D-2A43-95A851335FC5}"/>
              </a:ext>
            </a:extLst>
          </p:cNvPr>
          <p:cNvSpPr/>
          <p:nvPr/>
        </p:nvSpPr>
        <p:spPr>
          <a:xfrm>
            <a:off x="748717" y="1548956"/>
            <a:ext cx="5431536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64200E-8F3F-FEBD-03D6-6A3CB481E107}"/>
              </a:ext>
            </a:extLst>
          </p:cNvPr>
          <p:cNvSpPr/>
          <p:nvPr/>
        </p:nvSpPr>
        <p:spPr>
          <a:xfrm rot="5400000">
            <a:off x="3059291" y="3309969"/>
            <a:ext cx="5431536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877982-E80F-D025-9362-5DD831004BE5}"/>
              </a:ext>
            </a:extLst>
          </p:cNvPr>
          <p:cNvSpPr txBox="1"/>
          <p:nvPr/>
        </p:nvSpPr>
        <p:spPr>
          <a:xfrm>
            <a:off x="482600" y="2099575"/>
            <a:ext cx="718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Price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52E693-6FF5-52D7-97C8-F9A5DF6CB761}"/>
              </a:ext>
            </a:extLst>
          </p:cNvPr>
          <p:cNvSpPr txBox="1"/>
          <p:nvPr/>
        </p:nvSpPr>
        <p:spPr>
          <a:xfrm>
            <a:off x="4602400" y="5785185"/>
            <a:ext cx="13917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Quantity of</a:t>
            </a:r>
            <a:br>
              <a:rPr lang="en-CA" b="1" dirty="0"/>
            </a:br>
            <a:r>
              <a:rPr lang="en-CA" b="1" dirty="0"/>
              <a:t>Healthcare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A9428B-7E02-74B6-2572-9C45AAA3BF55}"/>
              </a:ext>
            </a:extLst>
          </p:cNvPr>
          <p:cNvSpPr txBox="1"/>
          <p:nvPr/>
        </p:nvSpPr>
        <p:spPr>
          <a:xfrm>
            <a:off x="4643845" y="2103961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Supply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9BDFA43-ADD1-27F1-B412-C8CDE99FE9A9}"/>
              </a:ext>
            </a:extLst>
          </p:cNvPr>
          <p:cNvCxnSpPr>
            <a:cxnSpLocks/>
          </p:cNvCxnSpPr>
          <p:nvPr/>
        </p:nvCxnSpPr>
        <p:spPr>
          <a:xfrm flipV="1">
            <a:off x="1140152" y="3638454"/>
            <a:ext cx="2004071" cy="8446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63149C2-E507-FB3D-5773-52EE6311C3B0}"/>
              </a:ext>
            </a:extLst>
          </p:cNvPr>
          <p:cNvCxnSpPr>
            <a:cxnSpLocks/>
          </p:cNvCxnSpPr>
          <p:nvPr/>
        </p:nvCxnSpPr>
        <p:spPr>
          <a:xfrm flipH="1">
            <a:off x="3112648" y="3638454"/>
            <a:ext cx="31575" cy="2224592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F6E7E51-690E-D2FE-E4C9-35C179EAF19E}"/>
                  </a:ext>
                </a:extLst>
              </p:cNvPr>
              <p:cNvSpPr txBox="1"/>
              <p:nvPr/>
            </p:nvSpPr>
            <p:spPr>
              <a:xfrm>
                <a:off x="2903629" y="5830454"/>
                <a:ext cx="5084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𝐐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CA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F6E7E51-690E-D2FE-E4C9-35C179EAF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3629" y="5830454"/>
                <a:ext cx="508408" cy="369332"/>
              </a:xfrm>
              <a:prstGeom prst="rect">
                <a:avLst/>
              </a:prstGeom>
              <a:blipFill>
                <a:blip r:embed="rId2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1CD2091E-A3DC-113F-A92A-6DC0296BC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The Physician as a Profit Maximizing Firm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0BEAF-5613-2CC4-CD12-BE5F6A629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8755" y="1207010"/>
            <a:ext cx="5979659" cy="3936491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Because of the </a:t>
            </a:r>
            <a:r>
              <a:rPr lang="en-US" b="1" dirty="0"/>
              <a:t>information asymmetry </a:t>
            </a:r>
            <a:r>
              <a:rPr lang="en-US" dirty="0"/>
              <a:t>that exists between patients and physicians, physicians can shift the demand for healthcare.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6B16D39-0E40-37FE-9782-C78E559D7ED5}"/>
                  </a:ext>
                </a:extLst>
              </p:cNvPr>
              <p:cNvSpPr txBox="1"/>
              <p:nvPr/>
            </p:nvSpPr>
            <p:spPr>
              <a:xfrm>
                <a:off x="722823" y="3453788"/>
                <a:ext cx="5035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CA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6B16D39-0E40-37FE-9782-C78E559D7E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823" y="3453788"/>
                <a:ext cx="503599" cy="369332"/>
              </a:xfrm>
              <a:prstGeom prst="rect">
                <a:avLst/>
              </a:prstGeom>
              <a:blipFill>
                <a:blip r:embed="rId3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5B3729E-6BDC-2FD8-78FB-87FB46BB89E9}"/>
              </a:ext>
            </a:extLst>
          </p:cNvPr>
          <p:cNvCxnSpPr>
            <a:cxnSpLocks/>
          </p:cNvCxnSpPr>
          <p:nvPr/>
        </p:nvCxnSpPr>
        <p:spPr>
          <a:xfrm>
            <a:off x="1603851" y="2284241"/>
            <a:ext cx="3337560" cy="2952751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8804459-EB5A-26DE-099F-46CAE44BEA0C}"/>
                  </a:ext>
                </a:extLst>
              </p:cNvPr>
              <p:cNvSpPr txBox="1"/>
              <p:nvPr/>
            </p:nvSpPr>
            <p:spPr>
              <a:xfrm>
                <a:off x="4969053" y="5091087"/>
                <a:ext cx="5180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CA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8804459-EB5A-26DE-099F-46CAE44BEA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9053" y="5091087"/>
                <a:ext cx="518027" cy="369332"/>
              </a:xfrm>
              <a:prstGeom prst="rect">
                <a:avLst/>
              </a:prstGeom>
              <a:blipFill>
                <a:blip r:embed="rId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821CD23-CAE4-5F6A-A2A2-385993284B59}"/>
              </a:ext>
            </a:extLst>
          </p:cNvPr>
          <p:cNvCxnSpPr>
            <a:cxnSpLocks/>
          </p:cNvCxnSpPr>
          <p:nvPr/>
        </p:nvCxnSpPr>
        <p:spPr>
          <a:xfrm>
            <a:off x="2332158" y="1727745"/>
            <a:ext cx="3337560" cy="2952751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F1E2B85-AD51-C9BE-B4A7-B86B44B5B2DB}"/>
                  </a:ext>
                </a:extLst>
              </p:cNvPr>
              <p:cNvSpPr txBox="1"/>
              <p:nvPr/>
            </p:nvSpPr>
            <p:spPr>
              <a:xfrm>
                <a:off x="709615" y="2826496"/>
                <a:ext cx="5035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CA" b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F1E2B85-AD51-C9BE-B4A7-B86B44B5B2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5" y="2826496"/>
                <a:ext cx="503599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A6BB035-4373-02F2-257C-3A03147366FD}"/>
                  </a:ext>
                </a:extLst>
              </p:cNvPr>
              <p:cNvSpPr txBox="1"/>
              <p:nvPr/>
            </p:nvSpPr>
            <p:spPr>
              <a:xfrm>
                <a:off x="3647894" y="5875020"/>
                <a:ext cx="5084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𝐐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CA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A6BB035-4373-02F2-257C-3A03147366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7894" y="5875020"/>
                <a:ext cx="508409" cy="369332"/>
              </a:xfrm>
              <a:prstGeom prst="rect">
                <a:avLst/>
              </a:prstGeom>
              <a:blipFill>
                <a:blip r:embed="rId6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7077259-8615-7BDC-7EC7-3DDF657AEC64}"/>
              </a:ext>
            </a:extLst>
          </p:cNvPr>
          <p:cNvCxnSpPr>
            <a:cxnSpLocks/>
          </p:cNvCxnSpPr>
          <p:nvPr/>
        </p:nvCxnSpPr>
        <p:spPr>
          <a:xfrm>
            <a:off x="3812676" y="3097002"/>
            <a:ext cx="59854" cy="2733452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86C34F4-EA8A-34E7-B9E5-7EE84B790229}"/>
              </a:ext>
            </a:extLst>
          </p:cNvPr>
          <p:cNvCxnSpPr>
            <a:cxnSpLocks/>
          </p:cNvCxnSpPr>
          <p:nvPr/>
        </p:nvCxnSpPr>
        <p:spPr>
          <a:xfrm flipV="1">
            <a:off x="1201763" y="3043197"/>
            <a:ext cx="2595010" cy="13287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116BCE1-5E48-5362-AEB8-FD6A56771891}"/>
                  </a:ext>
                </a:extLst>
              </p:cNvPr>
              <p:cNvSpPr txBox="1"/>
              <p:nvPr/>
            </p:nvSpPr>
            <p:spPr>
              <a:xfrm>
                <a:off x="5679550" y="4492491"/>
                <a:ext cx="5180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CA" b="1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116BCE1-5E48-5362-AEB8-FD6A567718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9550" y="4492491"/>
                <a:ext cx="518027" cy="369332"/>
              </a:xfrm>
              <a:prstGeom prst="rect">
                <a:avLst/>
              </a:prstGeom>
              <a:blipFill>
                <a:blip r:embed="rId7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6010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A82FE-F89D-A3EE-7C7D-7A4712EC4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E62F373-2AC7-921A-8C39-5C1842EFFCE1}"/>
              </a:ext>
            </a:extLst>
          </p:cNvPr>
          <p:cNvCxnSpPr>
            <a:cxnSpLocks/>
          </p:cNvCxnSpPr>
          <p:nvPr/>
        </p:nvCxnSpPr>
        <p:spPr>
          <a:xfrm flipV="1">
            <a:off x="1151053" y="2211738"/>
            <a:ext cx="3505152" cy="3371109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485C258A-5B2C-E516-5125-F9EF26B39FC6}"/>
              </a:ext>
            </a:extLst>
          </p:cNvPr>
          <p:cNvSpPr/>
          <p:nvPr/>
        </p:nvSpPr>
        <p:spPr>
          <a:xfrm>
            <a:off x="1151053" y="1714500"/>
            <a:ext cx="4443984" cy="41605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31BB00-90BF-7121-294A-D83FE2B9B34A}"/>
              </a:ext>
            </a:extLst>
          </p:cNvPr>
          <p:cNvSpPr/>
          <p:nvPr/>
        </p:nvSpPr>
        <p:spPr>
          <a:xfrm>
            <a:off x="748717" y="1548956"/>
            <a:ext cx="5431536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471076-BD3B-EC4F-D08F-E06BA51F045E}"/>
              </a:ext>
            </a:extLst>
          </p:cNvPr>
          <p:cNvSpPr/>
          <p:nvPr/>
        </p:nvSpPr>
        <p:spPr>
          <a:xfrm rot="5400000">
            <a:off x="3059291" y="3309969"/>
            <a:ext cx="5431536" cy="631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BA006B-6EA8-DAB6-BFBE-2BE3572A6F2C}"/>
              </a:ext>
            </a:extLst>
          </p:cNvPr>
          <p:cNvSpPr txBox="1"/>
          <p:nvPr/>
        </p:nvSpPr>
        <p:spPr>
          <a:xfrm>
            <a:off x="482600" y="2099575"/>
            <a:ext cx="718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Price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95584D-091A-0003-7304-59E5D21BA657}"/>
              </a:ext>
            </a:extLst>
          </p:cNvPr>
          <p:cNvSpPr txBox="1"/>
          <p:nvPr/>
        </p:nvSpPr>
        <p:spPr>
          <a:xfrm>
            <a:off x="4602400" y="5785185"/>
            <a:ext cx="13917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Quantity of</a:t>
            </a:r>
            <a:br>
              <a:rPr lang="en-CA" b="1" dirty="0"/>
            </a:br>
            <a:r>
              <a:rPr lang="en-CA" b="1" dirty="0"/>
              <a:t>Healthcare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EE472C-A798-58A4-2998-7B83E6EC6EEA}"/>
              </a:ext>
            </a:extLst>
          </p:cNvPr>
          <p:cNvSpPr txBox="1"/>
          <p:nvPr/>
        </p:nvSpPr>
        <p:spPr>
          <a:xfrm>
            <a:off x="4643845" y="2103961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Supply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180AEFB-D25C-7C74-E2A4-C2D643AA7EEE}"/>
              </a:ext>
            </a:extLst>
          </p:cNvPr>
          <p:cNvCxnSpPr>
            <a:cxnSpLocks/>
          </p:cNvCxnSpPr>
          <p:nvPr/>
        </p:nvCxnSpPr>
        <p:spPr>
          <a:xfrm flipV="1">
            <a:off x="1140152" y="3638454"/>
            <a:ext cx="2004071" cy="8446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DB06FEF-5A78-92B7-EAA4-60BC0ED1888D}"/>
              </a:ext>
            </a:extLst>
          </p:cNvPr>
          <p:cNvCxnSpPr>
            <a:cxnSpLocks/>
          </p:cNvCxnSpPr>
          <p:nvPr/>
        </p:nvCxnSpPr>
        <p:spPr>
          <a:xfrm flipH="1">
            <a:off x="3112648" y="3638454"/>
            <a:ext cx="31575" cy="2224592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9BEE9F6-9D76-77F7-2F62-E47BA3BC52BE}"/>
                  </a:ext>
                </a:extLst>
              </p:cNvPr>
              <p:cNvSpPr txBox="1"/>
              <p:nvPr/>
            </p:nvSpPr>
            <p:spPr>
              <a:xfrm>
                <a:off x="2903629" y="5830454"/>
                <a:ext cx="5084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𝐐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CA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9BEE9F6-9D76-77F7-2F62-E47BA3BC52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3629" y="5830454"/>
                <a:ext cx="508408" cy="369332"/>
              </a:xfrm>
              <a:prstGeom prst="rect">
                <a:avLst/>
              </a:prstGeom>
              <a:blipFill>
                <a:blip r:embed="rId2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89B9A574-0F46-BC3A-DFA6-E3D9999B7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The Physician as a Profit Maximizing Firm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5C522-4E3A-3905-41FE-3113A5AAC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2566" y="1372553"/>
            <a:ext cx="5979659" cy="3936491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Regulated fees for medical care can offset this incentive.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In practice however the determination of “efficient fees” is often guess work.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ACF7FE4-98BF-2587-5089-785A2A10A654}"/>
                  </a:ext>
                </a:extLst>
              </p:cNvPr>
              <p:cNvSpPr txBox="1"/>
              <p:nvPr/>
            </p:nvSpPr>
            <p:spPr>
              <a:xfrm>
                <a:off x="722823" y="3453788"/>
                <a:ext cx="5035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CA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ACF7FE4-98BF-2587-5089-785A2A10A6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823" y="3453788"/>
                <a:ext cx="503599" cy="369332"/>
              </a:xfrm>
              <a:prstGeom prst="rect">
                <a:avLst/>
              </a:prstGeom>
              <a:blipFill>
                <a:blip r:embed="rId3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0396D7B-5308-898C-6CEB-3878CBA37FEA}"/>
              </a:ext>
            </a:extLst>
          </p:cNvPr>
          <p:cNvCxnSpPr>
            <a:cxnSpLocks/>
          </p:cNvCxnSpPr>
          <p:nvPr/>
        </p:nvCxnSpPr>
        <p:spPr>
          <a:xfrm>
            <a:off x="1603851" y="2284241"/>
            <a:ext cx="3337560" cy="2952751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C8ABF5E-86DE-8480-C6AF-D00BB0FEE7D1}"/>
                  </a:ext>
                </a:extLst>
              </p:cNvPr>
              <p:cNvSpPr txBox="1"/>
              <p:nvPr/>
            </p:nvSpPr>
            <p:spPr>
              <a:xfrm>
                <a:off x="4969053" y="5091087"/>
                <a:ext cx="5116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CA" b="1" i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C8ABF5E-86DE-8480-C6AF-D00BB0FEE7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9053" y="5091087"/>
                <a:ext cx="511615" cy="369332"/>
              </a:xfrm>
              <a:prstGeom prst="rect">
                <a:avLst/>
              </a:prstGeom>
              <a:blipFill>
                <a:blip r:embed="rId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A1AC5C8-F4B7-FECE-3470-3A056241EC0B}"/>
              </a:ext>
            </a:extLst>
          </p:cNvPr>
          <p:cNvCxnSpPr>
            <a:cxnSpLocks/>
          </p:cNvCxnSpPr>
          <p:nvPr/>
        </p:nvCxnSpPr>
        <p:spPr>
          <a:xfrm>
            <a:off x="2332158" y="1727745"/>
            <a:ext cx="3337560" cy="2952751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8659B8F-1671-7134-7661-666ED0A990DB}"/>
                  </a:ext>
                </a:extLst>
              </p:cNvPr>
              <p:cNvSpPr txBox="1"/>
              <p:nvPr/>
            </p:nvSpPr>
            <p:spPr>
              <a:xfrm>
                <a:off x="709615" y="2826496"/>
                <a:ext cx="5035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CA" b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8659B8F-1671-7134-7661-666ED0A990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5" y="2826496"/>
                <a:ext cx="503599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C09FAC1-A782-9319-2341-19E8FAA0A7B7}"/>
                  </a:ext>
                </a:extLst>
              </p:cNvPr>
              <p:cNvSpPr txBox="1"/>
              <p:nvPr/>
            </p:nvSpPr>
            <p:spPr>
              <a:xfrm>
                <a:off x="3647894" y="5875020"/>
                <a:ext cx="5084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𝐐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CA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C09FAC1-A782-9319-2341-19E8FAA0A7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7894" y="5875020"/>
                <a:ext cx="508409" cy="369332"/>
              </a:xfrm>
              <a:prstGeom prst="rect">
                <a:avLst/>
              </a:prstGeom>
              <a:blipFill>
                <a:blip r:embed="rId6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3129B88-DF9D-EA53-BB63-0CEE5B3AA702}"/>
              </a:ext>
            </a:extLst>
          </p:cNvPr>
          <p:cNvCxnSpPr>
            <a:cxnSpLocks/>
          </p:cNvCxnSpPr>
          <p:nvPr/>
        </p:nvCxnSpPr>
        <p:spPr>
          <a:xfrm>
            <a:off x="3812676" y="3097002"/>
            <a:ext cx="59854" cy="2733452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7851052-C82C-4CC3-EC38-3FEC9F3C26F5}"/>
              </a:ext>
            </a:extLst>
          </p:cNvPr>
          <p:cNvCxnSpPr>
            <a:cxnSpLocks/>
          </p:cNvCxnSpPr>
          <p:nvPr/>
        </p:nvCxnSpPr>
        <p:spPr>
          <a:xfrm flipV="1">
            <a:off x="1201763" y="3043197"/>
            <a:ext cx="2595010" cy="13287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0FF402E-B935-46BC-7ED5-BD8F42E9DB14}"/>
              </a:ext>
            </a:extLst>
          </p:cNvPr>
          <p:cNvCxnSpPr>
            <a:cxnSpLocks/>
          </p:cNvCxnSpPr>
          <p:nvPr/>
        </p:nvCxnSpPr>
        <p:spPr>
          <a:xfrm>
            <a:off x="1151053" y="3638454"/>
            <a:ext cx="4077163" cy="0"/>
          </a:xfrm>
          <a:prstGeom prst="lin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3A404BA-27ED-2957-CBC4-16310C1EE29D}"/>
                  </a:ext>
                </a:extLst>
              </p:cNvPr>
              <p:cNvSpPr txBox="1"/>
              <p:nvPr/>
            </p:nvSpPr>
            <p:spPr>
              <a:xfrm>
                <a:off x="4812483" y="3225870"/>
                <a:ext cx="10406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𝑺𝒆𝒕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𝑭𝒆𝒆</m:t>
                      </m:r>
                    </m:oMath>
                  </m:oMathPara>
                </a14:m>
                <a:endParaRPr lang="en-CA" b="1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3A404BA-27ED-2957-CBC4-16310C1EE2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2483" y="3225870"/>
                <a:ext cx="104067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D8BADE3-41B3-5A6C-7394-B827F41E67A4}"/>
                  </a:ext>
                </a:extLst>
              </p:cNvPr>
              <p:cNvSpPr txBox="1"/>
              <p:nvPr/>
            </p:nvSpPr>
            <p:spPr>
              <a:xfrm>
                <a:off x="5679550" y="4492491"/>
                <a:ext cx="5180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CA" b="1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D8BADE3-41B3-5A6C-7394-B827F41E67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9550" y="4492491"/>
                <a:ext cx="518027" cy="369332"/>
              </a:xfrm>
              <a:prstGeom prst="rect">
                <a:avLst/>
              </a:prstGeom>
              <a:blipFill>
                <a:blip r:embed="rId8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025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8C9BD-51F6-0A27-9F70-F575564FB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03162-4EBB-48D5-FD8D-030DFE99D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Theory II: The Target Income Hypothesis and Supplier Induced Demand.</a:t>
            </a:r>
          </a:p>
        </p:txBody>
      </p:sp>
    </p:spTree>
    <p:extLst>
      <p:ext uri="{BB962C8B-B14F-4D97-AF65-F5344CB8AC3E}">
        <p14:creationId xmlns:p14="http://schemas.microsoft.com/office/powerpoint/2010/main" val="1436922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CB4F8-18A6-B903-436C-F1D118A17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4B304093-A627-C69F-A563-835D3B476559}"/>
              </a:ext>
            </a:extLst>
          </p:cNvPr>
          <p:cNvSpPr/>
          <p:nvPr/>
        </p:nvSpPr>
        <p:spPr>
          <a:xfrm>
            <a:off x="623944" y="1943100"/>
            <a:ext cx="5279853" cy="387705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0FE2E8-0005-52EE-4CDB-6FE7982F0C7F}"/>
              </a:ext>
            </a:extLst>
          </p:cNvPr>
          <p:cNvSpPr/>
          <p:nvPr/>
        </p:nvSpPr>
        <p:spPr>
          <a:xfrm>
            <a:off x="152179" y="1760220"/>
            <a:ext cx="6016794" cy="548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7827E01-84AA-169D-3DBE-FE349211F43F}"/>
              </a:ext>
            </a:extLst>
          </p:cNvPr>
          <p:cNvSpPr/>
          <p:nvPr/>
        </p:nvSpPr>
        <p:spPr>
          <a:xfrm rot="5400000">
            <a:off x="3722756" y="3456235"/>
            <a:ext cx="4716780" cy="5597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225FDF66-F63C-4A1C-5E7C-AEAE91D1F4FD}"/>
              </a:ext>
            </a:extLst>
          </p:cNvPr>
          <p:cNvSpPr/>
          <p:nvPr/>
        </p:nvSpPr>
        <p:spPr>
          <a:xfrm rot="10968748">
            <a:off x="1045766" y="-97827"/>
            <a:ext cx="5039718" cy="5346145"/>
          </a:xfrm>
          <a:prstGeom prst="arc">
            <a:avLst>
              <a:gd name="adj1" fmla="val 12644331"/>
              <a:gd name="adj2" fmla="val 0"/>
            </a:avLst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70D4F30-3055-3BAC-0469-A2B157B8804C}"/>
              </a:ext>
            </a:extLst>
          </p:cNvPr>
          <p:cNvCxnSpPr>
            <a:cxnSpLocks/>
          </p:cNvCxnSpPr>
          <p:nvPr/>
        </p:nvCxnSpPr>
        <p:spPr>
          <a:xfrm>
            <a:off x="819733" y="2611373"/>
            <a:ext cx="3337560" cy="2952751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15F2C82-BB40-D400-3F54-00F544C9D08E}"/>
              </a:ext>
            </a:extLst>
          </p:cNvPr>
          <p:cNvSpPr txBox="1"/>
          <p:nvPr/>
        </p:nvSpPr>
        <p:spPr>
          <a:xfrm>
            <a:off x="-89178" y="2198052"/>
            <a:ext cx="741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Price</a:t>
            </a:r>
            <a:endParaRPr lang="en-CA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7EF40D-4E1E-B48E-56DE-E5A3B598E712}"/>
              </a:ext>
            </a:extLst>
          </p:cNvPr>
          <p:cNvSpPr txBox="1"/>
          <p:nvPr/>
        </p:nvSpPr>
        <p:spPr>
          <a:xfrm>
            <a:off x="4848677" y="5793821"/>
            <a:ext cx="1196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Quantity</a:t>
            </a:r>
            <a:endParaRPr lang="en-CA" b="1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FA43C42-0EC4-AD84-CEA5-55813C7BE693}"/>
              </a:ext>
            </a:extLst>
          </p:cNvPr>
          <p:cNvCxnSpPr>
            <a:cxnSpLocks/>
          </p:cNvCxnSpPr>
          <p:nvPr/>
        </p:nvCxnSpPr>
        <p:spPr>
          <a:xfrm>
            <a:off x="665794" y="5248394"/>
            <a:ext cx="3162315" cy="0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49B222C-2B55-D245-72C8-22552DD07949}"/>
              </a:ext>
            </a:extLst>
          </p:cNvPr>
          <p:cNvCxnSpPr>
            <a:cxnSpLocks/>
          </p:cNvCxnSpPr>
          <p:nvPr/>
        </p:nvCxnSpPr>
        <p:spPr>
          <a:xfrm flipH="1" flipV="1">
            <a:off x="1059298" y="2882385"/>
            <a:ext cx="21336" cy="2809755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43D6126-08CB-640A-F13C-273C12D71747}"/>
              </a:ext>
            </a:extLst>
          </p:cNvPr>
          <p:cNvCxnSpPr>
            <a:cxnSpLocks/>
          </p:cNvCxnSpPr>
          <p:nvPr/>
        </p:nvCxnSpPr>
        <p:spPr>
          <a:xfrm flipV="1">
            <a:off x="3828109" y="5266682"/>
            <a:ext cx="0" cy="490227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ED794FC-B8E0-69FF-5D6A-95805E023D9E}"/>
                  </a:ext>
                </a:extLst>
              </p:cNvPr>
              <p:cNvSpPr txBox="1"/>
              <p:nvPr/>
            </p:nvSpPr>
            <p:spPr>
              <a:xfrm>
                <a:off x="171255" y="2669262"/>
                <a:ext cx="4649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ED794FC-B8E0-69FF-5D6A-95805E023D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255" y="2669262"/>
                <a:ext cx="464955" cy="369332"/>
              </a:xfrm>
              <a:prstGeom prst="rect">
                <a:avLst/>
              </a:prstGeom>
              <a:blipFill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F13328F-DA34-10D5-9EC0-561CF6B8A978}"/>
                  </a:ext>
                </a:extLst>
              </p:cNvPr>
              <p:cNvSpPr txBox="1"/>
              <p:nvPr/>
            </p:nvSpPr>
            <p:spPr>
              <a:xfrm>
                <a:off x="94834" y="4999409"/>
                <a:ext cx="4686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F13328F-DA34-10D5-9EC0-561CF6B8A9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34" y="4999409"/>
                <a:ext cx="468683" cy="369332"/>
              </a:xfrm>
              <a:prstGeom prst="rect">
                <a:avLst/>
              </a:prstGeom>
              <a:blipFill>
                <a:blip r:embed="rId3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03A7F9E-D0F7-6767-9BE4-388EE5B4DF9F}"/>
                  </a:ext>
                </a:extLst>
              </p:cNvPr>
              <p:cNvSpPr txBox="1"/>
              <p:nvPr/>
            </p:nvSpPr>
            <p:spPr>
              <a:xfrm>
                <a:off x="813397" y="5820156"/>
                <a:ext cx="4636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03A7F9E-D0F7-6767-9BE4-388EE5B4DF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397" y="5820156"/>
                <a:ext cx="463646" cy="369332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572597F-AE52-DF70-7D49-0FF3F8217F79}"/>
                  </a:ext>
                </a:extLst>
              </p:cNvPr>
              <p:cNvSpPr txBox="1"/>
              <p:nvPr/>
            </p:nvSpPr>
            <p:spPr>
              <a:xfrm>
                <a:off x="3646723" y="5776966"/>
                <a:ext cx="4682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572597F-AE52-DF70-7D49-0FF3F8217F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6723" y="5776966"/>
                <a:ext cx="468291" cy="369332"/>
              </a:xfrm>
              <a:prstGeom prst="rect">
                <a:avLst/>
              </a:prstGeom>
              <a:blipFill>
                <a:blip r:embed="rId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2F3628-1922-8308-5403-F8A625B605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8204" y="1714500"/>
                <a:ext cx="5279851" cy="4165091"/>
              </a:xfrm>
            </p:spPr>
            <p:txBody>
              <a:bodyPr>
                <a:normAutofit lnSpcReduction="10000"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US" dirty="0"/>
                  <a:t>The second “behavioral theory” of physician behavior is the </a:t>
                </a:r>
                <a:r>
                  <a:rPr lang="en-US" b="1" dirty="0"/>
                  <a:t>Target Income Hypothesis.</a:t>
                </a:r>
                <a:endParaRPr lang="en-US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US" dirty="0"/>
                  <a:t>In this framework, physician income is a predefined target which they try to hit.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US" dirty="0"/>
                  <a:t>Their supply decision is: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CA" dirty="0"/>
                  <a:t> is a predetermined target income.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2F3628-1922-8308-5403-F8A625B605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8204" y="1714500"/>
                <a:ext cx="5279851" cy="4165091"/>
              </a:xfrm>
              <a:blipFill>
                <a:blip r:embed="rId6"/>
                <a:stretch>
                  <a:fillRect l="-1617" t="-2050" r="-2309" b="-248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B3BA8479-5A47-D938-3C3C-EF4F39AFA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US" sz="4800" dirty="0"/>
              <a:t>The Target Income Hypothesis</a:t>
            </a:r>
            <a:endParaRPr lang="en-CA" sz="4800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E9124DF-56AC-8D9F-E556-81F930BF69AF}"/>
              </a:ext>
            </a:extLst>
          </p:cNvPr>
          <p:cNvCxnSpPr>
            <a:cxnSpLocks/>
          </p:cNvCxnSpPr>
          <p:nvPr/>
        </p:nvCxnSpPr>
        <p:spPr>
          <a:xfrm>
            <a:off x="636210" y="2853264"/>
            <a:ext cx="444424" cy="0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8C7EB321-DA4E-A4C6-3B22-937E57CE40C2}"/>
              </a:ext>
            </a:extLst>
          </p:cNvPr>
          <p:cNvSpPr/>
          <p:nvPr/>
        </p:nvSpPr>
        <p:spPr>
          <a:xfrm>
            <a:off x="917641" y="2669261"/>
            <a:ext cx="260901" cy="289089"/>
          </a:xfrm>
          <a:prstGeom prst="star5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8" name="Star: 5 Points 47">
            <a:extLst>
              <a:ext uri="{FF2B5EF4-FFF2-40B4-BE49-F238E27FC236}">
                <a16:creationId xmlns:a16="http://schemas.microsoft.com/office/drawing/2014/main" id="{FCBD0725-B275-29B9-73DA-8B3C0C47C063}"/>
              </a:ext>
            </a:extLst>
          </p:cNvPr>
          <p:cNvSpPr/>
          <p:nvPr/>
        </p:nvSpPr>
        <p:spPr>
          <a:xfrm>
            <a:off x="3682551" y="5063124"/>
            <a:ext cx="260901" cy="289089"/>
          </a:xfrm>
          <a:prstGeom prst="star5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98DD293-4909-ED4F-BE89-CFD9594CC584}"/>
              </a:ext>
            </a:extLst>
          </p:cNvPr>
          <p:cNvSpPr txBox="1"/>
          <p:nvPr/>
        </p:nvSpPr>
        <p:spPr>
          <a:xfrm>
            <a:off x="4848499" y="3330969"/>
            <a:ext cx="16942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Physician</a:t>
            </a:r>
            <a:br>
              <a:rPr lang="en-CA" b="1" dirty="0"/>
            </a:br>
            <a:r>
              <a:rPr lang="en-CA" b="1" dirty="0"/>
              <a:t>Target Income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D845E60-0138-70AD-770E-5540EB44E7D4}"/>
              </a:ext>
            </a:extLst>
          </p:cNvPr>
          <p:cNvSpPr txBox="1"/>
          <p:nvPr/>
        </p:nvSpPr>
        <p:spPr>
          <a:xfrm>
            <a:off x="4089010" y="5312091"/>
            <a:ext cx="1063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Demand</a:t>
            </a:r>
          </a:p>
        </p:txBody>
      </p:sp>
    </p:spTree>
    <p:extLst>
      <p:ext uri="{BB962C8B-B14F-4D97-AF65-F5344CB8AC3E}">
        <p14:creationId xmlns:p14="http://schemas.microsoft.com/office/powerpoint/2010/main" val="33134321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161DD-8451-162A-5AC7-A6718CD5F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70056D4E-9425-5B1A-AC0B-E8A17F63F9C5}"/>
              </a:ext>
            </a:extLst>
          </p:cNvPr>
          <p:cNvSpPr/>
          <p:nvPr/>
        </p:nvSpPr>
        <p:spPr>
          <a:xfrm>
            <a:off x="623944" y="1943100"/>
            <a:ext cx="5279853" cy="387705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642E4B7-6E64-AC00-C892-0011DD41C0D4}"/>
              </a:ext>
            </a:extLst>
          </p:cNvPr>
          <p:cNvSpPr/>
          <p:nvPr/>
        </p:nvSpPr>
        <p:spPr>
          <a:xfrm>
            <a:off x="152179" y="1760220"/>
            <a:ext cx="6016794" cy="548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99EABF6-DCC5-370B-4833-4E7C81C8AD1B}"/>
              </a:ext>
            </a:extLst>
          </p:cNvPr>
          <p:cNvSpPr/>
          <p:nvPr/>
        </p:nvSpPr>
        <p:spPr>
          <a:xfrm rot="5400000">
            <a:off x="3722756" y="3456235"/>
            <a:ext cx="4716780" cy="5597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2F08E0A3-BE8B-0667-02E9-F99474DD07DB}"/>
              </a:ext>
            </a:extLst>
          </p:cNvPr>
          <p:cNvSpPr/>
          <p:nvPr/>
        </p:nvSpPr>
        <p:spPr>
          <a:xfrm rot="10968748">
            <a:off x="1045766" y="-97827"/>
            <a:ext cx="5039718" cy="5346145"/>
          </a:xfrm>
          <a:prstGeom prst="arc">
            <a:avLst>
              <a:gd name="adj1" fmla="val 12644331"/>
              <a:gd name="adj2" fmla="val 0"/>
            </a:avLst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E2006BA-C4CB-A878-F3AF-CF910A4326BD}"/>
              </a:ext>
            </a:extLst>
          </p:cNvPr>
          <p:cNvCxnSpPr>
            <a:cxnSpLocks/>
          </p:cNvCxnSpPr>
          <p:nvPr/>
        </p:nvCxnSpPr>
        <p:spPr>
          <a:xfrm>
            <a:off x="819733" y="2611373"/>
            <a:ext cx="3337560" cy="2952751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C13BB12-9ACA-0534-B612-2CD3580CC2E5}"/>
              </a:ext>
            </a:extLst>
          </p:cNvPr>
          <p:cNvSpPr txBox="1"/>
          <p:nvPr/>
        </p:nvSpPr>
        <p:spPr>
          <a:xfrm>
            <a:off x="-89178" y="2198052"/>
            <a:ext cx="741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Price</a:t>
            </a:r>
            <a:endParaRPr lang="en-CA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32191B-2129-9D60-7F0E-AA4DA2B68173}"/>
              </a:ext>
            </a:extLst>
          </p:cNvPr>
          <p:cNvSpPr txBox="1"/>
          <p:nvPr/>
        </p:nvSpPr>
        <p:spPr>
          <a:xfrm>
            <a:off x="4848677" y="5793821"/>
            <a:ext cx="1196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Quantity</a:t>
            </a:r>
            <a:endParaRPr lang="en-CA" b="1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65A1EFD-DA06-1092-28A3-DFE0BA192DAA}"/>
              </a:ext>
            </a:extLst>
          </p:cNvPr>
          <p:cNvCxnSpPr>
            <a:cxnSpLocks/>
          </p:cNvCxnSpPr>
          <p:nvPr/>
        </p:nvCxnSpPr>
        <p:spPr>
          <a:xfrm>
            <a:off x="665794" y="5248394"/>
            <a:ext cx="3162315" cy="0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CFC0212-7FA7-7D1C-C006-2BE572E0D6D3}"/>
              </a:ext>
            </a:extLst>
          </p:cNvPr>
          <p:cNvCxnSpPr>
            <a:cxnSpLocks/>
          </p:cNvCxnSpPr>
          <p:nvPr/>
        </p:nvCxnSpPr>
        <p:spPr>
          <a:xfrm flipH="1" flipV="1">
            <a:off x="1059298" y="2882385"/>
            <a:ext cx="21336" cy="2809755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F7B5CFA-8E13-8E40-6691-DC9D15A316E9}"/>
              </a:ext>
            </a:extLst>
          </p:cNvPr>
          <p:cNvCxnSpPr>
            <a:cxnSpLocks/>
          </p:cNvCxnSpPr>
          <p:nvPr/>
        </p:nvCxnSpPr>
        <p:spPr>
          <a:xfrm flipV="1">
            <a:off x="3828109" y="5266682"/>
            <a:ext cx="0" cy="490227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A14D2A9-8474-D5F8-B84C-65528D5B277C}"/>
                  </a:ext>
                </a:extLst>
              </p:cNvPr>
              <p:cNvSpPr txBox="1"/>
              <p:nvPr/>
            </p:nvSpPr>
            <p:spPr>
              <a:xfrm>
                <a:off x="171255" y="2669262"/>
                <a:ext cx="4649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A14D2A9-8474-D5F8-B84C-65528D5B27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255" y="2669262"/>
                <a:ext cx="464955" cy="369332"/>
              </a:xfrm>
              <a:prstGeom prst="rect">
                <a:avLst/>
              </a:prstGeom>
              <a:blipFill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C716269-5825-A6E9-77F4-E6FCF2A0E6B3}"/>
                  </a:ext>
                </a:extLst>
              </p:cNvPr>
              <p:cNvSpPr txBox="1"/>
              <p:nvPr/>
            </p:nvSpPr>
            <p:spPr>
              <a:xfrm>
                <a:off x="94834" y="4999409"/>
                <a:ext cx="4686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C716269-5825-A6E9-77F4-E6FCF2A0E6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34" y="4999409"/>
                <a:ext cx="468683" cy="369332"/>
              </a:xfrm>
              <a:prstGeom prst="rect">
                <a:avLst/>
              </a:prstGeom>
              <a:blipFill>
                <a:blip r:embed="rId3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A9FC012-47AA-A90D-21F0-89F79FB36CA6}"/>
                  </a:ext>
                </a:extLst>
              </p:cNvPr>
              <p:cNvSpPr txBox="1"/>
              <p:nvPr/>
            </p:nvSpPr>
            <p:spPr>
              <a:xfrm>
                <a:off x="813397" y="5820156"/>
                <a:ext cx="4636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A9FC012-47AA-A90D-21F0-89F79FB36C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397" y="5820156"/>
                <a:ext cx="463646" cy="369332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4122744-3B99-B3FF-1588-09BD43D4F5DA}"/>
                  </a:ext>
                </a:extLst>
              </p:cNvPr>
              <p:cNvSpPr txBox="1"/>
              <p:nvPr/>
            </p:nvSpPr>
            <p:spPr>
              <a:xfrm>
                <a:off x="3646723" y="5776966"/>
                <a:ext cx="4682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4122744-3B99-B3FF-1588-09BD43D4F5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6723" y="5776966"/>
                <a:ext cx="468291" cy="369332"/>
              </a:xfrm>
              <a:prstGeom prst="rect">
                <a:avLst/>
              </a:prstGeom>
              <a:blipFill>
                <a:blip r:embed="rId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D3BF2-A076-1C79-E780-80065210C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8204" y="1714500"/>
            <a:ext cx="5279851" cy="4165091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This framework, has </a:t>
            </a:r>
            <a:r>
              <a:rPr lang="en-US" b="1" dirty="0"/>
              <a:t>MULTIPLE EQUILIBRIA</a:t>
            </a:r>
            <a:r>
              <a:rPr lang="en-US" dirty="0"/>
              <a:t>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These equilibria can be interpreted as different </a:t>
            </a:r>
            <a:r>
              <a:rPr lang="en-CA" b="1" dirty="0"/>
              <a:t>practice styles</a:t>
            </a:r>
            <a:r>
              <a:rPr lang="en-CA" dirty="0"/>
              <a:t> (high quantity at a low price; little care at a high price).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CA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0369D1-87DE-2941-6876-1F4329673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US" sz="4800" dirty="0"/>
              <a:t>The Target Income Hypothesis</a:t>
            </a:r>
            <a:endParaRPr lang="en-CA" sz="4800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8920872-26D4-1280-178F-A98C56137644}"/>
              </a:ext>
            </a:extLst>
          </p:cNvPr>
          <p:cNvCxnSpPr>
            <a:cxnSpLocks/>
          </p:cNvCxnSpPr>
          <p:nvPr/>
        </p:nvCxnSpPr>
        <p:spPr>
          <a:xfrm>
            <a:off x="636210" y="2853264"/>
            <a:ext cx="444424" cy="0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BA9FB5B2-7FBB-4CAB-C65B-ADAC584C4F50}"/>
              </a:ext>
            </a:extLst>
          </p:cNvPr>
          <p:cNvSpPr/>
          <p:nvPr/>
        </p:nvSpPr>
        <p:spPr>
          <a:xfrm>
            <a:off x="917641" y="2669261"/>
            <a:ext cx="260901" cy="289089"/>
          </a:xfrm>
          <a:prstGeom prst="star5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8" name="Star: 5 Points 47">
            <a:extLst>
              <a:ext uri="{FF2B5EF4-FFF2-40B4-BE49-F238E27FC236}">
                <a16:creationId xmlns:a16="http://schemas.microsoft.com/office/drawing/2014/main" id="{06B499E4-A1A2-C6AC-DD91-71495E854D9E}"/>
              </a:ext>
            </a:extLst>
          </p:cNvPr>
          <p:cNvSpPr/>
          <p:nvPr/>
        </p:nvSpPr>
        <p:spPr>
          <a:xfrm>
            <a:off x="3682551" y="5063124"/>
            <a:ext cx="260901" cy="289089"/>
          </a:xfrm>
          <a:prstGeom prst="star5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7F73B77-0145-4087-03CC-910E99A9309C}"/>
              </a:ext>
            </a:extLst>
          </p:cNvPr>
          <p:cNvSpPr txBox="1"/>
          <p:nvPr/>
        </p:nvSpPr>
        <p:spPr>
          <a:xfrm>
            <a:off x="4848499" y="3330969"/>
            <a:ext cx="16942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Physician</a:t>
            </a:r>
            <a:br>
              <a:rPr lang="en-CA" b="1" dirty="0"/>
            </a:br>
            <a:r>
              <a:rPr lang="en-CA" b="1" dirty="0"/>
              <a:t>Target Income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8E3715C-9A16-38DA-B6F3-007746D3B9E0}"/>
              </a:ext>
            </a:extLst>
          </p:cNvPr>
          <p:cNvSpPr txBox="1"/>
          <p:nvPr/>
        </p:nvSpPr>
        <p:spPr>
          <a:xfrm>
            <a:off x="4089010" y="5312091"/>
            <a:ext cx="1063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Demand</a:t>
            </a:r>
          </a:p>
        </p:txBody>
      </p:sp>
    </p:spTree>
    <p:extLst>
      <p:ext uri="{BB962C8B-B14F-4D97-AF65-F5344CB8AC3E}">
        <p14:creationId xmlns:p14="http://schemas.microsoft.com/office/powerpoint/2010/main" val="26245071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E459F-85AE-0FB9-DD84-5D283D32E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3DF2F3F7-111C-8274-B532-ABAC0233EC55}"/>
              </a:ext>
            </a:extLst>
          </p:cNvPr>
          <p:cNvSpPr/>
          <p:nvPr/>
        </p:nvSpPr>
        <p:spPr>
          <a:xfrm>
            <a:off x="623944" y="1943100"/>
            <a:ext cx="5279853" cy="387705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68C41B5-A8F5-7B82-FC85-AD691C346343}"/>
              </a:ext>
            </a:extLst>
          </p:cNvPr>
          <p:cNvSpPr/>
          <p:nvPr/>
        </p:nvSpPr>
        <p:spPr>
          <a:xfrm>
            <a:off x="152179" y="1760220"/>
            <a:ext cx="6016794" cy="548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E632C83-9667-D46F-61F8-92A0CAEDE342}"/>
              </a:ext>
            </a:extLst>
          </p:cNvPr>
          <p:cNvSpPr/>
          <p:nvPr/>
        </p:nvSpPr>
        <p:spPr>
          <a:xfrm rot="5400000">
            <a:off x="3722756" y="3456235"/>
            <a:ext cx="4716780" cy="5597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83F25AFA-558D-5163-7AF6-3E83B94E6248}"/>
              </a:ext>
            </a:extLst>
          </p:cNvPr>
          <p:cNvSpPr/>
          <p:nvPr/>
        </p:nvSpPr>
        <p:spPr>
          <a:xfrm rot="10968748">
            <a:off x="1045766" y="-97827"/>
            <a:ext cx="5039718" cy="5346145"/>
          </a:xfrm>
          <a:prstGeom prst="arc">
            <a:avLst>
              <a:gd name="adj1" fmla="val 12644331"/>
              <a:gd name="adj2" fmla="val 0"/>
            </a:avLst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224CFD0-7997-1CF4-EF04-982732836E98}"/>
              </a:ext>
            </a:extLst>
          </p:cNvPr>
          <p:cNvCxnSpPr>
            <a:cxnSpLocks/>
          </p:cNvCxnSpPr>
          <p:nvPr/>
        </p:nvCxnSpPr>
        <p:spPr>
          <a:xfrm>
            <a:off x="819733" y="2611373"/>
            <a:ext cx="3337560" cy="2952751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946810F-5C5E-7837-0B88-3FA34BF74FFE}"/>
              </a:ext>
            </a:extLst>
          </p:cNvPr>
          <p:cNvSpPr txBox="1"/>
          <p:nvPr/>
        </p:nvSpPr>
        <p:spPr>
          <a:xfrm>
            <a:off x="-89178" y="2198052"/>
            <a:ext cx="741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Price</a:t>
            </a:r>
            <a:endParaRPr lang="en-CA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A0EA97-BD1D-33F0-F4EA-0ED894BC58A0}"/>
              </a:ext>
            </a:extLst>
          </p:cNvPr>
          <p:cNvSpPr txBox="1"/>
          <p:nvPr/>
        </p:nvSpPr>
        <p:spPr>
          <a:xfrm>
            <a:off x="4848677" y="5793821"/>
            <a:ext cx="1196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Quantity</a:t>
            </a:r>
            <a:endParaRPr lang="en-CA" b="1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6CC00B0-FC46-6CBD-3B0C-7616F9EFA735}"/>
              </a:ext>
            </a:extLst>
          </p:cNvPr>
          <p:cNvCxnSpPr>
            <a:cxnSpLocks/>
          </p:cNvCxnSpPr>
          <p:nvPr/>
        </p:nvCxnSpPr>
        <p:spPr>
          <a:xfrm>
            <a:off x="665794" y="5248394"/>
            <a:ext cx="3162315" cy="0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5FB42CC-6F86-00E5-203D-EEFBF7440650}"/>
              </a:ext>
            </a:extLst>
          </p:cNvPr>
          <p:cNvCxnSpPr>
            <a:cxnSpLocks/>
          </p:cNvCxnSpPr>
          <p:nvPr/>
        </p:nvCxnSpPr>
        <p:spPr>
          <a:xfrm flipH="1" flipV="1">
            <a:off x="1059298" y="2882385"/>
            <a:ext cx="21336" cy="2809755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BB1241A-ADFB-F2F5-F6A0-F6320F3AA35C}"/>
              </a:ext>
            </a:extLst>
          </p:cNvPr>
          <p:cNvCxnSpPr>
            <a:cxnSpLocks/>
          </p:cNvCxnSpPr>
          <p:nvPr/>
        </p:nvCxnSpPr>
        <p:spPr>
          <a:xfrm flipV="1">
            <a:off x="3828109" y="5266682"/>
            <a:ext cx="0" cy="490227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BCC1B61-1E7F-4004-DA34-9DAF1760D463}"/>
                  </a:ext>
                </a:extLst>
              </p:cNvPr>
              <p:cNvSpPr txBox="1"/>
              <p:nvPr/>
            </p:nvSpPr>
            <p:spPr>
              <a:xfrm>
                <a:off x="171255" y="2669262"/>
                <a:ext cx="4649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BCC1B61-1E7F-4004-DA34-9DAF1760D4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255" y="2669262"/>
                <a:ext cx="464955" cy="369332"/>
              </a:xfrm>
              <a:prstGeom prst="rect">
                <a:avLst/>
              </a:prstGeom>
              <a:blipFill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04DFA5E-A465-D2D7-E04F-A263CA03458F}"/>
                  </a:ext>
                </a:extLst>
              </p:cNvPr>
              <p:cNvSpPr txBox="1"/>
              <p:nvPr/>
            </p:nvSpPr>
            <p:spPr>
              <a:xfrm>
                <a:off x="94834" y="4999409"/>
                <a:ext cx="4686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04DFA5E-A465-D2D7-E04F-A263CA034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34" y="4999409"/>
                <a:ext cx="468683" cy="369332"/>
              </a:xfrm>
              <a:prstGeom prst="rect">
                <a:avLst/>
              </a:prstGeom>
              <a:blipFill>
                <a:blip r:embed="rId3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91988D7-A0B6-F405-1B8C-D1D1445C3AB3}"/>
                  </a:ext>
                </a:extLst>
              </p:cNvPr>
              <p:cNvSpPr txBox="1"/>
              <p:nvPr/>
            </p:nvSpPr>
            <p:spPr>
              <a:xfrm>
                <a:off x="813397" y="5820156"/>
                <a:ext cx="463646" cy="374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91988D7-A0B6-F405-1B8C-D1D1445C3A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397" y="5820156"/>
                <a:ext cx="463646" cy="374205"/>
              </a:xfrm>
              <a:prstGeom prst="rect">
                <a:avLst/>
              </a:prstGeom>
              <a:blipFill>
                <a:blip r:embed="rId4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F2E2EC6-F784-13E7-F006-F76D6B0ACFBD}"/>
                  </a:ext>
                </a:extLst>
              </p:cNvPr>
              <p:cNvSpPr txBox="1"/>
              <p:nvPr/>
            </p:nvSpPr>
            <p:spPr>
              <a:xfrm>
                <a:off x="3627107" y="5819867"/>
                <a:ext cx="468291" cy="3747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F2E2EC6-F784-13E7-F006-F76D6B0ACF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7107" y="5819867"/>
                <a:ext cx="468291" cy="374783"/>
              </a:xfrm>
              <a:prstGeom prst="rect">
                <a:avLst/>
              </a:prstGeom>
              <a:blipFill>
                <a:blip r:embed="rId5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AA1DB-2025-E230-7FEB-74345DB174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9549" y="1713113"/>
            <a:ext cx="5279851" cy="4165091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With the introduction of a regulated fee, there's no certainty regarding what can happen to equilibrium prices and quantities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i="1" dirty="0"/>
              <a:t>We can even have results which contradict the law of supply.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For this reason</a:t>
            </a:r>
            <a:r>
              <a:rPr lang="en-CA" b="1" dirty="0"/>
              <a:t> </a:t>
            </a:r>
            <a:r>
              <a:rPr lang="en-CA" dirty="0"/>
              <a:t>the target income hypothesis is referred to as a behavioural theory.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67A419-54D7-5F83-2B61-3AB8E7E32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US" sz="4800" dirty="0"/>
              <a:t>The Target Income Hypothesis</a:t>
            </a:r>
            <a:endParaRPr lang="en-CA" sz="4800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B976F81-DAF3-458D-5D92-C1BAD7ACCA7A}"/>
              </a:ext>
            </a:extLst>
          </p:cNvPr>
          <p:cNvCxnSpPr>
            <a:cxnSpLocks/>
          </p:cNvCxnSpPr>
          <p:nvPr/>
        </p:nvCxnSpPr>
        <p:spPr>
          <a:xfrm>
            <a:off x="636210" y="2853264"/>
            <a:ext cx="444424" cy="0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FEA554AE-E95D-493E-1755-394EB3C55233}"/>
              </a:ext>
            </a:extLst>
          </p:cNvPr>
          <p:cNvSpPr/>
          <p:nvPr/>
        </p:nvSpPr>
        <p:spPr>
          <a:xfrm>
            <a:off x="917641" y="2669261"/>
            <a:ext cx="260901" cy="289089"/>
          </a:xfrm>
          <a:prstGeom prst="star5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8" name="Star: 5 Points 47">
            <a:extLst>
              <a:ext uri="{FF2B5EF4-FFF2-40B4-BE49-F238E27FC236}">
                <a16:creationId xmlns:a16="http://schemas.microsoft.com/office/drawing/2014/main" id="{C2C15383-D535-DE87-4C7D-A89F1AD04B7F}"/>
              </a:ext>
            </a:extLst>
          </p:cNvPr>
          <p:cNvSpPr/>
          <p:nvPr/>
        </p:nvSpPr>
        <p:spPr>
          <a:xfrm>
            <a:off x="3682551" y="5063124"/>
            <a:ext cx="260901" cy="289089"/>
          </a:xfrm>
          <a:prstGeom prst="star5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9F976EB-925E-EBC0-56AB-D49376D84984}"/>
              </a:ext>
            </a:extLst>
          </p:cNvPr>
          <p:cNvSpPr txBox="1"/>
          <p:nvPr/>
        </p:nvSpPr>
        <p:spPr>
          <a:xfrm>
            <a:off x="4935953" y="3225046"/>
            <a:ext cx="16942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Physician</a:t>
            </a:r>
            <a:br>
              <a:rPr lang="en-CA" b="1" dirty="0"/>
            </a:br>
            <a:r>
              <a:rPr lang="en-CA" b="1" dirty="0"/>
              <a:t>Target Income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EE9607B-52F8-1A4C-A983-183F363D0C77}"/>
              </a:ext>
            </a:extLst>
          </p:cNvPr>
          <p:cNvSpPr txBox="1"/>
          <p:nvPr/>
        </p:nvSpPr>
        <p:spPr>
          <a:xfrm>
            <a:off x="3053819" y="4191206"/>
            <a:ext cx="1063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Demand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1C8B2E0-885A-286A-C8E8-12F002BEE1F9}"/>
              </a:ext>
            </a:extLst>
          </p:cNvPr>
          <p:cNvCxnSpPr>
            <a:cxnSpLocks/>
          </p:cNvCxnSpPr>
          <p:nvPr/>
        </p:nvCxnSpPr>
        <p:spPr>
          <a:xfrm>
            <a:off x="636210" y="4872306"/>
            <a:ext cx="5251331" cy="0"/>
          </a:xfrm>
          <a:prstGeom prst="lin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DAA20AA-964C-2A23-6CE7-EC595C904FC7}"/>
                  </a:ext>
                </a:extLst>
              </p:cNvPr>
              <p:cNvSpPr txBox="1"/>
              <p:nvPr/>
            </p:nvSpPr>
            <p:spPr>
              <a:xfrm>
                <a:off x="2015128" y="5878204"/>
                <a:ext cx="463646" cy="3719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DAA20AA-964C-2A23-6CE7-EC595C904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5128" y="5878204"/>
                <a:ext cx="463646" cy="371961"/>
              </a:xfrm>
              <a:prstGeom prst="rect">
                <a:avLst/>
              </a:prstGeom>
              <a:blipFill>
                <a:blip r:embed="rId6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7ECC5E7-F895-8A55-8082-699D61976D09}"/>
                  </a:ext>
                </a:extLst>
              </p:cNvPr>
              <p:cNvSpPr txBox="1"/>
              <p:nvPr/>
            </p:nvSpPr>
            <p:spPr>
              <a:xfrm>
                <a:off x="4564220" y="5829091"/>
                <a:ext cx="463646" cy="3724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7ECC5E7-F895-8A55-8082-699D61976D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4220" y="5829091"/>
                <a:ext cx="463646" cy="372474"/>
              </a:xfrm>
              <a:prstGeom prst="rect">
                <a:avLst/>
              </a:prstGeom>
              <a:blipFill>
                <a:blip r:embed="rId7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217B123-B26D-1E22-4704-AE94F581BB05}"/>
              </a:ext>
            </a:extLst>
          </p:cNvPr>
          <p:cNvCxnSpPr>
            <a:cxnSpLocks/>
          </p:cNvCxnSpPr>
          <p:nvPr/>
        </p:nvCxnSpPr>
        <p:spPr>
          <a:xfrm flipV="1">
            <a:off x="4822360" y="4938961"/>
            <a:ext cx="1780" cy="880906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0C8A45E-8CF3-FC3D-E8F8-5A6FE1B3B33E}"/>
              </a:ext>
            </a:extLst>
          </p:cNvPr>
          <p:cNvCxnSpPr>
            <a:cxnSpLocks/>
          </p:cNvCxnSpPr>
          <p:nvPr/>
        </p:nvCxnSpPr>
        <p:spPr>
          <a:xfrm flipV="1">
            <a:off x="2344953" y="4850703"/>
            <a:ext cx="1780" cy="880906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C3465B2B-DEA4-1EE1-E154-5983B15C2682}"/>
              </a:ext>
            </a:extLst>
          </p:cNvPr>
          <p:cNvSpPr/>
          <p:nvPr/>
        </p:nvSpPr>
        <p:spPr>
          <a:xfrm>
            <a:off x="2199316" y="4697223"/>
            <a:ext cx="260901" cy="289089"/>
          </a:xfrm>
          <a:prstGeom prst="star5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Star: 5 Points 13">
            <a:extLst>
              <a:ext uri="{FF2B5EF4-FFF2-40B4-BE49-F238E27FC236}">
                <a16:creationId xmlns:a16="http://schemas.microsoft.com/office/drawing/2014/main" id="{6346407F-470F-353E-D700-6071CAC88791}"/>
              </a:ext>
            </a:extLst>
          </p:cNvPr>
          <p:cNvSpPr/>
          <p:nvPr/>
        </p:nvSpPr>
        <p:spPr>
          <a:xfrm>
            <a:off x="4718226" y="4696493"/>
            <a:ext cx="260901" cy="289089"/>
          </a:xfrm>
          <a:prstGeom prst="star5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600306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2515D-CED3-4120-C2F2-6DC1F0ADC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D45FF-B9A2-328C-1142-4076D003B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Which Theory is True?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0DA65C-7E47-B140-EBE3-E70BD3329A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Empirical Evidence on Both Sides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7286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9E5F0-EF42-8F33-F7A0-01A3020F9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6CCC8-ECCC-1A36-A3BC-60DC38EE4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US" sz="4800" dirty="0"/>
              <a:t>The ambiguity of the role of price in the supply of physician procedures</a:t>
            </a:r>
            <a:endParaRPr lang="en-CA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16EC0-69B7-72E4-D542-0F3F76AE8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1" y="1943100"/>
            <a:ext cx="5824414" cy="3936491"/>
          </a:xfrm>
        </p:spPr>
        <p:txBody>
          <a:bodyPr/>
          <a:lstStyle/>
          <a:p>
            <a:r>
              <a:rPr lang="en-US" dirty="0"/>
              <a:t>Some Motivation for Empirical Work on Physician Behavior: </a:t>
            </a:r>
          </a:p>
          <a:p>
            <a:r>
              <a:rPr lang="en-US" i="1" dirty="0"/>
              <a:t>“… The reaction of fees and services per capita to fee level is ambiguous because the substitution effect calls for an increase in provision while the income effect calls for a decrease”</a:t>
            </a:r>
          </a:p>
          <a:p>
            <a:r>
              <a:rPr lang="en-US" i="1" dirty="0"/>
              <a:t>-Peter Zweifel (Health Economics, Chapter 8, Conclusion 8.2)</a:t>
            </a:r>
            <a:endParaRPr lang="en-CA" i="1" dirty="0"/>
          </a:p>
        </p:txBody>
      </p:sp>
      <p:pic>
        <p:nvPicPr>
          <p:cNvPr id="1028" name="Picture 4" descr="Keynotes">
            <a:extLst>
              <a:ext uri="{FF2B5EF4-FFF2-40B4-BE49-F238E27FC236}">
                <a16:creationId xmlns:a16="http://schemas.microsoft.com/office/drawing/2014/main" id="{9965146C-259C-9074-2D56-B5071C993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4687" y="1943100"/>
            <a:ext cx="4327245" cy="4021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38076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E330C-669C-D299-88ED-81870E871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2783E-E16E-49D3-34FF-7EC35C831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US" sz="4000" dirty="0"/>
              <a:t>Gruber 1999:Physician fees and procedure intensity: the case of cesarean delivery</a:t>
            </a:r>
            <a:endParaRPr lang="en-CA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FF8994-0F78-3D60-7859-C90BA015AD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80780" y="1999406"/>
                <a:ext cx="4857750" cy="3936491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US" dirty="0"/>
                  <a:t>Note: All these coefficients are </a:t>
                </a:r>
                <a:r>
                  <a:rPr lang="en-US" b="1" dirty="0"/>
                  <a:t>LOG ODDS RATIOS.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US" dirty="0"/>
                  <a:t>If the coefficient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takes a value of:</a:t>
                </a:r>
              </a:p>
              <a:p>
                <a:pPr marL="1028700" lvl="1" indent="-3429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 </m:t>
                    </m:r>
                  </m:oMath>
                </a14:m>
                <a:r>
                  <a:rPr lang="en-CA" dirty="0"/>
                  <a:t>the event is more likely.</a:t>
                </a:r>
              </a:p>
              <a:p>
                <a:pPr marL="1028700" lvl="1" indent="-3429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CA" dirty="0"/>
                  <a:t>, the event is less likely.</a:t>
                </a:r>
              </a:p>
              <a:p>
                <a:pPr marL="1028700" lvl="1" indent="-3429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CA" dirty="0"/>
                  <a:t>, the event is neither more or less likely.</a:t>
                </a:r>
              </a:p>
              <a:p>
                <a:pPr marL="1028700" lvl="1" indent="-342900">
                  <a:buFont typeface="Wingdings" panose="05000000000000000000" pitchFamily="2" charset="2"/>
                  <a:buChar char="§"/>
                </a:pPr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FF8994-0F78-3D60-7859-C90BA015AD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80780" y="1999406"/>
                <a:ext cx="4857750" cy="3936491"/>
              </a:xfrm>
              <a:blipFill>
                <a:blip r:embed="rId2"/>
                <a:stretch>
                  <a:fillRect l="-1631" t="-1238" r="-138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33BA8A1-9BA8-05DB-187F-8DD01DB19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56" y="1921366"/>
            <a:ext cx="6879424" cy="4092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8298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70A2F-29B8-E2FB-B9AD-12B5FC94D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86694-A5CC-22F6-6A96-047E11FBB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US" sz="4000" dirty="0"/>
              <a:t>Gruber 1999:Physician fees and procedure intensity: the case of cesarean delivery</a:t>
            </a:r>
            <a:endParaRPr lang="en-CA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E07F7-0BBC-2BF4-E51F-DC5FB0086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0780" y="1921366"/>
            <a:ext cx="4596919" cy="4339226"/>
          </a:xfrm>
        </p:spPr>
        <p:txBody>
          <a:bodyPr>
            <a:normAutofit fontScale="85000" lnSpcReduction="10000"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This table shows how various factors impacted the likelihood of cesarean delivery in select US states.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Results show that conditional on the fee paid for normal birth, OBGYNs were incentivized to opt for cesarean delivery.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Practically: In  US states where there were higher fees for cesarean delivery, there was a greater incentive to conduct them.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This can be read as “supplier-induced demand” or “income targeting” behavior.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25E433-ACB6-68A0-41A2-5448AF139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356" y="1921366"/>
            <a:ext cx="6879424" cy="409257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4F36112-AA85-3E70-349F-339744C767F1}"/>
              </a:ext>
            </a:extLst>
          </p:cNvPr>
          <p:cNvSpPr/>
          <p:nvPr/>
        </p:nvSpPr>
        <p:spPr>
          <a:xfrm>
            <a:off x="736002" y="5381625"/>
            <a:ext cx="6398223" cy="121024"/>
          </a:xfrm>
          <a:prstGeom prst="rect">
            <a:avLst/>
          </a:prstGeom>
          <a:solidFill>
            <a:srgbClr val="FFFF00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3752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30CC4-140C-90DA-D074-37CF82AAE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BB245-55C8-AB46-AA25-692D46E4B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US" sz="3200" dirty="0"/>
              <a:t>Mitchell, Hadley and Gaskin 2002: Spillover Effects of Medicare Fee Reductions: Evidence from Ophthalmology</a:t>
            </a:r>
            <a:endParaRPr lang="en-CA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40B49-3D8C-2085-D904-B16A03912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523" y="1966546"/>
            <a:ext cx="3903785" cy="3936491"/>
          </a:xfrm>
        </p:spPr>
        <p:txBody>
          <a:bodyPr>
            <a:normAutofit fontScale="77500" lnSpcReduction="20000"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 The authors analyzed the effect of a reduction in the Medicare reimbursement rate for cataract surgery on the supply of cataract surgeries and non cataract surgery services.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This table shows the results for the own price effects of other services (which are aggregated as an index) and finds that the own price effects are positive.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This is a result that is consistent with ophthalmologists following the law of supply.</a:t>
            </a:r>
            <a:endParaRPr lang="en-CA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38DA6D-8E30-31E1-91D8-5A76AB478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6546"/>
            <a:ext cx="7749966" cy="393649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F43EE7F-6970-81D2-8CA5-A1FA3F3B862E}"/>
              </a:ext>
            </a:extLst>
          </p:cNvPr>
          <p:cNvSpPr/>
          <p:nvPr/>
        </p:nvSpPr>
        <p:spPr>
          <a:xfrm>
            <a:off x="1269402" y="3428999"/>
            <a:ext cx="6002767" cy="121025"/>
          </a:xfrm>
          <a:prstGeom prst="rect">
            <a:avLst/>
          </a:prstGeom>
          <a:solidFill>
            <a:srgbClr val="FFFF00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218816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ABB2F-144C-1C81-846D-09715BD9D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28B4C-3A89-933F-79BA-E1655A2AB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US" sz="4000" dirty="0"/>
              <a:t>Issues with trying to detect Supplier Induced Demand</a:t>
            </a:r>
            <a:endParaRPr lang="en-CA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0004B-2879-C189-A78E-BA057DBA1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943100"/>
            <a:ext cx="10506991" cy="3936491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The evidence that was brought thus far </a:t>
            </a:r>
            <a:r>
              <a:rPr lang="en-US" i="1" dirty="0"/>
              <a:t>changes the definition</a:t>
            </a:r>
            <a:r>
              <a:rPr lang="en-US" b="1" i="1" dirty="0"/>
              <a:t> </a:t>
            </a:r>
            <a:r>
              <a:rPr lang="en-US" dirty="0"/>
              <a:t>of supplier induced demand.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What was shown was that differences in reimbursement can result in differences in differences in the volume and mix of procedures.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dirty="0"/>
              <a:t>SUPPLIER INDUCED DEMAND IS A RESULT THAT REQUIRES AN INCREASE IN QUANITITY SUPPLIED FOLLOWING A DECLINE IN FEE.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This contradicts the law of supply.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While the possibility of supplier-induced demand is present in the physician’s problem. It is empirically difficult to test.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857286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BB2FA-79FD-4922-446F-DA7F60DE4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AC409-7589-A799-2BE3-7C00811B6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645033"/>
            <a:ext cx="10280650" cy="840867"/>
          </a:xfrm>
        </p:spPr>
        <p:txBody>
          <a:bodyPr/>
          <a:lstStyle/>
          <a:p>
            <a:r>
              <a:rPr lang="en-CA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FB3F4-63C9-BDFF-3B4C-3CEA42198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676400"/>
            <a:ext cx="10506991" cy="4203191"/>
          </a:xfrm>
        </p:spPr>
        <p:txBody>
          <a:bodyPr>
            <a:normAutofit/>
          </a:bodyPr>
          <a:lstStyle/>
          <a:p>
            <a:r>
              <a:rPr lang="en-CA" dirty="0"/>
              <a:t>In this lecture, we will discuss: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The Physician’s Problem.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Theory I: The Physician as a Profit-Maximizing Firm.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Theory II: The Target Income Hypothesis and Supplier-Induced Demand.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Empirical Evidence supporting each theory of physician behaviour.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0A19D98-2A97-3E69-CD7E-8EED31ED4AD6}"/>
              </a:ext>
            </a:extLst>
          </p:cNvPr>
          <p:cNvSpPr/>
          <p:nvPr/>
        </p:nvSpPr>
        <p:spPr>
          <a:xfrm>
            <a:off x="1748341" y="4929780"/>
            <a:ext cx="9014909" cy="114031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b="1" i="1" u="sng" dirty="0">
                <a:solidFill>
                  <a:schemeClr val="tx1"/>
                </a:solidFill>
              </a:rPr>
              <a:t>Goal of this Lecture: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b="1" i="1" dirty="0">
                <a:solidFill>
                  <a:schemeClr val="tx1"/>
                </a:solidFill>
              </a:rPr>
              <a:t>Describe the nature of physician behaviour.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b="1" i="1" dirty="0">
                <a:solidFill>
                  <a:schemeClr val="tx1"/>
                </a:solidFill>
              </a:rPr>
              <a:t>Discuss why the market for medical care is different than other markets.</a:t>
            </a:r>
          </a:p>
        </p:txBody>
      </p:sp>
    </p:spTree>
    <p:extLst>
      <p:ext uri="{BB962C8B-B14F-4D97-AF65-F5344CB8AC3E}">
        <p14:creationId xmlns:p14="http://schemas.microsoft.com/office/powerpoint/2010/main" val="3850196734"/>
      </p:ext>
    </p:extLst>
  </p:cSld>
  <p:clrMapOvr>
    <a:masterClrMapping/>
  </p:clrMapOvr>
</p:sld>
</file>

<file path=ppt/theme/theme1.xml><?xml version="1.0" encoding="utf-8"?>
<a:theme xmlns:a="http://schemas.openxmlformats.org/drawingml/2006/main" name="LevelVTI">
  <a:themeElements>
    <a:clrScheme name="Custom 88">
      <a:dk1>
        <a:sysClr val="windowText" lastClr="000000"/>
      </a:dk1>
      <a:lt1>
        <a:sysClr val="window" lastClr="FFFFFF"/>
      </a:lt1>
      <a:dk2>
        <a:srgbClr val="182230"/>
      </a:dk2>
      <a:lt2>
        <a:srgbClr val="F2F2F2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939393"/>
      </a:accent6>
      <a:hlink>
        <a:srgbClr val="3E8FF1"/>
      </a:hlink>
      <a:folHlink>
        <a:srgbClr val="939393"/>
      </a:folHlink>
    </a:clrScheme>
    <a:fontScheme name="Seaford">
      <a:majorFont>
        <a:latin typeface="Seaford"/>
        <a:ea typeface=""/>
        <a:cs typeface=""/>
      </a:majorFont>
      <a:minorFont>
        <a:latin typeface="Seafor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velVTI" id="{64F43929-0387-4D33-907F-72B939BCAF99}" vid="{D804DF84-3298-4A39-BA0E-21F83D68BC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5848</TotalTime>
  <Words>1311</Words>
  <Application>Microsoft Office PowerPoint</Application>
  <PresentationFormat>Widescreen</PresentationFormat>
  <Paragraphs>172</Paragraphs>
  <Slides>21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Arial</vt:lpstr>
      <vt:lpstr>Cambria Math</vt:lpstr>
      <vt:lpstr>Seaford</vt:lpstr>
      <vt:lpstr>Wingdings</vt:lpstr>
      <vt:lpstr>LevelVTI</vt:lpstr>
      <vt:lpstr>Health Economics Lecture #5</vt:lpstr>
      <vt:lpstr>Learning Objectives</vt:lpstr>
      <vt:lpstr>The Physicians Problem</vt:lpstr>
      <vt:lpstr>A Review of the Theory of the Firm and Markets</vt:lpstr>
      <vt:lpstr>The Market for Medical Services</vt:lpstr>
      <vt:lpstr>The Physician’s Dilemma</vt:lpstr>
      <vt:lpstr>Theory I: The Physician as a Profit Maximizing Firm.</vt:lpstr>
      <vt:lpstr>The Physician as a Profit Maximizing Firm</vt:lpstr>
      <vt:lpstr>The Physician as a Profit Maximizing Firm</vt:lpstr>
      <vt:lpstr>The Physician as a Profit Maximizing Firm</vt:lpstr>
      <vt:lpstr>Theory II: The Target Income Hypothesis and Supplier Induced Demand.</vt:lpstr>
      <vt:lpstr>The Target Income Hypothesis</vt:lpstr>
      <vt:lpstr>The Target Income Hypothesis</vt:lpstr>
      <vt:lpstr>The Target Income Hypothesis</vt:lpstr>
      <vt:lpstr>Which Theory is True?</vt:lpstr>
      <vt:lpstr>The ambiguity of the role of price in the supply of physician procedures</vt:lpstr>
      <vt:lpstr>Gruber 1999:Physician fees and procedure intensity: the case of cesarean delivery</vt:lpstr>
      <vt:lpstr>Gruber 1999:Physician fees and procedure intensity: the case of cesarean delivery</vt:lpstr>
      <vt:lpstr>Mitchell, Hadley and Gaskin 2002: Spillover Effects of Medicare Fee Reductions: Evidence from Ophthalmology</vt:lpstr>
      <vt:lpstr>Issues with trying to detect Supplier Induced Demand</vt:lpstr>
      <vt:lpstr>Learning Objectives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Smith</dc:creator>
  <cp:lastModifiedBy>Jacob Smith</cp:lastModifiedBy>
  <cp:revision>38</cp:revision>
  <dcterms:created xsi:type="dcterms:W3CDTF">2025-07-13T05:00:08Z</dcterms:created>
  <dcterms:modified xsi:type="dcterms:W3CDTF">2025-10-30T17:22:32Z</dcterms:modified>
</cp:coreProperties>
</file>