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99" r:id="rId1"/>
  </p:sldMasterIdLst>
  <p:notesMasterIdLst>
    <p:notesMasterId r:id="rId40"/>
  </p:notesMasterIdLst>
  <p:sldIdLst>
    <p:sldId id="256" r:id="rId2"/>
    <p:sldId id="257" r:id="rId3"/>
    <p:sldId id="289" r:id="rId4"/>
    <p:sldId id="274" r:id="rId5"/>
    <p:sldId id="287" r:id="rId6"/>
    <p:sldId id="302" r:id="rId7"/>
    <p:sldId id="303" r:id="rId8"/>
    <p:sldId id="290" r:id="rId9"/>
    <p:sldId id="258" r:id="rId10"/>
    <p:sldId id="292" r:id="rId11"/>
    <p:sldId id="291" r:id="rId12"/>
    <p:sldId id="277" r:id="rId13"/>
    <p:sldId id="300" r:id="rId14"/>
    <p:sldId id="306" r:id="rId15"/>
    <p:sldId id="304" r:id="rId16"/>
    <p:sldId id="307" r:id="rId17"/>
    <p:sldId id="329" r:id="rId18"/>
    <p:sldId id="309" r:id="rId19"/>
    <p:sldId id="293" r:id="rId20"/>
    <p:sldId id="310" r:id="rId21"/>
    <p:sldId id="313" r:id="rId22"/>
    <p:sldId id="314" r:id="rId23"/>
    <p:sldId id="295" r:id="rId24"/>
    <p:sldId id="315" r:id="rId25"/>
    <p:sldId id="316" r:id="rId26"/>
    <p:sldId id="317" r:id="rId27"/>
    <p:sldId id="296" r:id="rId28"/>
    <p:sldId id="319" r:id="rId29"/>
    <p:sldId id="285" r:id="rId30"/>
    <p:sldId id="278" r:id="rId31"/>
    <p:sldId id="321" r:id="rId32"/>
    <p:sldId id="330" r:id="rId33"/>
    <p:sldId id="324" r:id="rId34"/>
    <p:sldId id="325" r:id="rId35"/>
    <p:sldId id="323" r:id="rId36"/>
    <p:sldId id="331" r:id="rId37"/>
    <p:sldId id="328" r:id="rId38"/>
    <p:sldId id="327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537" autoAdjust="0"/>
  </p:normalViewPr>
  <p:slideViewPr>
    <p:cSldViewPr snapToGrid="0">
      <p:cViewPr varScale="1">
        <p:scale>
          <a:sx n="100" d="100"/>
          <a:sy n="100" d="100"/>
        </p:scale>
        <p:origin x="3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9A107-93FC-4C73-A81C-593CBB10CFEF}" type="datetimeFigureOut">
              <a:rPr lang="en-CA" smtClean="0"/>
              <a:t>2025-09-30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3E61FF-07A4-4C6C-B06F-DD1DA8ACF56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3835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06123-A0C9-0636-9AC3-75DA61340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12B213-7C4D-FCE1-CEBD-9BF9149947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841B4B-4BDB-9CD7-04CB-AEC0FF0D6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B8704-8DAC-0967-8496-7919B96DFD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5552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3764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0C058-D882-89BE-B6D1-95226636F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1D811A-59EE-9068-C0D2-4708326E80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BAAB45-230A-7CD4-94EC-98FC501B4F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90DA5-2843-CFBB-E789-E05940F0A1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8709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3C727-C838-283C-F554-797FCB1D0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70AD8A-33E5-2228-3968-4C29F33BB9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31B256-A1A0-3537-D5A7-4A77622EC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06D22-5C60-CB8F-DFD6-6BF538ABC8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8080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84176-5B24-D8B1-4890-7306E7A1D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4C40E1-E797-391D-4913-3C0A29731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A34C7-AD46-2E26-89E5-B6A94D1E1A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D1E62-9D0F-8EEC-6983-6197894737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1275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42FE-E00B-4FAF-8F73-F722060EB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978408"/>
            <a:ext cx="10506991" cy="2531555"/>
          </a:xfrm>
          <a:prstGeom prst="rect">
            <a:avLst/>
          </a:prstGeom>
        </p:spPr>
        <p:txBody>
          <a:bodyPr anchor="b"/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1CCE2-4461-473E-B23C-34C8CCF04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0506991" cy="227755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A551A-CE2F-4E35-A714-B1F04D4B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5C907-6594-4DFF-A32B-449C3BA9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76D75-E9DA-4660-AC52-51BA63FC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393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3735-A77F-440D-9448-6AE7C204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1579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C6EE-D55E-454B-B28C-EC73D1DB4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A2905-6D2E-4319-9521-61452AB8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C7550-84E8-49D3-B419-6F5F327D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D2C6B-EA5D-4D97-BC84-6C860D53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066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1B299E6-11CC-4181-86C3-528A13F1F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22232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03473-0A64-4F9F-833B-8D64E390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9"/>
            <a:ext cx="10515600" cy="271676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73736-B424-40F2-B562-6DC10E5ED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4171445"/>
            <a:ext cx="10515600" cy="1918205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8851-37C0-478D-B722-D76C817D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E063E-66CE-4C18-91FA-D14AE052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66D3D-FD62-470C-BC3C-A03771A3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FF0049-0231-4557-A707-569556F0C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3922232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7A0DB1-87C8-4BF4-B2A2-F9CA6ED05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C29209-8A8F-48A7-8BA2-AFADA37C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55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66BE9C-AE7C-4C39-9694-C32D6939B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483577"/>
            <a:ext cx="11147071" cy="243482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CC42C-303A-4BDF-990A-2B07967B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9" y="978408"/>
            <a:ext cx="1114707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5CEF-353E-4E14-83AD-ACADDC08D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60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5ECEF-9654-4AC1-BF77-7BC602BBD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12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22FC8-BC06-407B-A82B-DA62B33A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5B701-4E1F-48AA-8A3C-ED5DD915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BCA31-8AC7-46F5-BCAB-41D54DF8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A86D8-2A29-4A0E-AEA0-39B41C418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85E13E-918A-4D04-9E84-94148D7C8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48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E892-D975-4DD6-8583-A14DDBE8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1" y="978407"/>
            <a:ext cx="11145039" cy="1339584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F7700-CECC-4881-BE5C-A13CD825B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632" y="2500921"/>
            <a:ext cx="5346222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50766-520A-44C5-943E-569222B74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3428999"/>
            <a:ext cx="5346222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F7E42-976A-4239-8006-D68538D4B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120" y="2500921"/>
            <a:ext cx="5372551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CA329-951F-4391-ADC5-7EA320B77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120" y="3428999"/>
            <a:ext cx="5372551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EC22A-DA46-460C-B865-D928C20A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2D647-42C5-4AB7-BB71-3A440657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" y="6419088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B2B67-714C-46DA-85E5-598B4244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9591" y="-7190"/>
            <a:ext cx="640080" cy="365125"/>
          </a:xfrm>
        </p:spPr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89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4B6724-AB30-4E7C-BE2B-ECD94FF1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33311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D4BAB-2678-4A19-A575-C47CAF14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5915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7C89E-0ABD-4FD2-924C-894345AD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026CE-9CC8-403B-88B1-184D1653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3D616-3C18-401B-A792-E75149FD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EC6F70-D800-4067-A36A-5BBFC8018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393331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B66CB6-8988-4FBA-8524-726765A5F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036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73F84-0C6B-4EF4-9405-C3898249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EC807-744E-4C5C-8B15-09AED3E5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BCB19-9F4B-474C-85C1-4A645A97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33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88B0-DD6B-449B-AE32-D3192081E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8"/>
            <a:ext cx="4287393" cy="2450592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2ED6-5B69-4B3B-BF96-3A75F210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5"/>
            <a:ext cx="644648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04043-D45F-440A-A15D-2718A913E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72DC-7326-43E7-806C-B690C439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89A0F-B8C6-4AA6-A9C4-4A454F42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7A616-A4F2-4FC5-88DE-B4E6BA54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11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773D-D007-4687-BA9C-9F229829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7"/>
            <a:ext cx="4287393" cy="2450593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A75FC-78D2-4EF5-884F-11B7BACF7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4648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CE0BB-D335-4391-A23F-194C575CA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701E1-B97B-4DA5-B9AD-07B7C124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D9CF8-F42F-4618-9F26-8BFE5648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A2023-1ECA-4A96-BDC7-F7FA4368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7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999A10-4355-4A13-B008-196B21ABE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600" y="483576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36D448-AFEA-4483-B0E4-002840525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16234-4516-4303-8F60-A8127D89A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192" y="3103131"/>
            <a:ext cx="10506991" cy="30929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B5D50-A474-462B-A807-DF186B1C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F1DAF-2E2D-46ED-AA3E-3D2FE403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FC771-EB13-4EB5-A0A2-3968C6AB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B596B8-8230-4695-8D76-F06AFA815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3EBF93-5FD9-4F4E-8485-7B937145C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233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B4D06-C7C6-4949-8EB2-F03ED999A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41710" y="978408"/>
            <a:ext cx="2947881" cy="512477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21B9D-8C11-4176-AF22-89F972E2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632" y="978408"/>
            <a:ext cx="7256453" cy="512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A9E1C-8E18-4A35-9BD8-427B1D14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16CDB-7BB6-4DD2-A626-6DA8E569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0403B-439E-449F-83B1-799EEC23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32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7A535-3CAC-46BC-B2B2-3AE83EC3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21530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EBDBD-59EC-46ED-BE79-6D37B531D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3306870"/>
            <a:ext cx="10506991" cy="2572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21F5C-FD3D-42C7-90F4-5ECE6FFCF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4632" y="1005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9/30/2025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63D50-6D0B-4963-97B9-A32AE6323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B5E08-CAC3-4C87-B143-5F8956AE9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697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14.svg"/><Relationship Id="rId18" Type="http://schemas.openxmlformats.org/officeDocument/2006/relationships/image" Target="../media/image17.png"/><Relationship Id="rId3" Type="http://schemas.openxmlformats.org/officeDocument/2006/relationships/image" Target="../media/image22.svg"/><Relationship Id="rId21" Type="http://schemas.openxmlformats.org/officeDocument/2006/relationships/image" Target="../media/image20.svg"/><Relationship Id="rId7" Type="http://schemas.openxmlformats.org/officeDocument/2006/relationships/image" Target="../media/image10.svg"/><Relationship Id="rId12" Type="http://schemas.openxmlformats.org/officeDocument/2006/relationships/image" Target="../media/image13.png"/><Relationship Id="rId17" Type="http://schemas.openxmlformats.org/officeDocument/2006/relationships/image" Target="../media/image12.svg"/><Relationship Id="rId2" Type="http://schemas.openxmlformats.org/officeDocument/2006/relationships/image" Target="../media/image21.png"/><Relationship Id="rId16" Type="http://schemas.openxmlformats.org/officeDocument/2006/relationships/image" Target="../media/image11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6.svg"/><Relationship Id="rId5" Type="http://schemas.openxmlformats.org/officeDocument/2006/relationships/image" Target="../media/image24.svg"/><Relationship Id="rId15" Type="http://schemas.openxmlformats.org/officeDocument/2006/relationships/image" Target="../media/image28.svg"/><Relationship Id="rId23" Type="http://schemas.openxmlformats.org/officeDocument/2006/relationships/image" Target="../media/image30.svg"/><Relationship Id="rId10" Type="http://schemas.openxmlformats.org/officeDocument/2006/relationships/image" Target="../media/image15.png"/><Relationship Id="rId19" Type="http://schemas.openxmlformats.org/officeDocument/2006/relationships/image" Target="../media/image18.svg"/><Relationship Id="rId4" Type="http://schemas.openxmlformats.org/officeDocument/2006/relationships/image" Target="../media/image23.png"/><Relationship Id="rId9" Type="http://schemas.openxmlformats.org/officeDocument/2006/relationships/image" Target="../media/image26.svg"/><Relationship Id="rId14" Type="http://schemas.openxmlformats.org/officeDocument/2006/relationships/image" Target="../media/image27.png"/><Relationship Id="rId22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14.svg"/><Relationship Id="rId18" Type="http://schemas.openxmlformats.org/officeDocument/2006/relationships/image" Target="../media/image17.png"/><Relationship Id="rId3" Type="http://schemas.openxmlformats.org/officeDocument/2006/relationships/image" Target="../media/image22.svg"/><Relationship Id="rId21" Type="http://schemas.openxmlformats.org/officeDocument/2006/relationships/image" Target="../media/image20.svg"/><Relationship Id="rId7" Type="http://schemas.openxmlformats.org/officeDocument/2006/relationships/image" Target="../media/image10.svg"/><Relationship Id="rId12" Type="http://schemas.openxmlformats.org/officeDocument/2006/relationships/image" Target="../media/image13.png"/><Relationship Id="rId17" Type="http://schemas.openxmlformats.org/officeDocument/2006/relationships/image" Target="../media/image12.svg"/><Relationship Id="rId25" Type="http://schemas.openxmlformats.org/officeDocument/2006/relationships/image" Target="../media/image34.svg"/><Relationship Id="rId2" Type="http://schemas.openxmlformats.org/officeDocument/2006/relationships/image" Target="../media/image21.png"/><Relationship Id="rId16" Type="http://schemas.openxmlformats.org/officeDocument/2006/relationships/image" Target="../media/image11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32.svg"/><Relationship Id="rId24" Type="http://schemas.openxmlformats.org/officeDocument/2006/relationships/image" Target="../media/image33.png"/><Relationship Id="rId5" Type="http://schemas.openxmlformats.org/officeDocument/2006/relationships/image" Target="../media/image24.svg"/><Relationship Id="rId15" Type="http://schemas.openxmlformats.org/officeDocument/2006/relationships/image" Target="../media/image28.svg"/><Relationship Id="rId23" Type="http://schemas.openxmlformats.org/officeDocument/2006/relationships/image" Target="../media/image30.svg"/><Relationship Id="rId10" Type="http://schemas.openxmlformats.org/officeDocument/2006/relationships/image" Target="../media/image31.png"/><Relationship Id="rId19" Type="http://schemas.openxmlformats.org/officeDocument/2006/relationships/image" Target="../media/image18.svg"/><Relationship Id="rId4" Type="http://schemas.openxmlformats.org/officeDocument/2006/relationships/image" Target="../media/image23.png"/><Relationship Id="rId9" Type="http://schemas.openxmlformats.org/officeDocument/2006/relationships/image" Target="../media/image26.svg"/><Relationship Id="rId14" Type="http://schemas.openxmlformats.org/officeDocument/2006/relationships/image" Target="../media/image27.png"/><Relationship Id="rId22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8.svg"/><Relationship Id="rId18" Type="http://schemas.openxmlformats.org/officeDocument/2006/relationships/image" Target="../media/image41.png"/><Relationship Id="rId3" Type="http://schemas.openxmlformats.org/officeDocument/2006/relationships/image" Target="../media/image22.svg"/><Relationship Id="rId21" Type="http://schemas.openxmlformats.org/officeDocument/2006/relationships/image" Target="../media/image44.svg"/><Relationship Id="rId7" Type="http://schemas.openxmlformats.org/officeDocument/2006/relationships/image" Target="../media/image36.svg"/><Relationship Id="rId12" Type="http://schemas.openxmlformats.org/officeDocument/2006/relationships/image" Target="../media/image37.png"/><Relationship Id="rId17" Type="http://schemas.openxmlformats.org/officeDocument/2006/relationships/image" Target="../media/image40.svg"/><Relationship Id="rId25" Type="http://schemas.openxmlformats.org/officeDocument/2006/relationships/image" Target="../media/image34.svg"/><Relationship Id="rId2" Type="http://schemas.openxmlformats.org/officeDocument/2006/relationships/image" Target="../media/image21.png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32.svg"/><Relationship Id="rId24" Type="http://schemas.openxmlformats.org/officeDocument/2006/relationships/image" Target="../media/image33.png"/><Relationship Id="rId5" Type="http://schemas.openxmlformats.org/officeDocument/2006/relationships/image" Target="../media/image24.svg"/><Relationship Id="rId15" Type="http://schemas.openxmlformats.org/officeDocument/2006/relationships/image" Target="../media/image28.svg"/><Relationship Id="rId23" Type="http://schemas.openxmlformats.org/officeDocument/2006/relationships/image" Target="../media/image30.svg"/><Relationship Id="rId10" Type="http://schemas.openxmlformats.org/officeDocument/2006/relationships/image" Target="../media/image31.png"/><Relationship Id="rId19" Type="http://schemas.openxmlformats.org/officeDocument/2006/relationships/image" Target="../media/image42.svg"/><Relationship Id="rId4" Type="http://schemas.openxmlformats.org/officeDocument/2006/relationships/image" Target="../media/image23.png"/><Relationship Id="rId9" Type="http://schemas.openxmlformats.org/officeDocument/2006/relationships/image" Target="../media/image26.svg"/><Relationship Id="rId14" Type="http://schemas.openxmlformats.org/officeDocument/2006/relationships/image" Target="../media/image27.png"/><Relationship Id="rId22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9.png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6.png"/><Relationship Id="rId7" Type="http://schemas.openxmlformats.org/officeDocument/2006/relationships/image" Target="../media/image58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7.png"/><Relationship Id="rId10" Type="http://schemas.openxmlformats.org/officeDocument/2006/relationships/image" Target="../media/image61.png"/><Relationship Id="rId4" Type="http://schemas.openxmlformats.org/officeDocument/2006/relationships/image" Target="../media/image8.png"/><Relationship Id="rId9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4.png"/><Relationship Id="rId7" Type="http://schemas.openxmlformats.org/officeDocument/2006/relationships/image" Target="../media/image67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0.png"/><Relationship Id="rId5" Type="http://schemas.openxmlformats.org/officeDocument/2006/relationships/image" Target="../media/image650.png"/><Relationship Id="rId4" Type="http://schemas.openxmlformats.org/officeDocument/2006/relationships/image" Target="../media/image6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60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0.png"/><Relationship Id="rId9" Type="http://schemas.openxmlformats.org/officeDocument/2006/relationships/image" Target="../media/image7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82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81.png"/><Relationship Id="rId2" Type="http://schemas.openxmlformats.org/officeDocument/2006/relationships/image" Target="../media/image78.png"/><Relationship Id="rId16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11" Type="http://schemas.openxmlformats.org/officeDocument/2006/relationships/image" Target="../media/image77.png"/><Relationship Id="rId5" Type="http://schemas.openxmlformats.org/officeDocument/2006/relationships/image" Target="../media/image70.png"/><Relationship Id="rId15" Type="http://schemas.openxmlformats.org/officeDocument/2006/relationships/image" Target="../media/image84.png"/><Relationship Id="rId10" Type="http://schemas.openxmlformats.org/officeDocument/2006/relationships/image" Target="../media/image80.png"/><Relationship Id="rId4" Type="http://schemas.openxmlformats.org/officeDocument/2006/relationships/image" Target="../media/image600.png"/><Relationship Id="rId9" Type="http://schemas.openxmlformats.org/officeDocument/2006/relationships/image" Target="../media/image75.png"/><Relationship Id="rId14" Type="http://schemas.openxmlformats.org/officeDocument/2006/relationships/image" Target="../media/image8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60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79.png"/><Relationship Id="rId10" Type="http://schemas.openxmlformats.org/officeDocument/2006/relationships/image" Target="../media/image77.png"/><Relationship Id="rId4" Type="http://schemas.openxmlformats.org/officeDocument/2006/relationships/image" Target="../media/image70.png"/><Relationship Id="rId9" Type="http://schemas.openxmlformats.org/officeDocument/2006/relationships/image" Target="../media/image8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8.png"/><Relationship Id="rId3" Type="http://schemas.openxmlformats.org/officeDocument/2006/relationships/image" Target="../media/image600.png"/><Relationship Id="rId7" Type="http://schemas.openxmlformats.org/officeDocument/2006/relationships/image" Target="../media/image74.png"/><Relationship Id="rId12" Type="http://schemas.openxmlformats.org/officeDocument/2006/relationships/image" Target="../media/image87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86.png"/><Relationship Id="rId5" Type="http://schemas.openxmlformats.org/officeDocument/2006/relationships/image" Target="../media/image72.png"/><Relationship Id="rId15" Type="http://schemas.openxmlformats.org/officeDocument/2006/relationships/image" Target="../media/image90.png"/><Relationship Id="rId10" Type="http://schemas.openxmlformats.org/officeDocument/2006/relationships/image" Target="../media/image77.png"/><Relationship Id="rId4" Type="http://schemas.openxmlformats.org/officeDocument/2006/relationships/image" Target="../media/image70.png"/><Relationship Id="rId9" Type="http://schemas.openxmlformats.org/officeDocument/2006/relationships/image" Target="../media/image76.png"/><Relationship Id="rId14" Type="http://schemas.openxmlformats.org/officeDocument/2006/relationships/image" Target="../media/image8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94.png"/><Relationship Id="rId3" Type="http://schemas.openxmlformats.org/officeDocument/2006/relationships/image" Target="../media/image600.png"/><Relationship Id="rId7" Type="http://schemas.openxmlformats.org/officeDocument/2006/relationships/image" Target="../media/image74.png"/><Relationship Id="rId12" Type="http://schemas.openxmlformats.org/officeDocument/2006/relationships/image" Target="../media/image93.png"/><Relationship Id="rId2" Type="http://schemas.openxmlformats.org/officeDocument/2006/relationships/image" Target="../media/image69.png"/><Relationship Id="rId16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92.png"/><Relationship Id="rId5" Type="http://schemas.openxmlformats.org/officeDocument/2006/relationships/image" Target="../media/image72.png"/><Relationship Id="rId15" Type="http://schemas.openxmlformats.org/officeDocument/2006/relationships/image" Target="../media/image96.png"/><Relationship Id="rId10" Type="http://schemas.openxmlformats.org/officeDocument/2006/relationships/image" Target="../media/image91.png"/><Relationship Id="rId4" Type="http://schemas.openxmlformats.org/officeDocument/2006/relationships/image" Target="../media/image70.png"/><Relationship Id="rId9" Type="http://schemas.openxmlformats.org/officeDocument/2006/relationships/image" Target="../media/image76.png"/><Relationship Id="rId14" Type="http://schemas.openxmlformats.org/officeDocument/2006/relationships/image" Target="../media/image9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60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0.png"/><Relationship Id="rId9" Type="http://schemas.openxmlformats.org/officeDocument/2006/relationships/image" Target="../media/image76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60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0.png"/><Relationship Id="rId9" Type="http://schemas.openxmlformats.org/officeDocument/2006/relationships/image" Target="../media/image76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ackground Fill">
            <a:extLst>
              <a:ext uri="{FF2B5EF4-FFF2-40B4-BE49-F238E27FC236}">
                <a16:creationId xmlns:a16="http://schemas.microsoft.com/office/drawing/2014/main" id="{B6D694DB-A3FC-4F14-A225-17BEBA44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914C8D-3DB1-C1A7-6E7E-D775B424B8F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7422" r="-1" b="8287"/>
          <a:stretch>
            <a:fillRect/>
          </a:stretch>
        </p:blipFill>
        <p:spPr>
          <a:xfrm>
            <a:off x="3059" y="10"/>
            <a:ext cx="12188941" cy="685799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233B4D5-2565-4CC0-A9B1-C9EA9E9DE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D0FB50-B90C-9526-E834-006C790BE7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1122363"/>
            <a:ext cx="5638801" cy="186848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sz="51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Health Economics</a:t>
            </a:r>
            <a:br>
              <a:rPr lang="en-CA" sz="51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CA" sz="51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Lecture #4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F9C7FB-3F59-5796-DCA9-B54919671C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3623356"/>
            <a:ext cx="5638801" cy="1634443"/>
          </a:xfrm>
        </p:spPr>
        <p:txBody>
          <a:bodyPr>
            <a:normAutofit/>
          </a:bodyPr>
          <a:lstStyle/>
          <a:p>
            <a:r>
              <a:rPr lang="en-CA" b="1" dirty="0">
                <a:ln w="6350"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Topic: The Rational Addiction Model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D02D326-F829-4915-A540-3A4D5ADFC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528E080-CC35-4F6C-9D3C-949904DC4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07EDE8EE-97B2-4FFC-8019-3B0C8C737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3241" y="5934750"/>
            <a:ext cx="2857500" cy="86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FA484E-AC5D-C709-0DD9-E23DB796CAD2}"/>
              </a:ext>
            </a:extLst>
          </p:cNvPr>
          <p:cNvSpPr txBox="1"/>
          <p:nvPr/>
        </p:nvSpPr>
        <p:spPr>
          <a:xfrm>
            <a:off x="482600" y="6428403"/>
            <a:ext cx="4334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chemeClr val="bg1"/>
                </a:solidFill>
              </a:rPr>
              <a:t>Prepared by Jacob Smith, Trent University</a:t>
            </a:r>
          </a:p>
        </p:txBody>
      </p:sp>
    </p:spTree>
    <p:extLst>
      <p:ext uri="{BB962C8B-B14F-4D97-AF65-F5344CB8AC3E}">
        <p14:creationId xmlns:p14="http://schemas.microsoft.com/office/powerpoint/2010/main" val="3267180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A5715-D549-5DFA-82EB-2573E410C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473583"/>
            <a:ext cx="10280650" cy="840867"/>
          </a:xfrm>
        </p:spPr>
        <p:txBody>
          <a:bodyPr/>
          <a:lstStyle/>
          <a:p>
            <a:r>
              <a:rPr lang="en-CA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04CF6-59F3-1BC6-3F09-48554FD0B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327404"/>
            <a:ext cx="10506991" cy="4092321"/>
          </a:xfrm>
        </p:spPr>
        <p:txBody>
          <a:bodyPr>
            <a:normAutofit/>
          </a:bodyPr>
          <a:lstStyle/>
          <a:p>
            <a:r>
              <a:rPr lang="en-CA" dirty="0"/>
              <a:t>In this lecture we will discuss: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Some Empirical Puzzles on Income and Consumption of Addictive Goods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How Economists Think About Addiction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Rational Addiction Part I: Addictive Good Dynamics.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Rational Addiction Part II: Addiction Capital and Earnings 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A “Two Panel” Rational Addiction Model</a:t>
            </a:r>
          </a:p>
          <a:p>
            <a:endParaRPr lang="en-CA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42C93A9-61D0-70D3-75C4-A43F2AB757B8}"/>
              </a:ext>
            </a:extLst>
          </p:cNvPr>
          <p:cNvSpPr/>
          <p:nvPr/>
        </p:nvSpPr>
        <p:spPr>
          <a:xfrm>
            <a:off x="1748341" y="4929780"/>
            <a:ext cx="9014909" cy="114031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b="1" i="1" u="sng" dirty="0">
                <a:solidFill>
                  <a:schemeClr val="tx1"/>
                </a:solidFill>
              </a:rPr>
              <a:t>Goal of this Lecture: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b="1" i="1" dirty="0">
                <a:solidFill>
                  <a:schemeClr val="tx1"/>
                </a:solidFill>
              </a:rPr>
              <a:t>Introduce the basics of the rational addiction model.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b="1" i="1" dirty="0">
                <a:solidFill>
                  <a:schemeClr val="tx1"/>
                </a:solidFill>
              </a:rPr>
              <a:t>Show the differential effects addiction policy can have.</a:t>
            </a:r>
          </a:p>
        </p:txBody>
      </p:sp>
    </p:spTree>
    <p:extLst>
      <p:ext uri="{BB962C8B-B14F-4D97-AF65-F5344CB8AC3E}">
        <p14:creationId xmlns:p14="http://schemas.microsoft.com/office/powerpoint/2010/main" val="1175725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FAF8B-6A27-6A13-222B-395912987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FBCB6-3EE5-72F1-4D85-6E7A03FA0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Some Empirical Puzzles on Income and Consumption of Addictive Goods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CAAC9-4D48-ACC8-25A2-2BA21E25AD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28422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B3AB9-9FB9-8445-5223-913CE9666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796E42FC-9D76-F3EE-4C49-D9DBF9B31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5700" y="1361972"/>
            <a:ext cx="5849620" cy="230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7A83E13-0CC1-1772-6794-07DF13D68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080" y="3901165"/>
            <a:ext cx="5849620" cy="2232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BE227F-65E0-AEF5-62B6-8DD56D0F1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291" y="507770"/>
            <a:ext cx="10634472" cy="1117092"/>
          </a:xfrm>
        </p:spPr>
        <p:txBody>
          <a:bodyPr/>
          <a:lstStyle/>
          <a:p>
            <a:r>
              <a:rPr lang="en-CA" sz="4000" dirty="0"/>
              <a:t>Some Conflicting Descriptive Statistics on Smoking and  Incomes</a:t>
            </a:r>
          </a:p>
        </p:txBody>
      </p:sp>
    </p:spTree>
    <p:extLst>
      <p:ext uri="{BB962C8B-B14F-4D97-AF65-F5344CB8AC3E}">
        <p14:creationId xmlns:p14="http://schemas.microsoft.com/office/powerpoint/2010/main" val="2157492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9CBEC-E439-1FB7-FCD4-DC9D61C98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D658B029-CBF1-B7DE-1134-BACB8D3AA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5700" y="1361972"/>
            <a:ext cx="5849620" cy="230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5C94115-6ED6-E386-1F0A-DD9F4734F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080" y="3901165"/>
            <a:ext cx="5849620" cy="2232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3DC2C8-D207-2E6F-EEA1-C5321D832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291" y="507770"/>
            <a:ext cx="10634472" cy="1117092"/>
          </a:xfrm>
        </p:spPr>
        <p:txBody>
          <a:bodyPr/>
          <a:lstStyle/>
          <a:p>
            <a:r>
              <a:rPr lang="en-CA" sz="4000" dirty="0"/>
              <a:t>Some Conflicting Descriptive Statistics on Smoking and  Incomes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67EB7B9-6251-0838-9DA5-8BE0A611A9DD}"/>
              </a:ext>
            </a:extLst>
          </p:cNvPr>
          <p:cNvSpPr/>
          <p:nvPr/>
        </p:nvSpPr>
        <p:spPr>
          <a:xfrm>
            <a:off x="4724400" y="2066925"/>
            <a:ext cx="1371600" cy="609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27EFCD4-BDBF-4FEE-AA5B-EC1C39A6CB8D}"/>
              </a:ext>
            </a:extLst>
          </p:cNvPr>
          <p:cNvSpPr/>
          <p:nvPr/>
        </p:nvSpPr>
        <p:spPr>
          <a:xfrm rot="10800000">
            <a:off x="6724650" y="4886428"/>
            <a:ext cx="1371600" cy="609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99D50FB-0E9E-3EBD-D434-E5EA53B9E6F6}"/>
              </a:ext>
            </a:extLst>
          </p:cNvPr>
          <p:cNvCxnSpPr>
            <a:cxnSpLocks/>
          </p:cNvCxnSpPr>
          <p:nvPr/>
        </p:nvCxnSpPr>
        <p:spPr>
          <a:xfrm>
            <a:off x="723900" y="4762500"/>
            <a:ext cx="3924300" cy="93345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7779BF8-99D1-78E9-3B7C-37552998DC76}"/>
              </a:ext>
            </a:extLst>
          </p:cNvPr>
          <p:cNvSpPr txBox="1"/>
          <p:nvPr/>
        </p:nvSpPr>
        <p:spPr>
          <a:xfrm>
            <a:off x="2239489" y="2105025"/>
            <a:ext cx="24849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Wealthier Households </a:t>
            </a:r>
            <a:br>
              <a:rPr lang="en-CA" dirty="0"/>
            </a:br>
            <a:r>
              <a:rPr lang="en-CA" dirty="0"/>
              <a:t>Have More Smokers.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020B0E-1905-1531-9F9A-2F2CD1802873}"/>
              </a:ext>
            </a:extLst>
          </p:cNvPr>
          <p:cNvSpPr txBox="1"/>
          <p:nvPr/>
        </p:nvSpPr>
        <p:spPr>
          <a:xfrm>
            <a:off x="8585199" y="4868062"/>
            <a:ext cx="24836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Prevalence of Smoking</a:t>
            </a:r>
            <a:br>
              <a:rPr lang="en-CA" dirty="0"/>
            </a:br>
            <a:r>
              <a:rPr lang="en-CA" dirty="0"/>
              <a:t>Among Lower Income.</a:t>
            </a:r>
          </a:p>
        </p:txBody>
      </p:sp>
    </p:spTree>
    <p:extLst>
      <p:ext uri="{BB962C8B-B14F-4D97-AF65-F5344CB8AC3E}">
        <p14:creationId xmlns:p14="http://schemas.microsoft.com/office/powerpoint/2010/main" val="4037296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9F3F3-B4FA-D3CB-AB0B-95E1AE42C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C70D7-BCBA-B0E9-3DDE-3A1176DD5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324" y="712578"/>
            <a:ext cx="10908569" cy="669417"/>
          </a:xfrm>
        </p:spPr>
        <p:txBody>
          <a:bodyPr/>
          <a:lstStyle/>
          <a:p>
            <a:r>
              <a:rPr lang="en-CA" sz="4000" dirty="0"/>
              <a:t>Conflicting Results on Alcohol Consumption and Earnings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9FB51F-7AD2-D3C2-ECE5-AE533354E337}"/>
              </a:ext>
            </a:extLst>
          </p:cNvPr>
          <p:cNvSpPr/>
          <p:nvPr/>
        </p:nvSpPr>
        <p:spPr>
          <a:xfrm>
            <a:off x="11772454" y="1564216"/>
            <a:ext cx="419546" cy="4010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5C2E39-DD76-7E1D-1599-345D5ED60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778" y="1536567"/>
            <a:ext cx="5620197" cy="360257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9AF8344-9D5E-7DB1-0783-BFEAEE1CA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" y="1718861"/>
            <a:ext cx="5400675" cy="342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907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CEC7C-2765-74F7-1D1B-44E469924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D4C05-0AF3-36D0-F153-60A5D7C89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324" y="712578"/>
            <a:ext cx="10908569" cy="669417"/>
          </a:xfrm>
        </p:spPr>
        <p:txBody>
          <a:bodyPr/>
          <a:lstStyle/>
          <a:p>
            <a:r>
              <a:rPr lang="en-CA" sz="4000" dirty="0"/>
              <a:t>Conflicting Results on Alcohol Consumption and Earnings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A91AF7-B916-49A1-29F8-B48D27D4893B}"/>
              </a:ext>
            </a:extLst>
          </p:cNvPr>
          <p:cNvSpPr/>
          <p:nvPr/>
        </p:nvSpPr>
        <p:spPr>
          <a:xfrm>
            <a:off x="11772454" y="1564216"/>
            <a:ext cx="419546" cy="4010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703599-B7B2-E4F3-3C2C-7E5308F48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603" y="1536567"/>
            <a:ext cx="5620197" cy="360257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CC1DC0A-3346-2A21-E61B-B636CC906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" y="1718861"/>
            <a:ext cx="5400675" cy="3420277"/>
          </a:xfrm>
          <a:prstGeom prst="rect">
            <a:avLst/>
          </a:prstGeom>
        </p:spPr>
      </p:pic>
      <p:sp>
        <p:nvSpPr>
          <p:cNvPr id="23" name="Arrow: Bent 22">
            <a:extLst>
              <a:ext uri="{FF2B5EF4-FFF2-40B4-BE49-F238E27FC236}">
                <a16:creationId xmlns:a16="http://schemas.microsoft.com/office/drawing/2014/main" id="{55615A79-B0B4-C6A6-6BBC-BBA7108A3973}"/>
              </a:ext>
            </a:extLst>
          </p:cNvPr>
          <p:cNvSpPr/>
          <p:nvPr/>
        </p:nvSpPr>
        <p:spPr>
          <a:xfrm rot="11069127" flipH="1">
            <a:off x="6932041" y="3331947"/>
            <a:ext cx="4116058" cy="1118727"/>
          </a:xfrm>
          <a:prstGeom prst="bentArrow">
            <a:avLst>
              <a:gd name="adj1" fmla="val 6119"/>
              <a:gd name="adj2" fmla="val 8325"/>
              <a:gd name="adj3" fmla="val 16423"/>
              <a:gd name="adj4" fmla="val 70691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E1DB18-477C-81EE-77DD-58D97E520CFD}"/>
              </a:ext>
            </a:extLst>
          </p:cNvPr>
          <p:cNvSpPr txBox="1"/>
          <p:nvPr/>
        </p:nvSpPr>
        <p:spPr>
          <a:xfrm>
            <a:off x="51521" y="5204909"/>
            <a:ext cx="58128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Higher GDP per </a:t>
            </a:r>
            <a:r>
              <a:rPr lang="en-CA" dirty="0" err="1"/>
              <a:t>Captia</a:t>
            </a:r>
            <a:r>
              <a:rPr lang="en-CA" dirty="0"/>
              <a:t> countries consume more alcohol</a:t>
            </a:r>
            <a:br>
              <a:rPr lang="en-CA" dirty="0"/>
            </a:br>
            <a:r>
              <a:rPr lang="en-CA" dirty="0"/>
              <a:t>(Europe, North America, </a:t>
            </a:r>
            <a:r>
              <a:rPr lang="en-CA" dirty="0" err="1"/>
              <a:t>Ocania</a:t>
            </a:r>
            <a:r>
              <a:rPr lang="en-CA" dirty="0"/>
              <a:t> and South America)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E1431C-A56B-3B24-1F74-D8C94358D293}"/>
              </a:ext>
            </a:extLst>
          </p:cNvPr>
          <p:cNvSpPr txBox="1"/>
          <p:nvPr/>
        </p:nvSpPr>
        <p:spPr>
          <a:xfrm>
            <a:off x="6573859" y="5166787"/>
            <a:ext cx="56181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Higher GDP per capita countries consume less alcohol</a:t>
            </a:r>
            <a:br>
              <a:rPr lang="en-CA" dirty="0"/>
            </a:br>
            <a:r>
              <a:rPr lang="en-CA" dirty="0"/>
              <a:t>(Africa and Asia).</a:t>
            </a:r>
          </a:p>
        </p:txBody>
      </p:sp>
      <p:sp>
        <p:nvSpPr>
          <p:cNvPr id="26" name="Arrow: Bent 25">
            <a:extLst>
              <a:ext uri="{FF2B5EF4-FFF2-40B4-BE49-F238E27FC236}">
                <a16:creationId xmlns:a16="http://schemas.microsoft.com/office/drawing/2014/main" id="{D40178EF-82E7-6B59-B3B5-A0DC2C1C0EBB}"/>
              </a:ext>
            </a:extLst>
          </p:cNvPr>
          <p:cNvSpPr/>
          <p:nvPr/>
        </p:nvSpPr>
        <p:spPr>
          <a:xfrm rot="20913895">
            <a:off x="616053" y="3358650"/>
            <a:ext cx="3788604" cy="943846"/>
          </a:xfrm>
          <a:prstGeom prst="bentArrow">
            <a:avLst>
              <a:gd name="adj1" fmla="val 6142"/>
              <a:gd name="adj2" fmla="val 9142"/>
              <a:gd name="adj3" fmla="val 16423"/>
              <a:gd name="adj4" fmla="val 93918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5051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F5386-979E-0418-13E1-7A141C56A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3B899-B219-4ACE-A385-9FBA94E79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What these pictures are telling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3D188-5561-9604-65B1-1505BBE0F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10506991" cy="3936491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b="1" dirty="0"/>
              <a:t>BOTH OF THESE ARE SHOWING OPPOSITE RESULTS ON THE RELATIONSHIP BETWEEN INCOME AND ADDICTIVE GOOD CONSUMPTION!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We see that in the case of smokers:</a:t>
            </a:r>
            <a:br>
              <a:rPr lang="en-CA" dirty="0"/>
            </a:br>
            <a:r>
              <a:rPr lang="en-CA" dirty="0"/>
              <a:t>1) The Number of Current smokers are above median income.</a:t>
            </a:r>
            <a:br>
              <a:rPr lang="en-CA" dirty="0"/>
            </a:br>
            <a:r>
              <a:rPr lang="en-CA" dirty="0"/>
              <a:t>2) Smoking is most prevalent among poorest.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In the case of alcohol consumption:</a:t>
            </a:r>
            <a:br>
              <a:rPr lang="en-CA" dirty="0"/>
            </a:br>
            <a:r>
              <a:rPr lang="en-CA" dirty="0"/>
              <a:t>1) Higher GDP per capita in the west is associated with higher alcohol consumption and in turn higher wages.</a:t>
            </a:r>
            <a:br>
              <a:rPr lang="en-CA" dirty="0"/>
            </a:br>
            <a:br>
              <a:rPr lang="en-CA" dirty="0"/>
            </a:br>
            <a:r>
              <a:rPr lang="en-CA" dirty="0"/>
              <a:t>2) Higher GDP per capita in the Africa and Asia is associated with lower alcohol consumption and in turn lower wages.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We will use the </a:t>
            </a:r>
            <a:r>
              <a:rPr lang="en-CA" b="1" dirty="0"/>
              <a:t>Rational Addiction Model </a:t>
            </a:r>
            <a:r>
              <a:rPr lang="en-CA" dirty="0"/>
              <a:t>to solve this puzzle and evaluate the regulation of addictive goods.</a:t>
            </a:r>
          </a:p>
        </p:txBody>
      </p:sp>
    </p:spTree>
    <p:extLst>
      <p:ext uri="{BB962C8B-B14F-4D97-AF65-F5344CB8AC3E}">
        <p14:creationId xmlns:p14="http://schemas.microsoft.com/office/powerpoint/2010/main" val="2302538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98056-0EB6-1F9E-7D25-800D155C5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000" dirty="0"/>
              <a:t>How Economists Think About Addiction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3E2BB-99CF-7281-13AC-89D064C1BB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57542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46C9C-EF28-D974-587A-CA8B067A3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0076C-8E66-2462-64E9-B77FC627F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Who do we thank for the Rational Addiction Model?</a:t>
            </a:r>
          </a:p>
        </p:txBody>
      </p:sp>
      <p:pic>
        <p:nvPicPr>
          <p:cNvPr id="1028" name="Picture 4" descr="Kevin M Murphy | The University of Chicago Booth School of Business">
            <a:extLst>
              <a:ext uri="{FF2B5EF4-FFF2-40B4-BE49-F238E27FC236}">
                <a16:creationId xmlns:a16="http://schemas.microsoft.com/office/drawing/2014/main" id="{47A503C4-A9E3-F5DE-F63C-533EE23D2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3070" y="1971491"/>
            <a:ext cx="3100705" cy="3892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Nobel-winning U.S. economist Gary Becker dies at 83 - ANTARA News">
            <a:extLst>
              <a:ext uri="{FF2B5EF4-FFF2-40B4-BE49-F238E27FC236}">
                <a16:creationId xmlns:a16="http://schemas.microsoft.com/office/drawing/2014/main" id="{992BF53D-5C46-F599-C920-34CF00D029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5" name="AutoShape 8" descr="Nobel-winning U.S. economist Gary Becker dies at 83 - ANTARA News">
            <a:extLst>
              <a:ext uri="{FF2B5EF4-FFF2-40B4-BE49-F238E27FC236}">
                <a16:creationId xmlns:a16="http://schemas.microsoft.com/office/drawing/2014/main" id="{34EB2FDB-8CF8-F50D-462F-E749BA0897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6" name="AutoShape 10" descr="Nobel-winning U.S. economist Gary Becker dies at 83 - ANTARA News">
            <a:extLst>
              <a:ext uri="{FF2B5EF4-FFF2-40B4-BE49-F238E27FC236}">
                <a16:creationId xmlns:a16="http://schemas.microsoft.com/office/drawing/2014/main" id="{EDC5D696-CA44-DC92-4E44-8D997A2C66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pic>
        <p:nvPicPr>
          <p:cNvPr id="1036" name="Picture 12" descr="Gary Becker, 83, Nobel Laureate, Dies; Applied Economics to Everyday Life -  The New York Times">
            <a:extLst>
              <a:ext uri="{FF2B5EF4-FFF2-40B4-BE49-F238E27FC236}">
                <a16:creationId xmlns:a16="http://schemas.microsoft.com/office/drawing/2014/main" id="{55871581-E669-9284-499E-EC54D447F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126" y="2073021"/>
            <a:ext cx="5600700" cy="36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27A3D2-9491-989A-C263-E2FF0A7857D5}"/>
              </a:ext>
            </a:extLst>
          </p:cNvPr>
          <p:cNvSpPr txBox="1"/>
          <p:nvPr/>
        </p:nvSpPr>
        <p:spPr>
          <a:xfrm>
            <a:off x="1280160" y="5863590"/>
            <a:ext cx="367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Gary Becker, University of Chicago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630DA8-EFE8-C570-38DD-6080C58A831A}"/>
              </a:ext>
            </a:extLst>
          </p:cNvPr>
          <p:cNvSpPr txBox="1"/>
          <p:nvPr/>
        </p:nvSpPr>
        <p:spPr>
          <a:xfrm>
            <a:off x="8178770" y="5891260"/>
            <a:ext cx="3869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Kevin Murphy, University of Chicago</a:t>
            </a:r>
          </a:p>
        </p:txBody>
      </p:sp>
    </p:spTree>
    <p:extLst>
      <p:ext uri="{BB962C8B-B14F-4D97-AF65-F5344CB8AC3E}">
        <p14:creationId xmlns:p14="http://schemas.microsoft.com/office/powerpoint/2010/main" val="3805641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A8443-9709-260C-323D-400848F3E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1457E-B9ED-B439-6D72-D8C66016E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What is the Rational Addiction Model?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BA1F2-FAFC-6760-5A2C-177A978D5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714500"/>
            <a:ext cx="10506991" cy="393649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The Rational Addiction Model was Published by Gary Becker and Kevin Murphy in 1988.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It was a model that sought to explain the consumption patterns of addictive goods as a result of a rational choice.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Two main contributions it made were: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CA" dirty="0"/>
              <a:t>The development of a economic model where the </a:t>
            </a:r>
            <a:r>
              <a:rPr lang="en-CA" i="1" dirty="0"/>
              <a:t>current demand of a good </a:t>
            </a:r>
            <a:r>
              <a:rPr lang="en-CA" dirty="0"/>
              <a:t>is dependent on </a:t>
            </a:r>
            <a:r>
              <a:rPr lang="en-CA" i="1" dirty="0"/>
              <a:t>previous consumption</a:t>
            </a:r>
            <a:r>
              <a:rPr lang="en-CA" dirty="0"/>
              <a:t>.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CA" dirty="0"/>
              <a:t>show how addictive good consumption can have </a:t>
            </a:r>
            <a:r>
              <a:rPr lang="en-CA" b="1" dirty="0"/>
              <a:t>Multiple Equilibria. 			</a:t>
            </a:r>
            <a:endParaRPr lang="en-CA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3D353A3-C19A-A910-8EAE-E6134B99DEF3}"/>
              </a:ext>
            </a:extLst>
          </p:cNvPr>
          <p:cNvSpPr/>
          <p:nvPr/>
        </p:nvSpPr>
        <p:spPr>
          <a:xfrm>
            <a:off x="1657350" y="4946141"/>
            <a:ext cx="8734425" cy="62865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dirty="0"/>
              <a:t>Practically, this mean two groups demand for addictive goods can respond </a:t>
            </a:r>
            <a:r>
              <a:rPr lang="en-CA" b="1" dirty="0"/>
              <a:t>differently</a:t>
            </a:r>
            <a:r>
              <a:rPr lang="en-CA" dirty="0"/>
              <a:t> to changes in price and income.</a:t>
            </a:r>
          </a:p>
        </p:txBody>
      </p:sp>
    </p:spTree>
    <p:extLst>
      <p:ext uri="{BB962C8B-B14F-4D97-AF65-F5344CB8AC3E}">
        <p14:creationId xmlns:p14="http://schemas.microsoft.com/office/powerpoint/2010/main" val="4271186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B3AB9-9FB9-8445-5223-913CE9666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E227F-65E0-AEF5-62B6-8DD56D0F1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How Economists Think About Addiction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9EAC9-DEEC-065B-393F-46D8889C9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10506991" cy="393649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Recall, Economists think of individual outcomes as a result of individual decisions.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The analysis of addiction and the consumption of addictive goods are no different.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Addictive goods are goods who’s utility depends on past consumption. Formally this is called </a:t>
            </a:r>
            <a:r>
              <a:rPr lang="en-CA" b="1" dirty="0"/>
              <a:t>Addiction Capital</a:t>
            </a:r>
            <a:r>
              <a:rPr lang="en-CA" dirty="0"/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Economists think of addiction as a form of learning, where consumption of an addictive good now can increase consumer utility from it later.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80088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E2C5C-1A8C-2633-68FF-30773204A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Man with solid fill">
            <a:extLst>
              <a:ext uri="{FF2B5EF4-FFF2-40B4-BE49-F238E27FC236}">
                <a16:creationId xmlns:a16="http://schemas.microsoft.com/office/drawing/2014/main" id="{70611BD5-796B-0101-0F3A-19392C417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4025" y="3333750"/>
            <a:ext cx="1318260" cy="1318260"/>
          </a:xfrm>
          <a:prstGeom prst="rect">
            <a:avLst/>
          </a:prstGeom>
        </p:spPr>
      </p:pic>
      <p:pic>
        <p:nvPicPr>
          <p:cNvPr id="9" name="Graphic 8" descr="Whole pizza with solid fill">
            <a:extLst>
              <a:ext uri="{FF2B5EF4-FFF2-40B4-BE49-F238E27FC236}">
                <a16:creationId xmlns:a16="http://schemas.microsoft.com/office/drawing/2014/main" id="{ADAF1F5E-9410-59FC-7F7F-B17218A1FA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33345" y="4564380"/>
            <a:ext cx="914400" cy="9144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606573-DCF2-6462-C59C-C34347FC632B}"/>
              </a:ext>
            </a:extLst>
          </p:cNvPr>
          <p:cNvCxnSpPr>
            <a:cxnSpLocks/>
          </p:cNvCxnSpPr>
          <p:nvPr/>
        </p:nvCxnSpPr>
        <p:spPr>
          <a:xfrm flipV="1">
            <a:off x="1772285" y="3981450"/>
            <a:ext cx="914400" cy="1143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8A3D872-6B09-02B1-BD97-BB0B09569E35}"/>
              </a:ext>
            </a:extLst>
          </p:cNvPr>
          <p:cNvCxnSpPr>
            <a:cxnSpLocks/>
          </p:cNvCxnSpPr>
          <p:nvPr/>
        </p:nvCxnSpPr>
        <p:spPr>
          <a:xfrm>
            <a:off x="1772285" y="3992880"/>
            <a:ext cx="861060" cy="92583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phic 21" descr="Man with solid fill">
            <a:extLst>
              <a:ext uri="{FF2B5EF4-FFF2-40B4-BE49-F238E27FC236}">
                <a16:creationId xmlns:a16="http://schemas.microsoft.com/office/drawing/2014/main" id="{CD67FB67-CB98-3A2E-62DE-0975C8E48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0632" y="3434715"/>
            <a:ext cx="1318260" cy="1318260"/>
          </a:xfrm>
          <a:prstGeom prst="rect">
            <a:avLst/>
          </a:prstGeom>
        </p:spPr>
      </p:pic>
      <p:pic>
        <p:nvPicPr>
          <p:cNvPr id="24" name="Graphic 23" descr="Money with solid fill">
            <a:extLst>
              <a:ext uri="{FF2B5EF4-FFF2-40B4-BE49-F238E27FC236}">
                <a16:creationId xmlns:a16="http://schemas.microsoft.com/office/drawing/2014/main" id="{F986657B-1BA1-E271-62BD-83BBCAD21B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2877" y="2295525"/>
            <a:ext cx="914400" cy="914400"/>
          </a:xfrm>
          <a:prstGeom prst="rect">
            <a:avLst/>
          </a:prstGeom>
        </p:spPr>
      </p:pic>
      <p:pic>
        <p:nvPicPr>
          <p:cNvPr id="27" name="Graphic 26" descr="Thought outline">
            <a:extLst>
              <a:ext uri="{FF2B5EF4-FFF2-40B4-BE49-F238E27FC236}">
                <a16:creationId xmlns:a16="http://schemas.microsoft.com/office/drawing/2014/main" id="{CCD0832E-D27D-A072-63B0-0F9E5AAC2A2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45120" y="3033236"/>
            <a:ext cx="1224915" cy="1224915"/>
          </a:xfrm>
          <a:prstGeom prst="rect">
            <a:avLst/>
          </a:prstGeom>
        </p:spPr>
      </p:pic>
      <p:pic>
        <p:nvPicPr>
          <p:cNvPr id="39" name="Graphic 38" descr="Money with solid fill">
            <a:extLst>
              <a:ext uri="{FF2B5EF4-FFF2-40B4-BE49-F238E27FC236}">
                <a16:creationId xmlns:a16="http://schemas.microsoft.com/office/drawing/2014/main" id="{4B6D5BE2-A56C-5B07-98E7-61D28E7C95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82562" y="2483167"/>
            <a:ext cx="914400" cy="914400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9C295CE-8298-8263-C4EA-7123CC175809}"/>
              </a:ext>
            </a:extLst>
          </p:cNvPr>
          <p:cNvCxnSpPr>
            <a:cxnSpLocks/>
          </p:cNvCxnSpPr>
          <p:nvPr/>
        </p:nvCxnSpPr>
        <p:spPr>
          <a:xfrm>
            <a:off x="5171884" y="3993921"/>
            <a:ext cx="1661824" cy="2848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F44B74D-3DB9-0EF7-A0F5-69B0F5F43ED4}"/>
              </a:ext>
            </a:extLst>
          </p:cNvPr>
          <p:cNvCxnSpPr>
            <a:cxnSpLocks/>
          </p:cNvCxnSpPr>
          <p:nvPr/>
        </p:nvCxnSpPr>
        <p:spPr>
          <a:xfrm>
            <a:off x="3575998" y="4022408"/>
            <a:ext cx="659736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85BAB72-6B3B-46FB-3334-854E97CA1D39}"/>
              </a:ext>
            </a:extLst>
          </p:cNvPr>
          <p:cNvCxnSpPr>
            <a:cxnSpLocks/>
          </p:cNvCxnSpPr>
          <p:nvPr/>
        </p:nvCxnSpPr>
        <p:spPr>
          <a:xfrm>
            <a:off x="3579802" y="5166360"/>
            <a:ext cx="62390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BAB970DF-2B1E-297D-944E-DC275E7A307D}"/>
              </a:ext>
            </a:extLst>
          </p:cNvPr>
          <p:cNvSpPr txBox="1"/>
          <p:nvPr/>
        </p:nvSpPr>
        <p:spPr>
          <a:xfrm>
            <a:off x="9845675" y="3429387"/>
            <a:ext cx="17628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b="1" dirty="0"/>
              <a:t>…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1F24E5E-1180-5124-7109-741875AE28C8}"/>
              </a:ext>
            </a:extLst>
          </p:cNvPr>
          <p:cNvCxnSpPr>
            <a:cxnSpLocks/>
          </p:cNvCxnSpPr>
          <p:nvPr/>
        </p:nvCxnSpPr>
        <p:spPr>
          <a:xfrm flipV="1">
            <a:off x="1768314" y="2664381"/>
            <a:ext cx="702510" cy="131706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Graphic 68" descr="Piggy Bank outline">
            <a:extLst>
              <a:ext uri="{FF2B5EF4-FFF2-40B4-BE49-F238E27FC236}">
                <a16:creationId xmlns:a16="http://schemas.microsoft.com/office/drawing/2014/main" id="{CDD8627C-D323-2FC3-09A8-50F2F4C15F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90284" y="2025967"/>
            <a:ext cx="914400" cy="914400"/>
          </a:xfrm>
          <a:prstGeom prst="rect">
            <a:avLst/>
          </a:prstGeom>
        </p:spPr>
      </p:pic>
      <p:sp>
        <p:nvSpPr>
          <p:cNvPr id="87" name="Arrow: Bent 86">
            <a:extLst>
              <a:ext uri="{FF2B5EF4-FFF2-40B4-BE49-F238E27FC236}">
                <a16:creationId xmlns:a16="http://schemas.microsoft.com/office/drawing/2014/main" id="{40F06F8B-8C6B-D711-045B-AA613FA6CFDC}"/>
              </a:ext>
            </a:extLst>
          </p:cNvPr>
          <p:cNvSpPr/>
          <p:nvPr/>
        </p:nvSpPr>
        <p:spPr>
          <a:xfrm rot="1478500">
            <a:off x="3101520" y="1829444"/>
            <a:ext cx="3641408" cy="1230798"/>
          </a:xfrm>
          <a:prstGeom prst="bentArrow">
            <a:avLst>
              <a:gd name="adj1" fmla="val 6142"/>
              <a:gd name="adj2" fmla="val 9142"/>
              <a:gd name="adj3" fmla="val 16423"/>
              <a:gd name="adj4" fmla="val 93918"/>
            </a:avLst>
          </a:prstGeom>
          <a:solidFill>
            <a:srgbClr val="00B0F0"/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D78BFDA5-70A3-4368-9A0F-2E7AFFD250A4}"/>
              </a:ext>
            </a:extLst>
          </p:cNvPr>
          <p:cNvCxnSpPr>
            <a:cxnSpLocks/>
          </p:cNvCxnSpPr>
          <p:nvPr/>
        </p:nvCxnSpPr>
        <p:spPr>
          <a:xfrm>
            <a:off x="3204684" y="4156233"/>
            <a:ext cx="1870871" cy="69199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11E4A385-32B2-208A-7918-12A13DB0991B}"/>
              </a:ext>
            </a:extLst>
          </p:cNvPr>
          <p:cNvSpPr txBox="1"/>
          <p:nvPr/>
        </p:nvSpPr>
        <p:spPr>
          <a:xfrm>
            <a:off x="4341909" y="4982049"/>
            <a:ext cx="13740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i="1" dirty="0"/>
              <a:t>UTILITY IN</a:t>
            </a:r>
            <a:br>
              <a:rPr lang="en-CA" b="1" i="1" dirty="0"/>
            </a:br>
            <a:r>
              <a:rPr lang="en-CA" b="1" i="1" dirty="0"/>
              <a:t>PERIOD </a:t>
            </a:r>
          </a:p>
        </p:txBody>
      </p:sp>
      <p:pic>
        <p:nvPicPr>
          <p:cNvPr id="139" name="Graphic 138" descr="Whole pizza with solid fill">
            <a:extLst>
              <a:ext uri="{FF2B5EF4-FFF2-40B4-BE49-F238E27FC236}">
                <a16:creationId xmlns:a16="http://schemas.microsoft.com/office/drawing/2014/main" id="{FF6C895B-D1D9-3610-5F18-904467E50C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67913" y="4627719"/>
            <a:ext cx="914400" cy="914400"/>
          </a:xfrm>
          <a:prstGeom prst="rect">
            <a:avLst/>
          </a:prstGeom>
        </p:spPr>
      </p:pic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AF36ADC7-4938-C0AE-D0D5-73D62406EAF6}"/>
              </a:ext>
            </a:extLst>
          </p:cNvPr>
          <p:cNvCxnSpPr>
            <a:cxnSpLocks/>
          </p:cNvCxnSpPr>
          <p:nvPr/>
        </p:nvCxnSpPr>
        <p:spPr>
          <a:xfrm flipV="1">
            <a:off x="7606853" y="4044789"/>
            <a:ext cx="914400" cy="1143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2AC79FD8-AEC8-DAB4-8635-C74F87C38E70}"/>
              </a:ext>
            </a:extLst>
          </p:cNvPr>
          <p:cNvCxnSpPr>
            <a:cxnSpLocks/>
          </p:cNvCxnSpPr>
          <p:nvPr/>
        </p:nvCxnSpPr>
        <p:spPr>
          <a:xfrm>
            <a:off x="7606853" y="4056219"/>
            <a:ext cx="861060" cy="92583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3888B95F-76DE-8F8F-0C76-2D21712BFD2D}"/>
              </a:ext>
            </a:extLst>
          </p:cNvPr>
          <p:cNvCxnSpPr>
            <a:cxnSpLocks/>
          </p:cNvCxnSpPr>
          <p:nvPr/>
        </p:nvCxnSpPr>
        <p:spPr>
          <a:xfrm flipV="1">
            <a:off x="7602882" y="2727720"/>
            <a:ext cx="702510" cy="131706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3" name="Graphic 142" descr="Piggy Bank outline">
            <a:extLst>
              <a:ext uri="{FF2B5EF4-FFF2-40B4-BE49-F238E27FC236}">
                <a16:creationId xmlns:a16="http://schemas.microsoft.com/office/drawing/2014/main" id="{E438A20E-1BDC-BDC5-2ECC-053F8164B6B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24852" y="2089306"/>
            <a:ext cx="914400" cy="914400"/>
          </a:xfrm>
          <a:prstGeom prst="rect">
            <a:avLst/>
          </a:prstGeom>
        </p:spPr>
      </p:pic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948E938F-9774-E031-5564-D6813AE27D39}"/>
              </a:ext>
            </a:extLst>
          </p:cNvPr>
          <p:cNvCxnSpPr>
            <a:cxnSpLocks/>
          </p:cNvCxnSpPr>
          <p:nvPr/>
        </p:nvCxnSpPr>
        <p:spPr>
          <a:xfrm flipV="1">
            <a:off x="5066361" y="3057937"/>
            <a:ext cx="1514271" cy="72462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0" name="Graphic 149" descr="Beer with solid fill">
            <a:extLst>
              <a:ext uri="{FF2B5EF4-FFF2-40B4-BE49-F238E27FC236}">
                <a16:creationId xmlns:a16="http://schemas.microsoft.com/office/drawing/2014/main" id="{CA5239A3-1F33-3834-C08C-A1C93E9C185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10009" y="3437125"/>
            <a:ext cx="914400" cy="914400"/>
          </a:xfrm>
          <a:prstGeom prst="rect">
            <a:avLst/>
          </a:prstGeom>
        </p:spPr>
      </p:pic>
      <p:pic>
        <p:nvPicPr>
          <p:cNvPr id="153" name="Graphic 152" descr="Beer with solid fill">
            <a:extLst>
              <a:ext uri="{FF2B5EF4-FFF2-40B4-BE49-F238E27FC236}">
                <a16:creationId xmlns:a16="http://schemas.microsoft.com/office/drawing/2014/main" id="{B46F36A6-361F-4668-9F85-FD85A907D70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39473" y="3231384"/>
            <a:ext cx="914400" cy="914400"/>
          </a:xfrm>
          <a:prstGeom prst="rect">
            <a:avLst/>
          </a:prstGeom>
        </p:spPr>
      </p:pic>
      <p:pic>
        <p:nvPicPr>
          <p:cNvPr id="154" name="Graphic 153" descr="Beer with solid fill">
            <a:extLst>
              <a:ext uri="{FF2B5EF4-FFF2-40B4-BE49-F238E27FC236}">
                <a16:creationId xmlns:a16="http://schemas.microsoft.com/office/drawing/2014/main" id="{79AA74F8-884E-8294-FBBF-31AB80764D1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908533" y="3093289"/>
            <a:ext cx="513368" cy="513368"/>
          </a:xfrm>
          <a:prstGeom prst="rect">
            <a:avLst/>
          </a:prstGeom>
        </p:spPr>
      </p:pic>
      <p:sp>
        <p:nvSpPr>
          <p:cNvPr id="157" name="Title 1">
            <a:extLst>
              <a:ext uri="{FF2B5EF4-FFF2-40B4-BE49-F238E27FC236}">
                <a16:creationId xmlns:a16="http://schemas.microsoft.com/office/drawing/2014/main" id="{CE359C19-6763-9B1B-90C4-9D0DA8508E79}"/>
              </a:ext>
            </a:extLst>
          </p:cNvPr>
          <p:cNvSpPr txBox="1">
            <a:spLocks/>
          </p:cNvSpPr>
          <p:nvPr/>
        </p:nvSpPr>
        <p:spPr>
          <a:xfrm>
            <a:off x="454025" y="475456"/>
            <a:ext cx="10634472" cy="11170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4000" dirty="0"/>
              <a:t>Visualizing Consumer Choice in the Rational Addiction Model</a:t>
            </a:r>
          </a:p>
        </p:txBody>
      </p:sp>
    </p:spTree>
    <p:extLst>
      <p:ext uri="{BB962C8B-B14F-4D97-AF65-F5344CB8AC3E}">
        <p14:creationId xmlns:p14="http://schemas.microsoft.com/office/powerpoint/2010/main" val="1591681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51EA7-7D39-BD8E-29D5-49F77DD10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3E492-1EA3-D0A2-6C76-D18DC2485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767" y="447866"/>
            <a:ext cx="10634472" cy="1117092"/>
          </a:xfrm>
        </p:spPr>
        <p:txBody>
          <a:bodyPr/>
          <a:lstStyle/>
          <a:p>
            <a:r>
              <a:rPr lang="en-CA" sz="4000" dirty="0"/>
              <a:t>Visualizing Consumer Choice in the Rational Addiction Model</a:t>
            </a:r>
          </a:p>
        </p:txBody>
      </p:sp>
      <p:pic>
        <p:nvPicPr>
          <p:cNvPr id="7" name="Graphic 6" descr="Man with solid fill">
            <a:extLst>
              <a:ext uri="{FF2B5EF4-FFF2-40B4-BE49-F238E27FC236}">
                <a16:creationId xmlns:a16="http://schemas.microsoft.com/office/drawing/2014/main" id="{02773D94-3484-D56D-E2B1-9CAB168346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4025" y="3333750"/>
            <a:ext cx="1318260" cy="1318260"/>
          </a:xfrm>
          <a:prstGeom prst="rect">
            <a:avLst/>
          </a:prstGeom>
        </p:spPr>
      </p:pic>
      <p:pic>
        <p:nvPicPr>
          <p:cNvPr id="9" name="Graphic 8" descr="Whole pizza with solid fill">
            <a:extLst>
              <a:ext uri="{FF2B5EF4-FFF2-40B4-BE49-F238E27FC236}">
                <a16:creationId xmlns:a16="http://schemas.microsoft.com/office/drawing/2014/main" id="{8ED56ABC-E44D-50CA-3C16-0E7EFF2BF3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33345" y="4564380"/>
            <a:ext cx="914400" cy="9144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065793D-41EC-DAF8-A646-92B24F0021EF}"/>
              </a:ext>
            </a:extLst>
          </p:cNvPr>
          <p:cNvCxnSpPr>
            <a:cxnSpLocks/>
          </p:cNvCxnSpPr>
          <p:nvPr/>
        </p:nvCxnSpPr>
        <p:spPr>
          <a:xfrm flipV="1">
            <a:off x="1772285" y="3981450"/>
            <a:ext cx="914400" cy="1143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C83A21-7F8E-11B8-442E-D55C86AA06AB}"/>
              </a:ext>
            </a:extLst>
          </p:cNvPr>
          <p:cNvCxnSpPr>
            <a:cxnSpLocks/>
          </p:cNvCxnSpPr>
          <p:nvPr/>
        </p:nvCxnSpPr>
        <p:spPr>
          <a:xfrm>
            <a:off x="1772285" y="3992880"/>
            <a:ext cx="861060" cy="92583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phic 21" descr="Man with solid fill">
            <a:extLst>
              <a:ext uri="{FF2B5EF4-FFF2-40B4-BE49-F238E27FC236}">
                <a16:creationId xmlns:a16="http://schemas.microsoft.com/office/drawing/2014/main" id="{1884A87E-6C28-2483-0F59-433824C4CB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80632" y="3434715"/>
            <a:ext cx="1318260" cy="1318260"/>
          </a:xfrm>
          <a:prstGeom prst="rect">
            <a:avLst/>
          </a:prstGeom>
        </p:spPr>
      </p:pic>
      <p:pic>
        <p:nvPicPr>
          <p:cNvPr id="24" name="Graphic 23" descr="Money with solid fill">
            <a:extLst>
              <a:ext uri="{FF2B5EF4-FFF2-40B4-BE49-F238E27FC236}">
                <a16:creationId xmlns:a16="http://schemas.microsoft.com/office/drawing/2014/main" id="{4FD3A167-465E-2FB2-F43C-0969B426BC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2877" y="2295525"/>
            <a:ext cx="914400" cy="914400"/>
          </a:xfrm>
          <a:prstGeom prst="rect">
            <a:avLst/>
          </a:prstGeom>
        </p:spPr>
      </p:pic>
      <p:pic>
        <p:nvPicPr>
          <p:cNvPr id="27" name="Graphic 26" descr="Thought outline">
            <a:extLst>
              <a:ext uri="{FF2B5EF4-FFF2-40B4-BE49-F238E27FC236}">
                <a16:creationId xmlns:a16="http://schemas.microsoft.com/office/drawing/2014/main" id="{932FADAF-92E3-AFDB-8FA0-B385DC8E96B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45120" y="3033236"/>
            <a:ext cx="1224915" cy="1224915"/>
          </a:xfrm>
          <a:prstGeom prst="rect">
            <a:avLst/>
          </a:prstGeom>
        </p:spPr>
      </p:pic>
      <p:pic>
        <p:nvPicPr>
          <p:cNvPr id="39" name="Graphic 38" descr="Money with solid fill">
            <a:extLst>
              <a:ext uri="{FF2B5EF4-FFF2-40B4-BE49-F238E27FC236}">
                <a16:creationId xmlns:a16="http://schemas.microsoft.com/office/drawing/2014/main" id="{2A40CAA2-4EAC-9322-6B80-7993D07FBD1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82562" y="2483167"/>
            <a:ext cx="914400" cy="914400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30AE080-7E18-3868-7F57-3120BCF89088}"/>
              </a:ext>
            </a:extLst>
          </p:cNvPr>
          <p:cNvCxnSpPr>
            <a:cxnSpLocks/>
          </p:cNvCxnSpPr>
          <p:nvPr/>
        </p:nvCxnSpPr>
        <p:spPr>
          <a:xfrm>
            <a:off x="5171884" y="3993921"/>
            <a:ext cx="1661824" cy="2848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0E7DA11-4085-0892-FE02-BE47186050D0}"/>
              </a:ext>
            </a:extLst>
          </p:cNvPr>
          <p:cNvCxnSpPr>
            <a:cxnSpLocks/>
          </p:cNvCxnSpPr>
          <p:nvPr/>
        </p:nvCxnSpPr>
        <p:spPr>
          <a:xfrm>
            <a:off x="3575998" y="4022408"/>
            <a:ext cx="659736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E49779D-C811-DAB6-0A6F-12D5D8AA4D02}"/>
              </a:ext>
            </a:extLst>
          </p:cNvPr>
          <p:cNvCxnSpPr>
            <a:cxnSpLocks/>
          </p:cNvCxnSpPr>
          <p:nvPr/>
        </p:nvCxnSpPr>
        <p:spPr>
          <a:xfrm>
            <a:off x="3579802" y="5166360"/>
            <a:ext cx="62390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B04C907F-E87B-CA05-E6AD-87CD38280E5A}"/>
              </a:ext>
            </a:extLst>
          </p:cNvPr>
          <p:cNvSpPr txBox="1"/>
          <p:nvPr/>
        </p:nvSpPr>
        <p:spPr>
          <a:xfrm>
            <a:off x="9845675" y="3429387"/>
            <a:ext cx="17628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b="1" dirty="0"/>
              <a:t>…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CF97E72-C452-6C72-9836-4BA113561F03}"/>
              </a:ext>
            </a:extLst>
          </p:cNvPr>
          <p:cNvCxnSpPr>
            <a:cxnSpLocks/>
          </p:cNvCxnSpPr>
          <p:nvPr/>
        </p:nvCxnSpPr>
        <p:spPr>
          <a:xfrm flipV="1">
            <a:off x="1768314" y="2664381"/>
            <a:ext cx="702510" cy="1317069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Graphic 68" descr="Piggy Bank outline">
            <a:extLst>
              <a:ext uri="{FF2B5EF4-FFF2-40B4-BE49-F238E27FC236}">
                <a16:creationId xmlns:a16="http://schemas.microsoft.com/office/drawing/2014/main" id="{7AF8D658-DB2A-FE21-FEC9-B6A1199BA98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290284" y="2025967"/>
            <a:ext cx="914400" cy="914400"/>
          </a:xfrm>
          <a:prstGeom prst="rect">
            <a:avLst/>
          </a:prstGeom>
        </p:spPr>
      </p:pic>
      <p:sp>
        <p:nvSpPr>
          <p:cNvPr id="87" name="Arrow: Bent 86">
            <a:extLst>
              <a:ext uri="{FF2B5EF4-FFF2-40B4-BE49-F238E27FC236}">
                <a16:creationId xmlns:a16="http://schemas.microsoft.com/office/drawing/2014/main" id="{2AB8C57B-BB77-38A6-FEB4-E202176611ED}"/>
              </a:ext>
            </a:extLst>
          </p:cNvPr>
          <p:cNvSpPr/>
          <p:nvPr/>
        </p:nvSpPr>
        <p:spPr>
          <a:xfrm rot="1478500">
            <a:off x="3101520" y="1829444"/>
            <a:ext cx="3641408" cy="1230798"/>
          </a:xfrm>
          <a:prstGeom prst="bentArrow">
            <a:avLst>
              <a:gd name="adj1" fmla="val 6142"/>
              <a:gd name="adj2" fmla="val 9142"/>
              <a:gd name="adj3" fmla="val 16423"/>
              <a:gd name="adj4" fmla="val 93918"/>
            </a:avLst>
          </a:prstGeom>
          <a:solidFill>
            <a:srgbClr val="00B0F0"/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C6F39F4E-0E02-C5D3-84CE-6E5159A417B8}"/>
              </a:ext>
            </a:extLst>
          </p:cNvPr>
          <p:cNvCxnSpPr>
            <a:cxnSpLocks/>
          </p:cNvCxnSpPr>
          <p:nvPr/>
        </p:nvCxnSpPr>
        <p:spPr>
          <a:xfrm>
            <a:off x="3204684" y="4156233"/>
            <a:ext cx="1870871" cy="69199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7216849C-785F-600C-4626-6DC7532DB9D6}"/>
              </a:ext>
            </a:extLst>
          </p:cNvPr>
          <p:cNvSpPr txBox="1"/>
          <p:nvPr/>
        </p:nvSpPr>
        <p:spPr>
          <a:xfrm>
            <a:off x="4341909" y="4982049"/>
            <a:ext cx="13740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i="1" dirty="0"/>
              <a:t>UTILITY IN</a:t>
            </a:r>
            <a:br>
              <a:rPr lang="en-CA" b="1" i="1" dirty="0"/>
            </a:br>
            <a:r>
              <a:rPr lang="en-CA" b="1" i="1" dirty="0"/>
              <a:t>PERIOD </a:t>
            </a:r>
          </a:p>
        </p:txBody>
      </p:sp>
      <p:pic>
        <p:nvPicPr>
          <p:cNvPr id="139" name="Graphic 138" descr="Whole pizza with solid fill">
            <a:extLst>
              <a:ext uri="{FF2B5EF4-FFF2-40B4-BE49-F238E27FC236}">
                <a16:creationId xmlns:a16="http://schemas.microsoft.com/office/drawing/2014/main" id="{E8E13319-E79F-A69A-92CE-2C1F8966C46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467913" y="4627719"/>
            <a:ext cx="914400" cy="914400"/>
          </a:xfrm>
          <a:prstGeom prst="rect">
            <a:avLst/>
          </a:prstGeom>
        </p:spPr>
      </p:pic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BDAD3720-9BD7-FDBB-83DF-4CA54B526B06}"/>
              </a:ext>
            </a:extLst>
          </p:cNvPr>
          <p:cNvCxnSpPr>
            <a:cxnSpLocks/>
          </p:cNvCxnSpPr>
          <p:nvPr/>
        </p:nvCxnSpPr>
        <p:spPr>
          <a:xfrm flipV="1">
            <a:off x="7606853" y="4044789"/>
            <a:ext cx="914400" cy="1143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387F40E1-20F6-6053-DF13-4DEA2C66A5C8}"/>
              </a:ext>
            </a:extLst>
          </p:cNvPr>
          <p:cNvCxnSpPr>
            <a:cxnSpLocks/>
          </p:cNvCxnSpPr>
          <p:nvPr/>
        </p:nvCxnSpPr>
        <p:spPr>
          <a:xfrm>
            <a:off x="7606853" y="4056219"/>
            <a:ext cx="861060" cy="92583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9840FE8C-4362-429B-6283-102821065D3C}"/>
              </a:ext>
            </a:extLst>
          </p:cNvPr>
          <p:cNvCxnSpPr>
            <a:cxnSpLocks/>
          </p:cNvCxnSpPr>
          <p:nvPr/>
        </p:nvCxnSpPr>
        <p:spPr>
          <a:xfrm flipV="1">
            <a:off x="7602882" y="2727720"/>
            <a:ext cx="702510" cy="131706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3" name="Graphic 142" descr="Piggy Bank outline">
            <a:extLst>
              <a:ext uri="{FF2B5EF4-FFF2-40B4-BE49-F238E27FC236}">
                <a16:creationId xmlns:a16="http://schemas.microsoft.com/office/drawing/2014/main" id="{C4F92FB8-AC00-4AC0-3D8E-7DE7E609D05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124852" y="2089306"/>
            <a:ext cx="914400" cy="914400"/>
          </a:xfrm>
          <a:prstGeom prst="rect">
            <a:avLst/>
          </a:prstGeom>
        </p:spPr>
      </p:pic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9F35752C-E7D2-B3AC-03A8-47588846FDBE}"/>
              </a:ext>
            </a:extLst>
          </p:cNvPr>
          <p:cNvCxnSpPr>
            <a:cxnSpLocks/>
          </p:cNvCxnSpPr>
          <p:nvPr/>
        </p:nvCxnSpPr>
        <p:spPr>
          <a:xfrm flipV="1">
            <a:off x="5066361" y="3057937"/>
            <a:ext cx="1514271" cy="72462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0" name="Graphic 149" descr="Beer with solid fill">
            <a:extLst>
              <a:ext uri="{FF2B5EF4-FFF2-40B4-BE49-F238E27FC236}">
                <a16:creationId xmlns:a16="http://schemas.microsoft.com/office/drawing/2014/main" id="{1CEC7F48-0224-1D44-911A-AB01BF642F5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510009" y="3437125"/>
            <a:ext cx="914400" cy="914400"/>
          </a:xfrm>
          <a:prstGeom prst="rect">
            <a:avLst/>
          </a:prstGeom>
        </p:spPr>
      </p:pic>
      <p:pic>
        <p:nvPicPr>
          <p:cNvPr id="153" name="Graphic 152" descr="Beer with solid fill">
            <a:extLst>
              <a:ext uri="{FF2B5EF4-FFF2-40B4-BE49-F238E27FC236}">
                <a16:creationId xmlns:a16="http://schemas.microsoft.com/office/drawing/2014/main" id="{985C933E-BA74-5D95-BF59-D668B79F01A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639473" y="3231384"/>
            <a:ext cx="9144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7ED5DB-3985-38F0-287F-6202EE20DBF6}"/>
              </a:ext>
            </a:extLst>
          </p:cNvPr>
          <p:cNvSpPr txBox="1"/>
          <p:nvPr/>
        </p:nvSpPr>
        <p:spPr>
          <a:xfrm>
            <a:off x="190712" y="5534831"/>
            <a:ext cx="3155204" cy="1200329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Consumers make decisions</a:t>
            </a:r>
            <a:br>
              <a:rPr lang="en-CA" dirty="0"/>
            </a:br>
            <a:r>
              <a:rPr lang="en-CA" dirty="0"/>
              <a:t>between </a:t>
            </a:r>
            <a:r>
              <a:rPr lang="en-CA" b="1" dirty="0"/>
              <a:t>non-addictive goods, addictive goods </a:t>
            </a:r>
            <a:r>
              <a:rPr lang="en-CA" dirty="0"/>
              <a:t>and </a:t>
            </a:r>
            <a:r>
              <a:rPr lang="en-CA" b="1" dirty="0"/>
              <a:t>saving</a:t>
            </a:r>
          </a:p>
        </p:txBody>
      </p:sp>
      <p:pic>
        <p:nvPicPr>
          <p:cNvPr id="4" name="Graphic 3" descr="Beer with solid fill">
            <a:extLst>
              <a:ext uri="{FF2B5EF4-FFF2-40B4-BE49-F238E27FC236}">
                <a16:creationId xmlns:a16="http://schemas.microsoft.com/office/drawing/2014/main" id="{DE41AD3B-D615-57CA-761D-831F5C230FB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908533" y="3093289"/>
            <a:ext cx="513368" cy="51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239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90B1A-B9C1-325C-D63A-2A6D580BE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Man with solid fill">
            <a:extLst>
              <a:ext uri="{FF2B5EF4-FFF2-40B4-BE49-F238E27FC236}">
                <a16:creationId xmlns:a16="http://schemas.microsoft.com/office/drawing/2014/main" id="{8B2E7833-3DEA-D76A-0574-DE97B018E1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4025" y="3333750"/>
            <a:ext cx="1318260" cy="1318260"/>
          </a:xfrm>
          <a:prstGeom prst="rect">
            <a:avLst/>
          </a:prstGeom>
        </p:spPr>
      </p:pic>
      <p:pic>
        <p:nvPicPr>
          <p:cNvPr id="9" name="Graphic 8" descr="Whole pizza with solid fill">
            <a:extLst>
              <a:ext uri="{FF2B5EF4-FFF2-40B4-BE49-F238E27FC236}">
                <a16:creationId xmlns:a16="http://schemas.microsoft.com/office/drawing/2014/main" id="{11A0F56B-8B20-0686-6475-893DEFA6C6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33345" y="4564380"/>
            <a:ext cx="914400" cy="9144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7C0B7B6-AEA7-71E9-D897-10E90C9775B2}"/>
              </a:ext>
            </a:extLst>
          </p:cNvPr>
          <p:cNvCxnSpPr>
            <a:cxnSpLocks/>
          </p:cNvCxnSpPr>
          <p:nvPr/>
        </p:nvCxnSpPr>
        <p:spPr>
          <a:xfrm flipV="1">
            <a:off x="1772285" y="3981450"/>
            <a:ext cx="914400" cy="1143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434578F-83A5-4A3C-7E3B-DA8D85DB3F32}"/>
              </a:ext>
            </a:extLst>
          </p:cNvPr>
          <p:cNvCxnSpPr>
            <a:cxnSpLocks/>
          </p:cNvCxnSpPr>
          <p:nvPr/>
        </p:nvCxnSpPr>
        <p:spPr>
          <a:xfrm>
            <a:off x="1772285" y="3992880"/>
            <a:ext cx="861060" cy="92583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phic 21" descr="Man with solid fill">
            <a:extLst>
              <a:ext uri="{FF2B5EF4-FFF2-40B4-BE49-F238E27FC236}">
                <a16:creationId xmlns:a16="http://schemas.microsoft.com/office/drawing/2014/main" id="{71E86E71-EC9D-1010-4B31-75E7D3FB1E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80632" y="3434715"/>
            <a:ext cx="1318260" cy="1318260"/>
          </a:xfrm>
          <a:prstGeom prst="rect">
            <a:avLst/>
          </a:prstGeom>
        </p:spPr>
      </p:pic>
      <p:pic>
        <p:nvPicPr>
          <p:cNvPr id="24" name="Graphic 23" descr="Money with solid fill">
            <a:extLst>
              <a:ext uri="{FF2B5EF4-FFF2-40B4-BE49-F238E27FC236}">
                <a16:creationId xmlns:a16="http://schemas.microsoft.com/office/drawing/2014/main" id="{008460EC-85AB-44E7-BE7C-FB6CA3CFCA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2877" y="2295525"/>
            <a:ext cx="914400" cy="914400"/>
          </a:xfrm>
          <a:prstGeom prst="rect">
            <a:avLst/>
          </a:prstGeom>
        </p:spPr>
      </p:pic>
      <p:pic>
        <p:nvPicPr>
          <p:cNvPr id="27" name="Graphic 26" descr="Thought outline">
            <a:extLst>
              <a:ext uri="{FF2B5EF4-FFF2-40B4-BE49-F238E27FC236}">
                <a16:creationId xmlns:a16="http://schemas.microsoft.com/office/drawing/2014/main" id="{3A1B177A-B7A3-F4F9-7E51-7AF1854BDCA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45120" y="3033236"/>
            <a:ext cx="1224915" cy="1224915"/>
          </a:xfrm>
          <a:prstGeom prst="rect">
            <a:avLst/>
          </a:prstGeom>
        </p:spPr>
      </p:pic>
      <p:pic>
        <p:nvPicPr>
          <p:cNvPr id="39" name="Graphic 38" descr="Money with solid fill">
            <a:extLst>
              <a:ext uri="{FF2B5EF4-FFF2-40B4-BE49-F238E27FC236}">
                <a16:creationId xmlns:a16="http://schemas.microsoft.com/office/drawing/2014/main" id="{E832FC72-C775-171F-3F9D-77E9EB9928D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82562" y="2483167"/>
            <a:ext cx="914400" cy="914400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9696219-56E1-521C-D151-B1E573A4509C}"/>
              </a:ext>
            </a:extLst>
          </p:cNvPr>
          <p:cNvCxnSpPr>
            <a:cxnSpLocks/>
          </p:cNvCxnSpPr>
          <p:nvPr/>
        </p:nvCxnSpPr>
        <p:spPr>
          <a:xfrm>
            <a:off x="5171884" y="3993921"/>
            <a:ext cx="1661824" cy="2848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D939FA3-0E84-70AD-6FD9-DD0A9BADE9F6}"/>
              </a:ext>
            </a:extLst>
          </p:cNvPr>
          <p:cNvCxnSpPr>
            <a:cxnSpLocks/>
          </p:cNvCxnSpPr>
          <p:nvPr/>
        </p:nvCxnSpPr>
        <p:spPr>
          <a:xfrm>
            <a:off x="3575998" y="4022408"/>
            <a:ext cx="659736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AC7396D-FC1D-CD55-CBF1-13200BD36AF5}"/>
              </a:ext>
            </a:extLst>
          </p:cNvPr>
          <p:cNvCxnSpPr>
            <a:cxnSpLocks/>
          </p:cNvCxnSpPr>
          <p:nvPr/>
        </p:nvCxnSpPr>
        <p:spPr>
          <a:xfrm>
            <a:off x="3579802" y="5166360"/>
            <a:ext cx="623904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D9C3F90C-0B17-0C81-4708-F49D1D522451}"/>
              </a:ext>
            </a:extLst>
          </p:cNvPr>
          <p:cNvSpPr txBox="1"/>
          <p:nvPr/>
        </p:nvSpPr>
        <p:spPr>
          <a:xfrm>
            <a:off x="9845675" y="3429387"/>
            <a:ext cx="17628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b="1" dirty="0"/>
              <a:t>…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B28AEB6-8005-7978-B077-8B817E90D3FA}"/>
              </a:ext>
            </a:extLst>
          </p:cNvPr>
          <p:cNvCxnSpPr>
            <a:cxnSpLocks/>
          </p:cNvCxnSpPr>
          <p:nvPr/>
        </p:nvCxnSpPr>
        <p:spPr>
          <a:xfrm flipV="1">
            <a:off x="1768314" y="2664381"/>
            <a:ext cx="702510" cy="1317069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Graphic 68" descr="Piggy Bank outline">
            <a:extLst>
              <a:ext uri="{FF2B5EF4-FFF2-40B4-BE49-F238E27FC236}">
                <a16:creationId xmlns:a16="http://schemas.microsoft.com/office/drawing/2014/main" id="{7AA50FE8-C8C0-2625-0272-CE7B4511D19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290284" y="2025967"/>
            <a:ext cx="914400" cy="914400"/>
          </a:xfrm>
          <a:prstGeom prst="rect">
            <a:avLst/>
          </a:prstGeom>
        </p:spPr>
      </p:pic>
      <p:sp>
        <p:nvSpPr>
          <p:cNvPr id="87" name="Arrow: Bent 86">
            <a:extLst>
              <a:ext uri="{FF2B5EF4-FFF2-40B4-BE49-F238E27FC236}">
                <a16:creationId xmlns:a16="http://schemas.microsoft.com/office/drawing/2014/main" id="{53093200-4BDE-9415-6238-22C2D45E027A}"/>
              </a:ext>
            </a:extLst>
          </p:cNvPr>
          <p:cNvSpPr/>
          <p:nvPr/>
        </p:nvSpPr>
        <p:spPr>
          <a:xfrm rot="1478500">
            <a:off x="3101520" y="1829444"/>
            <a:ext cx="3641408" cy="1230798"/>
          </a:xfrm>
          <a:prstGeom prst="bentArrow">
            <a:avLst>
              <a:gd name="adj1" fmla="val 6142"/>
              <a:gd name="adj2" fmla="val 9142"/>
              <a:gd name="adj3" fmla="val 16423"/>
              <a:gd name="adj4" fmla="val 93918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2DE8A0E3-AB39-5466-DFB5-273F6A667D3E}"/>
              </a:ext>
            </a:extLst>
          </p:cNvPr>
          <p:cNvCxnSpPr>
            <a:cxnSpLocks/>
          </p:cNvCxnSpPr>
          <p:nvPr/>
        </p:nvCxnSpPr>
        <p:spPr>
          <a:xfrm>
            <a:off x="3204684" y="4156233"/>
            <a:ext cx="1870871" cy="691992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8D808231-DE0B-F016-C475-02EEAC95E51C}"/>
              </a:ext>
            </a:extLst>
          </p:cNvPr>
          <p:cNvSpPr txBox="1"/>
          <p:nvPr/>
        </p:nvSpPr>
        <p:spPr>
          <a:xfrm>
            <a:off x="4341909" y="4982049"/>
            <a:ext cx="13740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i="1" dirty="0">
                <a:solidFill>
                  <a:srgbClr val="C00000"/>
                </a:solidFill>
              </a:rPr>
              <a:t>UTILITY IN</a:t>
            </a:r>
            <a:br>
              <a:rPr lang="en-CA" b="1" i="1" dirty="0">
                <a:solidFill>
                  <a:srgbClr val="C00000"/>
                </a:solidFill>
              </a:rPr>
            </a:br>
            <a:r>
              <a:rPr lang="en-CA" b="1" i="1" dirty="0">
                <a:solidFill>
                  <a:srgbClr val="C00000"/>
                </a:solidFill>
              </a:rPr>
              <a:t>PERIOD </a:t>
            </a:r>
          </a:p>
        </p:txBody>
      </p:sp>
      <p:pic>
        <p:nvPicPr>
          <p:cNvPr id="139" name="Graphic 138" descr="Whole pizza with solid fill">
            <a:extLst>
              <a:ext uri="{FF2B5EF4-FFF2-40B4-BE49-F238E27FC236}">
                <a16:creationId xmlns:a16="http://schemas.microsoft.com/office/drawing/2014/main" id="{2366ACA5-FCA0-7E1B-1AA2-1417A5563AC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467913" y="4627719"/>
            <a:ext cx="914400" cy="914400"/>
          </a:xfrm>
          <a:prstGeom prst="rect">
            <a:avLst/>
          </a:prstGeom>
        </p:spPr>
      </p:pic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B2497BA4-186B-F10A-B004-18211D8C0F23}"/>
              </a:ext>
            </a:extLst>
          </p:cNvPr>
          <p:cNvCxnSpPr>
            <a:cxnSpLocks/>
          </p:cNvCxnSpPr>
          <p:nvPr/>
        </p:nvCxnSpPr>
        <p:spPr>
          <a:xfrm flipV="1">
            <a:off x="7606853" y="4044789"/>
            <a:ext cx="914400" cy="1143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C2789711-511C-DD13-82DC-5ABBF3D51B00}"/>
              </a:ext>
            </a:extLst>
          </p:cNvPr>
          <p:cNvCxnSpPr>
            <a:cxnSpLocks/>
          </p:cNvCxnSpPr>
          <p:nvPr/>
        </p:nvCxnSpPr>
        <p:spPr>
          <a:xfrm>
            <a:off x="7606853" y="4056219"/>
            <a:ext cx="861060" cy="92583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F78F06A6-BD98-F566-F035-963C2969DE12}"/>
              </a:ext>
            </a:extLst>
          </p:cNvPr>
          <p:cNvCxnSpPr>
            <a:cxnSpLocks/>
          </p:cNvCxnSpPr>
          <p:nvPr/>
        </p:nvCxnSpPr>
        <p:spPr>
          <a:xfrm flipV="1">
            <a:off x="7602882" y="2727720"/>
            <a:ext cx="702510" cy="131706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3" name="Graphic 142" descr="Piggy Bank outline">
            <a:extLst>
              <a:ext uri="{FF2B5EF4-FFF2-40B4-BE49-F238E27FC236}">
                <a16:creationId xmlns:a16="http://schemas.microsoft.com/office/drawing/2014/main" id="{8E8E3BDB-EB1A-2797-42AE-2500DC0DBD5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124852" y="2089306"/>
            <a:ext cx="914400" cy="914400"/>
          </a:xfrm>
          <a:prstGeom prst="rect">
            <a:avLst/>
          </a:prstGeom>
        </p:spPr>
      </p:pic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A6CEBF7C-E76A-0268-80FA-08369BF420E3}"/>
              </a:ext>
            </a:extLst>
          </p:cNvPr>
          <p:cNvCxnSpPr>
            <a:cxnSpLocks/>
          </p:cNvCxnSpPr>
          <p:nvPr/>
        </p:nvCxnSpPr>
        <p:spPr>
          <a:xfrm flipV="1">
            <a:off x="5066361" y="3057937"/>
            <a:ext cx="1514271" cy="72462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0" name="Graphic 149" descr="Beer with solid fill">
            <a:extLst>
              <a:ext uri="{FF2B5EF4-FFF2-40B4-BE49-F238E27FC236}">
                <a16:creationId xmlns:a16="http://schemas.microsoft.com/office/drawing/2014/main" id="{49352D31-92E9-CD11-6A2B-79F806DCCC4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510009" y="3437125"/>
            <a:ext cx="914400" cy="914400"/>
          </a:xfrm>
          <a:prstGeom prst="rect">
            <a:avLst/>
          </a:prstGeom>
        </p:spPr>
      </p:pic>
      <p:pic>
        <p:nvPicPr>
          <p:cNvPr id="153" name="Graphic 152" descr="Beer with solid fill">
            <a:extLst>
              <a:ext uri="{FF2B5EF4-FFF2-40B4-BE49-F238E27FC236}">
                <a16:creationId xmlns:a16="http://schemas.microsoft.com/office/drawing/2014/main" id="{646B964D-11A6-F6DC-F247-C0192246ABA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639473" y="3231384"/>
            <a:ext cx="9144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AB600A-77C9-AE92-F81D-290E810BA074}"/>
              </a:ext>
            </a:extLst>
          </p:cNvPr>
          <p:cNvSpPr txBox="1"/>
          <p:nvPr/>
        </p:nvSpPr>
        <p:spPr>
          <a:xfrm>
            <a:off x="3908533" y="5628380"/>
            <a:ext cx="3155204" cy="92333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These choices give a </a:t>
            </a:r>
            <a:r>
              <a:rPr lang="en-CA" b="1" dirty="0"/>
              <a:t>utility</a:t>
            </a:r>
            <a:r>
              <a:rPr lang="en-CA" dirty="0"/>
              <a:t> to consumers each period in addition to </a:t>
            </a:r>
            <a:r>
              <a:rPr lang="en-CA" b="1" dirty="0"/>
              <a:t>addiction capital. </a:t>
            </a:r>
          </a:p>
        </p:txBody>
      </p:sp>
      <p:pic>
        <p:nvPicPr>
          <p:cNvPr id="4" name="Graphic 3" descr="Beer with solid fill">
            <a:extLst>
              <a:ext uri="{FF2B5EF4-FFF2-40B4-BE49-F238E27FC236}">
                <a16:creationId xmlns:a16="http://schemas.microsoft.com/office/drawing/2014/main" id="{9B31AE44-E4B3-810C-02EC-C6D5514CA73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908533" y="3093289"/>
            <a:ext cx="513368" cy="5133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50EBAB2-9768-5105-C34D-199C432F3C41}"/>
              </a:ext>
            </a:extLst>
          </p:cNvPr>
          <p:cNvSpPr txBox="1">
            <a:spLocks/>
          </p:cNvSpPr>
          <p:nvPr/>
        </p:nvSpPr>
        <p:spPr>
          <a:xfrm>
            <a:off x="454025" y="475456"/>
            <a:ext cx="10634472" cy="11170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4000"/>
              <a:t>Visualizing Consumer Choice in the Rational Addiction Model</a:t>
            </a:r>
            <a:endParaRPr lang="en-CA" sz="4000" dirty="0"/>
          </a:p>
        </p:txBody>
      </p:sp>
    </p:spTree>
    <p:extLst>
      <p:ext uri="{BB962C8B-B14F-4D97-AF65-F5344CB8AC3E}">
        <p14:creationId xmlns:p14="http://schemas.microsoft.com/office/powerpoint/2010/main" val="1932243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55229-9167-0D6F-770A-219595E17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Man with solid fill">
            <a:extLst>
              <a:ext uri="{FF2B5EF4-FFF2-40B4-BE49-F238E27FC236}">
                <a16:creationId xmlns:a16="http://schemas.microsoft.com/office/drawing/2014/main" id="{0CCD26BE-B40B-A4CB-A834-9FF9B8C59E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4025" y="3333750"/>
            <a:ext cx="1318260" cy="1318260"/>
          </a:xfrm>
          <a:prstGeom prst="rect">
            <a:avLst/>
          </a:prstGeom>
        </p:spPr>
      </p:pic>
      <p:pic>
        <p:nvPicPr>
          <p:cNvPr id="9" name="Graphic 8" descr="Whole pizza with solid fill">
            <a:extLst>
              <a:ext uri="{FF2B5EF4-FFF2-40B4-BE49-F238E27FC236}">
                <a16:creationId xmlns:a16="http://schemas.microsoft.com/office/drawing/2014/main" id="{11F3EA8D-9C75-5A78-DBD6-AAB8D124D1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33345" y="4564380"/>
            <a:ext cx="914400" cy="9144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C937A64-3183-66D7-5DC0-1607E54F1CBE}"/>
              </a:ext>
            </a:extLst>
          </p:cNvPr>
          <p:cNvCxnSpPr>
            <a:cxnSpLocks/>
          </p:cNvCxnSpPr>
          <p:nvPr/>
        </p:nvCxnSpPr>
        <p:spPr>
          <a:xfrm flipV="1">
            <a:off x="1772285" y="3981450"/>
            <a:ext cx="914400" cy="1143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1937894-686F-CB26-3A94-F7365C64FA3B}"/>
              </a:ext>
            </a:extLst>
          </p:cNvPr>
          <p:cNvCxnSpPr>
            <a:cxnSpLocks/>
          </p:cNvCxnSpPr>
          <p:nvPr/>
        </p:nvCxnSpPr>
        <p:spPr>
          <a:xfrm>
            <a:off x="1772285" y="3992880"/>
            <a:ext cx="861060" cy="92583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phic 21" descr="Man with solid fill">
            <a:extLst>
              <a:ext uri="{FF2B5EF4-FFF2-40B4-BE49-F238E27FC236}">
                <a16:creationId xmlns:a16="http://schemas.microsoft.com/office/drawing/2014/main" id="{820E3D6C-8CDA-DA28-E13E-73A99A90A6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80632" y="3434715"/>
            <a:ext cx="1318260" cy="1318260"/>
          </a:xfrm>
          <a:prstGeom prst="rect">
            <a:avLst/>
          </a:prstGeom>
        </p:spPr>
      </p:pic>
      <p:pic>
        <p:nvPicPr>
          <p:cNvPr id="24" name="Graphic 23" descr="Money with solid fill">
            <a:extLst>
              <a:ext uri="{FF2B5EF4-FFF2-40B4-BE49-F238E27FC236}">
                <a16:creationId xmlns:a16="http://schemas.microsoft.com/office/drawing/2014/main" id="{B3C092C7-D7CF-FB94-D7CC-8A75E6716E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2877" y="2295525"/>
            <a:ext cx="914400" cy="914400"/>
          </a:xfrm>
          <a:prstGeom prst="rect">
            <a:avLst/>
          </a:prstGeom>
        </p:spPr>
      </p:pic>
      <p:pic>
        <p:nvPicPr>
          <p:cNvPr id="27" name="Graphic 26" descr="Thought outline">
            <a:extLst>
              <a:ext uri="{FF2B5EF4-FFF2-40B4-BE49-F238E27FC236}">
                <a16:creationId xmlns:a16="http://schemas.microsoft.com/office/drawing/2014/main" id="{49D79046-FF2B-23A1-C225-44DE71F96E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45120" y="3033236"/>
            <a:ext cx="1224915" cy="1224915"/>
          </a:xfrm>
          <a:prstGeom prst="rect">
            <a:avLst/>
          </a:prstGeom>
        </p:spPr>
      </p:pic>
      <p:pic>
        <p:nvPicPr>
          <p:cNvPr id="39" name="Graphic 38" descr="Money with solid fill">
            <a:extLst>
              <a:ext uri="{FF2B5EF4-FFF2-40B4-BE49-F238E27FC236}">
                <a16:creationId xmlns:a16="http://schemas.microsoft.com/office/drawing/2014/main" id="{18697D7B-FB4B-85A8-B37B-E75E79FEA56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82562" y="2483167"/>
            <a:ext cx="914400" cy="914400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6B19641-A947-375D-18D4-DBF3AB660FF6}"/>
              </a:ext>
            </a:extLst>
          </p:cNvPr>
          <p:cNvCxnSpPr>
            <a:cxnSpLocks/>
          </p:cNvCxnSpPr>
          <p:nvPr/>
        </p:nvCxnSpPr>
        <p:spPr>
          <a:xfrm>
            <a:off x="5171884" y="3993921"/>
            <a:ext cx="1661824" cy="28487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06D2553-866C-E3C2-2BD0-18CA8C4466BB}"/>
              </a:ext>
            </a:extLst>
          </p:cNvPr>
          <p:cNvCxnSpPr>
            <a:cxnSpLocks/>
          </p:cNvCxnSpPr>
          <p:nvPr/>
        </p:nvCxnSpPr>
        <p:spPr>
          <a:xfrm>
            <a:off x="3575998" y="4022408"/>
            <a:ext cx="659736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FFE134C-BC9F-5A05-5C7B-88EBF471D5F0}"/>
              </a:ext>
            </a:extLst>
          </p:cNvPr>
          <p:cNvCxnSpPr>
            <a:cxnSpLocks/>
          </p:cNvCxnSpPr>
          <p:nvPr/>
        </p:nvCxnSpPr>
        <p:spPr>
          <a:xfrm>
            <a:off x="3579802" y="5166360"/>
            <a:ext cx="623904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32D9EE47-C4FA-97BE-738B-6C0DCF630F03}"/>
              </a:ext>
            </a:extLst>
          </p:cNvPr>
          <p:cNvSpPr txBox="1"/>
          <p:nvPr/>
        </p:nvSpPr>
        <p:spPr>
          <a:xfrm>
            <a:off x="9845675" y="3429387"/>
            <a:ext cx="17628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b="1" dirty="0"/>
              <a:t>…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FE7E602-0719-3736-4460-2301F32EA30E}"/>
              </a:ext>
            </a:extLst>
          </p:cNvPr>
          <p:cNvCxnSpPr>
            <a:cxnSpLocks/>
          </p:cNvCxnSpPr>
          <p:nvPr/>
        </p:nvCxnSpPr>
        <p:spPr>
          <a:xfrm flipV="1">
            <a:off x="1768314" y="2664381"/>
            <a:ext cx="702510" cy="1317069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Graphic 68" descr="Piggy Bank outline">
            <a:extLst>
              <a:ext uri="{FF2B5EF4-FFF2-40B4-BE49-F238E27FC236}">
                <a16:creationId xmlns:a16="http://schemas.microsoft.com/office/drawing/2014/main" id="{846EE3A2-4FD9-148F-DA66-03616687585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290284" y="2025967"/>
            <a:ext cx="914400" cy="914400"/>
          </a:xfrm>
          <a:prstGeom prst="rect">
            <a:avLst/>
          </a:prstGeom>
        </p:spPr>
      </p:pic>
      <p:sp>
        <p:nvSpPr>
          <p:cNvPr id="87" name="Arrow: Bent 86">
            <a:extLst>
              <a:ext uri="{FF2B5EF4-FFF2-40B4-BE49-F238E27FC236}">
                <a16:creationId xmlns:a16="http://schemas.microsoft.com/office/drawing/2014/main" id="{0A1AD474-30F6-79B7-0918-F26AFF23B58B}"/>
              </a:ext>
            </a:extLst>
          </p:cNvPr>
          <p:cNvSpPr/>
          <p:nvPr/>
        </p:nvSpPr>
        <p:spPr>
          <a:xfrm rot="1478500">
            <a:off x="3101520" y="1829444"/>
            <a:ext cx="3641408" cy="1230798"/>
          </a:xfrm>
          <a:prstGeom prst="bentArrow">
            <a:avLst>
              <a:gd name="adj1" fmla="val 6142"/>
              <a:gd name="adj2" fmla="val 9142"/>
              <a:gd name="adj3" fmla="val 16423"/>
              <a:gd name="adj4" fmla="val 93918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712AA904-7DB8-0F9C-DF67-3F47E3E53344}"/>
              </a:ext>
            </a:extLst>
          </p:cNvPr>
          <p:cNvCxnSpPr>
            <a:cxnSpLocks/>
          </p:cNvCxnSpPr>
          <p:nvPr/>
        </p:nvCxnSpPr>
        <p:spPr>
          <a:xfrm>
            <a:off x="3204684" y="4156233"/>
            <a:ext cx="1870871" cy="691992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511A6C6B-829E-6345-6B02-71A6C95D2925}"/>
              </a:ext>
            </a:extLst>
          </p:cNvPr>
          <p:cNvSpPr txBox="1"/>
          <p:nvPr/>
        </p:nvSpPr>
        <p:spPr>
          <a:xfrm>
            <a:off x="4341909" y="4982049"/>
            <a:ext cx="13740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i="1" dirty="0">
                <a:solidFill>
                  <a:srgbClr val="C00000"/>
                </a:solidFill>
              </a:rPr>
              <a:t>UTILITY IN</a:t>
            </a:r>
            <a:br>
              <a:rPr lang="en-CA" b="1" i="1" dirty="0">
                <a:solidFill>
                  <a:srgbClr val="C00000"/>
                </a:solidFill>
              </a:rPr>
            </a:br>
            <a:r>
              <a:rPr lang="en-CA" b="1" i="1" dirty="0">
                <a:solidFill>
                  <a:srgbClr val="C00000"/>
                </a:solidFill>
              </a:rPr>
              <a:t>PERIOD</a:t>
            </a:r>
          </a:p>
        </p:txBody>
      </p:sp>
      <p:pic>
        <p:nvPicPr>
          <p:cNvPr id="139" name="Graphic 138" descr="Whole pizza with solid fill">
            <a:extLst>
              <a:ext uri="{FF2B5EF4-FFF2-40B4-BE49-F238E27FC236}">
                <a16:creationId xmlns:a16="http://schemas.microsoft.com/office/drawing/2014/main" id="{AC25629E-EE4C-540E-10C9-CF024E125C4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467913" y="4627719"/>
            <a:ext cx="914400" cy="914400"/>
          </a:xfrm>
          <a:prstGeom prst="rect">
            <a:avLst/>
          </a:prstGeom>
        </p:spPr>
      </p:pic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0C1D676E-ADFA-C007-9E97-5DFB2570F9E7}"/>
              </a:ext>
            </a:extLst>
          </p:cNvPr>
          <p:cNvCxnSpPr>
            <a:cxnSpLocks/>
          </p:cNvCxnSpPr>
          <p:nvPr/>
        </p:nvCxnSpPr>
        <p:spPr>
          <a:xfrm flipV="1">
            <a:off x="7606853" y="4044789"/>
            <a:ext cx="914400" cy="1143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90D15DF6-8F50-63BF-F752-A90CE612C263}"/>
              </a:ext>
            </a:extLst>
          </p:cNvPr>
          <p:cNvCxnSpPr>
            <a:cxnSpLocks/>
          </p:cNvCxnSpPr>
          <p:nvPr/>
        </p:nvCxnSpPr>
        <p:spPr>
          <a:xfrm>
            <a:off x="7606853" y="4056219"/>
            <a:ext cx="861060" cy="92583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E449C970-4345-3B11-9C15-EB90BCA828DE}"/>
              </a:ext>
            </a:extLst>
          </p:cNvPr>
          <p:cNvCxnSpPr>
            <a:cxnSpLocks/>
          </p:cNvCxnSpPr>
          <p:nvPr/>
        </p:nvCxnSpPr>
        <p:spPr>
          <a:xfrm flipV="1">
            <a:off x="7602882" y="2727720"/>
            <a:ext cx="702510" cy="1317069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3" name="Graphic 142" descr="Piggy Bank outline">
            <a:extLst>
              <a:ext uri="{FF2B5EF4-FFF2-40B4-BE49-F238E27FC236}">
                <a16:creationId xmlns:a16="http://schemas.microsoft.com/office/drawing/2014/main" id="{BCFCA1C9-BB36-5BE7-B761-C2F8C71C637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124852" y="2089306"/>
            <a:ext cx="914400" cy="914400"/>
          </a:xfrm>
          <a:prstGeom prst="rect">
            <a:avLst/>
          </a:prstGeom>
        </p:spPr>
      </p:pic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85E07AFE-5D99-0DEE-3289-327E57FD821D}"/>
              </a:ext>
            </a:extLst>
          </p:cNvPr>
          <p:cNvCxnSpPr>
            <a:cxnSpLocks/>
          </p:cNvCxnSpPr>
          <p:nvPr/>
        </p:nvCxnSpPr>
        <p:spPr>
          <a:xfrm flipV="1">
            <a:off x="5066361" y="3057937"/>
            <a:ext cx="1514271" cy="724628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0" name="Graphic 149" descr="Beer with solid fill">
            <a:extLst>
              <a:ext uri="{FF2B5EF4-FFF2-40B4-BE49-F238E27FC236}">
                <a16:creationId xmlns:a16="http://schemas.microsoft.com/office/drawing/2014/main" id="{C8B9FC1D-BA8B-A536-6E56-F76D45EC30F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510009" y="3437125"/>
            <a:ext cx="914400" cy="914400"/>
          </a:xfrm>
          <a:prstGeom prst="rect">
            <a:avLst/>
          </a:prstGeom>
        </p:spPr>
      </p:pic>
      <p:pic>
        <p:nvPicPr>
          <p:cNvPr id="153" name="Graphic 152" descr="Beer with solid fill">
            <a:extLst>
              <a:ext uri="{FF2B5EF4-FFF2-40B4-BE49-F238E27FC236}">
                <a16:creationId xmlns:a16="http://schemas.microsoft.com/office/drawing/2014/main" id="{A460662E-5B10-1C11-84BE-91CF34C0665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639473" y="3231384"/>
            <a:ext cx="9144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2ACB8F-1908-8C23-2115-E0A12FF6524F}"/>
              </a:ext>
            </a:extLst>
          </p:cNvPr>
          <p:cNvSpPr txBox="1"/>
          <p:nvPr/>
        </p:nvSpPr>
        <p:spPr>
          <a:xfrm>
            <a:off x="9074566" y="1315881"/>
            <a:ext cx="3036181" cy="1477328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/>
              <a:t>These past choices impact not only future individual incomes, but also </a:t>
            </a:r>
            <a:r>
              <a:rPr lang="en-CA" b="1" dirty="0"/>
              <a:t>future</a:t>
            </a:r>
            <a:r>
              <a:rPr lang="en-CA" dirty="0"/>
              <a:t> </a:t>
            </a:r>
            <a:r>
              <a:rPr lang="en-CA" b="1" dirty="0"/>
              <a:t>individual preferences in the next period</a:t>
            </a:r>
          </a:p>
        </p:txBody>
      </p:sp>
      <p:pic>
        <p:nvPicPr>
          <p:cNvPr id="4" name="Graphic 3" descr="Beer with solid fill">
            <a:extLst>
              <a:ext uri="{FF2B5EF4-FFF2-40B4-BE49-F238E27FC236}">
                <a16:creationId xmlns:a16="http://schemas.microsoft.com/office/drawing/2014/main" id="{DDD8B834-BFBC-AC23-7027-F76D565A46C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908533" y="3093289"/>
            <a:ext cx="513368" cy="5133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826B36-1C7F-40DD-7610-A9AF2603C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25" y="475456"/>
            <a:ext cx="10634472" cy="1117092"/>
          </a:xfrm>
        </p:spPr>
        <p:txBody>
          <a:bodyPr/>
          <a:lstStyle/>
          <a:p>
            <a:r>
              <a:rPr lang="en-CA" sz="4000" dirty="0"/>
              <a:t>Visualizing Consumer Choice in the Rational Addiction Model</a:t>
            </a:r>
          </a:p>
        </p:txBody>
      </p:sp>
    </p:spTree>
    <p:extLst>
      <p:ext uri="{BB962C8B-B14F-4D97-AF65-F5344CB8AC3E}">
        <p14:creationId xmlns:p14="http://schemas.microsoft.com/office/powerpoint/2010/main" val="755647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23545-1542-74E6-3331-B8A0A8651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Man with solid fill">
            <a:extLst>
              <a:ext uri="{FF2B5EF4-FFF2-40B4-BE49-F238E27FC236}">
                <a16:creationId xmlns:a16="http://schemas.microsoft.com/office/drawing/2014/main" id="{9857046A-89AC-F0A0-3FAC-21E6EB36FE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4025" y="3333750"/>
            <a:ext cx="1318260" cy="1318260"/>
          </a:xfrm>
          <a:prstGeom prst="rect">
            <a:avLst/>
          </a:prstGeom>
        </p:spPr>
      </p:pic>
      <p:pic>
        <p:nvPicPr>
          <p:cNvPr id="9" name="Graphic 8" descr="Whole pizza with solid fill">
            <a:extLst>
              <a:ext uri="{FF2B5EF4-FFF2-40B4-BE49-F238E27FC236}">
                <a16:creationId xmlns:a16="http://schemas.microsoft.com/office/drawing/2014/main" id="{7143427E-3EB6-960D-2CF4-5D35569EFE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33345" y="4564380"/>
            <a:ext cx="914400" cy="9144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52E3367-1D8B-DA66-F077-67C99EB02685}"/>
              </a:ext>
            </a:extLst>
          </p:cNvPr>
          <p:cNvCxnSpPr>
            <a:cxnSpLocks/>
          </p:cNvCxnSpPr>
          <p:nvPr/>
        </p:nvCxnSpPr>
        <p:spPr>
          <a:xfrm flipV="1">
            <a:off x="1772285" y="3981450"/>
            <a:ext cx="914400" cy="1143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D39A70-BE82-1024-BD55-589EF20DECFA}"/>
              </a:ext>
            </a:extLst>
          </p:cNvPr>
          <p:cNvCxnSpPr>
            <a:cxnSpLocks/>
          </p:cNvCxnSpPr>
          <p:nvPr/>
        </p:nvCxnSpPr>
        <p:spPr>
          <a:xfrm>
            <a:off x="1772285" y="3992880"/>
            <a:ext cx="861060" cy="92583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phic 21" descr="Man with solid fill">
            <a:extLst>
              <a:ext uri="{FF2B5EF4-FFF2-40B4-BE49-F238E27FC236}">
                <a16:creationId xmlns:a16="http://schemas.microsoft.com/office/drawing/2014/main" id="{A3D6CD5B-42F2-180F-A9E4-0359B89087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0632" y="3434715"/>
            <a:ext cx="1318260" cy="1318260"/>
          </a:xfrm>
          <a:prstGeom prst="rect">
            <a:avLst/>
          </a:prstGeom>
        </p:spPr>
      </p:pic>
      <p:pic>
        <p:nvPicPr>
          <p:cNvPr id="24" name="Graphic 23" descr="Money with solid fill">
            <a:extLst>
              <a:ext uri="{FF2B5EF4-FFF2-40B4-BE49-F238E27FC236}">
                <a16:creationId xmlns:a16="http://schemas.microsoft.com/office/drawing/2014/main" id="{24E19909-90A8-3726-6EDF-DB767772B4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2877" y="2295525"/>
            <a:ext cx="914400" cy="914400"/>
          </a:xfrm>
          <a:prstGeom prst="rect">
            <a:avLst/>
          </a:prstGeom>
        </p:spPr>
      </p:pic>
      <p:pic>
        <p:nvPicPr>
          <p:cNvPr id="27" name="Graphic 26" descr="Thought outline">
            <a:extLst>
              <a:ext uri="{FF2B5EF4-FFF2-40B4-BE49-F238E27FC236}">
                <a16:creationId xmlns:a16="http://schemas.microsoft.com/office/drawing/2014/main" id="{E6774570-9E5D-DB43-55F9-BEDCF900C4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45120" y="3033236"/>
            <a:ext cx="1224915" cy="1224915"/>
          </a:xfrm>
          <a:prstGeom prst="rect">
            <a:avLst/>
          </a:prstGeom>
        </p:spPr>
      </p:pic>
      <p:pic>
        <p:nvPicPr>
          <p:cNvPr id="39" name="Graphic 38" descr="Money with solid fill">
            <a:extLst>
              <a:ext uri="{FF2B5EF4-FFF2-40B4-BE49-F238E27FC236}">
                <a16:creationId xmlns:a16="http://schemas.microsoft.com/office/drawing/2014/main" id="{CD12F27F-3D3B-0A00-DCCF-A7F28269E4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82562" y="2483167"/>
            <a:ext cx="914400" cy="914400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BC1EED2-5ADD-0FFD-E90D-8A9B5EBC0072}"/>
              </a:ext>
            </a:extLst>
          </p:cNvPr>
          <p:cNvCxnSpPr>
            <a:cxnSpLocks/>
          </p:cNvCxnSpPr>
          <p:nvPr/>
        </p:nvCxnSpPr>
        <p:spPr>
          <a:xfrm>
            <a:off x="5171884" y="3993921"/>
            <a:ext cx="1661824" cy="2848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F98BF6E-16D2-9764-9B90-09F3465421AF}"/>
              </a:ext>
            </a:extLst>
          </p:cNvPr>
          <p:cNvCxnSpPr>
            <a:cxnSpLocks/>
          </p:cNvCxnSpPr>
          <p:nvPr/>
        </p:nvCxnSpPr>
        <p:spPr>
          <a:xfrm>
            <a:off x="3575998" y="4022408"/>
            <a:ext cx="659736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B72E630-4337-E77C-3BA6-394D8B8E3B64}"/>
              </a:ext>
            </a:extLst>
          </p:cNvPr>
          <p:cNvCxnSpPr>
            <a:cxnSpLocks/>
          </p:cNvCxnSpPr>
          <p:nvPr/>
        </p:nvCxnSpPr>
        <p:spPr>
          <a:xfrm>
            <a:off x="3579802" y="5166360"/>
            <a:ext cx="62390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CA2E718-D7D2-2B64-FC00-6E1EFFEFAB21}"/>
              </a:ext>
            </a:extLst>
          </p:cNvPr>
          <p:cNvSpPr txBox="1"/>
          <p:nvPr/>
        </p:nvSpPr>
        <p:spPr>
          <a:xfrm>
            <a:off x="9845675" y="3429387"/>
            <a:ext cx="17628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b="1" dirty="0"/>
              <a:t>…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F7507C8-04B4-CA8B-D45F-9F3621E65526}"/>
              </a:ext>
            </a:extLst>
          </p:cNvPr>
          <p:cNvCxnSpPr>
            <a:cxnSpLocks/>
          </p:cNvCxnSpPr>
          <p:nvPr/>
        </p:nvCxnSpPr>
        <p:spPr>
          <a:xfrm flipV="1">
            <a:off x="1768314" y="2664381"/>
            <a:ext cx="702510" cy="131706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Graphic 68" descr="Piggy Bank outline">
            <a:extLst>
              <a:ext uri="{FF2B5EF4-FFF2-40B4-BE49-F238E27FC236}">
                <a16:creationId xmlns:a16="http://schemas.microsoft.com/office/drawing/2014/main" id="{0B7C8887-3053-184D-9AD2-C89B5F34D51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90284" y="2025967"/>
            <a:ext cx="914400" cy="914400"/>
          </a:xfrm>
          <a:prstGeom prst="rect">
            <a:avLst/>
          </a:prstGeom>
        </p:spPr>
      </p:pic>
      <p:sp>
        <p:nvSpPr>
          <p:cNvPr id="87" name="Arrow: Bent 86">
            <a:extLst>
              <a:ext uri="{FF2B5EF4-FFF2-40B4-BE49-F238E27FC236}">
                <a16:creationId xmlns:a16="http://schemas.microsoft.com/office/drawing/2014/main" id="{8059B9D5-9D1F-24D8-F97A-EBA1472DFCFA}"/>
              </a:ext>
            </a:extLst>
          </p:cNvPr>
          <p:cNvSpPr/>
          <p:nvPr/>
        </p:nvSpPr>
        <p:spPr>
          <a:xfrm rot="1478500">
            <a:off x="3101520" y="1829444"/>
            <a:ext cx="3641408" cy="1230798"/>
          </a:xfrm>
          <a:prstGeom prst="bentArrow">
            <a:avLst>
              <a:gd name="adj1" fmla="val 6142"/>
              <a:gd name="adj2" fmla="val 9142"/>
              <a:gd name="adj3" fmla="val 16423"/>
              <a:gd name="adj4" fmla="val 93918"/>
            </a:avLst>
          </a:prstGeom>
          <a:solidFill>
            <a:srgbClr val="00B0F0"/>
          </a:solidFill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79E91609-BA29-4B80-45D6-1C40F2B559FC}"/>
              </a:ext>
            </a:extLst>
          </p:cNvPr>
          <p:cNvCxnSpPr>
            <a:cxnSpLocks/>
          </p:cNvCxnSpPr>
          <p:nvPr/>
        </p:nvCxnSpPr>
        <p:spPr>
          <a:xfrm>
            <a:off x="3204684" y="4156233"/>
            <a:ext cx="1870871" cy="69199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52A35BA0-06D4-A30C-D3B3-4D96CB9FAE90}"/>
              </a:ext>
            </a:extLst>
          </p:cNvPr>
          <p:cNvSpPr txBox="1"/>
          <p:nvPr/>
        </p:nvSpPr>
        <p:spPr>
          <a:xfrm>
            <a:off x="4341909" y="4982049"/>
            <a:ext cx="13740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i="1" dirty="0"/>
              <a:t>UTILITY IN</a:t>
            </a:r>
            <a:br>
              <a:rPr lang="en-CA" b="1" i="1" dirty="0"/>
            </a:br>
            <a:r>
              <a:rPr lang="en-CA" b="1" i="1" dirty="0"/>
              <a:t>PERIOD </a:t>
            </a:r>
          </a:p>
        </p:txBody>
      </p:sp>
      <p:pic>
        <p:nvPicPr>
          <p:cNvPr id="139" name="Graphic 138" descr="Whole pizza with solid fill">
            <a:extLst>
              <a:ext uri="{FF2B5EF4-FFF2-40B4-BE49-F238E27FC236}">
                <a16:creationId xmlns:a16="http://schemas.microsoft.com/office/drawing/2014/main" id="{07402E3D-1BF4-5BBB-FCA2-1A590A31CD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67913" y="4627719"/>
            <a:ext cx="914400" cy="914400"/>
          </a:xfrm>
          <a:prstGeom prst="rect">
            <a:avLst/>
          </a:prstGeom>
        </p:spPr>
      </p:pic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8B684CDE-ABE3-D54B-E57B-4A5D9398EA6E}"/>
              </a:ext>
            </a:extLst>
          </p:cNvPr>
          <p:cNvCxnSpPr>
            <a:cxnSpLocks/>
          </p:cNvCxnSpPr>
          <p:nvPr/>
        </p:nvCxnSpPr>
        <p:spPr>
          <a:xfrm flipV="1">
            <a:off x="7606853" y="4044789"/>
            <a:ext cx="914400" cy="1143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551B07CC-31EC-D838-826A-59726952D1A3}"/>
              </a:ext>
            </a:extLst>
          </p:cNvPr>
          <p:cNvCxnSpPr>
            <a:cxnSpLocks/>
          </p:cNvCxnSpPr>
          <p:nvPr/>
        </p:nvCxnSpPr>
        <p:spPr>
          <a:xfrm>
            <a:off x="7606853" y="4056219"/>
            <a:ext cx="861060" cy="92583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4932ACD2-0B31-254D-5296-5EF0B8D58E58}"/>
              </a:ext>
            </a:extLst>
          </p:cNvPr>
          <p:cNvCxnSpPr>
            <a:cxnSpLocks/>
          </p:cNvCxnSpPr>
          <p:nvPr/>
        </p:nvCxnSpPr>
        <p:spPr>
          <a:xfrm flipV="1">
            <a:off x="7602882" y="2727720"/>
            <a:ext cx="702510" cy="131706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3" name="Graphic 142" descr="Piggy Bank outline">
            <a:extLst>
              <a:ext uri="{FF2B5EF4-FFF2-40B4-BE49-F238E27FC236}">
                <a16:creationId xmlns:a16="http://schemas.microsoft.com/office/drawing/2014/main" id="{B40EF715-52B0-486B-EF1A-1165DCCA995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24852" y="2089306"/>
            <a:ext cx="914400" cy="914400"/>
          </a:xfrm>
          <a:prstGeom prst="rect">
            <a:avLst/>
          </a:prstGeom>
        </p:spPr>
      </p:pic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9A6B21EF-45C1-9D3A-8EB8-8522ADAA4C91}"/>
              </a:ext>
            </a:extLst>
          </p:cNvPr>
          <p:cNvCxnSpPr>
            <a:cxnSpLocks/>
          </p:cNvCxnSpPr>
          <p:nvPr/>
        </p:nvCxnSpPr>
        <p:spPr>
          <a:xfrm flipV="1">
            <a:off x="5066361" y="3057937"/>
            <a:ext cx="1514271" cy="72462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0" name="Graphic 149" descr="Beer with solid fill">
            <a:extLst>
              <a:ext uri="{FF2B5EF4-FFF2-40B4-BE49-F238E27FC236}">
                <a16:creationId xmlns:a16="http://schemas.microsoft.com/office/drawing/2014/main" id="{A75FAF3E-0ABA-170E-ED90-D5FA8442444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10009" y="3437125"/>
            <a:ext cx="914400" cy="914400"/>
          </a:xfrm>
          <a:prstGeom prst="rect">
            <a:avLst/>
          </a:prstGeom>
        </p:spPr>
      </p:pic>
      <p:pic>
        <p:nvPicPr>
          <p:cNvPr id="153" name="Graphic 152" descr="Beer with solid fill">
            <a:extLst>
              <a:ext uri="{FF2B5EF4-FFF2-40B4-BE49-F238E27FC236}">
                <a16:creationId xmlns:a16="http://schemas.microsoft.com/office/drawing/2014/main" id="{66B503BA-A46B-3D15-8BA6-1A5BB2646C2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39473" y="3231384"/>
            <a:ext cx="914400" cy="914400"/>
          </a:xfrm>
          <a:prstGeom prst="rect">
            <a:avLst/>
          </a:prstGeom>
        </p:spPr>
      </p:pic>
      <p:pic>
        <p:nvPicPr>
          <p:cNvPr id="154" name="Graphic 153" descr="Beer with solid fill">
            <a:extLst>
              <a:ext uri="{FF2B5EF4-FFF2-40B4-BE49-F238E27FC236}">
                <a16:creationId xmlns:a16="http://schemas.microsoft.com/office/drawing/2014/main" id="{56DD1893-5539-9A0E-3098-AD4B93BD769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908533" y="3093289"/>
            <a:ext cx="513368" cy="513368"/>
          </a:xfrm>
          <a:prstGeom prst="rect">
            <a:avLst/>
          </a:prstGeom>
        </p:spPr>
      </p:pic>
      <p:sp>
        <p:nvSpPr>
          <p:cNvPr id="157" name="Title 1">
            <a:extLst>
              <a:ext uri="{FF2B5EF4-FFF2-40B4-BE49-F238E27FC236}">
                <a16:creationId xmlns:a16="http://schemas.microsoft.com/office/drawing/2014/main" id="{A96D8065-76F5-FBC9-5109-9675879EC2B7}"/>
              </a:ext>
            </a:extLst>
          </p:cNvPr>
          <p:cNvSpPr txBox="1">
            <a:spLocks/>
          </p:cNvSpPr>
          <p:nvPr/>
        </p:nvSpPr>
        <p:spPr>
          <a:xfrm>
            <a:off x="454025" y="475456"/>
            <a:ext cx="10634472" cy="11170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4000" dirty="0"/>
              <a:t>Visualizing Consumer Choice in the Rational Addiction Model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342643-460D-BD48-29DE-F3647B34E3F2}"/>
              </a:ext>
            </a:extLst>
          </p:cNvPr>
          <p:cNvSpPr txBox="1"/>
          <p:nvPr/>
        </p:nvSpPr>
        <p:spPr>
          <a:xfrm>
            <a:off x="1817443" y="5767793"/>
            <a:ext cx="7606966" cy="369332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b="1" dirty="0"/>
              <a:t>The graphs presented will embody this underlying consumer behaviour</a:t>
            </a:r>
          </a:p>
        </p:txBody>
      </p:sp>
    </p:spTree>
    <p:extLst>
      <p:ext uri="{BB962C8B-B14F-4D97-AF65-F5344CB8AC3E}">
        <p14:creationId xmlns:p14="http://schemas.microsoft.com/office/powerpoint/2010/main" val="1662537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FCB24-29B3-7BC5-5C3D-940A748D0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F0101-106B-1003-28C7-68C6387AC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000" dirty="0"/>
              <a:t>Addictive Good Dynamics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9EF90-4007-5E69-44FE-F1090C045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Rational Addiction Part I</a:t>
            </a:r>
          </a:p>
        </p:txBody>
      </p:sp>
    </p:spTree>
    <p:extLst>
      <p:ext uri="{BB962C8B-B14F-4D97-AF65-F5344CB8AC3E}">
        <p14:creationId xmlns:p14="http://schemas.microsoft.com/office/powerpoint/2010/main" val="1806025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80B1A-F4C7-B8A0-7F62-4A6AC3479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97A75-3551-7FE4-D95F-C8790D860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Addictive Good Consumption and Addiction Capital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ED1DB-BBD5-F15C-BC04-ED1201243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975" y="1285876"/>
            <a:ext cx="4838699" cy="4593716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The first chart in the rational addiction model is the relationship between addictive good consumption and addiction capital.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Addiction capital is conceptualized as </a:t>
            </a:r>
            <a:r>
              <a:rPr lang="en-CA" b="1" dirty="0"/>
              <a:t>weighted past consumption.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we assume the curve has the following shape.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9A2CD9-BB4A-5F48-EA4D-F00EEC7AFAAA}"/>
              </a:ext>
            </a:extLst>
          </p:cNvPr>
          <p:cNvSpPr/>
          <p:nvPr/>
        </p:nvSpPr>
        <p:spPr>
          <a:xfrm>
            <a:off x="1202409" y="2066925"/>
            <a:ext cx="5038725" cy="38100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F4DA32-38A3-8BCC-EC3A-08B967C5EC83}"/>
              </a:ext>
            </a:extLst>
          </p:cNvPr>
          <p:cNvSpPr/>
          <p:nvPr/>
        </p:nvSpPr>
        <p:spPr>
          <a:xfrm>
            <a:off x="695325" y="1847850"/>
            <a:ext cx="5962650" cy="419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2E12ED-D081-2A80-D6C1-39788B083E0D}"/>
              </a:ext>
            </a:extLst>
          </p:cNvPr>
          <p:cNvSpPr/>
          <p:nvPr/>
        </p:nvSpPr>
        <p:spPr>
          <a:xfrm>
            <a:off x="5991225" y="2000249"/>
            <a:ext cx="419100" cy="4010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B6D5C00-412C-CEF0-64F4-F421FC4F9945}"/>
                  </a:ext>
                </a:extLst>
              </p:cNvPr>
              <p:cNvSpPr txBox="1"/>
              <p:nvPr/>
            </p:nvSpPr>
            <p:spPr>
              <a:xfrm>
                <a:off x="3995810" y="5881735"/>
                <a:ext cx="20914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b="0" dirty="0"/>
                  <a:t>Addiction Capital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CA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B6D5C00-412C-CEF0-64F4-F421FC4F9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810" y="5881735"/>
                <a:ext cx="2091470" cy="369332"/>
              </a:xfrm>
              <a:prstGeom prst="rect">
                <a:avLst/>
              </a:prstGeom>
              <a:blipFill>
                <a:blip r:embed="rId2"/>
                <a:stretch>
                  <a:fillRect l="-2326" t="-10000" b="-2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2056BB-F46D-8E57-54BA-E2AB9EBDDA02}"/>
                  </a:ext>
                </a:extLst>
              </p:cNvPr>
              <p:cNvSpPr txBox="1"/>
              <p:nvPr/>
            </p:nvSpPr>
            <p:spPr>
              <a:xfrm>
                <a:off x="0" y="2162859"/>
                <a:ext cx="119372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Addictive </a:t>
                </a:r>
                <a:br>
                  <a:rPr lang="en-CA" dirty="0"/>
                </a:br>
                <a:r>
                  <a:rPr lang="en-CA" dirty="0"/>
                  <a:t>Good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2056BB-F46D-8E57-54BA-E2AB9EBDDA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162859"/>
                <a:ext cx="1193725" cy="646331"/>
              </a:xfrm>
              <a:prstGeom prst="rect">
                <a:avLst/>
              </a:prstGeom>
              <a:blipFill>
                <a:blip r:embed="rId3"/>
                <a:stretch>
                  <a:fillRect l="-4082" t="-5660" r="-3061" b="-1415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c 9">
            <a:extLst>
              <a:ext uri="{FF2B5EF4-FFF2-40B4-BE49-F238E27FC236}">
                <a16:creationId xmlns:a16="http://schemas.microsoft.com/office/drawing/2014/main" id="{45798A7A-8434-705C-FBA5-9A37DE7E2C49}"/>
              </a:ext>
            </a:extLst>
          </p:cNvPr>
          <p:cNvSpPr/>
          <p:nvPr/>
        </p:nvSpPr>
        <p:spPr>
          <a:xfrm>
            <a:off x="2152650" y="3331071"/>
            <a:ext cx="7777487" cy="5225057"/>
          </a:xfrm>
          <a:prstGeom prst="arc">
            <a:avLst>
              <a:gd name="adj1" fmla="val 10854719"/>
              <a:gd name="adj2" fmla="val 16251100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57C9C57-53F1-A601-A9E7-03370082380E}"/>
              </a:ext>
            </a:extLst>
          </p:cNvPr>
          <p:cNvCxnSpPr>
            <a:cxnSpLocks/>
          </p:cNvCxnSpPr>
          <p:nvPr/>
        </p:nvCxnSpPr>
        <p:spPr>
          <a:xfrm>
            <a:off x="1202409" y="5876925"/>
            <a:ext cx="98119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AFE357-276E-9677-24AE-810B2BD6D488}"/>
                  </a:ext>
                </a:extLst>
              </p:cNvPr>
              <p:cNvSpPr txBox="1"/>
              <p:nvPr/>
            </p:nvSpPr>
            <p:spPr>
              <a:xfrm>
                <a:off x="6096000" y="2961739"/>
                <a:ext cx="6567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AFE357-276E-9677-24AE-810B2BD6D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961739"/>
                <a:ext cx="656783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16701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9309C-E572-EB92-27C2-B37C2E5CB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9E529-3857-2F82-CC31-ECA4FAFD0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Addictive Good Consumption and Addiction Capital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3440E0-59EB-6205-881E-595F76BFE9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57976" y="1285876"/>
                <a:ext cx="4838699" cy="4593716"/>
              </a:xfrm>
            </p:spPr>
            <p:txBody>
              <a:bodyPr>
                <a:normAutofit fontScale="92500"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Past consumption does not impact the consumption of an addictive good unless addiction capital passes a certain threshold.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Behaviourally, you can think of alcohol consumption as requiring an “acquired taste” or previous experience to enjoy.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What threshold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CA" dirty="0"/>
                  <a:t> represents is the point where past consumption starts impacting the demand for addictive goods.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3440E0-59EB-6205-881E-595F76BFE9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57976" y="1285876"/>
                <a:ext cx="4838699" cy="4593716"/>
              </a:xfrm>
              <a:blipFill>
                <a:blip r:embed="rId2"/>
                <a:stretch>
                  <a:fillRect l="-1385" t="-928" r="-88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43215B1-FB90-6404-14F3-29462C798578}"/>
              </a:ext>
            </a:extLst>
          </p:cNvPr>
          <p:cNvSpPr/>
          <p:nvPr/>
        </p:nvSpPr>
        <p:spPr>
          <a:xfrm>
            <a:off x="1202409" y="2066925"/>
            <a:ext cx="5038725" cy="38100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1337B8-79EE-D7BE-7AB3-E314E0612899}"/>
              </a:ext>
            </a:extLst>
          </p:cNvPr>
          <p:cNvSpPr/>
          <p:nvPr/>
        </p:nvSpPr>
        <p:spPr>
          <a:xfrm>
            <a:off x="695325" y="1847850"/>
            <a:ext cx="5962650" cy="419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0EEF08-BAE7-6283-E8EB-A981E927F4D4}"/>
              </a:ext>
            </a:extLst>
          </p:cNvPr>
          <p:cNvSpPr/>
          <p:nvPr/>
        </p:nvSpPr>
        <p:spPr>
          <a:xfrm>
            <a:off x="5991225" y="2000249"/>
            <a:ext cx="419100" cy="4010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634A11-8CB8-89E8-31A1-725D42E09832}"/>
                  </a:ext>
                </a:extLst>
              </p:cNvPr>
              <p:cNvSpPr txBox="1"/>
              <p:nvPr/>
            </p:nvSpPr>
            <p:spPr>
              <a:xfrm>
                <a:off x="3995810" y="5881735"/>
                <a:ext cx="20914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b="0" dirty="0"/>
                  <a:t>Addiction Capital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CA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B6D5C00-412C-CEF0-64F4-F421FC4F9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810" y="5881735"/>
                <a:ext cx="2091470" cy="369332"/>
              </a:xfrm>
              <a:prstGeom prst="rect">
                <a:avLst/>
              </a:prstGeom>
              <a:blipFill>
                <a:blip r:embed="rId3"/>
                <a:stretch>
                  <a:fillRect l="-2326" t="-10000" b="-2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450BF86-81D2-2BD0-E776-A9B19BB1E863}"/>
                  </a:ext>
                </a:extLst>
              </p:cNvPr>
              <p:cNvSpPr txBox="1"/>
              <p:nvPr/>
            </p:nvSpPr>
            <p:spPr>
              <a:xfrm>
                <a:off x="0" y="2162859"/>
                <a:ext cx="120565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Addictive </a:t>
                </a:r>
                <a:br>
                  <a:rPr lang="en-CA" dirty="0"/>
                </a:br>
                <a:r>
                  <a:rPr lang="en-CA" dirty="0"/>
                  <a:t>Good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450BF86-81D2-2BD0-E776-A9B19BB1E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162859"/>
                <a:ext cx="1205651" cy="646331"/>
              </a:xfrm>
              <a:prstGeom prst="rect">
                <a:avLst/>
              </a:prstGeom>
              <a:blipFill>
                <a:blip r:embed="rId4"/>
                <a:stretch>
                  <a:fillRect l="-4040" t="-5660" r="-2020" b="-1415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c 9">
            <a:extLst>
              <a:ext uri="{FF2B5EF4-FFF2-40B4-BE49-F238E27FC236}">
                <a16:creationId xmlns:a16="http://schemas.microsoft.com/office/drawing/2014/main" id="{037CC534-8CA3-74BF-1DF8-0748F608CDE1}"/>
              </a:ext>
            </a:extLst>
          </p:cNvPr>
          <p:cNvSpPr/>
          <p:nvPr/>
        </p:nvSpPr>
        <p:spPr>
          <a:xfrm>
            <a:off x="2152650" y="3331071"/>
            <a:ext cx="7777487" cy="5225057"/>
          </a:xfrm>
          <a:prstGeom prst="arc">
            <a:avLst>
              <a:gd name="adj1" fmla="val 10854719"/>
              <a:gd name="adj2" fmla="val 16251100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5751A5-DC71-831D-AA2E-55363F259A19}"/>
              </a:ext>
            </a:extLst>
          </p:cNvPr>
          <p:cNvCxnSpPr>
            <a:cxnSpLocks/>
          </p:cNvCxnSpPr>
          <p:nvPr/>
        </p:nvCxnSpPr>
        <p:spPr>
          <a:xfrm>
            <a:off x="1202409" y="5876925"/>
            <a:ext cx="98119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1EEF41A-F06F-353B-1FA3-763DC8119A0A}"/>
                  </a:ext>
                </a:extLst>
              </p:cNvPr>
              <p:cNvSpPr txBox="1"/>
              <p:nvPr/>
            </p:nvSpPr>
            <p:spPr>
              <a:xfrm>
                <a:off x="1717078" y="5881735"/>
                <a:ext cx="7909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1EEF41A-F06F-353B-1FA3-763DC8119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7078" y="5881735"/>
                <a:ext cx="79097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B70B00C3-3578-5471-3AAA-A2C4297BEBBF}"/>
              </a:ext>
            </a:extLst>
          </p:cNvPr>
          <p:cNvSpPr/>
          <p:nvPr/>
        </p:nvSpPr>
        <p:spPr>
          <a:xfrm>
            <a:off x="2026606" y="5686433"/>
            <a:ext cx="252088" cy="257167"/>
          </a:xfrm>
          <a:prstGeom prst="star5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6F6513-9DBE-E80B-ED40-F71B7AF76E51}"/>
                  </a:ext>
                </a:extLst>
              </p:cNvPr>
              <p:cNvSpPr txBox="1"/>
              <p:nvPr/>
            </p:nvSpPr>
            <p:spPr>
              <a:xfrm>
                <a:off x="6096000" y="2961739"/>
                <a:ext cx="6567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46F6513-9DBE-E80B-ED40-F71B7AF76E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961739"/>
                <a:ext cx="656783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7059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DFABF-7C84-D9BF-19AF-CA61F3638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C3DC4-11B3-041D-FE70-A32E83BA1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244983"/>
            <a:ext cx="10634472" cy="1117092"/>
          </a:xfrm>
        </p:spPr>
        <p:txBody>
          <a:bodyPr/>
          <a:lstStyle/>
          <a:p>
            <a:r>
              <a:rPr lang="en-CA" sz="4800" dirty="0"/>
              <a:t>The law of motion of addiction capital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B6BAFF-76FE-8921-EB97-1801495ECD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600" y="1552576"/>
                <a:ext cx="11176000" cy="4829174"/>
              </a:xfrm>
            </p:spPr>
            <p:txBody>
              <a:bodyPr>
                <a:normAutofit lnSpcReduction="10000"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Addiction capital is the </a:t>
                </a:r>
                <a:r>
                  <a:rPr lang="en-CA" b="1" dirty="0"/>
                  <a:t>weighted past consumption of addictive goods.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The </a:t>
                </a:r>
                <a:r>
                  <a:rPr lang="en-CA" i="1" dirty="0"/>
                  <a:t>Law of Motion of Addiction Capital</a:t>
                </a:r>
                <a:r>
                  <a:rPr lang="en-CA" b="1" i="1" dirty="0"/>
                  <a:t> </a:t>
                </a:r>
                <a:r>
                  <a:rPr lang="en-CA" dirty="0"/>
                  <a:t>is defied as follows:</a:t>
                </a:r>
                <a:br>
                  <a:rPr lang="en-CA" dirty="0"/>
                </a:br>
                <a:br>
                  <a:rPr lang="en-CA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d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CA" b="0" dirty="0"/>
              </a:p>
              <a:p>
                <a:r>
                  <a:rPr lang="en-CA" dirty="0"/>
                  <a:t>Where:	</a:t>
                </a:r>
              </a:p>
              <a:p>
                <a:r>
                  <a:rPr lang="en-CA" b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CA" dirty="0"/>
                  <a:t>: is addiction capital in period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br>
                  <a:rPr lang="en-CA" dirty="0"/>
                </a:br>
                <a:r>
                  <a:rPr lang="en-CA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CA" dirty="0"/>
                  <a:t>is addiction capital in period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CA" dirty="0"/>
              </a:p>
              <a:p>
                <a:r>
                  <a:rPr lang="en-CA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CA" dirty="0"/>
                  <a:t> is addiction capital from previous periods.</a:t>
                </a:r>
              </a:p>
              <a:p>
                <a:r>
                  <a:rPr lang="en-CA" b="0" dirty="0"/>
                  <a:t>	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CA" dirty="0"/>
                  <a:t>: is a weight which shows the contribution of addictive good consumption 	to addiction capital stock.</a:t>
                </a:r>
              </a:p>
              <a:p>
                <a:r>
                  <a:rPr lang="en-CA" b="0" dirty="0"/>
                  <a:t>	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CA" dirty="0"/>
                  <a:t> is the addiction capital depreciation rate.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B6BAFF-76FE-8921-EB97-1801495ECD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600" y="1552576"/>
                <a:ext cx="11176000" cy="4829174"/>
              </a:xfrm>
              <a:blipFill>
                <a:blip r:embed="rId2"/>
                <a:stretch>
                  <a:fillRect l="-818" t="-176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2985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5944D-9CBB-5CC6-0BA1-823733957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64CA6-42A7-5AAD-B589-3ED4E19F5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244983"/>
            <a:ext cx="10634472" cy="1117092"/>
          </a:xfrm>
        </p:spPr>
        <p:txBody>
          <a:bodyPr/>
          <a:lstStyle/>
          <a:p>
            <a:r>
              <a:rPr lang="en-CA" sz="4800" dirty="0"/>
              <a:t>The law of motion of addiction capital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702B70-3142-07D8-4DE3-F3BBE0C83D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600" y="1552576"/>
                <a:ext cx="11176000" cy="4829174"/>
              </a:xfrm>
            </p:spPr>
            <p:txBody>
              <a:bodyPr>
                <a:normAutofit lnSpcReduction="10000"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We are interested in identifying </a:t>
                </a:r>
                <a:r>
                  <a:rPr lang="en-CA" b="1" dirty="0"/>
                  <a:t>STEADY STATE </a:t>
                </a:r>
                <a:r>
                  <a:rPr lang="en-CA" dirty="0"/>
                  <a:t> </a:t>
                </a:r>
                <a:r>
                  <a:rPr lang="en-CA" b="1" dirty="0"/>
                  <a:t>CONSUMPTION</a:t>
                </a:r>
                <a:r>
                  <a:rPr lang="en-CA" dirty="0"/>
                  <a:t> of addictive goods.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Steady state means we are interested in the level of consumption where:</a:t>
                </a:r>
                <a:br>
                  <a:rPr lang="en-CA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CA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To derive this we remove the subscripts from every variable and solve:</a:t>
                </a:r>
                <a:br>
                  <a:rPr lang="en-CA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𝛼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CA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d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CA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𝛿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CA" b="0" dirty="0"/>
              </a:p>
              <a:p>
                <a:pPr/>
                <a:r>
                  <a:rPr lang="en-CA" b="0" dirty="0"/>
                  <a:t>Or</a:t>
                </a:r>
                <a:br>
                  <a:rPr lang="en-CA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CA" b="0" dirty="0"/>
              </a:p>
              <a:p>
                <a:r>
                  <a:rPr lang="en-CA" dirty="0"/>
                  <a:t>This is the formula for a amount of addiction capital needed to maintain constant consumption.</a:t>
                </a:r>
                <a:endParaRPr lang="en-CA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702B70-3142-07D8-4DE3-F3BBE0C83D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600" y="1552576"/>
                <a:ext cx="11176000" cy="4829174"/>
              </a:xfrm>
              <a:blipFill>
                <a:blip r:embed="rId2"/>
                <a:stretch>
                  <a:fillRect l="-818" t="-1768" r="-65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35299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B9061-1A0F-773B-681C-9CF79F090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C8ED2-7CDD-2CAB-E343-5ADFF99CE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Addiction Capital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02E92-61E4-6CB3-A06C-D6CA82632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6600" y="1943100"/>
            <a:ext cx="3902991" cy="393649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Graphically we are going to want to plot this steady state line.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In the previously defined space.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FCBE17-4726-ACB6-9BAE-239173AAB3A4}"/>
              </a:ext>
            </a:extLst>
          </p:cNvPr>
          <p:cNvSpPr/>
          <p:nvPr/>
        </p:nvSpPr>
        <p:spPr>
          <a:xfrm>
            <a:off x="1202409" y="2066925"/>
            <a:ext cx="5038725" cy="38100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6F40DC-45DC-48D6-B497-258593E3A32A}"/>
              </a:ext>
            </a:extLst>
          </p:cNvPr>
          <p:cNvSpPr/>
          <p:nvPr/>
        </p:nvSpPr>
        <p:spPr>
          <a:xfrm>
            <a:off x="695325" y="1847850"/>
            <a:ext cx="5962650" cy="419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2C57414-FF58-EDF4-1304-B4BA08586F16}"/>
                  </a:ext>
                </a:extLst>
              </p:cNvPr>
              <p:cNvSpPr/>
              <p:nvPr/>
            </p:nvSpPr>
            <p:spPr>
              <a:xfrm>
                <a:off x="6031584" y="1943100"/>
                <a:ext cx="419100" cy="40100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sSup>
                        <m:s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CA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2C57414-FF58-EDF4-1304-B4BA08586F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1584" y="1943100"/>
                <a:ext cx="419100" cy="4010025"/>
              </a:xfrm>
              <a:prstGeom prst="rect">
                <a:avLst/>
              </a:prstGeom>
              <a:blipFill>
                <a:blip r:embed="rId2"/>
                <a:stretch>
                  <a:fillRect l="-289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575C71-BDBC-AC1D-AD17-63710C5B2407}"/>
                  </a:ext>
                </a:extLst>
              </p:cNvPr>
              <p:cNvSpPr txBox="1"/>
              <p:nvPr/>
            </p:nvSpPr>
            <p:spPr>
              <a:xfrm>
                <a:off x="3995810" y="5881735"/>
                <a:ext cx="20914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b="0" dirty="0"/>
                  <a:t>Addiction Capital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CA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575C71-BDBC-AC1D-AD17-63710C5B2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810" y="5881735"/>
                <a:ext cx="2091470" cy="369332"/>
              </a:xfrm>
              <a:prstGeom prst="rect">
                <a:avLst/>
              </a:prstGeom>
              <a:blipFill>
                <a:blip r:embed="rId3"/>
                <a:stretch>
                  <a:fillRect l="-2326" t="-10000" b="-2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23FE8B-57AD-80CC-6BD7-0CA735286383}"/>
                  </a:ext>
                </a:extLst>
              </p:cNvPr>
              <p:cNvSpPr txBox="1"/>
              <p:nvPr/>
            </p:nvSpPr>
            <p:spPr>
              <a:xfrm>
                <a:off x="0" y="2162859"/>
                <a:ext cx="120565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Addictive </a:t>
                </a:r>
                <a:br>
                  <a:rPr lang="en-CA" dirty="0"/>
                </a:br>
                <a:r>
                  <a:rPr lang="en-CA" dirty="0"/>
                  <a:t>Good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23FE8B-57AD-80CC-6BD7-0CA735286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162859"/>
                <a:ext cx="1205651" cy="646331"/>
              </a:xfrm>
              <a:prstGeom prst="rect">
                <a:avLst/>
              </a:prstGeom>
              <a:blipFill>
                <a:blip r:embed="rId4"/>
                <a:stretch>
                  <a:fillRect l="-4040" t="-5660" r="-2020" b="-1415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5F4A19-2EF2-F578-B39F-F5DCE2A66B86}"/>
              </a:ext>
            </a:extLst>
          </p:cNvPr>
          <p:cNvCxnSpPr/>
          <p:nvPr/>
        </p:nvCxnSpPr>
        <p:spPr>
          <a:xfrm flipV="1">
            <a:off x="1202409" y="2809190"/>
            <a:ext cx="5038725" cy="3067735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C4AD7A-CD2C-CDF3-C685-708D1CB88309}"/>
                  </a:ext>
                </a:extLst>
              </p:cNvPr>
              <p:cNvSpPr txBox="1"/>
              <p:nvPr/>
            </p:nvSpPr>
            <p:spPr>
              <a:xfrm>
                <a:off x="6003009" y="2400300"/>
                <a:ext cx="914400" cy="618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C4AD7A-CD2C-CDF3-C685-708D1CB88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3009" y="2400300"/>
                <a:ext cx="914400" cy="618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34747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3AEBA-E4CE-1B36-0C7B-367F1DFD2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A32B430-D984-288A-8261-7B9B54029370}"/>
              </a:ext>
            </a:extLst>
          </p:cNvPr>
          <p:cNvCxnSpPr>
            <a:cxnSpLocks/>
          </p:cNvCxnSpPr>
          <p:nvPr/>
        </p:nvCxnSpPr>
        <p:spPr>
          <a:xfrm flipH="1">
            <a:off x="2281772" y="5182939"/>
            <a:ext cx="28672" cy="712229"/>
          </a:xfrm>
          <a:prstGeom prst="line">
            <a:avLst/>
          </a:prstGeom>
          <a:ln w="571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0B65061-09B5-7374-48C3-503D0A156E8B}"/>
              </a:ext>
            </a:extLst>
          </p:cNvPr>
          <p:cNvCxnSpPr>
            <a:cxnSpLocks/>
          </p:cNvCxnSpPr>
          <p:nvPr/>
        </p:nvCxnSpPr>
        <p:spPr>
          <a:xfrm flipH="1">
            <a:off x="5286278" y="3393550"/>
            <a:ext cx="26356" cy="2483375"/>
          </a:xfrm>
          <a:prstGeom prst="line">
            <a:avLst/>
          </a:prstGeom>
          <a:ln w="571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C7DCF4-D538-76E4-EBDD-38E7CE104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Equilibrium Addictive Good Consumption and Addiction Capital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980461-3B42-0576-EC23-BE1059D9D3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86600" y="1943100"/>
                <a:ext cx="3902991" cy="3936491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Putting the graphs together show that there are</a:t>
                </a:r>
                <a:r>
                  <a:rPr lang="en-CA" b="1" dirty="0"/>
                  <a:t> Multiple Equilibria.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There is a “High Equilibrium”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and a “Low Equilibrium”.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980461-3B42-0576-EC23-BE1059D9D3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86600" y="1943100"/>
                <a:ext cx="3902991" cy="3936491"/>
              </a:xfrm>
              <a:blipFill>
                <a:blip r:embed="rId2"/>
                <a:stretch>
                  <a:fillRect l="-2188" t="-1240" r="-296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0A60C13-D09B-DECF-80B5-BF0C13487490}"/>
              </a:ext>
            </a:extLst>
          </p:cNvPr>
          <p:cNvSpPr/>
          <p:nvPr/>
        </p:nvSpPr>
        <p:spPr>
          <a:xfrm>
            <a:off x="1202409" y="2066925"/>
            <a:ext cx="5038725" cy="38100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B1E1BE-E8DC-DF9D-9FC6-825C14786ECF}"/>
              </a:ext>
            </a:extLst>
          </p:cNvPr>
          <p:cNvSpPr/>
          <p:nvPr/>
        </p:nvSpPr>
        <p:spPr>
          <a:xfrm>
            <a:off x="695325" y="1847850"/>
            <a:ext cx="5962650" cy="419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506617-8EDF-BF40-D341-198BCD33F18C}"/>
              </a:ext>
            </a:extLst>
          </p:cNvPr>
          <p:cNvSpPr/>
          <p:nvPr/>
        </p:nvSpPr>
        <p:spPr>
          <a:xfrm>
            <a:off x="5991225" y="2000249"/>
            <a:ext cx="419100" cy="4010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6FFBB8-1BC2-49E4-9269-448B0B345764}"/>
                  </a:ext>
                </a:extLst>
              </p:cNvPr>
              <p:cNvSpPr txBox="1"/>
              <p:nvPr/>
            </p:nvSpPr>
            <p:spPr>
              <a:xfrm>
                <a:off x="5871674" y="5897433"/>
                <a:ext cx="20914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b="0" dirty="0"/>
                  <a:t>Addiction Capital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CA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6FFBB8-1BC2-49E4-9269-448B0B345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1674" y="5897433"/>
                <a:ext cx="2091470" cy="369332"/>
              </a:xfrm>
              <a:prstGeom prst="rect">
                <a:avLst/>
              </a:prstGeom>
              <a:blipFill>
                <a:blip r:embed="rId3"/>
                <a:stretch>
                  <a:fillRect l="-2332" t="-8197" b="-2459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293C6A-1750-96A1-899C-3F5F14CA253D}"/>
                  </a:ext>
                </a:extLst>
              </p:cNvPr>
              <p:cNvSpPr txBox="1"/>
              <p:nvPr/>
            </p:nvSpPr>
            <p:spPr>
              <a:xfrm>
                <a:off x="0" y="2162859"/>
                <a:ext cx="120565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/>
                  <a:t>Addictive </a:t>
                </a:r>
                <a:br>
                  <a:rPr lang="en-CA" dirty="0"/>
                </a:br>
                <a:r>
                  <a:rPr lang="en-CA" dirty="0"/>
                  <a:t>Good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35A4EEF-2D82-15F0-A836-29DBC735D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162859"/>
                <a:ext cx="1205651" cy="646331"/>
              </a:xfrm>
              <a:prstGeom prst="rect">
                <a:avLst/>
              </a:prstGeom>
              <a:blipFill>
                <a:blip r:embed="rId4"/>
                <a:stretch>
                  <a:fillRect l="-4040" t="-5660" r="-2020" b="-1415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c 9">
            <a:extLst>
              <a:ext uri="{FF2B5EF4-FFF2-40B4-BE49-F238E27FC236}">
                <a16:creationId xmlns:a16="http://schemas.microsoft.com/office/drawing/2014/main" id="{0C7C84D3-824B-8AC1-949B-6AE08AD0B02C}"/>
              </a:ext>
            </a:extLst>
          </p:cNvPr>
          <p:cNvSpPr/>
          <p:nvPr/>
        </p:nvSpPr>
        <p:spPr>
          <a:xfrm>
            <a:off x="2152650" y="3331071"/>
            <a:ext cx="7777487" cy="5225057"/>
          </a:xfrm>
          <a:prstGeom prst="arc">
            <a:avLst>
              <a:gd name="adj1" fmla="val 10856190"/>
              <a:gd name="adj2" fmla="val 16251100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0496A2F-F683-D110-BDBB-39F83851ECE9}"/>
              </a:ext>
            </a:extLst>
          </p:cNvPr>
          <p:cNvCxnSpPr>
            <a:cxnSpLocks/>
          </p:cNvCxnSpPr>
          <p:nvPr/>
        </p:nvCxnSpPr>
        <p:spPr>
          <a:xfrm>
            <a:off x="1202409" y="5876925"/>
            <a:ext cx="98199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95904C-2A76-2AC0-C557-E03CE5F92D3A}"/>
              </a:ext>
            </a:extLst>
          </p:cNvPr>
          <p:cNvCxnSpPr/>
          <p:nvPr/>
        </p:nvCxnSpPr>
        <p:spPr>
          <a:xfrm flipV="1">
            <a:off x="1202409" y="2809190"/>
            <a:ext cx="5038725" cy="3067735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51B88A-89D1-6672-0E7E-2035C7AF4E78}"/>
                  </a:ext>
                </a:extLst>
              </p:cNvPr>
              <p:cNvSpPr txBox="1"/>
              <p:nvPr/>
            </p:nvSpPr>
            <p:spPr>
              <a:xfrm>
                <a:off x="5962553" y="3102471"/>
                <a:ext cx="8955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51B88A-89D1-6672-0E7E-2035C7AF4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2553" y="3102471"/>
                <a:ext cx="895544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DD04E65-D53B-9D6D-251C-9A9E2567CEA8}"/>
                  </a:ext>
                </a:extLst>
              </p:cNvPr>
              <p:cNvSpPr txBox="1"/>
              <p:nvPr/>
            </p:nvSpPr>
            <p:spPr>
              <a:xfrm>
                <a:off x="6003009" y="2400300"/>
                <a:ext cx="914400" cy="618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DD04E65-D53B-9D6D-251C-9A9E2567C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3009" y="2400300"/>
                <a:ext cx="914400" cy="618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9DACD07-BAAE-D40D-F964-474F8B354F28}"/>
              </a:ext>
            </a:extLst>
          </p:cNvPr>
          <p:cNvCxnSpPr>
            <a:cxnSpLocks/>
          </p:cNvCxnSpPr>
          <p:nvPr/>
        </p:nvCxnSpPr>
        <p:spPr>
          <a:xfrm flipV="1">
            <a:off x="1229422" y="5189037"/>
            <a:ext cx="1030136" cy="1"/>
          </a:xfrm>
          <a:prstGeom prst="line">
            <a:avLst/>
          </a:prstGeom>
          <a:ln w="571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CF5A666-2816-2F94-8199-9B00C644B89E}"/>
              </a:ext>
            </a:extLst>
          </p:cNvPr>
          <p:cNvCxnSpPr>
            <a:cxnSpLocks/>
          </p:cNvCxnSpPr>
          <p:nvPr/>
        </p:nvCxnSpPr>
        <p:spPr>
          <a:xfrm flipV="1">
            <a:off x="1229422" y="3349314"/>
            <a:ext cx="4103812" cy="88472"/>
          </a:xfrm>
          <a:prstGeom prst="line">
            <a:avLst/>
          </a:prstGeom>
          <a:ln w="571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8CD1E844-F711-E2DB-207A-A66240A5E661}"/>
              </a:ext>
            </a:extLst>
          </p:cNvPr>
          <p:cNvSpPr/>
          <p:nvPr/>
        </p:nvSpPr>
        <p:spPr>
          <a:xfrm>
            <a:off x="5188906" y="3220731"/>
            <a:ext cx="252088" cy="257167"/>
          </a:xfrm>
          <a:prstGeom prst="star5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D5EC5B7B-17BC-1941-BDE4-961F7F3D7CB1}"/>
              </a:ext>
            </a:extLst>
          </p:cNvPr>
          <p:cNvSpPr/>
          <p:nvPr/>
        </p:nvSpPr>
        <p:spPr>
          <a:xfrm>
            <a:off x="2184400" y="5054356"/>
            <a:ext cx="252088" cy="257167"/>
          </a:xfrm>
          <a:prstGeom prst="star5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5BA5403-4293-D957-4F8C-49FF7B15F708}"/>
                  </a:ext>
                </a:extLst>
              </p:cNvPr>
              <p:cNvSpPr txBox="1"/>
              <p:nvPr/>
            </p:nvSpPr>
            <p:spPr>
              <a:xfrm>
                <a:off x="686490" y="3253120"/>
                <a:ext cx="4800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5BA5403-4293-D957-4F8C-49FF7B15F7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490" y="3253120"/>
                <a:ext cx="480003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65F46F1-B178-AA46-5766-993F0DCB12D0}"/>
                  </a:ext>
                </a:extLst>
              </p:cNvPr>
              <p:cNvSpPr txBox="1"/>
              <p:nvPr/>
            </p:nvSpPr>
            <p:spPr>
              <a:xfrm>
                <a:off x="5114951" y="5758933"/>
                <a:ext cx="4816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65F46F1-B178-AA46-5766-993F0DCB1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4951" y="5758933"/>
                <a:ext cx="481606" cy="369332"/>
              </a:xfrm>
              <a:prstGeom prst="rect">
                <a:avLst/>
              </a:prstGeom>
              <a:blipFill>
                <a:blip r:embed="rId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FE815BA-F5E9-2687-3492-CB804005530E}"/>
                  </a:ext>
                </a:extLst>
              </p:cNvPr>
              <p:cNvSpPr txBox="1"/>
              <p:nvPr/>
            </p:nvSpPr>
            <p:spPr>
              <a:xfrm>
                <a:off x="749419" y="4942191"/>
                <a:ext cx="4447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FE815BA-F5E9-2687-3492-CB8040055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419" y="4942191"/>
                <a:ext cx="444737" cy="369332"/>
              </a:xfrm>
              <a:prstGeom prst="rect">
                <a:avLst/>
              </a:prstGeom>
              <a:blipFill>
                <a:blip r:embed="rId9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83B9AED-C9BC-EE79-307C-A55666C75040}"/>
                  </a:ext>
                </a:extLst>
              </p:cNvPr>
              <p:cNvSpPr txBox="1"/>
              <p:nvPr/>
            </p:nvSpPr>
            <p:spPr>
              <a:xfrm>
                <a:off x="2100287" y="5797008"/>
                <a:ext cx="4463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83B9AED-C9BC-EE79-307C-A55666C75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287" y="5797008"/>
                <a:ext cx="44634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03243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BB93D-5D67-26FE-E7F2-04A4967B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F945-D03D-DF0B-1572-B8E2F17F9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000" dirty="0"/>
              <a:t>Addiction Capital and Earnings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C21CB-D65C-9687-CA65-854ABA799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Rational Addiction Part II</a:t>
            </a:r>
          </a:p>
        </p:txBody>
      </p:sp>
    </p:spTree>
    <p:extLst>
      <p:ext uri="{BB962C8B-B14F-4D97-AF65-F5344CB8AC3E}">
        <p14:creationId xmlns:p14="http://schemas.microsoft.com/office/powerpoint/2010/main" val="24910419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AC602-6444-510B-03FE-074E4AD41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12103-F864-E586-0CE7-B98FCCF2B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An assumption about drug use and productivity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74A1B-799A-D699-B3DA-C27CDE953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53" y="1714500"/>
            <a:ext cx="10506991" cy="393649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An assumption that we make in this model is that there is an inverse relationship between earnings. (i.e. higher addiction capital implies lower wages). This is supported empirically:</a:t>
            </a:r>
          </a:p>
          <a:p>
            <a:endParaRPr lang="en-CA" dirty="0"/>
          </a:p>
        </p:txBody>
      </p:sp>
      <p:pic>
        <p:nvPicPr>
          <p:cNvPr id="2050" name="Picture 2" descr="Missed work due to substance use disorder">
            <a:extLst>
              <a:ext uri="{FF2B5EF4-FFF2-40B4-BE49-F238E27FC236}">
                <a16:creationId xmlns:a16="http://schemas.microsoft.com/office/drawing/2014/main" id="{C3D153A2-3BE1-A6F0-A4FE-9862CECFE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24" y="3022092"/>
            <a:ext cx="5529495" cy="3110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986687-ABE1-49ED-F9D2-E352B9E3F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852" y="2501143"/>
            <a:ext cx="3597699" cy="375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1322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073EC-E12A-C85C-40EA-B6797CFB4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437B3-88DD-C1E4-332C-59EC66CBE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Addiction Capital and Wages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6674F-95B2-A08A-E6C1-F5A80CBA0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6600" y="1943100"/>
            <a:ext cx="3902991" cy="393649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Graphically we are going to draw a separate chart which shows the relationship between wages/earnings and addiction capital.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0F5E3B-2BAB-BF05-4B28-B5A502C8178C}"/>
              </a:ext>
            </a:extLst>
          </p:cNvPr>
          <p:cNvSpPr/>
          <p:nvPr/>
        </p:nvSpPr>
        <p:spPr>
          <a:xfrm>
            <a:off x="1202409" y="2066925"/>
            <a:ext cx="5038725" cy="38100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D6A614-5997-8966-DAB7-078803B6020E}"/>
              </a:ext>
            </a:extLst>
          </p:cNvPr>
          <p:cNvSpPr/>
          <p:nvPr/>
        </p:nvSpPr>
        <p:spPr>
          <a:xfrm>
            <a:off x="695325" y="1847850"/>
            <a:ext cx="5962650" cy="419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15C2B4-4E94-31C9-C97D-580F94A3F0BC}"/>
              </a:ext>
            </a:extLst>
          </p:cNvPr>
          <p:cNvSpPr/>
          <p:nvPr/>
        </p:nvSpPr>
        <p:spPr>
          <a:xfrm>
            <a:off x="5991225" y="2000249"/>
            <a:ext cx="419100" cy="4010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204A15-5263-F171-FCBA-CF70E8D9E066}"/>
                  </a:ext>
                </a:extLst>
              </p:cNvPr>
              <p:cNvSpPr txBox="1"/>
              <p:nvPr/>
            </p:nvSpPr>
            <p:spPr>
              <a:xfrm>
                <a:off x="5364590" y="5902570"/>
                <a:ext cx="20914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b="0" dirty="0"/>
                  <a:t>Addiction Capital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CA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204A15-5263-F171-FCBA-CF70E8D9E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590" y="5902570"/>
                <a:ext cx="2091470" cy="369332"/>
              </a:xfrm>
              <a:prstGeom prst="rect">
                <a:avLst/>
              </a:prstGeom>
              <a:blipFill>
                <a:blip r:embed="rId2"/>
                <a:stretch>
                  <a:fillRect l="-2332" t="-8197" b="-2459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E15FB8A-9FC2-F6F5-A115-59675C63E014}"/>
                  </a:ext>
                </a:extLst>
              </p:cNvPr>
              <p:cNvSpPr txBox="1"/>
              <p:nvPr/>
            </p:nvSpPr>
            <p:spPr>
              <a:xfrm>
                <a:off x="424519" y="1943100"/>
                <a:ext cx="77021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CA" dirty="0"/>
                  <a:t>Wage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E15FB8A-9FC2-F6F5-A115-59675C63E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519" y="1943100"/>
                <a:ext cx="770211" cy="646331"/>
              </a:xfrm>
              <a:prstGeom prst="rect">
                <a:avLst/>
              </a:prstGeom>
              <a:blipFill>
                <a:blip r:embed="rId3"/>
                <a:stretch>
                  <a:fillRect l="-7143" t="-5660" r="-6349" b="-849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697330-409E-8CA6-C196-8D1A686E42AE}"/>
              </a:ext>
            </a:extLst>
          </p:cNvPr>
          <p:cNvCxnSpPr>
            <a:cxnSpLocks/>
          </p:cNvCxnSpPr>
          <p:nvPr/>
        </p:nvCxnSpPr>
        <p:spPr>
          <a:xfrm>
            <a:off x="1485900" y="2387600"/>
            <a:ext cx="3987800" cy="3187700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5356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D2846-702D-CB22-A3AA-6336F17E6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3EA82C8-50D5-D5F0-9D53-CAE2C8036009}"/>
              </a:ext>
            </a:extLst>
          </p:cNvPr>
          <p:cNvCxnSpPr>
            <a:cxnSpLocks/>
          </p:cNvCxnSpPr>
          <p:nvPr/>
        </p:nvCxnSpPr>
        <p:spPr>
          <a:xfrm flipH="1">
            <a:off x="1158889" y="4747973"/>
            <a:ext cx="3288996" cy="0"/>
          </a:xfrm>
          <a:prstGeom prst="line">
            <a:avLst/>
          </a:prstGeom>
          <a:ln w="571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5270C30-FBEA-B96C-67C3-E1A0CBE4F405}"/>
              </a:ext>
            </a:extLst>
          </p:cNvPr>
          <p:cNvCxnSpPr>
            <a:cxnSpLocks/>
          </p:cNvCxnSpPr>
          <p:nvPr/>
        </p:nvCxnSpPr>
        <p:spPr>
          <a:xfrm flipH="1">
            <a:off x="1202409" y="2950399"/>
            <a:ext cx="981991" cy="0"/>
          </a:xfrm>
          <a:prstGeom prst="line">
            <a:avLst/>
          </a:prstGeom>
          <a:ln w="571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D7C8092-3E1F-0BAD-6AB9-F995F90DD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Addiction Capital and Wages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842300-794C-E971-F30B-9330C0D09D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86600" y="1943100"/>
                <a:ext cx="3902991" cy="3936491"/>
              </a:xfrm>
            </p:spPr>
            <p:txBody>
              <a:bodyPr>
                <a:normAutofit fontScale="92500"/>
              </a:bodyPr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The high addiction capital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CA" dirty="0"/>
                  <a:t> group will have a low wage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.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The low addiction capital group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CA" dirty="0"/>
                  <a:t>will have a high wage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. 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b="1" dirty="0"/>
                  <a:t>MULITIPLE EQUILIBRIA EXPLAINS THE INCOME AND ADDICTION PUZZLES PRESENTED.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842300-794C-E971-F30B-9330C0D09D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86600" y="1943100"/>
                <a:ext cx="3902991" cy="3936491"/>
              </a:xfrm>
              <a:blipFill>
                <a:blip r:embed="rId2"/>
                <a:stretch>
                  <a:fillRect l="-1719" t="-108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D0DC756-7232-CB36-EF62-155153B15943}"/>
              </a:ext>
            </a:extLst>
          </p:cNvPr>
          <p:cNvSpPr/>
          <p:nvPr/>
        </p:nvSpPr>
        <p:spPr>
          <a:xfrm>
            <a:off x="1202409" y="2066925"/>
            <a:ext cx="5038725" cy="38100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5A20C9-715B-2FFA-BC56-0A310A509349}"/>
              </a:ext>
            </a:extLst>
          </p:cNvPr>
          <p:cNvSpPr/>
          <p:nvPr/>
        </p:nvSpPr>
        <p:spPr>
          <a:xfrm>
            <a:off x="695325" y="1847850"/>
            <a:ext cx="5962650" cy="419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7D556A-58F5-F068-917D-46758E8805EF}"/>
              </a:ext>
            </a:extLst>
          </p:cNvPr>
          <p:cNvSpPr/>
          <p:nvPr/>
        </p:nvSpPr>
        <p:spPr>
          <a:xfrm>
            <a:off x="5991225" y="2000249"/>
            <a:ext cx="419100" cy="4010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D4C517-64F0-28EF-B4F0-FBB6F19F2841}"/>
                  </a:ext>
                </a:extLst>
              </p:cNvPr>
              <p:cNvSpPr txBox="1"/>
              <p:nvPr/>
            </p:nvSpPr>
            <p:spPr>
              <a:xfrm>
                <a:off x="5364590" y="5902570"/>
                <a:ext cx="20914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b="0" dirty="0"/>
                  <a:t>Addiction Capital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CA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D4C517-64F0-28EF-B4F0-FBB6F19F2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590" y="5902570"/>
                <a:ext cx="2091470" cy="369332"/>
              </a:xfrm>
              <a:prstGeom prst="rect">
                <a:avLst/>
              </a:prstGeom>
              <a:blipFill>
                <a:blip r:embed="rId3"/>
                <a:stretch>
                  <a:fillRect l="-2332" t="-8197" b="-2459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47863E-5BF4-C707-BD52-25E7EA316B8D}"/>
                  </a:ext>
                </a:extLst>
              </p:cNvPr>
              <p:cNvSpPr txBox="1"/>
              <p:nvPr/>
            </p:nvSpPr>
            <p:spPr>
              <a:xfrm>
                <a:off x="424519" y="1962343"/>
                <a:ext cx="77021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CA" dirty="0"/>
                  <a:t>Wage</a:t>
                </a:r>
                <a:br>
                  <a:rPr lang="en-CA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47863E-5BF4-C707-BD52-25E7EA316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519" y="1962343"/>
                <a:ext cx="770211" cy="646331"/>
              </a:xfrm>
              <a:prstGeom prst="rect">
                <a:avLst/>
              </a:prstGeom>
              <a:blipFill>
                <a:blip r:embed="rId4"/>
                <a:stretch>
                  <a:fillRect l="-7143" t="-5660" r="-6349" b="-849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D2B8A08-23AC-A529-B732-E869A14B27F3}"/>
              </a:ext>
            </a:extLst>
          </p:cNvPr>
          <p:cNvCxnSpPr>
            <a:cxnSpLocks/>
          </p:cNvCxnSpPr>
          <p:nvPr/>
        </p:nvCxnSpPr>
        <p:spPr>
          <a:xfrm>
            <a:off x="1485900" y="2387600"/>
            <a:ext cx="3987800" cy="3187700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408776A-968F-4D60-5A51-C518F04A1A23}"/>
                  </a:ext>
                </a:extLst>
              </p:cNvPr>
              <p:cNvSpPr txBox="1"/>
              <p:nvPr/>
            </p:nvSpPr>
            <p:spPr>
              <a:xfrm>
                <a:off x="4206709" y="5800771"/>
                <a:ext cx="4816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408776A-968F-4D60-5A51-C518F04A1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709" y="5800771"/>
                <a:ext cx="481606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53C986C-D530-92F2-FBC6-55280735EAEF}"/>
                  </a:ext>
                </a:extLst>
              </p:cNvPr>
              <p:cNvSpPr txBox="1"/>
              <p:nvPr/>
            </p:nvSpPr>
            <p:spPr>
              <a:xfrm>
                <a:off x="1917407" y="5800771"/>
                <a:ext cx="4463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53C986C-D530-92F2-FBC6-55280735E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407" y="5800771"/>
                <a:ext cx="446341" cy="369332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D3CFA45-E225-260D-ED6A-528076DCD557}"/>
              </a:ext>
            </a:extLst>
          </p:cNvPr>
          <p:cNvCxnSpPr>
            <a:cxnSpLocks/>
          </p:cNvCxnSpPr>
          <p:nvPr/>
        </p:nvCxnSpPr>
        <p:spPr>
          <a:xfrm flipH="1">
            <a:off x="2086078" y="2950399"/>
            <a:ext cx="98322" cy="2952171"/>
          </a:xfrm>
          <a:prstGeom prst="line">
            <a:avLst/>
          </a:prstGeom>
          <a:ln w="571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8586528-1549-8C1B-F72D-9E027C586CBA}"/>
              </a:ext>
            </a:extLst>
          </p:cNvPr>
          <p:cNvCxnSpPr>
            <a:cxnSpLocks/>
          </p:cNvCxnSpPr>
          <p:nvPr/>
        </p:nvCxnSpPr>
        <p:spPr>
          <a:xfrm flipH="1">
            <a:off x="4421156" y="4747973"/>
            <a:ext cx="26356" cy="1116645"/>
          </a:xfrm>
          <a:prstGeom prst="line">
            <a:avLst/>
          </a:prstGeom>
          <a:ln w="571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1A12052F-DFD9-1008-75DB-29E165BD3630}"/>
              </a:ext>
            </a:extLst>
          </p:cNvPr>
          <p:cNvSpPr/>
          <p:nvPr/>
        </p:nvSpPr>
        <p:spPr>
          <a:xfrm>
            <a:off x="4321468" y="4622931"/>
            <a:ext cx="252088" cy="257167"/>
          </a:xfrm>
          <a:prstGeom prst="star5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623EF79E-71AD-C6D8-DA59-49698746B400}"/>
              </a:ext>
            </a:extLst>
          </p:cNvPr>
          <p:cNvSpPr/>
          <p:nvPr/>
        </p:nvSpPr>
        <p:spPr>
          <a:xfrm>
            <a:off x="2058356" y="2821816"/>
            <a:ext cx="252088" cy="257167"/>
          </a:xfrm>
          <a:prstGeom prst="star5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E379227-8C61-ED20-DA92-C7921D08BAC2}"/>
                  </a:ext>
                </a:extLst>
              </p:cNvPr>
              <p:cNvSpPr txBox="1"/>
              <p:nvPr/>
            </p:nvSpPr>
            <p:spPr>
              <a:xfrm>
                <a:off x="411786" y="2715309"/>
                <a:ext cx="8153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CA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CA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E379227-8C61-ED20-DA92-C7921D08B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86" y="2715309"/>
                <a:ext cx="815351" cy="369332"/>
              </a:xfrm>
              <a:prstGeom prst="rect">
                <a:avLst/>
              </a:prstGeom>
              <a:blipFill>
                <a:blip r:embed="rId7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45A37BA-23F7-9B42-4543-6599FC6324EB}"/>
                  </a:ext>
                </a:extLst>
              </p:cNvPr>
              <p:cNvSpPr txBox="1"/>
              <p:nvPr/>
            </p:nvSpPr>
            <p:spPr>
              <a:xfrm>
                <a:off x="429746" y="4503657"/>
                <a:ext cx="8806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CA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CA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45A37BA-23F7-9B42-4543-6599FC632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46" y="4503657"/>
                <a:ext cx="880626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06667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2B3DB-18BB-562D-3ACA-FDDA3BAFB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F998-20D4-A11D-5C48-78F0C9B62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 “Two Panel” Rational Addiction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51867-C192-3369-E334-C749F8A1D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Putting both pieces together.</a:t>
            </a:r>
          </a:p>
        </p:txBody>
      </p:sp>
    </p:spTree>
    <p:extLst>
      <p:ext uri="{BB962C8B-B14F-4D97-AF65-F5344CB8AC3E}">
        <p14:creationId xmlns:p14="http://schemas.microsoft.com/office/powerpoint/2010/main" val="35848921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B3AB9-9FB9-8445-5223-913CE9666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2BDBADB-2BFD-A01D-9EA4-8807241DA881}"/>
              </a:ext>
            </a:extLst>
          </p:cNvPr>
          <p:cNvCxnSpPr>
            <a:cxnSpLocks/>
          </p:cNvCxnSpPr>
          <p:nvPr/>
        </p:nvCxnSpPr>
        <p:spPr>
          <a:xfrm flipV="1">
            <a:off x="1202409" y="1838326"/>
            <a:ext cx="3017166" cy="2066924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4BE227F-65E0-AEF5-62B6-8DD56D0F1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The “Two Panel” Rational Addiction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9EAC9-DEEC-065B-393F-46D8889C9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0193" y="1838326"/>
            <a:ext cx="5069398" cy="4041265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A simple way of orienting the two plots is in a single diagram as follows.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In this case, the wage curve is flipped upside down so equilibrium addictive good consumption can be connected to equilibrium wages.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b="1" dirty="0"/>
              <a:t>YOU WILL USE THIS PICTURE IN YOUR PRESENTATION! (if appropriate)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9304A69-4793-5B63-DFC5-BF6FFEA6AFA3}"/>
              </a:ext>
            </a:extLst>
          </p:cNvPr>
          <p:cNvCxnSpPr>
            <a:cxnSpLocks/>
          </p:cNvCxnSpPr>
          <p:nvPr/>
        </p:nvCxnSpPr>
        <p:spPr>
          <a:xfrm>
            <a:off x="1202409" y="1838326"/>
            <a:ext cx="0" cy="4352924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45345FE-697B-6527-D1F0-B94D128E1CDF}"/>
              </a:ext>
            </a:extLst>
          </p:cNvPr>
          <p:cNvCxnSpPr>
            <a:cxnSpLocks/>
          </p:cNvCxnSpPr>
          <p:nvPr/>
        </p:nvCxnSpPr>
        <p:spPr>
          <a:xfrm flipH="1">
            <a:off x="1202409" y="3905250"/>
            <a:ext cx="3188616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Arc 11">
            <a:extLst>
              <a:ext uri="{FF2B5EF4-FFF2-40B4-BE49-F238E27FC236}">
                <a16:creationId xmlns:a16="http://schemas.microsoft.com/office/drawing/2014/main" id="{762175A8-7FB9-5AA8-FB0B-7EDAE7FFC463}"/>
              </a:ext>
            </a:extLst>
          </p:cNvPr>
          <p:cNvSpPr/>
          <p:nvPr/>
        </p:nvSpPr>
        <p:spPr>
          <a:xfrm>
            <a:off x="1629271" y="2369344"/>
            <a:ext cx="4352923" cy="3071812"/>
          </a:xfrm>
          <a:prstGeom prst="arc">
            <a:avLst>
              <a:gd name="adj1" fmla="val 10854667"/>
              <a:gd name="adj2" fmla="val 16216446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B551759-8776-F316-D561-DC0041AE69C9}"/>
                  </a:ext>
                </a:extLst>
              </p:cNvPr>
              <p:cNvSpPr txBox="1"/>
              <p:nvPr/>
            </p:nvSpPr>
            <p:spPr>
              <a:xfrm rot="16200000">
                <a:off x="-436242" y="2687122"/>
                <a:ext cx="18401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latin typeface="Cambria Math" panose="02040503050406030204" pitchFamily="18" charset="0"/>
                  </a:rPr>
                  <a:t>Addictive Good</a:t>
                </a:r>
                <a:r>
                  <a:rPr lang="en-CA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B551759-8776-F316-D561-DC0041AE6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436242" y="2687122"/>
                <a:ext cx="1840184" cy="369332"/>
              </a:xfrm>
              <a:prstGeom prst="rect">
                <a:avLst/>
              </a:prstGeom>
              <a:blipFill>
                <a:blip r:embed="rId2"/>
                <a:stretch>
                  <a:fillRect l="-8197" r="-24590" b="-298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4D0EF0D-774C-33EA-2986-7B8A4E15BCD0}"/>
                  </a:ext>
                </a:extLst>
              </p:cNvPr>
              <p:cNvSpPr txBox="1"/>
              <p:nvPr/>
            </p:nvSpPr>
            <p:spPr>
              <a:xfrm>
                <a:off x="4473503" y="3534948"/>
                <a:ext cx="119276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latin typeface="Cambria Math" panose="02040503050406030204" pitchFamily="18" charset="0"/>
                  </a:rPr>
                  <a:t>Addiction </a:t>
                </a:r>
                <a:br>
                  <a:rPr lang="en-CA" dirty="0">
                    <a:latin typeface="Cambria Math" panose="02040503050406030204" pitchFamily="18" charset="0"/>
                  </a:rPr>
                </a:br>
                <a:r>
                  <a:rPr lang="en-CA" dirty="0">
                    <a:latin typeface="Cambria Math" panose="02040503050406030204" pitchFamily="18" charset="0"/>
                  </a:rPr>
                  <a:t>Capital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4D0EF0D-774C-33EA-2986-7B8A4E15B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3503" y="3534948"/>
                <a:ext cx="1192762" cy="646331"/>
              </a:xfrm>
              <a:prstGeom prst="rect">
                <a:avLst/>
              </a:prstGeom>
              <a:blipFill>
                <a:blip r:embed="rId3"/>
                <a:stretch>
                  <a:fillRect l="-4592" t="-6604" r="-4082" b="-1415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C6A2CC1-5A36-D8E7-6D27-41061AB1E9CC}"/>
                  </a:ext>
                </a:extLst>
              </p:cNvPr>
              <p:cNvSpPr txBox="1"/>
              <p:nvPr/>
            </p:nvSpPr>
            <p:spPr>
              <a:xfrm rot="16200000">
                <a:off x="-46372" y="5459800"/>
                <a:ext cx="9539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latin typeface="Cambria Math" panose="02040503050406030204" pitchFamily="18" charset="0"/>
                  </a:rPr>
                  <a:t>Wage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C6A2CC1-5A36-D8E7-6D27-41061AB1E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46372" y="5459800"/>
                <a:ext cx="953915" cy="369332"/>
              </a:xfrm>
              <a:prstGeom prst="rect">
                <a:avLst/>
              </a:prstGeom>
              <a:blipFill>
                <a:blip r:embed="rId4"/>
                <a:stretch>
                  <a:fillRect l="-8197" r="-24590" b="-576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9E6CF94-7096-4599-519B-E02F7373569B}"/>
              </a:ext>
            </a:extLst>
          </p:cNvPr>
          <p:cNvCxnSpPr>
            <a:cxnSpLocks/>
          </p:cNvCxnSpPr>
          <p:nvPr/>
        </p:nvCxnSpPr>
        <p:spPr>
          <a:xfrm flipV="1">
            <a:off x="1323975" y="4029076"/>
            <a:ext cx="3063803" cy="1990724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tar: 5 Points 35">
            <a:extLst>
              <a:ext uri="{FF2B5EF4-FFF2-40B4-BE49-F238E27FC236}">
                <a16:creationId xmlns:a16="http://schemas.microsoft.com/office/drawing/2014/main" id="{ECA2C987-3512-FF4C-ED3E-B8C17ABED079}"/>
              </a:ext>
            </a:extLst>
          </p:cNvPr>
          <p:cNvSpPr/>
          <p:nvPr/>
        </p:nvSpPr>
        <p:spPr>
          <a:xfrm>
            <a:off x="3304789" y="2258616"/>
            <a:ext cx="209550" cy="221455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Star: 5 Points 36">
            <a:extLst>
              <a:ext uri="{FF2B5EF4-FFF2-40B4-BE49-F238E27FC236}">
                <a16:creationId xmlns:a16="http://schemas.microsoft.com/office/drawing/2014/main" id="{43300842-FC2A-3F2D-BDBB-B3F20781E621}"/>
              </a:ext>
            </a:extLst>
          </p:cNvPr>
          <p:cNvSpPr/>
          <p:nvPr/>
        </p:nvSpPr>
        <p:spPr>
          <a:xfrm>
            <a:off x="1555823" y="3466816"/>
            <a:ext cx="209550" cy="221455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Star: 5 Points 37">
            <a:extLst>
              <a:ext uri="{FF2B5EF4-FFF2-40B4-BE49-F238E27FC236}">
                <a16:creationId xmlns:a16="http://schemas.microsoft.com/office/drawing/2014/main" id="{4E990545-4413-17DE-A91D-D35FB353060F}"/>
              </a:ext>
            </a:extLst>
          </p:cNvPr>
          <p:cNvSpPr/>
          <p:nvPr/>
        </p:nvSpPr>
        <p:spPr>
          <a:xfrm>
            <a:off x="1555823" y="5644467"/>
            <a:ext cx="209550" cy="221455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9947EC4C-176A-B52C-5B0A-2988E2B84474}"/>
              </a:ext>
            </a:extLst>
          </p:cNvPr>
          <p:cNvSpPr/>
          <p:nvPr/>
        </p:nvSpPr>
        <p:spPr>
          <a:xfrm>
            <a:off x="3308037" y="4507112"/>
            <a:ext cx="209550" cy="221455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3745124-9345-F5DE-210C-0981EC47D40B}"/>
              </a:ext>
            </a:extLst>
          </p:cNvPr>
          <p:cNvCxnSpPr>
            <a:cxnSpLocks/>
          </p:cNvCxnSpPr>
          <p:nvPr/>
        </p:nvCxnSpPr>
        <p:spPr>
          <a:xfrm>
            <a:off x="1660598" y="3688271"/>
            <a:ext cx="0" cy="1956196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544F47E-00D7-9628-59FC-6FAC4E74DD04}"/>
              </a:ext>
            </a:extLst>
          </p:cNvPr>
          <p:cNvCxnSpPr>
            <a:cxnSpLocks/>
          </p:cNvCxnSpPr>
          <p:nvPr/>
        </p:nvCxnSpPr>
        <p:spPr>
          <a:xfrm>
            <a:off x="3409564" y="2488718"/>
            <a:ext cx="3248" cy="2018394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EEC6474-6DD2-FF37-3CB6-AB534B211FE7}"/>
              </a:ext>
            </a:extLst>
          </p:cNvPr>
          <p:cNvCxnSpPr>
            <a:cxnSpLocks/>
          </p:cNvCxnSpPr>
          <p:nvPr/>
        </p:nvCxnSpPr>
        <p:spPr>
          <a:xfrm flipH="1">
            <a:off x="1275858" y="3577544"/>
            <a:ext cx="279965" cy="14554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4D0BB6C-C858-8D8F-0F66-444CC803B431}"/>
              </a:ext>
            </a:extLst>
          </p:cNvPr>
          <p:cNvCxnSpPr>
            <a:cxnSpLocks/>
          </p:cNvCxnSpPr>
          <p:nvPr/>
        </p:nvCxnSpPr>
        <p:spPr>
          <a:xfrm flipH="1">
            <a:off x="1189391" y="2369344"/>
            <a:ext cx="2115398" cy="0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34BF6FD-37DD-A319-A0AE-77822D2F254A}"/>
              </a:ext>
            </a:extLst>
          </p:cNvPr>
          <p:cNvCxnSpPr>
            <a:cxnSpLocks/>
          </p:cNvCxnSpPr>
          <p:nvPr/>
        </p:nvCxnSpPr>
        <p:spPr>
          <a:xfrm flipH="1">
            <a:off x="1189391" y="4617840"/>
            <a:ext cx="2118646" cy="71728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485E94E-C68D-DCC7-470F-2B0CA8196109}"/>
              </a:ext>
            </a:extLst>
          </p:cNvPr>
          <p:cNvCxnSpPr>
            <a:cxnSpLocks/>
          </p:cNvCxnSpPr>
          <p:nvPr/>
        </p:nvCxnSpPr>
        <p:spPr>
          <a:xfrm flipH="1">
            <a:off x="1215428" y="5755195"/>
            <a:ext cx="340395" cy="0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178612-A9BF-0672-7535-5A66CF219203}"/>
                  </a:ext>
                </a:extLst>
              </p:cNvPr>
              <p:cNvSpPr txBox="1"/>
              <p:nvPr/>
            </p:nvSpPr>
            <p:spPr>
              <a:xfrm>
                <a:off x="507390" y="2142585"/>
                <a:ext cx="7870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178612-A9BF-0672-7535-5A66CF219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90" y="2142585"/>
                <a:ext cx="787075" cy="369332"/>
              </a:xfrm>
              <a:prstGeom prst="rect">
                <a:avLst/>
              </a:prstGeom>
              <a:blipFill>
                <a:blip r:embed="rId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0837B2F-C26D-23CD-8DF5-23A2A73616BF}"/>
                  </a:ext>
                </a:extLst>
              </p:cNvPr>
              <p:cNvSpPr txBox="1"/>
              <p:nvPr/>
            </p:nvSpPr>
            <p:spPr>
              <a:xfrm>
                <a:off x="500699" y="5503400"/>
                <a:ext cx="8145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0837B2F-C26D-23CD-8DF5-23A2A73616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699" y="5503400"/>
                <a:ext cx="814582" cy="369332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EC0A193-78FA-6155-539F-78072E65870C}"/>
                  </a:ext>
                </a:extLst>
              </p:cNvPr>
              <p:cNvSpPr txBox="1"/>
              <p:nvPr/>
            </p:nvSpPr>
            <p:spPr>
              <a:xfrm>
                <a:off x="543426" y="3350282"/>
                <a:ext cx="7510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EC0A193-78FA-6155-539F-78072E658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26" y="3350282"/>
                <a:ext cx="751039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BA56523-E1C6-EADC-9FDB-EE114ADCE328}"/>
                  </a:ext>
                </a:extLst>
              </p:cNvPr>
              <p:cNvSpPr txBox="1"/>
              <p:nvPr/>
            </p:nvSpPr>
            <p:spPr>
              <a:xfrm>
                <a:off x="382580" y="4481703"/>
                <a:ext cx="8798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BA56523-E1C6-EADC-9FDB-EE114ADCE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580" y="4481703"/>
                <a:ext cx="879856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9382C21-3775-5E27-D8A1-2CABE3E9F14A}"/>
                  </a:ext>
                </a:extLst>
              </p:cNvPr>
              <p:cNvSpPr txBox="1"/>
              <p:nvPr/>
            </p:nvSpPr>
            <p:spPr>
              <a:xfrm>
                <a:off x="4079965" y="2212997"/>
                <a:ext cx="6560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9382C21-3775-5E27-D8A1-2CABE3E9F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9965" y="2212997"/>
                <a:ext cx="65601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8AAA4CA-E9C9-B40B-5F16-600108FD9E12}"/>
                  </a:ext>
                </a:extLst>
              </p:cNvPr>
              <p:cNvSpPr txBox="1"/>
              <p:nvPr/>
            </p:nvSpPr>
            <p:spPr>
              <a:xfrm>
                <a:off x="3950771" y="1466969"/>
                <a:ext cx="914400" cy="618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8AAA4CA-E9C9-B40B-5F16-600108FD9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771" y="1466969"/>
                <a:ext cx="914400" cy="618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72480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A625A-B121-18A2-B8FE-07B254640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038AB5F-08B7-FA2A-AA03-7450034ABF17}"/>
              </a:ext>
            </a:extLst>
          </p:cNvPr>
          <p:cNvCxnSpPr>
            <a:cxnSpLocks/>
          </p:cNvCxnSpPr>
          <p:nvPr/>
        </p:nvCxnSpPr>
        <p:spPr>
          <a:xfrm flipH="1">
            <a:off x="1350483" y="4868056"/>
            <a:ext cx="1658763" cy="30662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662BCD9-D282-C427-B2C9-F1283170F6BA}"/>
              </a:ext>
            </a:extLst>
          </p:cNvPr>
          <p:cNvCxnSpPr>
            <a:cxnSpLocks/>
            <a:stCxn id="46" idx="4"/>
          </p:cNvCxnSpPr>
          <p:nvPr/>
        </p:nvCxnSpPr>
        <p:spPr>
          <a:xfrm flipH="1" flipV="1">
            <a:off x="1262436" y="5503048"/>
            <a:ext cx="914547" cy="11379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3FE5BAD-437F-0989-A934-04024EAF6169}"/>
              </a:ext>
            </a:extLst>
          </p:cNvPr>
          <p:cNvCxnSpPr>
            <a:cxnSpLocks/>
          </p:cNvCxnSpPr>
          <p:nvPr/>
        </p:nvCxnSpPr>
        <p:spPr>
          <a:xfrm flipV="1">
            <a:off x="3005790" y="2638358"/>
            <a:ext cx="27717" cy="2212379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9FEE490-0EDC-FFCB-9298-A859DE9AF9F0}"/>
              </a:ext>
            </a:extLst>
          </p:cNvPr>
          <p:cNvCxnSpPr>
            <a:cxnSpLocks/>
          </p:cNvCxnSpPr>
          <p:nvPr/>
        </p:nvCxnSpPr>
        <p:spPr>
          <a:xfrm flipV="1">
            <a:off x="2044491" y="3332004"/>
            <a:ext cx="27717" cy="2212379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6D2AC04-A9B0-4556-CC8E-CBEEBF67BCFD}"/>
              </a:ext>
            </a:extLst>
          </p:cNvPr>
          <p:cNvCxnSpPr>
            <a:cxnSpLocks/>
            <a:stCxn id="11" idx="4"/>
            <a:endCxn id="17" idx="3"/>
          </p:cNvCxnSpPr>
          <p:nvPr/>
        </p:nvCxnSpPr>
        <p:spPr>
          <a:xfrm flipH="1">
            <a:off x="1321909" y="3304500"/>
            <a:ext cx="835585" cy="20310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50F29FC-C9AB-70D5-A0C2-E094672A2886}"/>
              </a:ext>
            </a:extLst>
          </p:cNvPr>
          <p:cNvCxnSpPr>
            <a:cxnSpLocks/>
          </p:cNvCxnSpPr>
          <p:nvPr/>
        </p:nvCxnSpPr>
        <p:spPr>
          <a:xfrm flipV="1">
            <a:off x="1202409" y="1838326"/>
            <a:ext cx="3017166" cy="2066924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EE737FF-52CD-FFBC-414C-BB7A8D270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000" dirty="0"/>
              <a:t>Scenario 1: An Increase in Price of Addictive Goods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46C1D2-7FCF-0EC6-0D18-6FA57821DC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20193" y="1838326"/>
                <a:ext cx="5069398" cy="4041265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CA" dirty="0"/>
                  <a:t>When the price of addictive good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CA" dirty="0"/>
                  <a:t> increases the demand for addictive goods with respect to addiction capital shifts right.</a:t>
                </a:r>
              </a:p>
              <a:p>
                <a:endParaRPr lang="en-C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46C1D2-7FCF-0EC6-0D18-6FA57821DC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20193" y="1838326"/>
                <a:ext cx="5069398" cy="4041265"/>
              </a:xfrm>
              <a:blipFill>
                <a:blip r:embed="rId2"/>
                <a:stretch>
                  <a:fillRect l="-1563" t="-1208" r="-36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A268481-C9E2-5470-4EEA-89DDA75FF0F2}"/>
              </a:ext>
            </a:extLst>
          </p:cNvPr>
          <p:cNvCxnSpPr>
            <a:cxnSpLocks/>
          </p:cNvCxnSpPr>
          <p:nvPr/>
        </p:nvCxnSpPr>
        <p:spPr>
          <a:xfrm>
            <a:off x="1202409" y="1838326"/>
            <a:ext cx="0" cy="4352924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Arc 11">
            <a:extLst>
              <a:ext uri="{FF2B5EF4-FFF2-40B4-BE49-F238E27FC236}">
                <a16:creationId xmlns:a16="http://schemas.microsoft.com/office/drawing/2014/main" id="{8F276D5E-052A-F2C6-4BF3-7ECF0E9F682A}"/>
              </a:ext>
            </a:extLst>
          </p:cNvPr>
          <p:cNvSpPr/>
          <p:nvPr/>
        </p:nvSpPr>
        <p:spPr>
          <a:xfrm>
            <a:off x="1629271" y="2369344"/>
            <a:ext cx="4352923" cy="3071812"/>
          </a:xfrm>
          <a:prstGeom prst="arc">
            <a:avLst>
              <a:gd name="adj1" fmla="val 10854667"/>
              <a:gd name="adj2" fmla="val 16216446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3FB2CD9-CD3C-C0D7-70D8-50F663871DC9}"/>
                  </a:ext>
                </a:extLst>
              </p:cNvPr>
              <p:cNvSpPr txBox="1"/>
              <p:nvPr/>
            </p:nvSpPr>
            <p:spPr>
              <a:xfrm rot="16200000">
                <a:off x="-436242" y="2687122"/>
                <a:ext cx="18401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latin typeface="Cambria Math" panose="02040503050406030204" pitchFamily="18" charset="0"/>
                  </a:rPr>
                  <a:t>Addictive Good</a:t>
                </a:r>
                <a:r>
                  <a:rPr lang="en-CA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3FB2CD9-CD3C-C0D7-70D8-50F663871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436242" y="2687122"/>
                <a:ext cx="1840184" cy="369332"/>
              </a:xfrm>
              <a:prstGeom prst="rect">
                <a:avLst/>
              </a:prstGeom>
              <a:blipFill>
                <a:blip r:embed="rId3"/>
                <a:stretch>
                  <a:fillRect l="-8197" r="-24590" b="-298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C75B232-36ED-93B2-2D47-26B8C4D2AE15}"/>
                  </a:ext>
                </a:extLst>
              </p:cNvPr>
              <p:cNvSpPr txBox="1"/>
              <p:nvPr/>
            </p:nvSpPr>
            <p:spPr>
              <a:xfrm>
                <a:off x="4473503" y="3534948"/>
                <a:ext cx="119276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latin typeface="Cambria Math" panose="02040503050406030204" pitchFamily="18" charset="0"/>
                  </a:rPr>
                  <a:t>Addiction </a:t>
                </a:r>
                <a:br>
                  <a:rPr lang="en-CA" dirty="0">
                    <a:latin typeface="Cambria Math" panose="02040503050406030204" pitchFamily="18" charset="0"/>
                  </a:rPr>
                </a:br>
                <a:r>
                  <a:rPr lang="en-CA" dirty="0">
                    <a:latin typeface="Cambria Math" panose="02040503050406030204" pitchFamily="18" charset="0"/>
                  </a:rPr>
                  <a:t>Capital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4D0EF0D-774C-33EA-2986-7B8A4E15B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3503" y="3534948"/>
                <a:ext cx="1192762" cy="646331"/>
              </a:xfrm>
              <a:prstGeom prst="rect">
                <a:avLst/>
              </a:prstGeom>
              <a:blipFill>
                <a:blip r:embed="rId4"/>
                <a:stretch>
                  <a:fillRect l="-4592" t="-6604" r="-4082" b="-1415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32093CA-8A05-53CB-8599-5D155249724F}"/>
                  </a:ext>
                </a:extLst>
              </p:cNvPr>
              <p:cNvSpPr txBox="1"/>
              <p:nvPr/>
            </p:nvSpPr>
            <p:spPr>
              <a:xfrm rot="16200000">
                <a:off x="-46372" y="5459800"/>
                <a:ext cx="9539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latin typeface="Cambria Math" panose="02040503050406030204" pitchFamily="18" charset="0"/>
                  </a:rPr>
                  <a:t>Wage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32093CA-8A05-53CB-8599-5D1552497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46372" y="5459800"/>
                <a:ext cx="953915" cy="369332"/>
              </a:xfrm>
              <a:prstGeom prst="rect">
                <a:avLst/>
              </a:prstGeom>
              <a:blipFill>
                <a:blip r:embed="rId5"/>
                <a:stretch>
                  <a:fillRect l="-8197" r="-24590" b="-576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D59A87D-60FD-1C6C-6BDE-A0C1EC6A3A91}"/>
              </a:ext>
            </a:extLst>
          </p:cNvPr>
          <p:cNvCxnSpPr>
            <a:cxnSpLocks/>
          </p:cNvCxnSpPr>
          <p:nvPr/>
        </p:nvCxnSpPr>
        <p:spPr>
          <a:xfrm flipV="1">
            <a:off x="1323975" y="4029076"/>
            <a:ext cx="3063803" cy="1990724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tar: 5 Points 35">
            <a:extLst>
              <a:ext uri="{FF2B5EF4-FFF2-40B4-BE49-F238E27FC236}">
                <a16:creationId xmlns:a16="http://schemas.microsoft.com/office/drawing/2014/main" id="{F75191CF-C972-0D55-9A93-209A63C48324}"/>
              </a:ext>
            </a:extLst>
          </p:cNvPr>
          <p:cNvSpPr/>
          <p:nvPr/>
        </p:nvSpPr>
        <p:spPr>
          <a:xfrm>
            <a:off x="3304789" y="2258616"/>
            <a:ext cx="209550" cy="221455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Star: 5 Points 36">
            <a:extLst>
              <a:ext uri="{FF2B5EF4-FFF2-40B4-BE49-F238E27FC236}">
                <a16:creationId xmlns:a16="http://schemas.microsoft.com/office/drawing/2014/main" id="{64BD0DCE-8C82-FD22-7F23-0E79CBBBADEB}"/>
              </a:ext>
            </a:extLst>
          </p:cNvPr>
          <p:cNvSpPr/>
          <p:nvPr/>
        </p:nvSpPr>
        <p:spPr>
          <a:xfrm>
            <a:off x="1555823" y="3466816"/>
            <a:ext cx="209550" cy="221455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Star: 5 Points 37">
            <a:extLst>
              <a:ext uri="{FF2B5EF4-FFF2-40B4-BE49-F238E27FC236}">
                <a16:creationId xmlns:a16="http://schemas.microsoft.com/office/drawing/2014/main" id="{5DE641D6-7884-D862-A8C5-8AD2C4445357}"/>
              </a:ext>
            </a:extLst>
          </p:cNvPr>
          <p:cNvSpPr/>
          <p:nvPr/>
        </p:nvSpPr>
        <p:spPr>
          <a:xfrm>
            <a:off x="1555823" y="5644467"/>
            <a:ext cx="209550" cy="221455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A5E43120-C6DC-3C59-B628-18EE6558651A}"/>
              </a:ext>
            </a:extLst>
          </p:cNvPr>
          <p:cNvSpPr/>
          <p:nvPr/>
        </p:nvSpPr>
        <p:spPr>
          <a:xfrm>
            <a:off x="3308037" y="4507112"/>
            <a:ext cx="209550" cy="221455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9CFE197-912F-7FE0-D15A-A62FD6A49940}"/>
              </a:ext>
            </a:extLst>
          </p:cNvPr>
          <p:cNvCxnSpPr>
            <a:cxnSpLocks/>
          </p:cNvCxnSpPr>
          <p:nvPr/>
        </p:nvCxnSpPr>
        <p:spPr>
          <a:xfrm>
            <a:off x="1660598" y="3688271"/>
            <a:ext cx="0" cy="1956196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7554719-98A6-1450-AC8C-1B6ED06D8CCD}"/>
              </a:ext>
            </a:extLst>
          </p:cNvPr>
          <p:cNvCxnSpPr>
            <a:cxnSpLocks/>
          </p:cNvCxnSpPr>
          <p:nvPr/>
        </p:nvCxnSpPr>
        <p:spPr>
          <a:xfrm>
            <a:off x="3409564" y="2488718"/>
            <a:ext cx="3248" cy="2018394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557D7F8-8391-EA65-31E0-50524F0499AD}"/>
              </a:ext>
            </a:extLst>
          </p:cNvPr>
          <p:cNvCxnSpPr>
            <a:cxnSpLocks/>
          </p:cNvCxnSpPr>
          <p:nvPr/>
        </p:nvCxnSpPr>
        <p:spPr>
          <a:xfrm flipH="1">
            <a:off x="1275858" y="3577544"/>
            <a:ext cx="279965" cy="14554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300B482-6794-7088-30B1-A2908D8BF007}"/>
              </a:ext>
            </a:extLst>
          </p:cNvPr>
          <p:cNvCxnSpPr>
            <a:cxnSpLocks/>
          </p:cNvCxnSpPr>
          <p:nvPr/>
        </p:nvCxnSpPr>
        <p:spPr>
          <a:xfrm flipH="1">
            <a:off x="1189391" y="2369344"/>
            <a:ext cx="2115398" cy="0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4FBE1A-17AC-24F6-7CC9-5D39E88BD963}"/>
              </a:ext>
            </a:extLst>
          </p:cNvPr>
          <p:cNvCxnSpPr>
            <a:cxnSpLocks/>
          </p:cNvCxnSpPr>
          <p:nvPr/>
        </p:nvCxnSpPr>
        <p:spPr>
          <a:xfrm flipH="1">
            <a:off x="1189391" y="4617840"/>
            <a:ext cx="2118646" cy="71728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9E5DDEF-7D21-4D25-344E-A6BD21F505CA}"/>
              </a:ext>
            </a:extLst>
          </p:cNvPr>
          <p:cNvCxnSpPr>
            <a:cxnSpLocks/>
          </p:cNvCxnSpPr>
          <p:nvPr/>
        </p:nvCxnSpPr>
        <p:spPr>
          <a:xfrm flipH="1">
            <a:off x="1215428" y="5755195"/>
            <a:ext cx="340395" cy="0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5BCCF2-44DC-04D9-7743-1C82DCF59854}"/>
                  </a:ext>
                </a:extLst>
              </p:cNvPr>
              <p:cNvSpPr txBox="1"/>
              <p:nvPr/>
            </p:nvSpPr>
            <p:spPr>
              <a:xfrm>
                <a:off x="507390" y="2142585"/>
                <a:ext cx="7870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5BCCF2-44DC-04D9-7743-1C82DCF59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90" y="2142585"/>
                <a:ext cx="787075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1387E5-357A-4A08-C853-45FF3354244B}"/>
                  </a:ext>
                </a:extLst>
              </p:cNvPr>
              <p:cNvSpPr txBox="1"/>
              <p:nvPr/>
            </p:nvSpPr>
            <p:spPr>
              <a:xfrm>
                <a:off x="500699" y="5503400"/>
                <a:ext cx="8145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1387E5-357A-4A08-C853-45FF33542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699" y="5503400"/>
                <a:ext cx="814582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C2C4A3-8631-F251-17B3-403B9D9B952E}"/>
                  </a:ext>
                </a:extLst>
              </p:cNvPr>
              <p:cNvSpPr txBox="1"/>
              <p:nvPr/>
            </p:nvSpPr>
            <p:spPr>
              <a:xfrm>
                <a:off x="543426" y="3350282"/>
                <a:ext cx="7510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C2C4A3-8631-F251-17B3-403B9D9B9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26" y="3350282"/>
                <a:ext cx="751039" cy="369332"/>
              </a:xfrm>
              <a:prstGeom prst="rect">
                <a:avLst/>
              </a:prstGeom>
              <a:blipFill>
                <a:blip r:embed="rId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7027CD-5586-D354-0A93-4D40678A6210}"/>
                  </a:ext>
                </a:extLst>
              </p:cNvPr>
              <p:cNvSpPr txBox="1"/>
              <p:nvPr/>
            </p:nvSpPr>
            <p:spPr>
              <a:xfrm>
                <a:off x="382580" y="4481703"/>
                <a:ext cx="8798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7027CD-5586-D354-0A93-4D40678A6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580" y="4481703"/>
                <a:ext cx="879856" cy="369332"/>
              </a:xfrm>
              <a:prstGeom prst="rect">
                <a:avLst/>
              </a:prstGeom>
              <a:blipFill>
                <a:blip r:embed="rId9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D591F14-2431-669A-E20F-67E3F4270025}"/>
                  </a:ext>
                </a:extLst>
              </p:cNvPr>
              <p:cNvSpPr txBox="1"/>
              <p:nvPr/>
            </p:nvSpPr>
            <p:spPr>
              <a:xfrm>
                <a:off x="3805732" y="2110274"/>
                <a:ext cx="6560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D591F14-2431-669A-E20F-67E3F4270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5732" y="2110274"/>
                <a:ext cx="65601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F03E555-C44E-051C-FC45-47E0567AAA0B}"/>
                  </a:ext>
                </a:extLst>
              </p:cNvPr>
              <p:cNvSpPr txBox="1"/>
              <p:nvPr/>
            </p:nvSpPr>
            <p:spPr>
              <a:xfrm>
                <a:off x="3950771" y="1466969"/>
                <a:ext cx="914400" cy="618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F03E555-C44E-051C-FC45-47E0567AA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771" y="1466969"/>
                <a:ext cx="914400" cy="618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rc 15">
            <a:extLst>
              <a:ext uri="{FF2B5EF4-FFF2-40B4-BE49-F238E27FC236}">
                <a16:creationId xmlns:a16="http://schemas.microsoft.com/office/drawing/2014/main" id="{63335703-05F7-B999-CC7E-AFC8846D1692}"/>
              </a:ext>
            </a:extLst>
          </p:cNvPr>
          <p:cNvSpPr/>
          <p:nvPr/>
        </p:nvSpPr>
        <p:spPr>
          <a:xfrm>
            <a:off x="1870148" y="2506146"/>
            <a:ext cx="4149155" cy="2860101"/>
          </a:xfrm>
          <a:prstGeom prst="arc">
            <a:avLst>
              <a:gd name="adj1" fmla="val 10854667"/>
              <a:gd name="adj2" fmla="val 16216446"/>
            </a:avLst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0B005AF-1C64-77C6-A234-38ADBF5CF5E2}"/>
              </a:ext>
            </a:extLst>
          </p:cNvPr>
          <p:cNvCxnSpPr>
            <a:cxnSpLocks/>
          </p:cNvCxnSpPr>
          <p:nvPr/>
        </p:nvCxnSpPr>
        <p:spPr>
          <a:xfrm flipH="1">
            <a:off x="1202409" y="3905250"/>
            <a:ext cx="3188616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A4938CCD-A886-8899-94D8-A7A457492880}"/>
              </a:ext>
            </a:extLst>
          </p:cNvPr>
          <p:cNvSpPr/>
          <p:nvPr/>
        </p:nvSpPr>
        <p:spPr>
          <a:xfrm>
            <a:off x="2942591" y="2527631"/>
            <a:ext cx="209550" cy="221455"/>
          </a:xfrm>
          <a:prstGeom prst="star5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3695B788-C6F7-C02B-E732-E27AA987F140}"/>
              </a:ext>
            </a:extLst>
          </p:cNvPr>
          <p:cNvSpPr/>
          <p:nvPr/>
        </p:nvSpPr>
        <p:spPr>
          <a:xfrm>
            <a:off x="1947944" y="3219912"/>
            <a:ext cx="209550" cy="221455"/>
          </a:xfrm>
          <a:prstGeom prst="star5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775B85B-56FD-2291-E253-22BDD030BE52}"/>
                  </a:ext>
                </a:extLst>
              </p:cNvPr>
              <p:cNvSpPr txBox="1"/>
              <p:nvPr/>
            </p:nvSpPr>
            <p:spPr>
              <a:xfrm>
                <a:off x="570871" y="3140144"/>
                <a:ext cx="7510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C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  <m:sup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775B85B-56FD-2291-E253-22BDD030B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71" y="3140144"/>
                <a:ext cx="751038" cy="369332"/>
              </a:xfrm>
              <a:prstGeom prst="rect">
                <a:avLst/>
              </a:prstGeom>
              <a:blipFill>
                <a:blip r:embed="rId12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B182E84-998E-1BEE-4AAD-07B71ED91791}"/>
                  </a:ext>
                </a:extLst>
              </p:cNvPr>
              <p:cNvSpPr txBox="1"/>
              <p:nvPr/>
            </p:nvSpPr>
            <p:spPr>
              <a:xfrm>
                <a:off x="515272" y="2494362"/>
                <a:ext cx="7863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C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  <m:sup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B182E84-998E-1BEE-4AAD-07B71ED91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272" y="2494362"/>
                <a:ext cx="786306" cy="369332"/>
              </a:xfrm>
              <a:prstGeom prst="rect">
                <a:avLst/>
              </a:prstGeom>
              <a:blipFill>
                <a:blip r:embed="rId13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7A26191-6FBC-03BF-2998-3579F9A178B8}"/>
              </a:ext>
            </a:extLst>
          </p:cNvPr>
          <p:cNvCxnSpPr>
            <a:cxnSpLocks/>
          </p:cNvCxnSpPr>
          <p:nvPr/>
        </p:nvCxnSpPr>
        <p:spPr>
          <a:xfrm flipH="1">
            <a:off x="1241860" y="2679028"/>
            <a:ext cx="1700731" cy="29577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Star: 5 Points 45">
            <a:extLst>
              <a:ext uri="{FF2B5EF4-FFF2-40B4-BE49-F238E27FC236}">
                <a16:creationId xmlns:a16="http://schemas.microsoft.com/office/drawing/2014/main" id="{E09778BD-B631-B532-AAAE-38DC25F3267B}"/>
              </a:ext>
            </a:extLst>
          </p:cNvPr>
          <p:cNvSpPr/>
          <p:nvPr/>
        </p:nvSpPr>
        <p:spPr>
          <a:xfrm>
            <a:off x="1967433" y="5429839"/>
            <a:ext cx="209550" cy="221455"/>
          </a:xfrm>
          <a:prstGeom prst="star5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48" name="Star: 5 Points 47">
            <a:extLst>
              <a:ext uri="{FF2B5EF4-FFF2-40B4-BE49-F238E27FC236}">
                <a16:creationId xmlns:a16="http://schemas.microsoft.com/office/drawing/2014/main" id="{A6034A8B-35D5-630E-3FAD-2DD6D41C4897}"/>
              </a:ext>
            </a:extLst>
          </p:cNvPr>
          <p:cNvSpPr/>
          <p:nvPr/>
        </p:nvSpPr>
        <p:spPr>
          <a:xfrm>
            <a:off x="2921268" y="4730937"/>
            <a:ext cx="209550" cy="221455"/>
          </a:xfrm>
          <a:prstGeom prst="star5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7E032E4-0BBA-4593-62F8-1FE6ADA89454}"/>
                  </a:ext>
                </a:extLst>
              </p:cNvPr>
              <p:cNvSpPr txBox="1"/>
              <p:nvPr/>
            </p:nvSpPr>
            <p:spPr>
              <a:xfrm>
                <a:off x="440092" y="5227627"/>
                <a:ext cx="8795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C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7E032E4-0BBA-4593-62F8-1FE6ADA89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092" y="5227627"/>
                <a:ext cx="879536" cy="369332"/>
              </a:xfrm>
              <a:prstGeom prst="rect">
                <a:avLst/>
              </a:prstGeom>
              <a:blipFill>
                <a:blip r:embed="rId1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A26C96F-8B37-775D-EBB0-E412B92640A7}"/>
                  </a:ext>
                </a:extLst>
              </p:cNvPr>
              <p:cNvSpPr txBox="1"/>
              <p:nvPr/>
            </p:nvSpPr>
            <p:spPr>
              <a:xfrm>
                <a:off x="314116" y="4769646"/>
                <a:ext cx="9148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C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A26C96F-8B37-775D-EBB0-E412B9264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16" y="4769646"/>
                <a:ext cx="914802" cy="369332"/>
              </a:xfrm>
              <a:prstGeom prst="rect">
                <a:avLst/>
              </a:prstGeom>
              <a:blipFill>
                <a:blip r:embed="rId1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2" name="Table 61">
                <a:extLst>
                  <a:ext uri="{FF2B5EF4-FFF2-40B4-BE49-F238E27FC236}">
                    <a16:creationId xmlns:a16="http://schemas.microsoft.com/office/drawing/2014/main" id="{75882EF8-566B-ABB7-10DB-8678B4A4E1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5588248"/>
                  </p:ext>
                </p:extLst>
              </p:nvPr>
            </p:nvGraphicFramePr>
            <p:xfrm>
              <a:off x="6033908" y="3672366"/>
              <a:ext cx="4903968" cy="109728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64181">
                      <a:extLst>
                        <a:ext uri="{9D8B030D-6E8A-4147-A177-3AD203B41FA5}">
                          <a16:colId xmlns:a16="http://schemas.microsoft.com/office/drawing/2014/main" val="1011190573"/>
                        </a:ext>
                      </a:extLst>
                    </a:gridCol>
                    <a:gridCol w="1187803">
                      <a:extLst>
                        <a:ext uri="{9D8B030D-6E8A-4147-A177-3AD203B41FA5}">
                          <a16:colId xmlns:a16="http://schemas.microsoft.com/office/drawing/2014/main" val="3265795488"/>
                        </a:ext>
                      </a:extLst>
                    </a:gridCol>
                    <a:gridCol w="1225992">
                      <a:extLst>
                        <a:ext uri="{9D8B030D-6E8A-4147-A177-3AD203B41FA5}">
                          <a16:colId xmlns:a16="http://schemas.microsoft.com/office/drawing/2014/main" val="396208966"/>
                        </a:ext>
                      </a:extLst>
                    </a:gridCol>
                    <a:gridCol w="1225992">
                      <a:extLst>
                        <a:ext uri="{9D8B030D-6E8A-4147-A177-3AD203B41FA5}">
                          <a16:colId xmlns:a16="http://schemas.microsoft.com/office/drawing/2014/main" val="4286881645"/>
                        </a:ext>
                      </a:extLst>
                    </a:gridCol>
                  </a:tblGrid>
                  <a:tr h="358937">
                    <a:tc>
                      <a:txBody>
                        <a:bodyPr/>
                        <a:lstStyle/>
                        <a:p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3043882"/>
                      </a:ext>
                    </a:extLst>
                  </a:tr>
                  <a:tr h="358937"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High Type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↓</m:t>
                                </m:r>
                              </m:oMath>
                            </m:oMathPara>
                          </a14:m>
                          <a:endParaRPr lang="en-CA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↓</m:t>
                                </m:r>
                              </m:oMath>
                            </m:oMathPara>
                          </a14:m>
                          <a:endParaRPr lang="en-CA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↑</m:t>
                                </m:r>
                              </m:oMath>
                            </m:oMathPara>
                          </a14:m>
                          <a:endParaRPr lang="en-CA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9165589"/>
                      </a:ext>
                    </a:extLst>
                  </a:tr>
                  <a:tr h="358937"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Low Type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↑</m:t>
                                </m:r>
                              </m:oMath>
                            </m:oMathPara>
                          </a14:m>
                          <a:endParaRPr lang="en-CA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↑</m:t>
                                </m:r>
                              </m:oMath>
                            </m:oMathPara>
                          </a14:m>
                          <a:endParaRPr lang="en-CA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↓</m:t>
                                </m:r>
                              </m:oMath>
                            </m:oMathPara>
                          </a14:m>
                          <a:endParaRPr lang="en-CA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696437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2" name="Table 61">
                <a:extLst>
                  <a:ext uri="{FF2B5EF4-FFF2-40B4-BE49-F238E27FC236}">
                    <a16:creationId xmlns:a16="http://schemas.microsoft.com/office/drawing/2014/main" id="{75882EF8-566B-ABB7-10DB-8678B4A4E1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5588248"/>
                  </p:ext>
                </p:extLst>
              </p:nvPr>
            </p:nvGraphicFramePr>
            <p:xfrm>
              <a:off x="6033908" y="3672366"/>
              <a:ext cx="4903968" cy="109728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64181">
                      <a:extLst>
                        <a:ext uri="{9D8B030D-6E8A-4147-A177-3AD203B41FA5}">
                          <a16:colId xmlns:a16="http://schemas.microsoft.com/office/drawing/2014/main" val="1011190573"/>
                        </a:ext>
                      </a:extLst>
                    </a:gridCol>
                    <a:gridCol w="1187803">
                      <a:extLst>
                        <a:ext uri="{9D8B030D-6E8A-4147-A177-3AD203B41FA5}">
                          <a16:colId xmlns:a16="http://schemas.microsoft.com/office/drawing/2014/main" val="3265795488"/>
                        </a:ext>
                      </a:extLst>
                    </a:gridCol>
                    <a:gridCol w="1225992">
                      <a:extLst>
                        <a:ext uri="{9D8B030D-6E8A-4147-A177-3AD203B41FA5}">
                          <a16:colId xmlns:a16="http://schemas.microsoft.com/office/drawing/2014/main" val="396208966"/>
                        </a:ext>
                      </a:extLst>
                    </a:gridCol>
                    <a:gridCol w="1225992">
                      <a:extLst>
                        <a:ext uri="{9D8B030D-6E8A-4147-A177-3AD203B41FA5}">
                          <a16:colId xmlns:a16="http://schemas.microsoft.com/office/drawing/2014/main" val="428688164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07179" t="-1667" r="-208718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200000" t="-1667" r="-101485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301493" t="-1667" r="-1990" b="-2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304388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High Type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07179" t="-100000" r="-208718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200000" t="-100000" r="-101485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301493" t="-100000" r="-1990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916558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Low Type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07179" t="-203333" r="-208718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200000" t="-203333" r="-101485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301493" t="-203333" r="-1990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9643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588615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7B8B4-8BB4-795A-CE7C-4F5223B1C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09131FF-C4F6-5481-65CC-5A723445B6ED}"/>
              </a:ext>
            </a:extLst>
          </p:cNvPr>
          <p:cNvCxnSpPr>
            <a:cxnSpLocks/>
          </p:cNvCxnSpPr>
          <p:nvPr/>
        </p:nvCxnSpPr>
        <p:spPr>
          <a:xfrm flipV="1">
            <a:off x="1202409" y="1838326"/>
            <a:ext cx="3017166" cy="2066924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362F1DD-0920-2128-C2C9-34FD00DF2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000" dirty="0"/>
              <a:t>Scenario 1: An Increase in Price of Addictive Goods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492B4-D6E7-0554-EB94-36C3746EC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0193" y="1838326"/>
            <a:ext cx="5069398" cy="4041265"/>
          </a:xfrm>
        </p:spPr>
        <p:txBody>
          <a:bodyPr>
            <a:normAutofit fontScale="925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According to the model its possible that a price increase can cause consumers to “</a:t>
            </a:r>
            <a:r>
              <a:rPr lang="en-CA" b="1" dirty="0"/>
              <a:t>quit cold turkey</a:t>
            </a:r>
            <a:r>
              <a:rPr lang="en-CA" dirty="0"/>
              <a:t>”. (without quitting aides or support).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This means that there will never be any amount of addictive good consumption which will make it relevant for habit formation.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This is because addiction is unfeasible under any circumstances.</a:t>
            </a:r>
          </a:p>
          <a:p>
            <a:endParaRPr lang="en-CA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E60EA1-9EFE-B62C-FAF9-F84C49D1AF1C}"/>
              </a:ext>
            </a:extLst>
          </p:cNvPr>
          <p:cNvCxnSpPr>
            <a:cxnSpLocks/>
          </p:cNvCxnSpPr>
          <p:nvPr/>
        </p:nvCxnSpPr>
        <p:spPr>
          <a:xfrm>
            <a:off x="1202409" y="1838326"/>
            <a:ext cx="0" cy="4352924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Arc 11">
            <a:extLst>
              <a:ext uri="{FF2B5EF4-FFF2-40B4-BE49-F238E27FC236}">
                <a16:creationId xmlns:a16="http://schemas.microsoft.com/office/drawing/2014/main" id="{0F845B1B-D046-A86F-68A6-9DE0A6733EC4}"/>
              </a:ext>
            </a:extLst>
          </p:cNvPr>
          <p:cNvSpPr/>
          <p:nvPr/>
        </p:nvSpPr>
        <p:spPr>
          <a:xfrm>
            <a:off x="1629271" y="2369344"/>
            <a:ext cx="4352923" cy="3071812"/>
          </a:xfrm>
          <a:prstGeom prst="arc">
            <a:avLst>
              <a:gd name="adj1" fmla="val 10854667"/>
              <a:gd name="adj2" fmla="val 16216446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60E4B2E-2A3B-92AF-3AF3-3D1E85BFBF79}"/>
                  </a:ext>
                </a:extLst>
              </p:cNvPr>
              <p:cNvSpPr txBox="1"/>
              <p:nvPr/>
            </p:nvSpPr>
            <p:spPr>
              <a:xfrm rot="16200000">
                <a:off x="-436242" y="2687122"/>
                <a:ext cx="18401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latin typeface="Cambria Math" panose="02040503050406030204" pitchFamily="18" charset="0"/>
                  </a:rPr>
                  <a:t>Addictive Good</a:t>
                </a:r>
                <a:r>
                  <a:rPr lang="en-CA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3FB2CD9-CD3C-C0D7-70D8-50F663871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436242" y="2687122"/>
                <a:ext cx="1840184" cy="369332"/>
              </a:xfrm>
              <a:prstGeom prst="rect">
                <a:avLst/>
              </a:prstGeom>
              <a:blipFill>
                <a:blip r:embed="rId2"/>
                <a:stretch>
                  <a:fillRect l="-8197" r="-24590" b="-298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8365948-E627-C94F-1F9A-80F9A2E6F17C}"/>
                  </a:ext>
                </a:extLst>
              </p:cNvPr>
              <p:cNvSpPr txBox="1"/>
              <p:nvPr/>
            </p:nvSpPr>
            <p:spPr>
              <a:xfrm>
                <a:off x="4473503" y="3534948"/>
                <a:ext cx="119276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latin typeface="Cambria Math" panose="02040503050406030204" pitchFamily="18" charset="0"/>
                  </a:rPr>
                  <a:t>Addiction </a:t>
                </a:r>
                <a:br>
                  <a:rPr lang="en-CA" dirty="0">
                    <a:latin typeface="Cambria Math" panose="02040503050406030204" pitchFamily="18" charset="0"/>
                  </a:rPr>
                </a:br>
                <a:r>
                  <a:rPr lang="en-CA" dirty="0">
                    <a:latin typeface="Cambria Math" panose="02040503050406030204" pitchFamily="18" charset="0"/>
                  </a:rPr>
                  <a:t>Capital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4D0EF0D-774C-33EA-2986-7B8A4E15B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3503" y="3534948"/>
                <a:ext cx="1192762" cy="646331"/>
              </a:xfrm>
              <a:prstGeom prst="rect">
                <a:avLst/>
              </a:prstGeom>
              <a:blipFill>
                <a:blip r:embed="rId3"/>
                <a:stretch>
                  <a:fillRect l="-4592" t="-6604" r="-4082" b="-1415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3BEC815-454F-9EA1-F344-8DF3B12F2B43}"/>
                  </a:ext>
                </a:extLst>
              </p:cNvPr>
              <p:cNvSpPr txBox="1"/>
              <p:nvPr/>
            </p:nvSpPr>
            <p:spPr>
              <a:xfrm rot="16200000">
                <a:off x="-46372" y="5459800"/>
                <a:ext cx="9539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latin typeface="Cambria Math" panose="02040503050406030204" pitchFamily="18" charset="0"/>
                  </a:rPr>
                  <a:t>Wage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32093CA-8A05-53CB-8599-5D1552497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46372" y="5459800"/>
                <a:ext cx="953915" cy="369332"/>
              </a:xfrm>
              <a:prstGeom prst="rect">
                <a:avLst/>
              </a:prstGeom>
              <a:blipFill>
                <a:blip r:embed="rId4"/>
                <a:stretch>
                  <a:fillRect l="-8197" r="-24590" b="-576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54BE23C-8715-3765-975B-25C59B67786C}"/>
              </a:ext>
            </a:extLst>
          </p:cNvPr>
          <p:cNvCxnSpPr>
            <a:cxnSpLocks/>
          </p:cNvCxnSpPr>
          <p:nvPr/>
        </p:nvCxnSpPr>
        <p:spPr>
          <a:xfrm flipV="1">
            <a:off x="1323975" y="4029076"/>
            <a:ext cx="3063803" cy="1990724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tar: 5 Points 35">
            <a:extLst>
              <a:ext uri="{FF2B5EF4-FFF2-40B4-BE49-F238E27FC236}">
                <a16:creationId xmlns:a16="http://schemas.microsoft.com/office/drawing/2014/main" id="{1A58813A-41FA-FD64-B609-49C888933B87}"/>
              </a:ext>
            </a:extLst>
          </p:cNvPr>
          <p:cNvSpPr/>
          <p:nvPr/>
        </p:nvSpPr>
        <p:spPr>
          <a:xfrm>
            <a:off x="3304789" y="2258616"/>
            <a:ext cx="209550" cy="221455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Star: 5 Points 36">
            <a:extLst>
              <a:ext uri="{FF2B5EF4-FFF2-40B4-BE49-F238E27FC236}">
                <a16:creationId xmlns:a16="http://schemas.microsoft.com/office/drawing/2014/main" id="{AAA7369B-D8EC-6954-E22F-95B70E5BF1D0}"/>
              </a:ext>
            </a:extLst>
          </p:cNvPr>
          <p:cNvSpPr/>
          <p:nvPr/>
        </p:nvSpPr>
        <p:spPr>
          <a:xfrm>
            <a:off x="1555823" y="3466816"/>
            <a:ext cx="209550" cy="221455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Star: 5 Points 37">
            <a:extLst>
              <a:ext uri="{FF2B5EF4-FFF2-40B4-BE49-F238E27FC236}">
                <a16:creationId xmlns:a16="http://schemas.microsoft.com/office/drawing/2014/main" id="{C3A466AD-E882-DD15-F5CE-B79BB4999686}"/>
              </a:ext>
            </a:extLst>
          </p:cNvPr>
          <p:cNvSpPr/>
          <p:nvPr/>
        </p:nvSpPr>
        <p:spPr>
          <a:xfrm>
            <a:off x="1555823" y="5644467"/>
            <a:ext cx="209550" cy="221455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AA1D36A7-7081-E881-D3EA-5D62645FFE76}"/>
              </a:ext>
            </a:extLst>
          </p:cNvPr>
          <p:cNvSpPr/>
          <p:nvPr/>
        </p:nvSpPr>
        <p:spPr>
          <a:xfrm>
            <a:off x="3308037" y="4507112"/>
            <a:ext cx="209550" cy="221455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33EB633-3E29-E095-E2EF-8B4B20767494}"/>
              </a:ext>
            </a:extLst>
          </p:cNvPr>
          <p:cNvCxnSpPr>
            <a:cxnSpLocks/>
          </p:cNvCxnSpPr>
          <p:nvPr/>
        </p:nvCxnSpPr>
        <p:spPr>
          <a:xfrm>
            <a:off x="1660598" y="3688271"/>
            <a:ext cx="0" cy="1956196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1B2EBFC-9269-D399-0C76-5964704462FE}"/>
              </a:ext>
            </a:extLst>
          </p:cNvPr>
          <p:cNvCxnSpPr>
            <a:cxnSpLocks/>
          </p:cNvCxnSpPr>
          <p:nvPr/>
        </p:nvCxnSpPr>
        <p:spPr>
          <a:xfrm>
            <a:off x="3409564" y="2488718"/>
            <a:ext cx="3248" cy="2018394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CBF161D-494A-D91D-7CA0-2D08F1A19373}"/>
              </a:ext>
            </a:extLst>
          </p:cNvPr>
          <p:cNvCxnSpPr>
            <a:cxnSpLocks/>
          </p:cNvCxnSpPr>
          <p:nvPr/>
        </p:nvCxnSpPr>
        <p:spPr>
          <a:xfrm flipH="1">
            <a:off x="1275858" y="3577544"/>
            <a:ext cx="279965" cy="14554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2605B40-A9B7-737D-0D89-0131599F9DB4}"/>
              </a:ext>
            </a:extLst>
          </p:cNvPr>
          <p:cNvCxnSpPr>
            <a:cxnSpLocks/>
          </p:cNvCxnSpPr>
          <p:nvPr/>
        </p:nvCxnSpPr>
        <p:spPr>
          <a:xfrm flipH="1">
            <a:off x="1189391" y="2369344"/>
            <a:ext cx="2115398" cy="0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D32436D-4227-8D0E-FE2B-F5AE36DD2161}"/>
              </a:ext>
            </a:extLst>
          </p:cNvPr>
          <p:cNvCxnSpPr>
            <a:cxnSpLocks/>
          </p:cNvCxnSpPr>
          <p:nvPr/>
        </p:nvCxnSpPr>
        <p:spPr>
          <a:xfrm flipH="1">
            <a:off x="1189391" y="4617840"/>
            <a:ext cx="2118646" cy="71728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A3EE833-8FF5-3A27-C804-B53D4830B6CF}"/>
              </a:ext>
            </a:extLst>
          </p:cNvPr>
          <p:cNvCxnSpPr>
            <a:cxnSpLocks/>
          </p:cNvCxnSpPr>
          <p:nvPr/>
        </p:nvCxnSpPr>
        <p:spPr>
          <a:xfrm flipH="1">
            <a:off x="1215428" y="5755195"/>
            <a:ext cx="340395" cy="0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2E83A8-0791-28B8-ECBB-5DA028DF6CFF}"/>
                  </a:ext>
                </a:extLst>
              </p:cNvPr>
              <p:cNvSpPr txBox="1"/>
              <p:nvPr/>
            </p:nvSpPr>
            <p:spPr>
              <a:xfrm>
                <a:off x="500699" y="5503400"/>
                <a:ext cx="8145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1387E5-357A-4A08-C853-45FF33542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699" y="5503400"/>
                <a:ext cx="814582" cy="369332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5750EB-CEC5-897F-6C34-9CA2EBE73BAA}"/>
                  </a:ext>
                </a:extLst>
              </p:cNvPr>
              <p:cNvSpPr txBox="1"/>
              <p:nvPr/>
            </p:nvSpPr>
            <p:spPr>
              <a:xfrm>
                <a:off x="543426" y="3350282"/>
                <a:ext cx="7510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C2C4A3-8631-F251-17B3-403B9D9B9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26" y="3350282"/>
                <a:ext cx="751039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9D60B6-544A-ED3B-8DF6-6991B3229DE8}"/>
                  </a:ext>
                </a:extLst>
              </p:cNvPr>
              <p:cNvSpPr txBox="1"/>
              <p:nvPr/>
            </p:nvSpPr>
            <p:spPr>
              <a:xfrm>
                <a:off x="382580" y="4481703"/>
                <a:ext cx="8798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7027CD-5586-D354-0A93-4D40678A6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580" y="4481703"/>
                <a:ext cx="879856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01E866A-CFDD-63E4-D473-A0F1E983CEB8}"/>
                  </a:ext>
                </a:extLst>
              </p:cNvPr>
              <p:cNvSpPr txBox="1"/>
              <p:nvPr/>
            </p:nvSpPr>
            <p:spPr>
              <a:xfrm>
                <a:off x="3805732" y="2110274"/>
                <a:ext cx="6560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01E866A-CFDD-63E4-D473-A0F1E983C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5732" y="2110274"/>
                <a:ext cx="65601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006A700-A416-2BD1-2A7A-2B072D1F4E39}"/>
                  </a:ext>
                </a:extLst>
              </p:cNvPr>
              <p:cNvSpPr txBox="1"/>
              <p:nvPr/>
            </p:nvSpPr>
            <p:spPr>
              <a:xfrm>
                <a:off x="3950771" y="1466969"/>
                <a:ext cx="914400" cy="618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F03E555-C44E-051C-FC45-47E0567AA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771" y="1466969"/>
                <a:ext cx="914400" cy="618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15535BC-3116-FF17-4A51-3E5062CDF53A}"/>
                  </a:ext>
                </a:extLst>
              </p:cNvPr>
              <p:cNvSpPr txBox="1"/>
              <p:nvPr/>
            </p:nvSpPr>
            <p:spPr>
              <a:xfrm>
                <a:off x="507390" y="2142585"/>
                <a:ext cx="7870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15535BC-3116-FF17-4A51-3E5062CDF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90" y="2142585"/>
                <a:ext cx="787075" cy="369332"/>
              </a:xfrm>
              <a:prstGeom prst="rect">
                <a:avLst/>
              </a:prstGeom>
              <a:blipFill>
                <a:blip r:embed="rId11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DC954F5-4B8C-C892-E50B-EC57BBF52EEE}"/>
              </a:ext>
            </a:extLst>
          </p:cNvPr>
          <p:cNvCxnSpPr>
            <a:cxnSpLocks/>
          </p:cNvCxnSpPr>
          <p:nvPr/>
        </p:nvCxnSpPr>
        <p:spPr>
          <a:xfrm flipH="1">
            <a:off x="1202409" y="3905250"/>
            <a:ext cx="3188616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Arc 25">
            <a:extLst>
              <a:ext uri="{FF2B5EF4-FFF2-40B4-BE49-F238E27FC236}">
                <a16:creationId xmlns:a16="http://schemas.microsoft.com/office/drawing/2014/main" id="{6700C79C-D70C-8DF0-4974-194AFB71812D}"/>
              </a:ext>
            </a:extLst>
          </p:cNvPr>
          <p:cNvSpPr/>
          <p:nvPr/>
        </p:nvSpPr>
        <p:spPr>
          <a:xfrm>
            <a:off x="2396223" y="2749923"/>
            <a:ext cx="3791528" cy="2310653"/>
          </a:xfrm>
          <a:prstGeom prst="arc">
            <a:avLst>
              <a:gd name="adj1" fmla="val 10854667"/>
              <a:gd name="adj2" fmla="val 16216446"/>
            </a:avLst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0253FCA5-F932-D37B-095B-57EA0C19DB75}"/>
              </a:ext>
            </a:extLst>
          </p:cNvPr>
          <p:cNvSpPr/>
          <p:nvPr/>
        </p:nvSpPr>
        <p:spPr>
          <a:xfrm>
            <a:off x="2081213" y="2943015"/>
            <a:ext cx="579646" cy="429045"/>
          </a:xfrm>
          <a:prstGeom prst="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88323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E3A4E-6BA7-A7E1-3621-012517A84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42B9037-707F-B763-0D5B-F025BDC9A0F1}"/>
              </a:ext>
            </a:extLst>
          </p:cNvPr>
          <p:cNvCxnSpPr>
            <a:cxnSpLocks/>
          </p:cNvCxnSpPr>
          <p:nvPr/>
        </p:nvCxnSpPr>
        <p:spPr>
          <a:xfrm flipV="1">
            <a:off x="1202409" y="1838326"/>
            <a:ext cx="3017166" cy="2066924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227650F-632A-277C-5EB8-EF18A21A3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000" dirty="0"/>
              <a:t>Scenario 2: An Increase in consumer non-labor Incomes.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8653E-E0D6-13C9-0444-9DB8669F9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0192" y="1838326"/>
            <a:ext cx="5300257" cy="4600574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A rise in non wage income decreases the demand for addictive goods among the low type and increases it among the high type.</a:t>
            </a:r>
            <a:br>
              <a:rPr lang="en-CA" dirty="0"/>
            </a:br>
            <a:endParaRPr lang="en-CA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CA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CA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More income provides access to more of other goods  for low type.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But more income reinforces addictive good consumption for the high type.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A8AF86-AEFF-B473-715D-7B2440FA427B}"/>
              </a:ext>
            </a:extLst>
          </p:cNvPr>
          <p:cNvCxnSpPr>
            <a:cxnSpLocks/>
          </p:cNvCxnSpPr>
          <p:nvPr/>
        </p:nvCxnSpPr>
        <p:spPr>
          <a:xfrm>
            <a:off x="1202409" y="1838326"/>
            <a:ext cx="0" cy="4352924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75673AE-4840-9FED-F6AA-1BF8A35A027A}"/>
              </a:ext>
            </a:extLst>
          </p:cNvPr>
          <p:cNvCxnSpPr>
            <a:cxnSpLocks/>
          </p:cNvCxnSpPr>
          <p:nvPr/>
        </p:nvCxnSpPr>
        <p:spPr>
          <a:xfrm flipH="1">
            <a:off x="1202409" y="3905250"/>
            <a:ext cx="3188616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Arc 11">
            <a:extLst>
              <a:ext uri="{FF2B5EF4-FFF2-40B4-BE49-F238E27FC236}">
                <a16:creationId xmlns:a16="http://schemas.microsoft.com/office/drawing/2014/main" id="{1227FB49-76E9-AE70-5951-1DA8B1C6FF4A}"/>
              </a:ext>
            </a:extLst>
          </p:cNvPr>
          <p:cNvSpPr/>
          <p:nvPr/>
        </p:nvSpPr>
        <p:spPr>
          <a:xfrm>
            <a:off x="1629271" y="2369344"/>
            <a:ext cx="4352923" cy="3071812"/>
          </a:xfrm>
          <a:prstGeom prst="arc">
            <a:avLst>
              <a:gd name="adj1" fmla="val 10854667"/>
              <a:gd name="adj2" fmla="val 16216446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959D91-5ABD-BC31-C661-D4B15D2E62FA}"/>
                  </a:ext>
                </a:extLst>
              </p:cNvPr>
              <p:cNvSpPr txBox="1"/>
              <p:nvPr/>
            </p:nvSpPr>
            <p:spPr>
              <a:xfrm rot="16200000">
                <a:off x="-436242" y="2687122"/>
                <a:ext cx="18401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latin typeface="Cambria Math" panose="02040503050406030204" pitchFamily="18" charset="0"/>
                  </a:rPr>
                  <a:t>Addictive Good</a:t>
                </a:r>
                <a:r>
                  <a:rPr lang="en-CA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959D91-5ABD-BC31-C661-D4B15D2E6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436242" y="2687122"/>
                <a:ext cx="1840184" cy="369332"/>
              </a:xfrm>
              <a:prstGeom prst="rect">
                <a:avLst/>
              </a:prstGeom>
              <a:blipFill>
                <a:blip r:embed="rId2"/>
                <a:stretch>
                  <a:fillRect l="-8197" r="-24590" b="-298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880F2B9-11B5-426B-FD37-FA7AA1EA22A7}"/>
                  </a:ext>
                </a:extLst>
              </p:cNvPr>
              <p:cNvSpPr txBox="1"/>
              <p:nvPr/>
            </p:nvSpPr>
            <p:spPr>
              <a:xfrm>
                <a:off x="4473503" y="3534948"/>
                <a:ext cx="119276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latin typeface="Cambria Math" panose="02040503050406030204" pitchFamily="18" charset="0"/>
                  </a:rPr>
                  <a:t>Addiction </a:t>
                </a:r>
                <a:br>
                  <a:rPr lang="en-CA" dirty="0">
                    <a:latin typeface="Cambria Math" panose="02040503050406030204" pitchFamily="18" charset="0"/>
                  </a:rPr>
                </a:br>
                <a:r>
                  <a:rPr lang="en-CA" dirty="0">
                    <a:latin typeface="Cambria Math" panose="02040503050406030204" pitchFamily="18" charset="0"/>
                  </a:rPr>
                  <a:t>Capital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4D0EF0D-774C-33EA-2986-7B8A4E15B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3503" y="3534948"/>
                <a:ext cx="1192762" cy="646331"/>
              </a:xfrm>
              <a:prstGeom prst="rect">
                <a:avLst/>
              </a:prstGeom>
              <a:blipFill>
                <a:blip r:embed="rId3"/>
                <a:stretch>
                  <a:fillRect l="-4592" t="-6604" r="-4082" b="-1415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C266B67-D4EA-3E3C-AA8E-CEA929248F6F}"/>
                  </a:ext>
                </a:extLst>
              </p:cNvPr>
              <p:cNvSpPr txBox="1"/>
              <p:nvPr/>
            </p:nvSpPr>
            <p:spPr>
              <a:xfrm rot="16200000">
                <a:off x="-46372" y="5459800"/>
                <a:ext cx="9539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latin typeface="Cambria Math" panose="02040503050406030204" pitchFamily="18" charset="0"/>
                  </a:rPr>
                  <a:t>Wage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C266B67-D4EA-3E3C-AA8E-CEA929248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46372" y="5459800"/>
                <a:ext cx="953915" cy="369332"/>
              </a:xfrm>
              <a:prstGeom prst="rect">
                <a:avLst/>
              </a:prstGeom>
              <a:blipFill>
                <a:blip r:embed="rId4"/>
                <a:stretch>
                  <a:fillRect l="-8197" r="-24590" b="-576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3F4265B-322E-BE54-A65B-2A5F0FF05F3E}"/>
              </a:ext>
            </a:extLst>
          </p:cNvPr>
          <p:cNvCxnSpPr>
            <a:cxnSpLocks/>
          </p:cNvCxnSpPr>
          <p:nvPr/>
        </p:nvCxnSpPr>
        <p:spPr>
          <a:xfrm flipV="1">
            <a:off x="1323975" y="4029076"/>
            <a:ext cx="3063803" cy="1990724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tar: 5 Points 35">
            <a:extLst>
              <a:ext uri="{FF2B5EF4-FFF2-40B4-BE49-F238E27FC236}">
                <a16:creationId xmlns:a16="http://schemas.microsoft.com/office/drawing/2014/main" id="{B3D42D0A-2713-A193-E9B4-250E7E07E08C}"/>
              </a:ext>
            </a:extLst>
          </p:cNvPr>
          <p:cNvSpPr/>
          <p:nvPr/>
        </p:nvSpPr>
        <p:spPr>
          <a:xfrm>
            <a:off x="3304789" y="2258616"/>
            <a:ext cx="209550" cy="221455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Star: 5 Points 36">
            <a:extLst>
              <a:ext uri="{FF2B5EF4-FFF2-40B4-BE49-F238E27FC236}">
                <a16:creationId xmlns:a16="http://schemas.microsoft.com/office/drawing/2014/main" id="{619FFBE0-A365-7E59-4C41-4E076B8F5337}"/>
              </a:ext>
            </a:extLst>
          </p:cNvPr>
          <p:cNvSpPr/>
          <p:nvPr/>
        </p:nvSpPr>
        <p:spPr>
          <a:xfrm>
            <a:off x="1555823" y="3466816"/>
            <a:ext cx="209550" cy="221455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Star: 5 Points 37">
            <a:extLst>
              <a:ext uri="{FF2B5EF4-FFF2-40B4-BE49-F238E27FC236}">
                <a16:creationId xmlns:a16="http://schemas.microsoft.com/office/drawing/2014/main" id="{6899E951-6FA8-5D16-86DB-4D6A3B83F09C}"/>
              </a:ext>
            </a:extLst>
          </p:cNvPr>
          <p:cNvSpPr/>
          <p:nvPr/>
        </p:nvSpPr>
        <p:spPr>
          <a:xfrm>
            <a:off x="1555823" y="5644467"/>
            <a:ext cx="209550" cy="221455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E181A1FB-118D-5604-FB94-94EA9DBC9CF7}"/>
              </a:ext>
            </a:extLst>
          </p:cNvPr>
          <p:cNvSpPr/>
          <p:nvPr/>
        </p:nvSpPr>
        <p:spPr>
          <a:xfrm>
            <a:off x="3308037" y="4507112"/>
            <a:ext cx="209550" cy="221455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B312753-964C-B09B-1D7D-4136C35B9400}"/>
              </a:ext>
            </a:extLst>
          </p:cNvPr>
          <p:cNvCxnSpPr>
            <a:cxnSpLocks/>
          </p:cNvCxnSpPr>
          <p:nvPr/>
        </p:nvCxnSpPr>
        <p:spPr>
          <a:xfrm>
            <a:off x="1660598" y="3688271"/>
            <a:ext cx="0" cy="1956196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426D7FD-6581-7B5F-2E7A-CA69BA58CDEA}"/>
              </a:ext>
            </a:extLst>
          </p:cNvPr>
          <p:cNvCxnSpPr>
            <a:cxnSpLocks/>
          </p:cNvCxnSpPr>
          <p:nvPr/>
        </p:nvCxnSpPr>
        <p:spPr>
          <a:xfrm>
            <a:off x="3409564" y="2488718"/>
            <a:ext cx="3248" cy="2018394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3332962-587E-BF9F-DD19-4101DFEA7673}"/>
              </a:ext>
            </a:extLst>
          </p:cNvPr>
          <p:cNvCxnSpPr>
            <a:cxnSpLocks/>
          </p:cNvCxnSpPr>
          <p:nvPr/>
        </p:nvCxnSpPr>
        <p:spPr>
          <a:xfrm flipH="1">
            <a:off x="1275858" y="3577544"/>
            <a:ext cx="279965" cy="14554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6E5074C-0282-97A9-F7DA-CD9D0CFE32BE}"/>
              </a:ext>
            </a:extLst>
          </p:cNvPr>
          <p:cNvCxnSpPr>
            <a:cxnSpLocks/>
          </p:cNvCxnSpPr>
          <p:nvPr/>
        </p:nvCxnSpPr>
        <p:spPr>
          <a:xfrm flipH="1">
            <a:off x="1189391" y="2369344"/>
            <a:ext cx="2115398" cy="0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9D1FB71-27F9-A8A0-0442-15F60FDAAFBD}"/>
              </a:ext>
            </a:extLst>
          </p:cNvPr>
          <p:cNvCxnSpPr>
            <a:cxnSpLocks/>
          </p:cNvCxnSpPr>
          <p:nvPr/>
        </p:nvCxnSpPr>
        <p:spPr>
          <a:xfrm flipH="1">
            <a:off x="1189391" y="4617840"/>
            <a:ext cx="2118646" cy="71728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6295628-6034-C467-F872-AD8B56B7EC6D}"/>
              </a:ext>
            </a:extLst>
          </p:cNvPr>
          <p:cNvCxnSpPr>
            <a:cxnSpLocks/>
          </p:cNvCxnSpPr>
          <p:nvPr/>
        </p:nvCxnSpPr>
        <p:spPr>
          <a:xfrm flipH="1">
            <a:off x="1215428" y="5755195"/>
            <a:ext cx="340395" cy="0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3075CB-41D5-2E4E-220F-94E82F46A55A}"/>
                  </a:ext>
                </a:extLst>
              </p:cNvPr>
              <p:cNvSpPr txBox="1"/>
              <p:nvPr/>
            </p:nvSpPr>
            <p:spPr>
              <a:xfrm>
                <a:off x="507390" y="2142585"/>
                <a:ext cx="7870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3075CB-41D5-2E4E-220F-94E82F46A5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90" y="2142585"/>
                <a:ext cx="787075" cy="369332"/>
              </a:xfrm>
              <a:prstGeom prst="rect">
                <a:avLst/>
              </a:prstGeom>
              <a:blipFill>
                <a:blip r:embed="rId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A55C8A6-FA05-87EA-B1E6-D2423C7F7338}"/>
                  </a:ext>
                </a:extLst>
              </p:cNvPr>
              <p:cNvSpPr txBox="1"/>
              <p:nvPr/>
            </p:nvSpPr>
            <p:spPr>
              <a:xfrm>
                <a:off x="500699" y="5503400"/>
                <a:ext cx="8145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A55C8A6-FA05-87EA-B1E6-D2423C7F73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699" y="5503400"/>
                <a:ext cx="814582" cy="369332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F07061-9408-ABDA-3DEC-0AA7D10BBE77}"/>
                  </a:ext>
                </a:extLst>
              </p:cNvPr>
              <p:cNvSpPr txBox="1"/>
              <p:nvPr/>
            </p:nvSpPr>
            <p:spPr>
              <a:xfrm>
                <a:off x="543426" y="3350282"/>
                <a:ext cx="7510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F07061-9408-ABDA-3DEC-0AA7D10BB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26" y="3350282"/>
                <a:ext cx="751039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70C7FB-8A28-8925-A5B7-B7444CAC1089}"/>
                  </a:ext>
                </a:extLst>
              </p:cNvPr>
              <p:cNvSpPr txBox="1"/>
              <p:nvPr/>
            </p:nvSpPr>
            <p:spPr>
              <a:xfrm>
                <a:off x="382580" y="4481703"/>
                <a:ext cx="8798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70C7FB-8A28-8925-A5B7-B7444CAC1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580" y="4481703"/>
                <a:ext cx="879856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DB67560-3BBD-0D70-3095-645CEF7A6B55}"/>
                  </a:ext>
                </a:extLst>
              </p:cNvPr>
              <p:cNvSpPr txBox="1"/>
              <p:nvPr/>
            </p:nvSpPr>
            <p:spPr>
              <a:xfrm>
                <a:off x="4079965" y="2212997"/>
                <a:ext cx="6560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DB67560-3BBD-0D70-3095-645CEF7A6B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9965" y="2212997"/>
                <a:ext cx="65601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800AAF8-A04C-DF4D-C12D-C245F92F5CF8}"/>
                  </a:ext>
                </a:extLst>
              </p:cNvPr>
              <p:cNvSpPr txBox="1"/>
              <p:nvPr/>
            </p:nvSpPr>
            <p:spPr>
              <a:xfrm>
                <a:off x="3950771" y="1466969"/>
                <a:ext cx="914400" cy="618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800AAF8-A04C-DF4D-C12D-C245F92F5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771" y="1466969"/>
                <a:ext cx="914400" cy="618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rc 15">
            <a:extLst>
              <a:ext uri="{FF2B5EF4-FFF2-40B4-BE49-F238E27FC236}">
                <a16:creationId xmlns:a16="http://schemas.microsoft.com/office/drawing/2014/main" id="{0B66E86C-4338-FA4A-001F-74C3E8B4011B}"/>
              </a:ext>
            </a:extLst>
          </p:cNvPr>
          <p:cNvSpPr/>
          <p:nvPr/>
        </p:nvSpPr>
        <p:spPr>
          <a:xfrm>
            <a:off x="1365392" y="2077261"/>
            <a:ext cx="5664234" cy="3733536"/>
          </a:xfrm>
          <a:prstGeom prst="arc">
            <a:avLst>
              <a:gd name="adj1" fmla="val 10854667"/>
              <a:gd name="adj2" fmla="val 16216446"/>
            </a:avLst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3EB43548-4317-AAE8-6B81-9020997955B3}"/>
              </a:ext>
            </a:extLst>
          </p:cNvPr>
          <p:cNvSpPr/>
          <p:nvPr/>
        </p:nvSpPr>
        <p:spPr>
          <a:xfrm>
            <a:off x="3683014" y="1966508"/>
            <a:ext cx="209550" cy="221455"/>
          </a:xfrm>
          <a:prstGeom prst="star5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D9BB5094-FAA7-6E12-D271-164B4B9A600D}"/>
              </a:ext>
            </a:extLst>
          </p:cNvPr>
          <p:cNvSpPr/>
          <p:nvPr/>
        </p:nvSpPr>
        <p:spPr>
          <a:xfrm>
            <a:off x="1269085" y="3619477"/>
            <a:ext cx="209550" cy="221455"/>
          </a:xfrm>
          <a:prstGeom prst="star5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1FFE81-4C03-6AD6-0C06-3736D941CDD0}"/>
              </a:ext>
            </a:extLst>
          </p:cNvPr>
          <p:cNvCxnSpPr>
            <a:cxnSpLocks/>
          </p:cNvCxnSpPr>
          <p:nvPr/>
        </p:nvCxnSpPr>
        <p:spPr>
          <a:xfrm>
            <a:off x="1365392" y="3798998"/>
            <a:ext cx="0" cy="2220802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742545B-70B7-86C3-4B47-C7ECA82789CD}"/>
              </a:ext>
            </a:extLst>
          </p:cNvPr>
          <p:cNvCxnSpPr>
            <a:cxnSpLocks/>
          </p:cNvCxnSpPr>
          <p:nvPr/>
        </p:nvCxnSpPr>
        <p:spPr>
          <a:xfrm>
            <a:off x="3805732" y="2187963"/>
            <a:ext cx="0" cy="2220802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10C225F-E00A-F722-E6C6-14CA62658284}"/>
              </a:ext>
            </a:extLst>
          </p:cNvPr>
          <p:cNvCxnSpPr>
            <a:cxnSpLocks/>
          </p:cNvCxnSpPr>
          <p:nvPr/>
        </p:nvCxnSpPr>
        <p:spPr>
          <a:xfrm>
            <a:off x="1294465" y="2094871"/>
            <a:ext cx="2336288" cy="0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C708761-2DB5-41A8-0754-B46792ABE418}"/>
              </a:ext>
            </a:extLst>
          </p:cNvPr>
          <p:cNvCxnSpPr>
            <a:cxnSpLocks/>
          </p:cNvCxnSpPr>
          <p:nvPr/>
        </p:nvCxnSpPr>
        <p:spPr>
          <a:xfrm flipV="1">
            <a:off x="1323974" y="4398000"/>
            <a:ext cx="2468740" cy="63676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tar: 5 Points 34">
            <a:extLst>
              <a:ext uri="{FF2B5EF4-FFF2-40B4-BE49-F238E27FC236}">
                <a16:creationId xmlns:a16="http://schemas.microsoft.com/office/drawing/2014/main" id="{AA168367-0927-8A72-0C41-373295D7282B}"/>
              </a:ext>
            </a:extLst>
          </p:cNvPr>
          <p:cNvSpPr/>
          <p:nvPr/>
        </p:nvSpPr>
        <p:spPr>
          <a:xfrm>
            <a:off x="3726978" y="4260248"/>
            <a:ext cx="209550" cy="221455"/>
          </a:xfrm>
          <a:prstGeom prst="star5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0" name="Star: 5 Points 39">
            <a:extLst>
              <a:ext uri="{FF2B5EF4-FFF2-40B4-BE49-F238E27FC236}">
                <a16:creationId xmlns:a16="http://schemas.microsoft.com/office/drawing/2014/main" id="{0B767F0A-E44A-ECC3-F557-3E7E7D8C16DB}"/>
              </a:ext>
            </a:extLst>
          </p:cNvPr>
          <p:cNvSpPr/>
          <p:nvPr/>
        </p:nvSpPr>
        <p:spPr>
          <a:xfrm>
            <a:off x="1234249" y="5879590"/>
            <a:ext cx="209550" cy="221455"/>
          </a:xfrm>
          <a:prstGeom prst="star5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9E65A7E-60E8-66C0-B515-FDC7933EB9D7}"/>
                  </a:ext>
                </a:extLst>
              </p:cNvPr>
              <p:cNvSpPr txBox="1"/>
              <p:nvPr/>
            </p:nvSpPr>
            <p:spPr>
              <a:xfrm>
                <a:off x="506265" y="3615682"/>
                <a:ext cx="7510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C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  <m:sup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9E65A7E-60E8-66C0-B515-FDC7933EB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265" y="3615682"/>
                <a:ext cx="751038" cy="369332"/>
              </a:xfrm>
              <a:prstGeom prst="rect">
                <a:avLst/>
              </a:prstGeom>
              <a:blipFill>
                <a:blip r:embed="rId11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E70958E-04BB-8CBC-0723-4D8680F0FFA6}"/>
                  </a:ext>
                </a:extLst>
              </p:cNvPr>
              <p:cNvSpPr txBox="1"/>
              <p:nvPr/>
            </p:nvSpPr>
            <p:spPr>
              <a:xfrm>
                <a:off x="525792" y="1847506"/>
                <a:ext cx="7863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C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  <m:sup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E70958E-04BB-8CBC-0723-4D8680F0F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92" y="1847506"/>
                <a:ext cx="786306" cy="369332"/>
              </a:xfrm>
              <a:prstGeom prst="rect">
                <a:avLst/>
              </a:prstGeom>
              <a:blipFill>
                <a:blip r:embed="rId12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6B6F7A8-F685-DE82-FFD8-9771866AA62D}"/>
                  </a:ext>
                </a:extLst>
              </p:cNvPr>
              <p:cNvSpPr txBox="1"/>
              <p:nvPr/>
            </p:nvSpPr>
            <p:spPr>
              <a:xfrm>
                <a:off x="430585" y="5847325"/>
                <a:ext cx="8795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C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6B6F7A8-F685-DE82-FFD8-9771866AA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585" y="5847325"/>
                <a:ext cx="879536" cy="369332"/>
              </a:xfrm>
              <a:prstGeom prst="rect">
                <a:avLst/>
              </a:prstGeom>
              <a:blipFill>
                <a:blip r:embed="rId1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C0882FB-392F-4C3B-0C2A-DD666CBADB73}"/>
                  </a:ext>
                </a:extLst>
              </p:cNvPr>
              <p:cNvSpPr txBox="1"/>
              <p:nvPr/>
            </p:nvSpPr>
            <p:spPr>
              <a:xfrm>
                <a:off x="419541" y="4159096"/>
                <a:ext cx="9148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C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C0882FB-392F-4C3B-0C2A-DD666CBAD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541" y="4159096"/>
                <a:ext cx="914802" cy="369332"/>
              </a:xfrm>
              <a:prstGeom prst="rect">
                <a:avLst/>
              </a:prstGeom>
              <a:blipFill>
                <a:blip r:embed="rId1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7CD7AB9E-564D-4899-9CFC-2032B72248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9597179"/>
                  </p:ext>
                </p:extLst>
              </p:nvPr>
            </p:nvGraphicFramePr>
            <p:xfrm>
              <a:off x="6139990" y="3364396"/>
              <a:ext cx="4903968" cy="109728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64181">
                      <a:extLst>
                        <a:ext uri="{9D8B030D-6E8A-4147-A177-3AD203B41FA5}">
                          <a16:colId xmlns:a16="http://schemas.microsoft.com/office/drawing/2014/main" val="1011190573"/>
                        </a:ext>
                      </a:extLst>
                    </a:gridCol>
                    <a:gridCol w="1187803">
                      <a:extLst>
                        <a:ext uri="{9D8B030D-6E8A-4147-A177-3AD203B41FA5}">
                          <a16:colId xmlns:a16="http://schemas.microsoft.com/office/drawing/2014/main" val="3265795488"/>
                        </a:ext>
                      </a:extLst>
                    </a:gridCol>
                    <a:gridCol w="1225992">
                      <a:extLst>
                        <a:ext uri="{9D8B030D-6E8A-4147-A177-3AD203B41FA5}">
                          <a16:colId xmlns:a16="http://schemas.microsoft.com/office/drawing/2014/main" val="396208966"/>
                        </a:ext>
                      </a:extLst>
                    </a:gridCol>
                    <a:gridCol w="1225992">
                      <a:extLst>
                        <a:ext uri="{9D8B030D-6E8A-4147-A177-3AD203B41FA5}">
                          <a16:colId xmlns:a16="http://schemas.microsoft.com/office/drawing/2014/main" val="4286881645"/>
                        </a:ext>
                      </a:extLst>
                    </a:gridCol>
                  </a:tblGrid>
                  <a:tr h="358937">
                    <a:tc>
                      <a:txBody>
                        <a:bodyPr/>
                        <a:lstStyle/>
                        <a:p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3043882"/>
                      </a:ext>
                    </a:extLst>
                  </a:tr>
                  <a:tr h="358937"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High Type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↑</m:t>
                                </m:r>
                              </m:oMath>
                            </m:oMathPara>
                          </a14:m>
                          <a:endParaRPr lang="en-CA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↑</m:t>
                                </m:r>
                              </m:oMath>
                            </m:oMathPara>
                          </a14:m>
                          <a:endParaRPr lang="en-CA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↓</m:t>
                                </m:r>
                              </m:oMath>
                            </m:oMathPara>
                          </a14:m>
                          <a:endParaRPr lang="en-CA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9165589"/>
                      </a:ext>
                    </a:extLst>
                  </a:tr>
                  <a:tr h="358937"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Low Type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↓</m:t>
                                </m:r>
                              </m:oMath>
                            </m:oMathPara>
                          </a14:m>
                          <a:endParaRPr lang="en-CA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↓</m:t>
                                </m:r>
                              </m:oMath>
                            </m:oMathPara>
                          </a14:m>
                          <a:endParaRPr lang="en-CA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↑</m:t>
                                </m:r>
                              </m:oMath>
                            </m:oMathPara>
                          </a14:m>
                          <a:endParaRPr lang="en-CA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696437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7CD7AB9E-564D-4899-9CFC-2032B72248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9597179"/>
                  </p:ext>
                </p:extLst>
              </p:nvPr>
            </p:nvGraphicFramePr>
            <p:xfrm>
              <a:off x="6139990" y="3364396"/>
              <a:ext cx="4903968" cy="109728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64181">
                      <a:extLst>
                        <a:ext uri="{9D8B030D-6E8A-4147-A177-3AD203B41FA5}">
                          <a16:colId xmlns:a16="http://schemas.microsoft.com/office/drawing/2014/main" val="1011190573"/>
                        </a:ext>
                      </a:extLst>
                    </a:gridCol>
                    <a:gridCol w="1187803">
                      <a:extLst>
                        <a:ext uri="{9D8B030D-6E8A-4147-A177-3AD203B41FA5}">
                          <a16:colId xmlns:a16="http://schemas.microsoft.com/office/drawing/2014/main" val="3265795488"/>
                        </a:ext>
                      </a:extLst>
                    </a:gridCol>
                    <a:gridCol w="1225992">
                      <a:extLst>
                        <a:ext uri="{9D8B030D-6E8A-4147-A177-3AD203B41FA5}">
                          <a16:colId xmlns:a16="http://schemas.microsoft.com/office/drawing/2014/main" val="396208966"/>
                        </a:ext>
                      </a:extLst>
                    </a:gridCol>
                    <a:gridCol w="1225992">
                      <a:extLst>
                        <a:ext uri="{9D8B030D-6E8A-4147-A177-3AD203B41FA5}">
                          <a16:colId xmlns:a16="http://schemas.microsoft.com/office/drawing/2014/main" val="428688164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5"/>
                          <a:stretch>
                            <a:fillRect l="-107179" t="-1667" r="-208205" b="-2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5"/>
                          <a:stretch>
                            <a:fillRect l="-200995" t="-1667" r="-101990" b="-2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5"/>
                          <a:stretch>
                            <a:fillRect l="-300995" t="-1667" r="-1990" b="-2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304388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High Type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5"/>
                          <a:stretch>
                            <a:fillRect l="-107179" t="-100000" r="-208205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5"/>
                          <a:stretch>
                            <a:fillRect l="-200995" t="-100000" r="-10199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5"/>
                          <a:stretch>
                            <a:fillRect l="-300995" t="-100000" r="-1990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916558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Low Type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5"/>
                          <a:stretch>
                            <a:fillRect l="-107179" t="-203333" r="-208205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5"/>
                          <a:stretch>
                            <a:fillRect l="-200995" t="-203333" r="-10199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5"/>
                          <a:stretch>
                            <a:fillRect l="-300995" t="-203333" r="-1990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9643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768390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EF443-7EEA-B4E1-F7AB-A2A71830B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27E9808-BD2D-061B-738A-687BBD4C65F1}"/>
              </a:ext>
            </a:extLst>
          </p:cNvPr>
          <p:cNvCxnSpPr>
            <a:cxnSpLocks/>
          </p:cNvCxnSpPr>
          <p:nvPr/>
        </p:nvCxnSpPr>
        <p:spPr>
          <a:xfrm flipH="1">
            <a:off x="1784425" y="3400972"/>
            <a:ext cx="19049" cy="2212279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01E8472-A6BF-776B-1CAC-2F1B6E98143B}"/>
              </a:ext>
            </a:extLst>
          </p:cNvPr>
          <p:cNvCxnSpPr>
            <a:cxnSpLocks/>
          </p:cNvCxnSpPr>
          <p:nvPr/>
        </p:nvCxnSpPr>
        <p:spPr>
          <a:xfrm flipV="1">
            <a:off x="1202409" y="1838326"/>
            <a:ext cx="3017166" cy="2066924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588E5CD-DD60-C797-1AC3-99D66D402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426" y="435704"/>
            <a:ext cx="10634472" cy="1117092"/>
          </a:xfrm>
        </p:spPr>
        <p:txBody>
          <a:bodyPr/>
          <a:lstStyle/>
          <a:p>
            <a:r>
              <a:rPr lang="en-CA" sz="4000" dirty="0"/>
              <a:t>Scenario 3: Increased depreciation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93BF8-77C3-B747-AA9A-08F2294DA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0193" y="1838326"/>
            <a:ext cx="5069398" cy="4283098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Depreciation in this context can be change due to change in access to quitting aides or other supports.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This makes the break even line steeper and rotating it to the left.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CA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CA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This is the same directional outcomes as a price </a:t>
            </a:r>
            <a:r>
              <a:rPr lang="en-CA" dirty="0" err="1"/>
              <a:t>incrase</a:t>
            </a:r>
            <a:endParaRPr lang="en-CA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C9F7D60-550A-82E8-911B-DF947665DBD8}"/>
              </a:ext>
            </a:extLst>
          </p:cNvPr>
          <p:cNvSpPr/>
          <p:nvPr/>
        </p:nvSpPr>
        <p:spPr>
          <a:xfrm>
            <a:off x="1629271" y="2369344"/>
            <a:ext cx="4352923" cy="3071812"/>
          </a:xfrm>
          <a:prstGeom prst="arc">
            <a:avLst>
              <a:gd name="adj1" fmla="val 10854667"/>
              <a:gd name="adj2" fmla="val 16216446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99699A8-744C-6EFB-5A00-E0DEFFFCF687}"/>
                  </a:ext>
                </a:extLst>
              </p:cNvPr>
              <p:cNvSpPr txBox="1"/>
              <p:nvPr/>
            </p:nvSpPr>
            <p:spPr>
              <a:xfrm rot="16200000">
                <a:off x="-436242" y="2687122"/>
                <a:ext cx="18401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latin typeface="Cambria Math" panose="02040503050406030204" pitchFamily="18" charset="0"/>
                  </a:rPr>
                  <a:t>Addictive Good</a:t>
                </a:r>
                <a:r>
                  <a:rPr lang="en-CA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99699A8-744C-6EFB-5A00-E0DEFFFCF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436242" y="2687122"/>
                <a:ext cx="1840184" cy="369332"/>
              </a:xfrm>
              <a:prstGeom prst="rect">
                <a:avLst/>
              </a:prstGeom>
              <a:blipFill>
                <a:blip r:embed="rId2"/>
                <a:stretch>
                  <a:fillRect l="-8197" r="-24590" b="-298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3D90FC-7F13-0454-4C70-BBFFCAD1866A}"/>
                  </a:ext>
                </a:extLst>
              </p:cNvPr>
              <p:cNvSpPr txBox="1"/>
              <p:nvPr/>
            </p:nvSpPr>
            <p:spPr>
              <a:xfrm>
                <a:off x="4473503" y="3534948"/>
                <a:ext cx="119276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latin typeface="Cambria Math" panose="02040503050406030204" pitchFamily="18" charset="0"/>
                  </a:rPr>
                  <a:t>Addiction </a:t>
                </a:r>
                <a:br>
                  <a:rPr lang="en-CA" dirty="0">
                    <a:latin typeface="Cambria Math" panose="02040503050406030204" pitchFamily="18" charset="0"/>
                  </a:rPr>
                </a:br>
                <a:r>
                  <a:rPr lang="en-CA" dirty="0">
                    <a:latin typeface="Cambria Math" panose="02040503050406030204" pitchFamily="18" charset="0"/>
                  </a:rPr>
                  <a:t>Capital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4D0EF0D-774C-33EA-2986-7B8A4E15B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3503" y="3534948"/>
                <a:ext cx="1192762" cy="646331"/>
              </a:xfrm>
              <a:prstGeom prst="rect">
                <a:avLst/>
              </a:prstGeom>
              <a:blipFill>
                <a:blip r:embed="rId3"/>
                <a:stretch>
                  <a:fillRect l="-4592" t="-6604" r="-4082" b="-1415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0E812A0-74A3-C1F9-0CFE-93AB0CF4288A}"/>
                  </a:ext>
                </a:extLst>
              </p:cNvPr>
              <p:cNvSpPr txBox="1"/>
              <p:nvPr/>
            </p:nvSpPr>
            <p:spPr>
              <a:xfrm rot="16200000">
                <a:off x="-46372" y="5459800"/>
                <a:ext cx="9539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latin typeface="Cambria Math" panose="02040503050406030204" pitchFamily="18" charset="0"/>
                  </a:rPr>
                  <a:t>Wage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0E812A0-74A3-C1F9-0CFE-93AB0CF42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46372" y="5459800"/>
                <a:ext cx="953915" cy="369332"/>
              </a:xfrm>
              <a:prstGeom prst="rect">
                <a:avLst/>
              </a:prstGeom>
              <a:blipFill>
                <a:blip r:embed="rId4"/>
                <a:stretch>
                  <a:fillRect l="-8197" r="-24590" b="-576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6F9590F-6FA6-AE81-B5D4-C127BEAB565A}"/>
              </a:ext>
            </a:extLst>
          </p:cNvPr>
          <p:cNvCxnSpPr>
            <a:cxnSpLocks/>
          </p:cNvCxnSpPr>
          <p:nvPr/>
        </p:nvCxnSpPr>
        <p:spPr>
          <a:xfrm flipV="1">
            <a:off x="1323975" y="4029076"/>
            <a:ext cx="3063803" cy="1990724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tar: 5 Points 35">
            <a:extLst>
              <a:ext uri="{FF2B5EF4-FFF2-40B4-BE49-F238E27FC236}">
                <a16:creationId xmlns:a16="http://schemas.microsoft.com/office/drawing/2014/main" id="{66445E83-CC5A-3FA7-F08A-672B837D92B4}"/>
              </a:ext>
            </a:extLst>
          </p:cNvPr>
          <p:cNvSpPr/>
          <p:nvPr/>
        </p:nvSpPr>
        <p:spPr>
          <a:xfrm>
            <a:off x="3304789" y="2258616"/>
            <a:ext cx="209550" cy="221455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Star: 5 Points 37">
            <a:extLst>
              <a:ext uri="{FF2B5EF4-FFF2-40B4-BE49-F238E27FC236}">
                <a16:creationId xmlns:a16="http://schemas.microsoft.com/office/drawing/2014/main" id="{4B4949D3-7C4D-1C0E-A6D1-6F173F23F735}"/>
              </a:ext>
            </a:extLst>
          </p:cNvPr>
          <p:cNvSpPr/>
          <p:nvPr/>
        </p:nvSpPr>
        <p:spPr>
          <a:xfrm>
            <a:off x="1555823" y="5644467"/>
            <a:ext cx="209550" cy="221455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BE0C1D10-094E-7071-7666-E467A8808A5E}"/>
              </a:ext>
            </a:extLst>
          </p:cNvPr>
          <p:cNvSpPr/>
          <p:nvPr/>
        </p:nvSpPr>
        <p:spPr>
          <a:xfrm>
            <a:off x="3308037" y="4507112"/>
            <a:ext cx="209550" cy="221455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4B920C5-E626-1734-5771-096882DA2643}"/>
              </a:ext>
            </a:extLst>
          </p:cNvPr>
          <p:cNvCxnSpPr>
            <a:cxnSpLocks/>
          </p:cNvCxnSpPr>
          <p:nvPr/>
        </p:nvCxnSpPr>
        <p:spPr>
          <a:xfrm>
            <a:off x="1660598" y="3688271"/>
            <a:ext cx="0" cy="1956196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2425B56-9E25-D7F3-E7F9-2832FDB22F01}"/>
              </a:ext>
            </a:extLst>
          </p:cNvPr>
          <p:cNvCxnSpPr>
            <a:cxnSpLocks/>
          </p:cNvCxnSpPr>
          <p:nvPr/>
        </p:nvCxnSpPr>
        <p:spPr>
          <a:xfrm>
            <a:off x="3409564" y="2488718"/>
            <a:ext cx="3248" cy="2018394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35F437D-5C44-AFF4-0D24-51A95BBE5647}"/>
              </a:ext>
            </a:extLst>
          </p:cNvPr>
          <p:cNvCxnSpPr>
            <a:cxnSpLocks/>
          </p:cNvCxnSpPr>
          <p:nvPr/>
        </p:nvCxnSpPr>
        <p:spPr>
          <a:xfrm flipH="1">
            <a:off x="1275858" y="3577544"/>
            <a:ext cx="279965" cy="14554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B133945-6722-FB17-B8DF-06A43D396E94}"/>
              </a:ext>
            </a:extLst>
          </p:cNvPr>
          <p:cNvCxnSpPr>
            <a:cxnSpLocks/>
          </p:cNvCxnSpPr>
          <p:nvPr/>
        </p:nvCxnSpPr>
        <p:spPr>
          <a:xfrm flipH="1">
            <a:off x="1189391" y="2369344"/>
            <a:ext cx="2115398" cy="0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E20766A-3AF4-2069-08CB-0093C3D233F9}"/>
              </a:ext>
            </a:extLst>
          </p:cNvPr>
          <p:cNvCxnSpPr>
            <a:cxnSpLocks/>
          </p:cNvCxnSpPr>
          <p:nvPr/>
        </p:nvCxnSpPr>
        <p:spPr>
          <a:xfrm flipH="1">
            <a:off x="1189391" y="4617840"/>
            <a:ext cx="2118646" cy="71728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C631C8F-83FD-E04E-4884-79C611F584BA}"/>
              </a:ext>
            </a:extLst>
          </p:cNvPr>
          <p:cNvCxnSpPr>
            <a:cxnSpLocks/>
          </p:cNvCxnSpPr>
          <p:nvPr/>
        </p:nvCxnSpPr>
        <p:spPr>
          <a:xfrm flipH="1">
            <a:off x="1215428" y="5755195"/>
            <a:ext cx="340395" cy="0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77DFE94-5B0B-0B4A-9EE7-0FE5DBD74FAA}"/>
                  </a:ext>
                </a:extLst>
              </p:cNvPr>
              <p:cNvSpPr txBox="1"/>
              <p:nvPr/>
            </p:nvSpPr>
            <p:spPr>
              <a:xfrm>
                <a:off x="507390" y="2142585"/>
                <a:ext cx="7870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77DFE94-5B0B-0B4A-9EE7-0FE5DBD74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90" y="2142585"/>
                <a:ext cx="787075" cy="369332"/>
              </a:xfrm>
              <a:prstGeom prst="rect">
                <a:avLst/>
              </a:prstGeom>
              <a:blipFill>
                <a:blip r:embed="rId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680A2E-9B49-79D2-4269-C7F065E0C060}"/>
                  </a:ext>
                </a:extLst>
              </p:cNvPr>
              <p:cNvSpPr txBox="1"/>
              <p:nvPr/>
            </p:nvSpPr>
            <p:spPr>
              <a:xfrm>
                <a:off x="500699" y="5503400"/>
                <a:ext cx="8145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680A2E-9B49-79D2-4269-C7F065E0C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699" y="5503400"/>
                <a:ext cx="814582" cy="369332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0CD708-AD08-0C23-DD1F-37452D276AFE}"/>
                  </a:ext>
                </a:extLst>
              </p:cNvPr>
              <p:cNvSpPr txBox="1"/>
              <p:nvPr/>
            </p:nvSpPr>
            <p:spPr>
              <a:xfrm>
                <a:off x="543426" y="3350282"/>
                <a:ext cx="7510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0CD708-AD08-0C23-DD1F-37452D276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26" y="3350282"/>
                <a:ext cx="751039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0C0D869-B88E-CAF6-FD00-2BA2715536CB}"/>
                  </a:ext>
                </a:extLst>
              </p:cNvPr>
              <p:cNvSpPr txBox="1"/>
              <p:nvPr/>
            </p:nvSpPr>
            <p:spPr>
              <a:xfrm>
                <a:off x="382580" y="4481703"/>
                <a:ext cx="8798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0C0D869-B88E-CAF6-FD00-2BA271553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580" y="4481703"/>
                <a:ext cx="879856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1A1742B-FA77-EFCD-B036-74558CF74EA2}"/>
                  </a:ext>
                </a:extLst>
              </p:cNvPr>
              <p:cNvSpPr txBox="1"/>
              <p:nvPr/>
            </p:nvSpPr>
            <p:spPr>
              <a:xfrm>
                <a:off x="4079965" y="2212997"/>
                <a:ext cx="6560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1A1742B-FA77-EFCD-B036-74558CF74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9965" y="2212997"/>
                <a:ext cx="65601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E822E8A-D4C9-A381-8DF1-E3D943A7FA33}"/>
                  </a:ext>
                </a:extLst>
              </p:cNvPr>
              <p:cNvSpPr txBox="1"/>
              <p:nvPr/>
            </p:nvSpPr>
            <p:spPr>
              <a:xfrm>
                <a:off x="4020576" y="1477099"/>
                <a:ext cx="914400" cy="618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en-CA" i="1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E822E8A-D4C9-A381-8DF1-E3D943A7F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0576" y="1477099"/>
                <a:ext cx="914400" cy="618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BB093A4-45B3-6532-FC8E-ED976BD30FB8}"/>
              </a:ext>
            </a:extLst>
          </p:cNvPr>
          <p:cNvCxnSpPr>
            <a:cxnSpLocks/>
          </p:cNvCxnSpPr>
          <p:nvPr/>
        </p:nvCxnSpPr>
        <p:spPr>
          <a:xfrm flipV="1">
            <a:off x="1189391" y="1526756"/>
            <a:ext cx="2636646" cy="2378493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7" name="Star: 5 Points 36">
            <a:extLst>
              <a:ext uri="{FF2B5EF4-FFF2-40B4-BE49-F238E27FC236}">
                <a16:creationId xmlns:a16="http://schemas.microsoft.com/office/drawing/2014/main" id="{101F43B5-E302-5E4F-82EA-D9841D7F5398}"/>
              </a:ext>
            </a:extLst>
          </p:cNvPr>
          <p:cNvSpPr/>
          <p:nvPr/>
        </p:nvSpPr>
        <p:spPr>
          <a:xfrm>
            <a:off x="1555823" y="3466816"/>
            <a:ext cx="209550" cy="221455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CD39084-DF1F-8810-D1DD-78E6E6742982}"/>
                  </a:ext>
                </a:extLst>
              </p:cNvPr>
              <p:cNvSpPr txBox="1"/>
              <p:nvPr/>
            </p:nvSpPr>
            <p:spPr>
              <a:xfrm>
                <a:off x="3622765" y="1235914"/>
                <a:ext cx="914400" cy="6337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num>
                        <m:den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en-CA" i="1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CD39084-DF1F-8810-D1DD-78E6E6742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2765" y="1235914"/>
                <a:ext cx="914400" cy="63376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8AE4BB0-3ECF-FE33-E8A4-29701D99EC8A}"/>
              </a:ext>
            </a:extLst>
          </p:cNvPr>
          <p:cNvCxnSpPr>
            <a:cxnSpLocks/>
          </p:cNvCxnSpPr>
          <p:nvPr/>
        </p:nvCxnSpPr>
        <p:spPr>
          <a:xfrm>
            <a:off x="1202409" y="1838326"/>
            <a:ext cx="0" cy="4352924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D972B8-A527-10B7-8577-0629403A4B6B}"/>
              </a:ext>
            </a:extLst>
          </p:cNvPr>
          <p:cNvCxnSpPr>
            <a:cxnSpLocks/>
          </p:cNvCxnSpPr>
          <p:nvPr/>
        </p:nvCxnSpPr>
        <p:spPr>
          <a:xfrm flipH="1">
            <a:off x="1202409" y="3905250"/>
            <a:ext cx="3188616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Star: 5 Points 23">
            <a:extLst>
              <a:ext uri="{FF2B5EF4-FFF2-40B4-BE49-F238E27FC236}">
                <a16:creationId xmlns:a16="http://schemas.microsoft.com/office/drawing/2014/main" id="{06009392-6D5F-7E2A-2100-0990DB2CF00D}"/>
              </a:ext>
            </a:extLst>
          </p:cNvPr>
          <p:cNvSpPr/>
          <p:nvPr/>
        </p:nvSpPr>
        <p:spPr>
          <a:xfrm>
            <a:off x="1689174" y="3201473"/>
            <a:ext cx="209550" cy="221455"/>
          </a:xfrm>
          <a:prstGeom prst="star5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Star: 5 Points 24">
            <a:extLst>
              <a:ext uri="{FF2B5EF4-FFF2-40B4-BE49-F238E27FC236}">
                <a16:creationId xmlns:a16="http://schemas.microsoft.com/office/drawing/2014/main" id="{3361E2B5-5201-1AD2-53BD-5090311580C4}"/>
              </a:ext>
            </a:extLst>
          </p:cNvPr>
          <p:cNvSpPr/>
          <p:nvPr/>
        </p:nvSpPr>
        <p:spPr>
          <a:xfrm>
            <a:off x="2574065" y="2409040"/>
            <a:ext cx="209550" cy="221455"/>
          </a:xfrm>
          <a:prstGeom prst="star5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Star: 5 Points 25">
            <a:extLst>
              <a:ext uri="{FF2B5EF4-FFF2-40B4-BE49-F238E27FC236}">
                <a16:creationId xmlns:a16="http://schemas.microsoft.com/office/drawing/2014/main" id="{157DF502-A6E5-C5EA-C74C-B1AB06160AC9}"/>
              </a:ext>
            </a:extLst>
          </p:cNvPr>
          <p:cNvSpPr/>
          <p:nvPr/>
        </p:nvSpPr>
        <p:spPr>
          <a:xfrm>
            <a:off x="2637051" y="4962926"/>
            <a:ext cx="209550" cy="221455"/>
          </a:xfrm>
          <a:prstGeom prst="star5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Star: 5 Points 27">
            <a:extLst>
              <a:ext uri="{FF2B5EF4-FFF2-40B4-BE49-F238E27FC236}">
                <a16:creationId xmlns:a16="http://schemas.microsoft.com/office/drawing/2014/main" id="{48740FAC-6A3F-3B8E-EF7B-4DB3DEB16770}"/>
              </a:ext>
            </a:extLst>
          </p:cNvPr>
          <p:cNvSpPr/>
          <p:nvPr/>
        </p:nvSpPr>
        <p:spPr>
          <a:xfrm>
            <a:off x="1746324" y="5556691"/>
            <a:ext cx="209550" cy="221455"/>
          </a:xfrm>
          <a:prstGeom prst="star5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99D6269-1BD5-1547-F3BB-B861F3EE3342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2697449" y="2614000"/>
            <a:ext cx="44377" cy="2348926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BC2674D-B1D1-A0FB-BF52-A0FEA39C42A0}"/>
              </a:ext>
            </a:extLst>
          </p:cNvPr>
          <p:cNvCxnSpPr>
            <a:cxnSpLocks/>
          </p:cNvCxnSpPr>
          <p:nvPr/>
        </p:nvCxnSpPr>
        <p:spPr>
          <a:xfrm flipH="1">
            <a:off x="1242874" y="2577073"/>
            <a:ext cx="1331191" cy="0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0CEAADD-87ED-60AA-24F0-8E8E81E17BD3}"/>
              </a:ext>
            </a:extLst>
          </p:cNvPr>
          <p:cNvCxnSpPr>
            <a:cxnSpLocks/>
          </p:cNvCxnSpPr>
          <p:nvPr/>
        </p:nvCxnSpPr>
        <p:spPr>
          <a:xfrm flipH="1" flipV="1">
            <a:off x="1214610" y="3320801"/>
            <a:ext cx="402461" cy="2167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B3B0509-2D79-224A-D056-3B098B5B80C5}"/>
              </a:ext>
            </a:extLst>
          </p:cNvPr>
          <p:cNvCxnSpPr>
            <a:cxnSpLocks/>
            <a:stCxn id="28" idx="1"/>
          </p:cNvCxnSpPr>
          <p:nvPr/>
        </p:nvCxnSpPr>
        <p:spPr>
          <a:xfrm flipH="1" flipV="1">
            <a:off x="1214610" y="5610362"/>
            <a:ext cx="531714" cy="30917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071BD2D-C551-FD62-EAEC-1EE76D6F9590}"/>
                  </a:ext>
                </a:extLst>
              </p:cNvPr>
              <p:cNvSpPr txBox="1"/>
              <p:nvPr/>
            </p:nvSpPr>
            <p:spPr>
              <a:xfrm>
                <a:off x="509393" y="5278375"/>
                <a:ext cx="8145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C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  <m:sup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071BD2D-C551-FD62-EAEC-1EE76D6F9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393" y="5278375"/>
                <a:ext cx="814582" cy="369332"/>
              </a:xfrm>
              <a:prstGeom prst="rect">
                <a:avLst/>
              </a:prstGeom>
              <a:blipFill>
                <a:blip r:embed="rId12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1997173-5D34-818D-63ED-4E4A6CA0685F}"/>
              </a:ext>
            </a:extLst>
          </p:cNvPr>
          <p:cNvCxnSpPr>
            <a:cxnSpLocks/>
          </p:cNvCxnSpPr>
          <p:nvPr/>
        </p:nvCxnSpPr>
        <p:spPr>
          <a:xfrm flipH="1">
            <a:off x="1275858" y="5091673"/>
            <a:ext cx="1358607" cy="0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275D5F6-FAA0-DAC0-234A-3B3876FABB42}"/>
                  </a:ext>
                </a:extLst>
              </p:cNvPr>
              <p:cNvSpPr txBox="1"/>
              <p:nvPr/>
            </p:nvSpPr>
            <p:spPr>
              <a:xfrm>
                <a:off x="488783" y="2459058"/>
                <a:ext cx="7863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C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  <m:sup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275D5F6-FAA0-DAC0-234A-3B3876FAB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783" y="2459058"/>
                <a:ext cx="786306" cy="369332"/>
              </a:xfrm>
              <a:prstGeom prst="rect">
                <a:avLst/>
              </a:prstGeom>
              <a:blipFill>
                <a:blip r:embed="rId13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74F98A5-25CA-5EEC-7796-15682A086F5B}"/>
                  </a:ext>
                </a:extLst>
              </p:cNvPr>
              <p:cNvSpPr txBox="1"/>
              <p:nvPr/>
            </p:nvSpPr>
            <p:spPr>
              <a:xfrm>
                <a:off x="469467" y="4851035"/>
                <a:ext cx="8498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C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  <m:sup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74F98A5-25CA-5EEC-7796-15682A086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467" y="4851035"/>
                <a:ext cx="849848" cy="369332"/>
              </a:xfrm>
              <a:prstGeom prst="rect">
                <a:avLst/>
              </a:prstGeom>
              <a:blipFill>
                <a:blip r:embed="rId14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6FF22AA-83F4-3FDA-A89A-72C4DDF32B56}"/>
                  </a:ext>
                </a:extLst>
              </p:cNvPr>
              <p:cNvSpPr txBox="1"/>
              <p:nvPr/>
            </p:nvSpPr>
            <p:spPr>
              <a:xfrm>
                <a:off x="495852" y="3063025"/>
                <a:ext cx="8023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C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  <m:sup>
                              <m:r>
                                <a:rPr lang="en-CA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CA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CA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6FF22AA-83F4-3FDA-A89A-72C4DDF32B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52" y="3063025"/>
                <a:ext cx="802336" cy="369332"/>
              </a:xfrm>
              <a:prstGeom prst="rect">
                <a:avLst/>
              </a:prstGeom>
              <a:blipFill>
                <a:blip r:embed="rId15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7" name="Table 66">
                <a:extLst>
                  <a:ext uri="{FF2B5EF4-FFF2-40B4-BE49-F238E27FC236}">
                    <a16:creationId xmlns:a16="http://schemas.microsoft.com/office/drawing/2014/main" id="{ED1690E1-49B7-DFF9-85A0-6F6CC09DD6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7844273"/>
                  </p:ext>
                </p:extLst>
              </p:nvPr>
            </p:nvGraphicFramePr>
            <p:xfrm>
              <a:off x="6098641" y="4302395"/>
              <a:ext cx="4903968" cy="109728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64181">
                      <a:extLst>
                        <a:ext uri="{9D8B030D-6E8A-4147-A177-3AD203B41FA5}">
                          <a16:colId xmlns:a16="http://schemas.microsoft.com/office/drawing/2014/main" val="1011190573"/>
                        </a:ext>
                      </a:extLst>
                    </a:gridCol>
                    <a:gridCol w="1187803">
                      <a:extLst>
                        <a:ext uri="{9D8B030D-6E8A-4147-A177-3AD203B41FA5}">
                          <a16:colId xmlns:a16="http://schemas.microsoft.com/office/drawing/2014/main" val="3265795488"/>
                        </a:ext>
                      </a:extLst>
                    </a:gridCol>
                    <a:gridCol w="1225992">
                      <a:extLst>
                        <a:ext uri="{9D8B030D-6E8A-4147-A177-3AD203B41FA5}">
                          <a16:colId xmlns:a16="http://schemas.microsoft.com/office/drawing/2014/main" val="396208966"/>
                        </a:ext>
                      </a:extLst>
                    </a:gridCol>
                    <a:gridCol w="1225992">
                      <a:extLst>
                        <a:ext uri="{9D8B030D-6E8A-4147-A177-3AD203B41FA5}">
                          <a16:colId xmlns:a16="http://schemas.microsoft.com/office/drawing/2014/main" val="4286881645"/>
                        </a:ext>
                      </a:extLst>
                    </a:gridCol>
                  </a:tblGrid>
                  <a:tr h="358937">
                    <a:tc>
                      <a:txBody>
                        <a:bodyPr/>
                        <a:lstStyle/>
                        <a:p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3043882"/>
                      </a:ext>
                    </a:extLst>
                  </a:tr>
                  <a:tr h="358937"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High Type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↓</m:t>
                                </m:r>
                              </m:oMath>
                            </m:oMathPara>
                          </a14:m>
                          <a:endParaRPr lang="en-CA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↓</m:t>
                                </m:r>
                              </m:oMath>
                            </m:oMathPara>
                          </a14:m>
                          <a:endParaRPr lang="en-CA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↑</m:t>
                                </m:r>
                              </m:oMath>
                            </m:oMathPara>
                          </a14:m>
                          <a:endParaRPr lang="en-CA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9165589"/>
                      </a:ext>
                    </a:extLst>
                  </a:tr>
                  <a:tr h="358937"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Low Type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↑</m:t>
                                </m:r>
                              </m:oMath>
                            </m:oMathPara>
                          </a14:m>
                          <a:endParaRPr lang="en-CA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↑</m:t>
                                </m:r>
                              </m:oMath>
                            </m:oMathPara>
                          </a14:m>
                          <a:endParaRPr lang="en-CA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↓</m:t>
                                </m:r>
                              </m:oMath>
                            </m:oMathPara>
                          </a14:m>
                          <a:endParaRPr lang="en-CA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696437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7" name="Table 66">
                <a:extLst>
                  <a:ext uri="{FF2B5EF4-FFF2-40B4-BE49-F238E27FC236}">
                    <a16:creationId xmlns:a16="http://schemas.microsoft.com/office/drawing/2014/main" id="{ED1690E1-49B7-DFF9-85A0-6F6CC09DD6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7844273"/>
                  </p:ext>
                </p:extLst>
              </p:nvPr>
            </p:nvGraphicFramePr>
            <p:xfrm>
              <a:off x="6098641" y="4302395"/>
              <a:ext cx="4903968" cy="109728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64181">
                      <a:extLst>
                        <a:ext uri="{9D8B030D-6E8A-4147-A177-3AD203B41FA5}">
                          <a16:colId xmlns:a16="http://schemas.microsoft.com/office/drawing/2014/main" val="1011190573"/>
                        </a:ext>
                      </a:extLst>
                    </a:gridCol>
                    <a:gridCol w="1187803">
                      <a:extLst>
                        <a:ext uri="{9D8B030D-6E8A-4147-A177-3AD203B41FA5}">
                          <a16:colId xmlns:a16="http://schemas.microsoft.com/office/drawing/2014/main" val="3265795488"/>
                        </a:ext>
                      </a:extLst>
                    </a:gridCol>
                    <a:gridCol w="1225992">
                      <a:extLst>
                        <a:ext uri="{9D8B030D-6E8A-4147-A177-3AD203B41FA5}">
                          <a16:colId xmlns:a16="http://schemas.microsoft.com/office/drawing/2014/main" val="396208966"/>
                        </a:ext>
                      </a:extLst>
                    </a:gridCol>
                    <a:gridCol w="1225992">
                      <a:extLst>
                        <a:ext uri="{9D8B030D-6E8A-4147-A177-3AD203B41FA5}">
                          <a16:colId xmlns:a16="http://schemas.microsoft.com/office/drawing/2014/main" val="428688164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07179" t="-1667" r="-208718" b="-2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200995" t="-1667" r="-102488" b="-2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300995" t="-1667" r="-2488" b="-2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304388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High Type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07179" t="-100000" r="-208718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200995" t="-100000" r="-102488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300995" t="-100000" r="-2488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916558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Low Type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107179" t="-203333" r="-208718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200995" t="-203333" r="-102488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6"/>
                          <a:stretch>
                            <a:fillRect l="-300995" t="-203333" r="-2488" b="-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9643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955483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F6564-C1AB-2007-48B3-3D6114F1F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CF25FC-5BE8-22DB-2BC9-795A73DEADCC}"/>
              </a:ext>
            </a:extLst>
          </p:cNvPr>
          <p:cNvCxnSpPr>
            <a:cxnSpLocks/>
          </p:cNvCxnSpPr>
          <p:nvPr/>
        </p:nvCxnSpPr>
        <p:spPr>
          <a:xfrm flipV="1">
            <a:off x="1202409" y="1838326"/>
            <a:ext cx="3017166" cy="2066924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C34986E-CF7B-D4D8-C723-98FF86527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000" dirty="0"/>
              <a:t>Practice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11F9B-1CC8-9949-2BB9-6D4507DF4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0193" y="1838326"/>
            <a:ext cx="5069398" cy="4041265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CA" dirty="0"/>
              <a:t>How does the introduction of “supervised injection sites” impact the rational addiction model?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How do negative income shocks (say from a recession in the economy) impact the demand for addictive goods for high and low groups?</a:t>
            </a:r>
          </a:p>
          <a:p>
            <a:pPr marL="457200" indent="-457200">
              <a:buFont typeface="+mj-lt"/>
              <a:buAutoNum type="arabicPeriod"/>
            </a:pPr>
            <a:r>
              <a:rPr lang="en-CA" b="1" dirty="0"/>
              <a:t>TRICKY QUESTION</a:t>
            </a:r>
            <a:r>
              <a:rPr lang="en-CA" dirty="0"/>
              <a:t>: What happens the demand for addictive goods when the price of </a:t>
            </a:r>
            <a:r>
              <a:rPr lang="en-CA" i="1" dirty="0"/>
              <a:t>Non Addictive Goods Change.</a:t>
            </a:r>
            <a:endParaRPr lang="en-CA" b="1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DCE645F-7E00-2831-E28B-2A44413FAC4B}"/>
              </a:ext>
            </a:extLst>
          </p:cNvPr>
          <p:cNvCxnSpPr>
            <a:cxnSpLocks/>
          </p:cNvCxnSpPr>
          <p:nvPr/>
        </p:nvCxnSpPr>
        <p:spPr>
          <a:xfrm>
            <a:off x="1202409" y="1838326"/>
            <a:ext cx="0" cy="4352924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016F4F0-4C96-C527-19E2-543B973AB9BD}"/>
              </a:ext>
            </a:extLst>
          </p:cNvPr>
          <p:cNvCxnSpPr>
            <a:cxnSpLocks/>
          </p:cNvCxnSpPr>
          <p:nvPr/>
        </p:nvCxnSpPr>
        <p:spPr>
          <a:xfrm flipH="1">
            <a:off x="1202409" y="3905250"/>
            <a:ext cx="3188616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Arc 11">
            <a:extLst>
              <a:ext uri="{FF2B5EF4-FFF2-40B4-BE49-F238E27FC236}">
                <a16:creationId xmlns:a16="http://schemas.microsoft.com/office/drawing/2014/main" id="{FF134D93-9ABD-C9CE-1019-8F4B067779F5}"/>
              </a:ext>
            </a:extLst>
          </p:cNvPr>
          <p:cNvSpPr/>
          <p:nvPr/>
        </p:nvSpPr>
        <p:spPr>
          <a:xfrm>
            <a:off x="1629271" y="2369344"/>
            <a:ext cx="4352923" cy="3071812"/>
          </a:xfrm>
          <a:prstGeom prst="arc">
            <a:avLst>
              <a:gd name="adj1" fmla="val 10854667"/>
              <a:gd name="adj2" fmla="val 16216446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680AA83-87B6-F926-FBFD-89BAE7BFFD8E}"/>
                  </a:ext>
                </a:extLst>
              </p:cNvPr>
              <p:cNvSpPr txBox="1"/>
              <p:nvPr/>
            </p:nvSpPr>
            <p:spPr>
              <a:xfrm rot="16200000">
                <a:off x="-436242" y="2687122"/>
                <a:ext cx="18401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latin typeface="Cambria Math" panose="02040503050406030204" pitchFamily="18" charset="0"/>
                  </a:rPr>
                  <a:t>Addictive Good</a:t>
                </a:r>
                <a:r>
                  <a:rPr lang="en-CA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680AA83-87B6-F926-FBFD-89BAE7BFF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436242" y="2687122"/>
                <a:ext cx="1840184" cy="369332"/>
              </a:xfrm>
              <a:prstGeom prst="rect">
                <a:avLst/>
              </a:prstGeom>
              <a:blipFill>
                <a:blip r:embed="rId2"/>
                <a:stretch>
                  <a:fillRect l="-8197" r="-24590" b="-298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C655C4B-EDCF-359D-2BE7-C0713DFBF104}"/>
                  </a:ext>
                </a:extLst>
              </p:cNvPr>
              <p:cNvSpPr txBox="1"/>
              <p:nvPr/>
            </p:nvSpPr>
            <p:spPr>
              <a:xfrm>
                <a:off x="4473503" y="3534948"/>
                <a:ext cx="119276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latin typeface="Cambria Math" panose="02040503050406030204" pitchFamily="18" charset="0"/>
                  </a:rPr>
                  <a:t>Addiction </a:t>
                </a:r>
                <a:br>
                  <a:rPr lang="en-CA" dirty="0">
                    <a:latin typeface="Cambria Math" panose="02040503050406030204" pitchFamily="18" charset="0"/>
                  </a:rPr>
                </a:br>
                <a:r>
                  <a:rPr lang="en-CA" dirty="0">
                    <a:latin typeface="Cambria Math" panose="02040503050406030204" pitchFamily="18" charset="0"/>
                  </a:rPr>
                  <a:t>Capital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4D0EF0D-774C-33EA-2986-7B8A4E15B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3503" y="3534948"/>
                <a:ext cx="1192762" cy="646331"/>
              </a:xfrm>
              <a:prstGeom prst="rect">
                <a:avLst/>
              </a:prstGeom>
              <a:blipFill>
                <a:blip r:embed="rId3"/>
                <a:stretch>
                  <a:fillRect l="-4592" t="-6604" r="-4082" b="-1415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AA58209-CB2F-E8F9-DFD0-6010D513DBC7}"/>
                  </a:ext>
                </a:extLst>
              </p:cNvPr>
              <p:cNvSpPr txBox="1"/>
              <p:nvPr/>
            </p:nvSpPr>
            <p:spPr>
              <a:xfrm rot="16200000">
                <a:off x="-46372" y="5459800"/>
                <a:ext cx="9539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latin typeface="Cambria Math" panose="02040503050406030204" pitchFamily="18" charset="0"/>
                  </a:rPr>
                  <a:t>Wage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AA58209-CB2F-E8F9-DFD0-6010D513D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46372" y="5459800"/>
                <a:ext cx="953915" cy="369332"/>
              </a:xfrm>
              <a:prstGeom prst="rect">
                <a:avLst/>
              </a:prstGeom>
              <a:blipFill>
                <a:blip r:embed="rId4"/>
                <a:stretch>
                  <a:fillRect l="-8197" r="-24590" b="-576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45D5608-7A5F-B2FF-742B-93F00450A9E2}"/>
              </a:ext>
            </a:extLst>
          </p:cNvPr>
          <p:cNvCxnSpPr>
            <a:cxnSpLocks/>
          </p:cNvCxnSpPr>
          <p:nvPr/>
        </p:nvCxnSpPr>
        <p:spPr>
          <a:xfrm flipV="1">
            <a:off x="1323975" y="4029076"/>
            <a:ext cx="3063803" cy="1990724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tar: 5 Points 35">
            <a:extLst>
              <a:ext uri="{FF2B5EF4-FFF2-40B4-BE49-F238E27FC236}">
                <a16:creationId xmlns:a16="http://schemas.microsoft.com/office/drawing/2014/main" id="{CCE58E16-F776-CF32-0A8C-4F66875C0F40}"/>
              </a:ext>
            </a:extLst>
          </p:cNvPr>
          <p:cNvSpPr/>
          <p:nvPr/>
        </p:nvSpPr>
        <p:spPr>
          <a:xfrm>
            <a:off x="3304789" y="2258616"/>
            <a:ext cx="209550" cy="221455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Star: 5 Points 36">
            <a:extLst>
              <a:ext uri="{FF2B5EF4-FFF2-40B4-BE49-F238E27FC236}">
                <a16:creationId xmlns:a16="http://schemas.microsoft.com/office/drawing/2014/main" id="{5810D268-1869-C1E2-AF81-F1C775793BB3}"/>
              </a:ext>
            </a:extLst>
          </p:cNvPr>
          <p:cNvSpPr/>
          <p:nvPr/>
        </p:nvSpPr>
        <p:spPr>
          <a:xfrm>
            <a:off x="1555823" y="3466816"/>
            <a:ext cx="209550" cy="221455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Star: 5 Points 37">
            <a:extLst>
              <a:ext uri="{FF2B5EF4-FFF2-40B4-BE49-F238E27FC236}">
                <a16:creationId xmlns:a16="http://schemas.microsoft.com/office/drawing/2014/main" id="{D5E3A7D9-3CE4-7091-0730-22098385B906}"/>
              </a:ext>
            </a:extLst>
          </p:cNvPr>
          <p:cNvSpPr/>
          <p:nvPr/>
        </p:nvSpPr>
        <p:spPr>
          <a:xfrm>
            <a:off x="1555823" y="5644467"/>
            <a:ext cx="209550" cy="221455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6DA7F784-05CA-F5DA-AD6D-4A36FD52CF3B}"/>
              </a:ext>
            </a:extLst>
          </p:cNvPr>
          <p:cNvSpPr/>
          <p:nvPr/>
        </p:nvSpPr>
        <p:spPr>
          <a:xfrm>
            <a:off x="3308037" y="4507112"/>
            <a:ext cx="209550" cy="221455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8073C2A-D571-F076-97D0-61788098C6F9}"/>
              </a:ext>
            </a:extLst>
          </p:cNvPr>
          <p:cNvCxnSpPr>
            <a:cxnSpLocks/>
          </p:cNvCxnSpPr>
          <p:nvPr/>
        </p:nvCxnSpPr>
        <p:spPr>
          <a:xfrm>
            <a:off x="1660598" y="3688271"/>
            <a:ext cx="0" cy="1956196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7246B9D-62CE-2F54-47E6-D61A06D30F00}"/>
              </a:ext>
            </a:extLst>
          </p:cNvPr>
          <p:cNvCxnSpPr>
            <a:cxnSpLocks/>
          </p:cNvCxnSpPr>
          <p:nvPr/>
        </p:nvCxnSpPr>
        <p:spPr>
          <a:xfrm>
            <a:off x="3409564" y="2488718"/>
            <a:ext cx="3248" cy="2018394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3C5FE2D-0709-E610-E247-4EEF023F3623}"/>
              </a:ext>
            </a:extLst>
          </p:cNvPr>
          <p:cNvCxnSpPr>
            <a:cxnSpLocks/>
          </p:cNvCxnSpPr>
          <p:nvPr/>
        </p:nvCxnSpPr>
        <p:spPr>
          <a:xfrm flipH="1">
            <a:off x="1275858" y="3577544"/>
            <a:ext cx="279965" cy="14554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85B65A1-AD1A-E715-6687-46344C52A006}"/>
              </a:ext>
            </a:extLst>
          </p:cNvPr>
          <p:cNvCxnSpPr>
            <a:cxnSpLocks/>
          </p:cNvCxnSpPr>
          <p:nvPr/>
        </p:nvCxnSpPr>
        <p:spPr>
          <a:xfrm flipH="1">
            <a:off x="1189391" y="2369344"/>
            <a:ext cx="2115398" cy="0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3CAFF02-1B0E-785A-BB65-706CB6117D4B}"/>
              </a:ext>
            </a:extLst>
          </p:cNvPr>
          <p:cNvCxnSpPr>
            <a:cxnSpLocks/>
          </p:cNvCxnSpPr>
          <p:nvPr/>
        </p:nvCxnSpPr>
        <p:spPr>
          <a:xfrm flipH="1">
            <a:off x="1189391" y="4617840"/>
            <a:ext cx="2118646" cy="71728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FD69707-CFF7-C6B6-51ED-2A377E5A0C18}"/>
              </a:ext>
            </a:extLst>
          </p:cNvPr>
          <p:cNvCxnSpPr>
            <a:cxnSpLocks/>
          </p:cNvCxnSpPr>
          <p:nvPr/>
        </p:nvCxnSpPr>
        <p:spPr>
          <a:xfrm flipH="1">
            <a:off x="1215428" y="5755195"/>
            <a:ext cx="340395" cy="0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7077E88-DEE4-0D5C-B3A1-D00B274DF7AD}"/>
                  </a:ext>
                </a:extLst>
              </p:cNvPr>
              <p:cNvSpPr txBox="1"/>
              <p:nvPr/>
            </p:nvSpPr>
            <p:spPr>
              <a:xfrm>
                <a:off x="507390" y="2142585"/>
                <a:ext cx="7870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7077E88-DEE4-0D5C-B3A1-D00B274DF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90" y="2142585"/>
                <a:ext cx="787075" cy="369332"/>
              </a:xfrm>
              <a:prstGeom prst="rect">
                <a:avLst/>
              </a:prstGeom>
              <a:blipFill>
                <a:blip r:embed="rId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E220E8-84DC-B3DD-2371-8907581DEF44}"/>
                  </a:ext>
                </a:extLst>
              </p:cNvPr>
              <p:cNvSpPr txBox="1"/>
              <p:nvPr/>
            </p:nvSpPr>
            <p:spPr>
              <a:xfrm>
                <a:off x="500699" y="5503400"/>
                <a:ext cx="8145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E220E8-84DC-B3DD-2371-8907581DE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699" y="5503400"/>
                <a:ext cx="814582" cy="369332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09DF0A-062B-4754-ED0D-D2112A8A2CFA}"/>
                  </a:ext>
                </a:extLst>
              </p:cNvPr>
              <p:cNvSpPr txBox="1"/>
              <p:nvPr/>
            </p:nvSpPr>
            <p:spPr>
              <a:xfrm>
                <a:off x="543426" y="3350282"/>
                <a:ext cx="7510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09DF0A-062B-4754-ED0D-D2112A8A2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26" y="3350282"/>
                <a:ext cx="751039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FDB5D8-BCA1-9CC2-4650-FE1A570629EC}"/>
                  </a:ext>
                </a:extLst>
              </p:cNvPr>
              <p:cNvSpPr txBox="1"/>
              <p:nvPr/>
            </p:nvSpPr>
            <p:spPr>
              <a:xfrm>
                <a:off x="382580" y="4481703"/>
                <a:ext cx="8798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FDB5D8-BCA1-9CC2-4650-FE1A57062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580" y="4481703"/>
                <a:ext cx="879856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438B5C8-3275-992A-7E62-2BBD853846D7}"/>
                  </a:ext>
                </a:extLst>
              </p:cNvPr>
              <p:cNvSpPr txBox="1"/>
              <p:nvPr/>
            </p:nvSpPr>
            <p:spPr>
              <a:xfrm>
                <a:off x="4079965" y="2212997"/>
                <a:ext cx="6560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438B5C8-3275-992A-7E62-2BBD85384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9965" y="2212997"/>
                <a:ext cx="65601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AA1916D-76AA-EA4E-D003-9E2A4A99DA0B}"/>
                  </a:ext>
                </a:extLst>
              </p:cNvPr>
              <p:cNvSpPr txBox="1"/>
              <p:nvPr/>
            </p:nvSpPr>
            <p:spPr>
              <a:xfrm>
                <a:off x="3950771" y="1466969"/>
                <a:ext cx="914400" cy="618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AA1916D-76AA-EA4E-D003-9E2A4A99D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771" y="1466969"/>
                <a:ext cx="914400" cy="618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45737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EADDD-0DA7-26D5-853A-440C65879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FCD2A6C-4AD0-6C9B-1373-2828F9C6B15B}"/>
              </a:ext>
            </a:extLst>
          </p:cNvPr>
          <p:cNvCxnSpPr>
            <a:cxnSpLocks/>
          </p:cNvCxnSpPr>
          <p:nvPr/>
        </p:nvCxnSpPr>
        <p:spPr>
          <a:xfrm flipV="1">
            <a:off x="1202409" y="1838326"/>
            <a:ext cx="3017166" cy="2066924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4408937-2D46-8DAC-7075-774608001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000" dirty="0"/>
              <a:t>Practice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2CB07-5976-F6C0-E121-0E7E96F7C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0193" y="1838326"/>
            <a:ext cx="5069398" cy="4041265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CA" dirty="0"/>
              <a:t>How does the introduction of “supervised injection sites” impact the rational addiction model?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How do negative income shocks (say from a recession in the economy) impact the demand for addictive goods for high and low groups?</a:t>
            </a:r>
          </a:p>
          <a:p>
            <a:pPr marL="457200" indent="-457200">
              <a:buFont typeface="+mj-lt"/>
              <a:buAutoNum type="arabicPeriod"/>
            </a:pPr>
            <a:r>
              <a:rPr lang="en-CA" b="1" dirty="0"/>
              <a:t>TRICKY QUESTION</a:t>
            </a:r>
            <a:r>
              <a:rPr lang="en-CA" dirty="0"/>
              <a:t>: What happens the demand for addictive goods when the price of </a:t>
            </a:r>
            <a:r>
              <a:rPr lang="en-CA" i="1" dirty="0"/>
              <a:t>Non Addictive Goods Change.</a:t>
            </a:r>
            <a:endParaRPr lang="en-CA" b="1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78A80B8-D076-9531-4FD9-E4CE0FC6CF56}"/>
              </a:ext>
            </a:extLst>
          </p:cNvPr>
          <p:cNvCxnSpPr>
            <a:cxnSpLocks/>
          </p:cNvCxnSpPr>
          <p:nvPr/>
        </p:nvCxnSpPr>
        <p:spPr>
          <a:xfrm>
            <a:off x="1202409" y="1838326"/>
            <a:ext cx="0" cy="4352924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597000-A3D6-109C-41DB-2A42EAC1DD8E}"/>
              </a:ext>
            </a:extLst>
          </p:cNvPr>
          <p:cNvCxnSpPr>
            <a:cxnSpLocks/>
          </p:cNvCxnSpPr>
          <p:nvPr/>
        </p:nvCxnSpPr>
        <p:spPr>
          <a:xfrm flipH="1">
            <a:off x="1202409" y="3905250"/>
            <a:ext cx="3188616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Arc 11">
            <a:extLst>
              <a:ext uri="{FF2B5EF4-FFF2-40B4-BE49-F238E27FC236}">
                <a16:creationId xmlns:a16="http://schemas.microsoft.com/office/drawing/2014/main" id="{620728D8-0A50-E8E7-FDEE-9605D7C2EE89}"/>
              </a:ext>
            </a:extLst>
          </p:cNvPr>
          <p:cNvSpPr/>
          <p:nvPr/>
        </p:nvSpPr>
        <p:spPr>
          <a:xfrm>
            <a:off x="1629271" y="2369344"/>
            <a:ext cx="4352923" cy="3071812"/>
          </a:xfrm>
          <a:prstGeom prst="arc">
            <a:avLst>
              <a:gd name="adj1" fmla="val 10854667"/>
              <a:gd name="adj2" fmla="val 16216446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F412C01-3B92-6E0E-6A6E-A252CD97281F}"/>
                  </a:ext>
                </a:extLst>
              </p:cNvPr>
              <p:cNvSpPr txBox="1"/>
              <p:nvPr/>
            </p:nvSpPr>
            <p:spPr>
              <a:xfrm rot="16200000">
                <a:off x="-436242" y="2687122"/>
                <a:ext cx="18401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latin typeface="Cambria Math" panose="02040503050406030204" pitchFamily="18" charset="0"/>
                  </a:rPr>
                  <a:t>Addictive Good</a:t>
                </a:r>
                <a:r>
                  <a:rPr lang="en-CA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680AA83-87B6-F926-FBFD-89BAE7BFF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436242" y="2687122"/>
                <a:ext cx="1840184" cy="369332"/>
              </a:xfrm>
              <a:prstGeom prst="rect">
                <a:avLst/>
              </a:prstGeom>
              <a:blipFill>
                <a:blip r:embed="rId2"/>
                <a:stretch>
                  <a:fillRect l="-8197" r="-24590" b="-298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70CB788-022C-7A96-495B-729C3BCA7FF1}"/>
                  </a:ext>
                </a:extLst>
              </p:cNvPr>
              <p:cNvSpPr txBox="1"/>
              <p:nvPr/>
            </p:nvSpPr>
            <p:spPr>
              <a:xfrm>
                <a:off x="4473503" y="3534948"/>
                <a:ext cx="119276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latin typeface="Cambria Math" panose="02040503050406030204" pitchFamily="18" charset="0"/>
                  </a:rPr>
                  <a:t>Addiction </a:t>
                </a:r>
                <a:br>
                  <a:rPr lang="en-CA" dirty="0">
                    <a:latin typeface="Cambria Math" panose="02040503050406030204" pitchFamily="18" charset="0"/>
                  </a:rPr>
                </a:br>
                <a:r>
                  <a:rPr lang="en-CA" dirty="0">
                    <a:latin typeface="Cambria Math" panose="02040503050406030204" pitchFamily="18" charset="0"/>
                  </a:rPr>
                  <a:t>Capital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4D0EF0D-774C-33EA-2986-7B8A4E15B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3503" y="3534948"/>
                <a:ext cx="1192762" cy="646331"/>
              </a:xfrm>
              <a:prstGeom prst="rect">
                <a:avLst/>
              </a:prstGeom>
              <a:blipFill>
                <a:blip r:embed="rId3"/>
                <a:stretch>
                  <a:fillRect l="-4592" t="-6604" r="-4082" b="-1415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D0D494D-6233-0FCB-2C4D-7796EA73A189}"/>
                  </a:ext>
                </a:extLst>
              </p:cNvPr>
              <p:cNvSpPr txBox="1"/>
              <p:nvPr/>
            </p:nvSpPr>
            <p:spPr>
              <a:xfrm rot="16200000">
                <a:off x="-46372" y="5459800"/>
                <a:ext cx="9539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dirty="0">
                    <a:latin typeface="Cambria Math" panose="02040503050406030204" pitchFamily="18" charset="0"/>
                  </a:rPr>
                  <a:t>Wage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AA58209-CB2F-E8F9-DFD0-6010D513D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46372" y="5459800"/>
                <a:ext cx="953915" cy="369332"/>
              </a:xfrm>
              <a:prstGeom prst="rect">
                <a:avLst/>
              </a:prstGeom>
              <a:blipFill>
                <a:blip r:embed="rId4"/>
                <a:stretch>
                  <a:fillRect l="-8197" r="-24590" b="-576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81234F9-F4D9-0301-28D9-821B2491F647}"/>
              </a:ext>
            </a:extLst>
          </p:cNvPr>
          <p:cNvCxnSpPr>
            <a:cxnSpLocks/>
          </p:cNvCxnSpPr>
          <p:nvPr/>
        </p:nvCxnSpPr>
        <p:spPr>
          <a:xfrm flipV="1">
            <a:off x="1323975" y="4029076"/>
            <a:ext cx="3063803" cy="1990724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tar: 5 Points 35">
            <a:extLst>
              <a:ext uri="{FF2B5EF4-FFF2-40B4-BE49-F238E27FC236}">
                <a16:creationId xmlns:a16="http://schemas.microsoft.com/office/drawing/2014/main" id="{F8F5DFC3-10A6-9885-6A69-EE50528CF73F}"/>
              </a:ext>
            </a:extLst>
          </p:cNvPr>
          <p:cNvSpPr/>
          <p:nvPr/>
        </p:nvSpPr>
        <p:spPr>
          <a:xfrm>
            <a:off x="3304789" y="2258616"/>
            <a:ext cx="209550" cy="221455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Star: 5 Points 36">
            <a:extLst>
              <a:ext uri="{FF2B5EF4-FFF2-40B4-BE49-F238E27FC236}">
                <a16:creationId xmlns:a16="http://schemas.microsoft.com/office/drawing/2014/main" id="{0BA87B49-ABAA-C16C-50ED-A9BCD55B1FB7}"/>
              </a:ext>
            </a:extLst>
          </p:cNvPr>
          <p:cNvSpPr/>
          <p:nvPr/>
        </p:nvSpPr>
        <p:spPr>
          <a:xfrm>
            <a:off x="1555823" y="3466816"/>
            <a:ext cx="209550" cy="221455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Star: 5 Points 37">
            <a:extLst>
              <a:ext uri="{FF2B5EF4-FFF2-40B4-BE49-F238E27FC236}">
                <a16:creationId xmlns:a16="http://schemas.microsoft.com/office/drawing/2014/main" id="{FD37C1FA-3252-DE47-3064-477390AB77E5}"/>
              </a:ext>
            </a:extLst>
          </p:cNvPr>
          <p:cNvSpPr/>
          <p:nvPr/>
        </p:nvSpPr>
        <p:spPr>
          <a:xfrm>
            <a:off x="1555823" y="5644467"/>
            <a:ext cx="209550" cy="221455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639B327D-8AAF-FD7F-76E5-5AF1EC23B103}"/>
              </a:ext>
            </a:extLst>
          </p:cNvPr>
          <p:cNvSpPr/>
          <p:nvPr/>
        </p:nvSpPr>
        <p:spPr>
          <a:xfrm>
            <a:off x="3308037" y="4507112"/>
            <a:ext cx="209550" cy="221455"/>
          </a:xfrm>
          <a:prstGeom prst="star5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615031A-3AAF-FAEB-61F9-A881BC69B062}"/>
              </a:ext>
            </a:extLst>
          </p:cNvPr>
          <p:cNvCxnSpPr>
            <a:cxnSpLocks/>
          </p:cNvCxnSpPr>
          <p:nvPr/>
        </p:nvCxnSpPr>
        <p:spPr>
          <a:xfrm>
            <a:off x="1660598" y="3688271"/>
            <a:ext cx="0" cy="1956196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3D1F75B-D93A-2CEC-1567-9BC8014CFCD1}"/>
              </a:ext>
            </a:extLst>
          </p:cNvPr>
          <p:cNvCxnSpPr>
            <a:cxnSpLocks/>
          </p:cNvCxnSpPr>
          <p:nvPr/>
        </p:nvCxnSpPr>
        <p:spPr>
          <a:xfrm>
            <a:off x="3409564" y="2488718"/>
            <a:ext cx="3248" cy="2018394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12EF8C0-07E4-FE78-6680-369AB8EDBD12}"/>
              </a:ext>
            </a:extLst>
          </p:cNvPr>
          <p:cNvCxnSpPr>
            <a:cxnSpLocks/>
          </p:cNvCxnSpPr>
          <p:nvPr/>
        </p:nvCxnSpPr>
        <p:spPr>
          <a:xfrm flipH="1">
            <a:off x="1275858" y="3577544"/>
            <a:ext cx="279965" cy="14554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B25972E-7C62-F832-D67D-324205C753BB}"/>
              </a:ext>
            </a:extLst>
          </p:cNvPr>
          <p:cNvCxnSpPr>
            <a:cxnSpLocks/>
          </p:cNvCxnSpPr>
          <p:nvPr/>
        </p:nvCxnSpPr>
        <p:spPr>
          <a:xfrm flipH="1">
            <a:off x="1189391" y="2369344"/>
            <a:ext cx="2115398" cy="0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FD1A25B-7E89-D39C-F198-1F7858CF0F8D}"/>
              </a:ext>
            </a:extLst>
          </p:cNvPr>
          <p:cNvCxnSpPr>
            <a:cxnSpLocks/>
          </p:cNvCxnSpPr>
          <p:nvPr/>
        </p:nvCxnSpPr>
        <p:spPr>
          <a:xfrm flipH="1">
            <a:off x="1189391" y="4617840"/>
            <a:ext cx="2118646" cy="71728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0367706-0992-9624-764E-E20486C6DA0A}"/>
              </a:ext>
            </a:extLst>
          </p:cNvPr>
          <p:cNvCxnSpPr>
            <a:cxnSpLocks/>
          </p:cNvCxnSpPr>
          <p:nvPr/>
        </p:nvCxnSpPr>
        <p:spPr>
          <a:xfrm flipH="1">
            <a:off x="1215428" y="5755195"/>
            <a:ext cx="340395" cy="0"/>
          </a:xfrm>
          <a:prstGeom prst="line">
            <a:avLst/>
          </a:prstGeom>
          <a:ln w="57150">
            <a:solidFill>
              <a:schemeClr val="tx1">
                <a:alpha val="52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32FC78-3D2A-F5FC-C786-477EA8A40D32}"/>
                  </a:ext>
                </a:extLst>
              </p:cNvPr>
              <p:cNvSpPr txBox="1"/>
              <p:nvPr/>
            </p:nvSpPr>
            <p:spPr>
              <a:xfrm>
                <a:off x="507390" y="2142585"/>
                <a:ext cx="7870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7077E88-DEE4-0D5C-B3A1-D00B274DF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90" y="2142585"/>
                <a:ext cx="787075" cy="369332"/>
              </a:xfrm>
              <a:prstGeom prst="rect">
                <a:avLst/>
              </a:prstGeom>
              <a:blipFill>
                <a:blip r:embed="rId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7A943F-A5A7-37D7-A6D7-4F4588789C09}"/>
                  </a:ext>
                </a:extLst>
              </p:cNvPr>
              <p:cNvSpPr txBox="1"/>
              <p:nvPr/>
            </p:nvSpPr>
            <p:spPr>
              <a:xfrm>
                <a:off x="500699" y="5503400"/>
                <a:ext cx="8145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7E220E8-84DC-B3DD-2371-8907581DE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699" y="5503400"/>
                <a:ext cx="814582" cy="369332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B14BB2-A7CB-022A-888A-56F5D3632A33}"/>
                  </a:ext>
                </a:extLst>
              </p:cNvPr>
              <p:cNvSpPr txBox="1"/>
              <p:nvPr/>
            </p:nvSpPr>
            <p:spPr>
              <a:xfrm>
                <a:off x="543426" y="3350282"/>
                <a:ext cx="7510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09DF0A-062B-4754-ED0D-D2112A8A2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26" y="3350282"/>
                <a:ext cx="751039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3A0480A-A027-17A6-CBEC-1F5464C12E2C}"/>
                  </a:ext>
                </a:extLst>
              </p:cNvPr>
              <p:cNvSpPr txBox="1"/>
              <p:nvPr/>
            </p:nvSpPr>
            <p:spPr>
              <a:xfrm>
                <a:off x="382580" y="4481703"/>
                <a:ext cx="8798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FDB5D8-BCA1-9CC2-4650-FE1A57062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580" y="4481703"/>
                <a:ext cx="879856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8B7F4AB-DED1-112E-4C35-3F0002894670}"/>
                  </a:ext>
                </a:extLst>
              </p:cNvPr>
              <p:cNvSpPr txBox="1"/>
              <p:nvPr/>
            </p:nvSpPr>
            <p:spPr>
              <a:xfrm>
                <a:off x="4079965" y="2212997"/>
                <a:ext cx="6560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438B5C8-3275-992A-7E62-2BBD85384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9965" y="2212997"/>
                <a:ext cx="65601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542BD2A-BEB2-5F40-8BA0-95D8C360DF65}"/>
                  </a:ext>
                </a:extLst>
              </p:cNvPr>
              <p:cNvSpPr txBox="1"/>
              <p:nvPr/>
            </p:nvSpPr>
            <p:spPr>
              <a:xfrm>
                <a:off x="3950771" y="1466969"/>
                <a:ext cx="914400" cy="618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AA1916D-76AA-EA4E-D003-9E2A4A99D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771" y="1466969"/>
                <a:ext cx="914400" cy="618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23513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CD79A-BF01-9F5C-0331-4438E637D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A897A-2C15-3AE1-9A7F-E496908AD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80" y="501507"/>
            <a:ext cx="10634472" cy="1117092"/>
          </a:xfrm>
        </p:spPr>
        <p:txBody>
          <a:bodyPr/>
          <a:lstStyle/>
          <a:p>
            <a:r>
              <a:rPr lang="en-CA" sz="4000" dirty="0"/>
              <a:t>Concluding Remarks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32A8F-979D-0EC3-504F-3936F80A1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825" y="1838326"/>
            <a:ext cx="10484766" cy="4041265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CA" dirty="0"/>
              <a:t>The Rational Addiction model is useful for evaluating the differential response addiction policy can have.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CA" dirty="0"/>
              <a:t>Policies that help the high addiction group can harm the low addiction group and vice versa.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CA" dirty="0"/>
              <a:t>In general, the low equilibria is considered </a:t>
            </a:r>
            <a:r>
              <a:rPr lang="en-CA" b="1" dirty="0"/>
              <a:t>unstable, </a:t>
            </a:r>
            <a:r>
              <a:rPr lang="en-CA" dirty="0"/>
              <a:t>meaning it is a group that either moves to zero addiction capital or to the high addiction category.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CA" dirty="0"/>
              <a:t>This is why addiction policy (from a purely economic perspective) is targeted at high addicted groups.</a:t>
            </a:r>
          </a:p>
        </p:txBody>
      </p:sp>
    </p:spTree>
    <p:extLst>
      <p:ext uri="{BB962C8B-B14F-4D97-AF65-F5344CB8AC3E}">
        <p14:creationId xmlns:p14="http://schemas.microsoft.com/office/powerpoint/2010/main" val="39556722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6A2F5-763A-6725-E937-84177B4CE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0BE9E-1039-E700-C87D-9795A348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473583"/>
            <a:ext cx="10280650" cy="840867"/>
          </a:xfrm>
        </p:spPr>
        <p:txBody>
          <a:bodyPr/>
          <a:lstStyle/>
          <a:p>
            <a:r>
              <a:rPr lang="en-CA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A6BEC-E1B6-5103-CF76-6D6B4CDFC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327404"/>
            <a:ext cx="10506991" cy="4092321"/>
          </a:xfrm>
        </p:spPr>
        <p:txBody>
          <a:bodyPr>
            <a:normAutofit/>
          </a:bodyPr>
          <a:lstStyle/>
          <a:p>
            <a:r>
              <a:rPr lang="en-CA" dirty="0"/>
              <a:t>In this lecture we will discuss: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Some Empirical Puzzles on Income and Consumption of Addictive Goods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How Economists Think About Addiction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Rational Addiction Part I: Addictive Good Dynamics.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Rational Addiction Part II: Addiction Capital and Earnings 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A “Two Panel” Rational Addiction Model</a:t>
            </a:r>
          </a:p>
          <a:p>
            <a:endParaRPr lang="en-CA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31A4431-EA73-AEAC-C576-63D1A433A98D}"/>
              </a:ext>
            </a:extLst>
          </p:cNvPr>
          <p:cNvSpPr/>
          <p:nvPr/>
        </p:nvSpPr>
        <p:spPr>
          <a:xfrm>
            <a:off x="1748341" y="4929780"/>
            <a:ext cx="9014909" cy="114031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b="1" i="1" u="sng" dirty="0">
                <a:solidFill>
                  <a:schemeClr val="tx1"/>
                </a:solidFill>
              </a:rPr>
              <a:t>Goal of this Lecture: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b="1" i="1" dirty="0">
                <a:solidFill>
                  <a:schemeClr val="tx1"/>
                </a:solidFill>
              </a:rPr>
              <a:t>Introduce the basics of the rational addiction model.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b="1" i="1" dirty="0">
                <a:solidFill>
                  <a:schemeClr val="tx1"/>
                </a:solidFill>
              </a:rPr>
              <a:t>Show the differential effects addiction policy can have.</a:t>
            </a:r>
          </a:p>
        </p:txBody>
      </p:sp>
    </p:spTree>
    <p:extLst>
      <p:ext uri="{BB962C8B-B14F-4D97-AF65-F5344CB8AC3E}">
        <p14:creationId xmlns:p14="http://schemas.microsoft.com/office/powerpoint/2010/main" val="3668903167"/>
      </p:ext>
    </p:extLst>
  </p:cSld>
  <p:clrMapOvr>
    <a:masterClrMapping/>
  </p:clrMapOvr>
</p:sld>
</file>

<file path=ppt/theme/theme1.xml><?xml version="1.0" encoding="utf-8"?>
<a:theme xmlns:a="http://schemas.openxmlformats.org/drawingml/2006/main" name="LevelVTI">
  <a:themeElements>
    <a:clrScheme name="Custom 88">
      <a:dk1>
        <a:sysClr val="windowText" lastClr="000000"/>
      </a:dk1>
      <a:lt1>
        <a:sysClr val="window" lastClr="FFFFFF"/>
      </a:lt1>
      <a:dk2>
        <a:srgbClr val="18223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939393"/>
      </a:accent6>
      <a:hlink>
        <a:srgbClr val="3E8FF1"/>
      </a:hlink>
      <a:folHlink>
        <a:srgbClr val="939393"/>
      </a:folHlink>
    </a:clrScheme>
    <a:fontScheme name="Seaford">
      <a:majorFont>
        <a:latin typeface="Seaford"/>
        <a:ea typeface=""/>
        <a:cs typeface=""/>
      </a:majorFont>
      <a:minorFont>
        <a:latin typeface="Seafo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velVTI" id="{64F43929-0387-4D33-907F-72B939BCAF99}" vid="{D804DF84-3298-4A39-BA0E-21F83D68BC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5712</TotalTime>
  <Words>1999</Words>
  <Application>Microsoft Office PowerPoint</Application>
  <PresentationFormat>Widescreen</PresentationFormat>
  <Paragraphs>299</Paragraphs>
  <Slides>38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Aptos</vt:lpstr>
      <vt:lpstr>Arial</vt:lpstr>
      <vt:lpstr>Cambria Math</vt:lpstr>
      <vt:lpstr>Seaford</vt:lpstr>
      <vt:lpstr>Wingdings</vt:lpstr>
      <vt:lpstr>LevelVTI</vt:lpstr>
      <vt:lpstr>Health Economics Lecture #4</vt:lpstr>
      <vt:lpstr>Learning Objectives</vt:lpstr>
      <vt:lpstr>Some Empirical Puzzles on Income and Consumption of Addictive Goods</vt:lpstr>
      <vt:lpstr>Some Conflicting Descriptive Statistics on Smoking and  Incomes</vt:lpstr>
      <vt:lpstr>Some Conflicting Descriptive Statistics on Smoking and  Incomes</vt:lpstr>
      <vt:lpstr>Conflicting Results on Alcohol Consumption and Earnings</vt:lpstr>
      <vt:lpstr>Conflicting Results on Alcohol Consumption and Earnings</vt:lpstr>
      <vt:lpstr>What these pictures are telling us</vt:lpstr>
      <vt:lpstr>How Economists Think About Addiction</vt:lpstr>
      <vt:lpstr>Who do we thank for the Rational Addiction Model?</vt:lpstr>
      <vt:lpstr>What is the Rational Addiction Model?</vt:lpstr>
      <vt:lpstr>How Economists Think About Addiction</vt:lpstr>
      <vt:lpstr>PowerPoint Presentation</vt:lpstr>
      <vt:lpstr>Visualizing Consumer Choice in the Rational Addiction Model</vt:lpstr>
      <vt:lpstr>PowerPoint Presentation</vt:lpstr>
      <vt:lpstr>Visualizing Consumer Choice in the Rational Addiction Model</vt:lpstr>
      <vt:lpstr>PowerPoint Presentation</vt:lpstr>
      <vt:lpstr>Addictive Good Dynamics</vt:lpstr>
      <vt:lpstr>Addictive Good Consumption and Addiction Capital </vt:lpstr>
      <vt:lpstr>Addictive Good Consumption and Addiction Capital </vt:lpstr>
      <vt:lpstr>The law of motion of addiction capital</vt:lpstr>
      <vt:lpstr>The law of motion of addiction capital</vt:lpstr>
      <vt:lpstr>Addiction Capital </vt:lpstr>
      <vt:lpstr>Equilibrium Addictive Good Consumption and Addiction Capital</vt:lpstr>
      <vt:lpstr>Addiction Capital and Earnings</vt:lpstr>
      <vt:lpstr>An assumption about drug use and productivity</vt:lpstr>
      <vt:lpstr>Addiction Capital and Wages</vt:lpstr>
      <vt:lpstr>Addiction Capital and Wages</vt:lpstr>
      <vt:lpstr>A “Two Panel” Rational Addiction Model</vt:lpstr>
      <vt:lpstr>The “Two Panel” Rational Addiction Model</vt:lpstr>
      <vt:lpstr>Scenario 1: An Increase in Price of Addictive Goods</vt:lpstr>
      <vt:lpstr>Scenario 1: An Increase in Price of Addictive Goods</vt:lpstr>
      <vt:lpstr>Scenario 2: An Increase in consumer non-labor Incomes.</vt:lpstr>
      <vt:lpstr>Scenario 3: Increased depreciation rate</vt:lpstr>
      <vt:lpstr>Practice Questions</vt:lpstr>
      <vt:lpstr>Practice Questions</vt:lpstr>
      <vt:lpstr>Concluding Remarks</vt:lpstr>
      <vt:lpstr>Learning Objectives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Smith</dc:creator>
  <cp:lastModifiedBy>Jacob Smith</cp:lastModifiedBy>
  <cp:revision>52</cp:revision>
  <dcterms:created xsi:type="dcterms:W3CDTF">2025-07-13T05:00:08Z</dcterms:created>
  <dcterms:modified xsi:type="dcterms:W3CDTF">2025-10-01T15:13:59Z</dcterms:modified>
</cp:coreProperties>
</file>