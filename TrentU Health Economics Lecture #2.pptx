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9" r:id="rId1"/>
  </p:sldMasterIdLst>
  <p:notesMasterIdLst>
    <p:notesMasterId r:id="rId50"/>
  </p:notesMasterIdLst>
  <p:sldIdLst>
    <p:sldId id="256" r:id="rId2"/>
    <p:sldId id="257" r:id="rId3"/>
    <p:sldId id="258" r:id="rId4"/>
    <p:sldId id="291" r:id="rId5"/>
    <p:sldId id="287" r:id="rId6"/>
    <p:sldId id="345" r:id="rId7"/>
    <p:sldId id="290" r:id="rId8"/>
    <p:sldId id="292" r:id="rId9"/>
    <p:sldId id="294" r:id="rId10"/>
    <p:sldId id="295" r:id="rId11"/>
    <p:sldId id="296" r:id="rId12"/>
    <p:sldId id="293" r:id="rId13"/>
    <p:sldId id="275" r:id="rId14"/>
    <p:sldId id="281" r:id="rId15"/>
    <p:sldId id="310" r:id="rId16"/>
    <p:sldId id="297" r:id="rId17"/>
    <p:sldId id="312" r:id="rId18"/>
    <p:sldId id="302" r:id="rId19"/>
    <p:sldId id="276" r:id="rId20"/>
    <p:sldId id="282" r:id="rId21"/>
    <p:sldId id="320" r:id="rId22"/>
    <p:sldId id="311" r:id="rId23"/>
    <p:sldId id="313" r:id="rId24"/>
    <p:sldId id="277" r:id="rId25"/>
    <p:sldId id="283" r:id="rId26"/>
    <p:sldId id="325" r:id="rId27"/>
    <p:sldId id="326" r:id="rId28"/>
    <p:sldId id="278" r:id="rId29"/>
    <p:sldId id="284" r:id="rId30"/>
    <p:sldId id="321" r:id="rId31"/>
    <p:sldId id="306" r:id="rId32"/>
    <p:sldId id="322" r:id="rId33"/>
    <p:sldId id="279" r:id="rId34"/>
    <p:sldId id="285" r:id="rId35"/>
    <p:sldId id="309" r:id="rId36"/>
    <p:sldId id="327" r:id="rId37"/>
    <p:sldId id="328" r:id="rId38"/>
    <p:sldId id="330" r:id="rId39"/>
    <p:sldId id="331" r:id="rId40"/>
    <p:sldId id="338" r:id="rId41"/>
    <p:sldId id="339" r:id="rId42"/>
    <p:sldId id="340" r:id="rId43"/>
    <p:sldId id="341" r:id="rId44"/>
    <p:sldId id="342" r:id="rId45"/>
    <p:sldId id="347" r:id="rId46"/>
    <p:sldId id="332" r:id="rId47"/>
    <p:sldId id="343" r:id="rId48"/>
    <p:sldId id="344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55" autoAdjust="0"/>
    <p:restoredTop sz="93284" autoAdjust="0"/>
  </p:normalViewPr>
  <p:slideViewPr>
    <p:cSldViewPr snapToGrid="0">
      <p:cViewPr varScale="1">
        <p:scale>
          <a:sx n="100" d="100"/>
          <a:sy n="100" d="100"/>
        </p:scale>
        <p:origin x="3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9A107-93FC-4C73-A81C-593CBB10CFEF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E61FF-07A4-4C6C-B06F-DD1DA8ACF5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83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3764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9045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D3AA-B0DF-139F-EBEA-05D5AA55A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9CF87-F071-E6C2-DF3D-49E457EC4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2FE7E-2838-F8B2-48A4-270C5C5F7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6E233-FE1C-7745-09DB-1790777E1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5804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854BB-F398-0EE1-9152-C94843ED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ECFCA-4716-B987-34C5-668022992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0D1DA-F7AA-CCF9-1E9D-6EB4E7EBC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B3B9B-9D9A-CDBC-7481-65E3BD180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852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FF974-89B2-DC86-466B-BB3D6EA0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895EE-3B6D-B4E5-DBC8-9CC46C230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F4396-675D-6F28-136E-DA07D0D53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1F88A-4909-DC79-4D30-114EB7063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2523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AB7A-3538-35DB-4B77-072FFDD8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4E8CF-6DB0-6AEE-02B7-BE822B906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DF0FF-FCA0-54E8-730D-648B8E2DD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CFA57-A001-E572-BD6C-AD633D692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6836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E6E8-D8B9-AC59-82F3-46EE5CE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AAC96-E579-48E6-CFFF-960666860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AC042-4716-85F9-BB97-A1B344089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853E0-F557-83A4-9F78-78CD688E2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0292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2878-9553-8828-CE33-31ED3B89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ABA07-AC45-1A73-28BF-392E65505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9FB09-5DA3-BA08-C53D-EF5CBF8A3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CCD0C-8871-5B2B-7165-F78319CD7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160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ADDB4-3024-A6E0-A987-C23CE694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DFF62-F1F6-6467-3196-713040F3D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8217B-7BF1-5C81-C5EA-015AB45F1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1DA77-AB60-FF50-8B29-6CAF31956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0269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43F4C-4998-43D5-1CD6-5B23D771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C6900-4D6B-E399-FC4B-973AEA78E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7F27A-0539-DA0E-50C7-721A75128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726B6-9530-8D30-FA16-E2DC8BE7E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3487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39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6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5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4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8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3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3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233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svg"/><Relationship Id="rId7" Type="http://schemas.openxmlformats.org/officeDocument/2006/relationships/image" Target="../media/image2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5.png"/><Relationship Id="rId7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5.png"/><Relationship Id="rId7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5.png"/><Relationship Id="rId7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4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5.png"/><Relationship Id="rId7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50.png"/><Relationship Id="rId5" Type="http://schemas.openxmlformats.org/officeDocument/2006/relationships/image" Target="../media/image37.png"/><Relationship Id="rId10" Type="http://schemas.openxmlformats.org/officeDocument/2006/relationships/image" Target="../media/image49.png"/><Relationship Id="rId4" Type="http://schemas.openxmlformats.org/officeDocument/2006/relationships/image" Target="../media/image36.png"/><Relationship Id="rId9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14C8D-3DB1-C1A7-6E7E-D775B424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422" r="-1" b="8287"/>
          <a:stretch>
            <a:fillRect/>
          </a:stretch>
        </p:blipFill>
        <p:spPr>
          <a:xfrm>
            <a:off x="3059" y="10"/>
            <a:ext cx="12188941" cy="685799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233B4D5-2565-4CC0-A9B1-C9EA9E9DE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0FB50-B90C-9526-E834-006C790BE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22363"/>
            <a:ext cx="5638801" cy="18684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Health Economics</a:t>
            </a:r>
            <a:b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Lecture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C7FB-3F59-5796-DCA9-B54919671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23356"/>
            <a:ext cx="5638801" cy="1634443"/>
          </a:xfrm>
        </p:spPr>
        <p:txBody>
          <a:bodyPr>
            <a:normAutofit/>
          </a:bodyPr>
          <a:lstStyle/>
          <a:p>
            <a:r>
              <a:rPr lang="en-CA" b="1" dirty="0">
                <a:ln w="635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Topic: An Introduction to Health Economics MSMG 5240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02D326-F829-4915-A540-3A4D5ADFC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28E080-CC35-4F6C-9D3C-949904DC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07EDE8EE-97B2-4FFC-8019-3B0C8C73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241" y="5934750"/>
            <a:ext cx="2857500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A484E-AC5D-C709-0DD9-E23DB796CAD2}"/>
              </a:ext>
            </a:extLst>
          </p:cNvPr>
          <p:cNvSpPr txBox="1"/>
          <p:nvPr/>
        </p:nvSpPr>
        <p:spPr>
          <a:xfrm>
            <a:off x="482600" y="6428403"/>
            <a:ext cx="433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chemeClr val="bg1"/>
                </a:solidFill>
              </a:rPr>
              <a:t>Prepared by Jacob Smith, Trent University</a:t>
            </a:r>
          </a:p>
        </p:txBody>
      </p:sp>
    </p:spTree>
    <p:extLst>
      <p:ext uri="{BB962C8B-B14F-4D97-AF65-F5344CB8AC3E}">
        <p14:creationId xmlns:p14="http://schemas.microsoft.com/office/powerpoint/2010/main" val="326718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715-D549-5DFA-82EB-2573E410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87858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4CF6-59F3-1BC6-3F09-48554FD0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27404"/>
            <a:ext cx="10506991" cy="4203191"/>
          </a:xfrm>
        </p:spPr>
        <p:txBody>
          <a:bodyPr>
            <a:normAutofit lnSpcReduction="10000"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Circular Flow of the Economy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Analyzing Markets</a:t>
            </a:r>
            <a:br>
              <a:rPr lang="en-CA" dirty="0"/>
            </a:br>
            <a:r>
              <a:rPr lang="en-CA" dirty="0"/>
              <a:t>-Supply</a:t>
            </a:r>
            <a:br>
              <a:rPr lang="en-CA" dirty="0"/>
            </a:br>
            <a:r>
              <a:rPr lang="en-CA" dirty="0"/>
              <a:t>-Demand</a:t>
            </a:r>
            <a:br>
              <a:rPr lang="en-CA" dirty="0"/>
            </a:br>
            <a:r>
              <a:rPr lang="en-CA" dirty="0"/>
              <a:t>-Market Equilibrium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What causes prices to move? 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Using supply and demand to understand stock market fluctuations.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Demand for Insurance and Some Consumer Theory for Risk</a:t>
            </a:r>
            <a:br>
              <a:rPr lang="en-CA" dirty="0"/>
            </a:br>
            <a:endParaRPr lang="en-CA" dirty="0"/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2C93A9-61D0-70D3-75C4-A43F2AB757B8}"/>
              </a:ext>
            </a:extLst>
          </p:cNvPr>
          <p:cNvSpPr/>
          <p:nvPr/>
        </p:nvSpPr>
        <p:spPr>
          <a:xfrm>
            <a:off x="1588545" y="4924426"/>
            <a:ext cx="9041355" cy="139748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To understand what underlies fluctuations in prices and quantities in competitive markets.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Understand why risk aversion creates a demand for insurance.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CA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72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8056-0EB6-1F9E-7D25-800D155C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Thinking about the Economy as a Whole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3E2BB-99CF-7281-13AC-89D064C1B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Big Picture</a:t>
            </a:r>
          </a:p>
        </p:txBody>
      </p:sp>
    </p:spTree>
    <p:extLst>
      <p:ext uri="{BB962C8B-B14F-4D97-AF65-F5344CB8AC3E}">
        <p14:creationId xmlns:p14="http://schemas.microsoft.com/office/powerpoint/2010/main" val="315754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E4092-4121-DF25-899F-64602436C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7498-07B5-E037-93D9-D483FD41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CF2A-7445-F053-5881-7C3BF2FA3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An economy is an area of the production, distribution and trade, as well as consumption of goods and services.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It is a place (physical or not) where where consumers and producers allocate resources and trade with each other a variety of goods.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When studying the economy, we are looking for patterns and ultimately looking to understand what are the driving forces of how society as a whole allocates resources.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Since most economies are mostly capitalist, a market centric approach to the analysis of the economy is what dominates this field.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2202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402F-FEA4-6107-4588-220246369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86C-3186-0859-61A5-D8155EBA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81" y="341808"/>
            <a:ext cx="10125219" cy="741905"/>
          </a:xfrm>
        </p:spPr>
        <p:txBody>
          <a:bodyPr/>
          <a:lstStyle/>
          <a:p>
            <a:r>
              <a:rPr lang="en-CA" sz="4800" b="1" dirty="0"/>
              <a:t>The Big Picture: Circular Flow</a:t>
            </a:r>
          </a:p>
        </p:txBody>
      </p:sp>
      <p:pic>
        <p:nvPicPr>
          <p:cNvPr id="10" name="Content Placeholder 4" descr="House with solid fill">
            <a:extLst>
              <a:ext uri="{FF2B5EF4-FFF2-40B4-BE49-F238E27FC236}">
                <a16:creationId xmlns:a16="http://schemas.microsoft.com/office/drawing/2014/main" id="{7404D127-F3F1-055C-80BB-415A17701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4591" y="1392832"/>
            <a:ext cx="763125" cy="763122"/>
          </a:xfrm>
          <a:prstGeom prst="rect">
            <a:avLst/>
          </a:prstGeom>
        </p:spPr>
      </p:pic>
      <p:pic>
        <p:nvPicPr>
          <p:cNvPr id="11" name="Content Placeholder 4" descr="House with solid fill">
            <a:extLst>
              <a:ext uri="{FF2B5EF4-FFF2-40B4-BE49-F238E27FC236}">
                <a16:creationId xmlns:a16="http://schemas.microsoft.com/office/drawing/2014/main" id="{53BC916F-A853-E548-F569-2629DEEC9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5984" y="1376031"/>
            <a:ext cx="763125" cy="7631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592D1D-F356-5851-A3FC-197E7C0F6560}"/>
              </a:ext>
            </a:extLst>
          </p:cNvPr>
          <p:cNvSpPr txBox="1"/>
          <p:nvPr/>
        </p:nvSpPr>
        <p:spPr>
          <a:xfrm>
            <a:off x="4882916" y="1093888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Households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C3A87-863B-07FE-573D-82EF7A713AC6}"/>
              </a:ext>
            </a:extLst>
          </p:cNvPr>
          <p:cNvSpPr txBox="1"/>
          <p:nvPr/>
        </p:nvSpPr>
        <p:spPr>
          <a:xfrm>
            <a:off x="5073729" y="5863709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Firms</a:t>
            </a:r>
          </a:p>
        </p:txBody>
      </p:sp>
      <p:pic>
        <p:nvPicPr>
          <p:cNvPr id="43" name="Graphic 42" descr="Store with solid fill">
            <a:extLst>
              <a:ext uri="{FF2B5EF4-FFF2-40B4-BE49-F238E27FC236}">
                <a16:creationId xmlns:a16="http://schemas.microsoft.com/office/drawing/2014/main" id="{71593633-6853-97E7-1ED7-674946665B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2387" y="2769108"/>
            <a:ext cx="1319783" cy="1319783"/>
          </a:xfrm>
          <a:prstGeom prst="rect">
            <a:avLst/>
          </a:prstGeom>
        </p:spPr>
      </p:pic>
      <p:pic>
        <p:nvPicPr>
          <p:cNvPr id="44" name="Graphic 43" descr="Store with solid fill">
            <a:extLst>
              <a:ext uri="{FF2B5EF4-FFF2-40B4-BE49-F238E27FC236}">
                <a16:creationId xmlns:a16="http://schemas.microsoft.com/office/drawing/2014/main" id="{28160405-2F11-3A0E-6A7E-76024B4A67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562" y="3232315"/>
            <a:ext cx="1319783" cy="131978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F9C3094-87B1-A825-B444-1174ABE7104C}"/>
              </a:ext>
            </a:extLst>
          </p:cNvPr>
          <p:cNvSpPr txBox="1"/>
          <p:nvPr/>
        </p:nvSpPr>
        <p:spPr>
          <a:xfrm>
            <a:off x="9585146" y="3996421"/>
            <a:ext cx="167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Factor Market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CCAEC8-E279-102E-E936-72F11519A2C8}"/>
              </a:ext>
            </a:extLst>
          </p:cNvPr>
          <p:cNvSpPr txBox="1"/>
          <p:nvPr/>
        </p:nvSpPr>
        <p:spPr>
          <a:xfrm>
            <a:off x="746675" y="4284467"/>
            <a:ext cx="183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Product Market</a:t>
            </a:r>
          </a:p>
        </p:txBody>
      </p:sp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B47F7642-607A-ACB4-1B1F-ECD27AF8DB90}"/>
              </a:ext>
            </a:extLst>
          </p:cNvPr>
          <p:cNvSpPr/>
          <p:nvPr/>
        </p:nvSpPr>
        <p:spPr>
          <a:xfrm rot="16200000">
            <a:off x="7795861" y="93116"/>
            <a:ext cx="1600423" cy="3936499"/>
          </a:xfrm>
          <a:prstGeom prst="bentUpArrow">
            <a:avLst>
              <a:gd name="adj1" fmla="val 16116"/>
              <a:gd name="adj2" fmla="val 20854"/>
              <a:gd name="adj3" fmla="val 25592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Arrow: Bent-Up 20">
            <a:extLst>
              <a:ext uri="{FF2B5EF4-FFF2-40B4-BE49-F238E27FC236}">
                <a16:creationId xmlns:a16="http://schemas.microsoft.com/office/drawing/2014/main" id="{ADAFF58D-D14D-8835-E0D7-CCFC9B380737}"/>
              </a:ext>
            </a:extLst>
          </p:cNvPr>
          <p:cNvSpPr/>
          <p:nvPr/>
        </p:nvSpPr>
        <p:spPr>
          <a:xfrm rot="10800000">
            <a:off x="1020676" y="1401483"/>
            <a:ext cx="3501431" cy="1949981"/>
          </a:xfrm>
          <a:prstGeom prst="bentUpArrow">
            <a:avLst>
              <a:gd name="adj1" fmla="val 14989"/>
              <a:gd name="adj2" fmla="val 20854"/>
              <a:gd name="adj3" fmla="val 25123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Arrow: Bent-Up 21">
            <a:extLst>
              <a:ext uri="{FF2B5EF4-FFF2-40B4-BE49-F238E27FC236}">
                <a16:creationId xmlns:a16="http://schemas.microsoft.com/office/drawing/2014/main" id="{0A53B2D8-7126-EE77-81D8-7CA927FC6D62}"/>
              </a:ext>
            </a:extLst>
          </p:cNvPr>
          <p:cNvSpPr/>
          <p:nvPr/>
        </p:nvSpPr>
        <p:spPr>
          <a:xfrm rot="5400000">
            <a:off x="2250282" y="3600813"/>
            <a:ext cx="1596593" cy="3659500"/>
          </a:xfrm>
          <a:prstGeom prst="bentUpArrow">
            <a:avLst>
              <a:gd name="adj1" fmla="val 15744"/>
              <a:gd name="adj2" fmla="val 17984"/>
              <a:gd name="adj3" fmla="val 25123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E8B4AF7E-7372-BB86-03F9-001B96172343}"/>
              </a:ext>
            </a:extLst>
          </p:cNvPr>
          <p:cNvSpPr/>
          <p:nvPr/>
        </p:nvSpPr>
        <p:spPr>
          <a:xfrm flipH="1">
            <a:off x="1532784" y="4566098"/>
            <a:ext cx="3266946" cy="1078619"/>
          </a:xfrm>
          <a:prstGeom prst="bentUpArrow">
            <a:avLst>
              <a:gd name="adj1" fmla="val 23181"/>
              <a:gd name="adj2" fmla="val 24828"/>
              <a:gd name="adj3" fmla="val 25592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Arrow: Bent-Up 25">
            <a:extLst>
              <a:ext uri="{FF2B5EF4-FFF2-40B4-BE49-F238E27FC236}">
                <a16:creationId xmlns:a16="http://schemas.microsoft.com/office/drawing/2014/main" id="{0F965F41-FCFD-FBB9-8FE0-A5B9DC52BE10}"/>
              </a:ext>
            </a:extLst>
          </p:cNvPr>
          <p:cNvSpPr/>
          <p:nvPr/>
        </p:nvSpPr>
        <p:spPr>
          <a:xfrm>
            <a:off x="6273068" y="4469133"/>
            <a:ext cx="4670987" cy="1498377"/>
          </a:xfrm>
          <a:prstGeom prst="bentUpArrow">
            <a:avLst>
              <a:gd name="adj1" fmla="val 18068"/>
              <a:gd name="adj2" fmla="val 20120"/>
              <a:gd name="adj3" fmla="val 24358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9E03DE20-22DE-B670-3608-3E820F61DFA8}"/>
              </a:ext>
            </a:extLst>
          </p:cNvPr>
          <p:cNvSpPr/>
          <p:nvPr/>
        </p:nvSpPr>
        <p:spPr>
          <a:xfrm rot="16200000" flipH="1">
            <a:off x="7502767" y="2851230"/>
            <a:ext cx="1259637" cy="4237440"/>
          </a:xfrm>
          <a:prstGeom prst="bentUpArrow">
            <a:avLst>
              <a:gd name="adj1" fmla="val 20029"/>
              <a:gd name="adj2" fmla="val 17696"/>
              <a:gd name="adj3" fmla="val 30055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Arrow: Bent-Up 27">
            <a:extLst>
              <a:ext uri="{FF2B5EF4-FFF2-40B4-BE49-F238E27FC236}">
                <a16:creationId xmlns:a16="http://schemas.microsoft.com/office/drawing/2014/main" id="{1B5C5D7B-065F-80BA-4683-7550B5333301}"/>
              </a:ext>
            </a:extLst>
          </p:cNvPr>
          <p:cNvSpPr/>
          <p:nvPr/>
        </p:nvSpPr>
        <p:spPr>
          <a:xfrm flipV="1">
            <a:off x="6739075" y="1931906"/>
            <a:ext cx="3396242" cy="976352"/>
          </a:xfrm>
          <a:prstGeom prst="bentUpArrow">
            <a:avLst>
              <a:gd name="adj1" fmla="val 24896"/>
              <a:gd name="adj2" fmla="val 25732"/>
              <a:gd name="adj3" fmla="val 21690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Arrow: Bent-Up 28">
            <a:extLst>
              <a:ext uri="{FF2B5EF4-FFF2-40B4-BE49-F238E27FC236}">
                <a16:creationId xmlns:a16="http://schemas.microsoft.com/office/drawing/2014/main" id="{C70A43B9-D4A9-4D56-B36B-F723241B6158}"/>
              </a:ext>
            </a:extLst>
          </p:cNvPr>
          <p:cNvSpPr/>
          <p:nvPr/>
        </p:nvSpPr>
        <p:spPr>
          <a:xfrm rot="16200000" flipV="1">
            <a:off x="2508244" y="1131799"/>
            <a:ext cx="1600423" cy="2775060"/>
          </a:xfrm>
          <a:prstGeom prst="bentUpArrow">
            <a:avLst>
              <a:gd name="adj1" fmla="val 11975"/>
              <a:gd name="adj2" fmla="val 14873"/>
              <a:gd name="adj3" fmla="val 25592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38C564-751B-76E5-1D8C-0E887CC7E3D5}"/>
              </a:ext>
            </a:extLst>
          </p:cNvPr>
          <p:cNvSpPr txBox="1"/>
          <p:nvPr/>
        </p:nvSpPr>
        <p:spPr>
          <a:xfrm rot="5400000">
            <a:off x="1538048" y="3484433"/>
            <a:ext cx="2228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Goods and Services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100E79-91C9-8E06-F713-052DBD8FC4AA}"/>
              </a:ext>
            </a:extLst>
          </p:cNvPr>
          <p:cNvSpPr txBox="1"/>
          <p:nvPr/>
        </p:nvSpPr>
        <p:spPr>
          <a:xfrm rot="5400000">
            <a:off x="9468382" y="3169243"/>
            <a:ext cx="390485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Payments for Factors of Production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A4813C-7234-A1EE-09D6-310B5C763338}"/>
              </a:ext>
            </a:extLst>
          </p:cNvPr>
          <p:cNvSpPr txBox="1"/>
          <p:nvPr/>
        </p:nvSpPr>
        <p:spPr>
          <a:xfrm rot="16200000">
            <a:off x="8087110" y="3419321"/>
            <a:ext cx="250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Factors  of Production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EA1E38-70DE-C093-3F11-7A31B99C5479}"/>
              </a:ext>
            </a:extLst>
          </p:cNvPr>
          <p:cNvSpPr txBox="1"/>
          <p:nvPr/>
        </p:nvSpPr>
        <p:spPr>
          <a:xfrm rot="16200000" flipH="1">
            <a:off x="-1222942" y="3419321"/>
            <a:ext cx="367273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Payments for Goods and Services</a:t>
            </a:r>
          </a:p>
        </p:txBody>
      </p:sp>
      <p:pic>
        <p:nvPicPr>
          <p:cNvPr id="52" name="Graphic 51" descr="Production with solid fill">
            <a:extLst>
              <a:ext uri="{FF2B5EF4-FFF2-40B4-BE49-F238E27FC236}">
                <a16:creationId xmlns:a16="http://schemas.microsoft.com/office/drawing/2014/main" id="{5EBF3E15-CE59-CB2E-D38E-C067B57D42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4908" y="5051825"/>
            <a:ext cx="955024" cy="955024"/>
          </a:xfrm>
          <a:prstGeom prst="rect">
            <a:avLst/>
          </a:prstGeom>
        </p:spPr>
      </p:pic>
      <p:pic>
        <p:nvPicPr>
          <p:cNvPr id="55" name="Content Placeholder 4" descr="House with solid fill">
            <a:extLst>
              <a:ext uri="{FF2B5EF4-FFF2-40B4-BE49-F238E27FC236}">
                <a16:creationId xmlns:a16="http://schemas.microsoft.com/office/drawing/2014/main" id="{564E02E4-4DC2-7B69-294E-4192970BE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0464" y="1765664"/>
            <a:ext cx="763125" cy="76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18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3F09D-69C6-C6D0-0447-B4A3A22A8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F920-13BF-D589-AEB8-C78DAAAF6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81" y="341808"/>
            <a:ext cx="10125219" cy="741905"/>
          </a:xfrm>
        </p:spPr>
        <p:txBody>
          <a:bodyPr/>
          <a:lstStyle/>
          <a:p>
            <a:r>
              <a:rPr lang="en-CA" sz="4800" b="1" dirty="0"/>
              <a:t>The Big Picture: Circular Flow</a:t>
            </a:r>
          </a:p>
        </p:txBody>
      </p:sp>
      <p:pic>
        <p:nvPicPr>
          <p:cNvPr id="10" name="Content Placeholder 4" descr="House with solid fill">
            <a:extLst>
              <a:ext uri="{FF2B5EF4-FFF2-40B4-BE49-F238E27FC236}">
                <a16:creationId xmlns:a16="http://schemas.microsoft.com/office/drawing/2014/main" id="{36988055-ECE6-2AF1-8A93-81218D01C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4591" y="1392832"/>
            <a:ext cx="763125" cy="763122"/>
          </a:xfrm>
          <a:prstGeom prst="rect">
            <a:avLst/>
          </a:prstGeom>
        </p:spPr>
      </p:pic>
      <p:pic>
        <p:nvPicPr>
          <p:cNvPr id="11" name="Content Placeholder 4" descr="House with solid fill">
            <a:extLst>
              <a:ext uri="{FF2B5EF4-FFF2-40B4-BE49-F238E27FC236}">
                <a16:creationId xmlns:a16="http://schemas.microsoft.com/office/drawing/2014/main" id="{0BE215A4-E87A-5954-FA6E-6EFD39419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5984" y="1376031"/>
            <a:ext cx="763125" cy="7631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C2D3FC-1645-C16D-99EB-84657A3FA838}"/>
              </a:ext>
            </a:extLst>
          </p:cNvPr>
          <p:cNvSpPr txBox="1"/>
          <p:nvPr/>
        </p:nvSpPr>
        <p:spPr>
          <a:xfrm>
            <a:off x="4882916" y="1093888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Households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87E55-CEDB-A6C9-59A9-A0CA04604836}"/>
              </a:ext>
            </a:extLst>
          </p:cNvPr>
          <p:cNvSpPr txBox="1"/>
          <p:nvPr/>
        </p:nvSpPr>
        <p:spPr>
          <a:xfrm>
            <a:off x="5073729" y="5863709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Firms</a:t>
            </a:r>
          </a:p>
        </p:txBody>
      </p:sp>
      <p:pic>
        <p:nvPicPr>
          <p:cNvPr id="43" name="Graphic 42" descr="Store with solid fill">
            <a:extLst>
              <a:ext uri="{FF2B5EF4-FFF2-40B4-BE49-F238E27FC236}">
                <a16:creationId xmlns:a16="http://schemas.microsoft.com/office/drawing/2014/main" id="{BA69D607-1255-C965-8185-4243D90EB4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2387" y="2769108"/>
            <a:ext cx="1319783" cy="1319783"/>
          </a:xfrm>
          <a:prstGeom prst="rect">
            <a:avLst/>
          </a:prstGeom>
        </p:spPr>
      </p:pic>
      <p:pic>
        <p:nvPicPr>
          <p:cNvPr id="44" name="Graphic 43" descr="Store with solid fill">
            <a:extLst>
              <a:ext uri="{FF2B5EF4-FFF2-40B4-BE49-F238E27FC236}">
                <a16:creationId xmlns:a16="http://schemas.microsoft.com/office/drawing/2014/main" id="{2BD83594-85E2-2707-0C3C-CAB5FCB0D2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562" y="3232315"/>
            <a:ext cx="1319783" cy="131978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2DF6468-1151-731F-4BBE-D39D5D6C0CF7}"/>
              </a:ext>
            </a:extLst>
          </p:cNvPr>
          <p:cNvSpPr txBox="1"/>
          <p:nvPr/>
        </p:nvSpPr>
        <p:spPr>
          <a:xfrm>
            <a:off x="9585146" y="3996421"/>
            <a:ext cx="167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Factor Market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C5AE41-D5EC-FF47-6965-9E875C61F49D}"/>
              </a:ext>
            </a:extLst>
          </p:cNvPr>
          <p:cNvSpPr txBox="1"/>
          <p:nvPr/>
        </p:nvSpPr>
        <p:spPr>
          <a:xfrm>
            <a:off x="746675" y="4284467"/>
            <a:ext cx="183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Product Market</a:t>
            </a:r>
          </a:p>
        </p:txBody>
      </p:sp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3AA0586F-1CE1-636F-90E5-B92E88573030}"/>
              </a:ext>
            </a:extLst>
          </p:cNvPr>
          <p:cNvSpPr/>
          <p:nvPr/>
        </p:nvSpPr>
        <p:spPr>
          <a:xfrm rot="16200000">
            <a:off x="7795861" y="93116"/>
            <a:ext cx="1600423" cy="3936499"/>
          </a:xfrm>
          <a:prstGeom prst="bentUpArrow">
            <a:avLst>
              <a:gd name="adj1" fmla="val 16116"/>
              <a:gd name="adj2" fmla="val 20854"/>
              <a:gd name="adj3" fmla="val 25592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Arrow: Bent-Up 20">
            <a:extLst>
              <a:ext uri="{FF2B5EF4-FFF2-40B4-BE49-F238E27FC236}">
                <a16:creationId xmlns:a16="http://schemas.microsoft.com/office/drawing/2014/main" id="{69AFA48F-5651-668E-6F5D-D48105FA55A7}"/>
              </a:ext>
            </a:extLst>
          </p:cNvPr>
          <p:cNvSpPr/>
          <p:nvPr/>
        </p:nvSpPr>
        <p:spPr>
          <a:xfrm rot="10800000">
            <a:off x="1020676" y="1401483"/>
            <a:ext cx="3501431" cy="1949981"/>
          </a:xfrm>
          <a:prstGeom prst="bentUpArrow">
            <a:avLst>
              <a:gd name="adj1" fmla="val 14989"/>
              <a:gd name="adj2" fmla="val 20854"/>
              <a:gd name="adj3" fmla="val 25123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Arrow: Bent-Up 21">
            <a:extLst>
              <a:ext uri="{FF2B5EF4-FFF2-40B4-BE49-F238E27FC236}">
                <a16:creationId xmlns:a16="http://schemas.microsoft.com/office/drawing/2014/main" id="{E6640CEC-85F9-EB38-F6C7-A91AB3CEF71E}"/>
              </a:ext>
            </a:extLst>
          </p:cNvPr>
          <p:cNvSpPr/>
          <p:nvPr/>
        </p:nvSpPr>
        <p:spPr>
          <a:xfrm rot="5400000">
            <a:off x="2250282" y="3600813"/>
            <a:ext cx="1596593" cy="3659500"/>
          </a:xfrm>
          <a:prstGeom prst="bentUpArrow">
            <a:avLst>
              <a:gd name="adj1" fmla="val 15744"/>
              <a:gd name="adj2" fmla="val 17984"/>
              <a:gd name="adj3" fmla="val 25123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94729D72-4E9A-886C-EC5F-2964BC720E74}"/>
              </a:ext>
            </a:extLst>
          </p:cNvPr>
          <p:cNvSpPr/>
          <p:nvPr/>
        </p:nvSpPr>
        <p:spPr>
          <a:xfrm flipH="1">
            <a:off x="1532784" y="4566098"/>
            <a:ext cx="3266946" cy="1078619"/>
          </a:xfrm>
          <a:prstGeom prst="bentUpArrow">
            <a:avLst>
              <a:gd name="adj1" fmla="val 23181"/>
              <a:gd name="adj2" fmla="val 24828"/>
              <a:gd name="adj3" fmla="val 25592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Arrow: Bent-Up 25">
            <a:extLst>
              <a:ext uri="{FF2B5EF4-FFF2-40B4-BE49-F238E27FC236}">
                <a16:creationId xmlns:a16="http://schemas.microsoft.com/office/drawing/2014/main" id="{86940B66-3E45-9B21-BDAE-C297DDFA22CB}"/>
              </a:ext>
            </a:extLst>
          </p:cNvPr>
          <p:cNvSpPr/>
          <p:nvPr/>
        </p:nvSpPr>
        <p:spPr>
          <a:xfrm>
            <a:off x="6273068" y="4469133"/>
            <a:ext cx="4670987" cy="1498377"/>
          </a:xfrm>
          <a:prstGeom prst="bentUpArrow">
            <a:avLst>
              <a:gd name="adj1" fmla="val 18068"/>
              <a:gd name="adj2" fmla="val 20120"/>
              <a:gd name="adj3" fmla="val 24358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A3F1DFA8-B671-B061-4C27-3AF98CEB0412}"/>
              </a:ext>
            </a:extLst>
          </p:cNvPr>
          <p:cNvSpPr/>
          <p:nvPr/>
        </p:nvSpPr>
        <p:spPr>
          <a:xfrm rot="16200000" flipH="1">
            <a:off x="7502767" y="2851230"/>
            <a:ext cx="1259637" cy="4237440"/>
          </a:xfrm>
          <a:prstGeom prst="bentUpArrow">
            <a:avLst>
              <a:gd name="adj1" fmla="val 20029"/>
              <a:gd name="adj2" fmla="val 17696"/>
              <a:gd name="adj3" fmla="val 30055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Arrow: Bent-Up 27">
            <a:extLst>
              <a:ext uri="{FF2B5EF4-FFF2-40B4-BE49-F238E27FC236}">
                <a16:creationId xmlns:a16="http://schemas.microsoft.com/office/drawing/2014/main" id="{7A727C19-19F1-B84C-476C-5967B55EC748}"/>
              </a:ext>
            </a:extLst>
          </p:cNvPr>
          <p:cNvSpPr/>
          <p:nvPr/>
        </p:nvSpPr>
        <p:spPr>
          <a:xfrm flipV="1">
            <a:off x="6739075" y="1931906"/>
            <a:ext cx="3396242" cy="976352"/>
          </a:xfrm>
          <a:prstGeom prst="bentUpArrow">
            <a:avLst>
              <a:gd name="adj1" fmla="val 24896"/>
              <a:gd name="adj2" fmla="val 25732"/>
              <a:gd name="adj3" fmla="val 21690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Arrow: Bent-Up 28">
            <a:extLst>
              <a:ext uri="{FF2B5EF4-FFF2-40B4-BE49-F238E27FC236}">
                <a16:creationId xmlns:a16="http://schemas.microsoft.com/office/drawing/2014/main" id="{2ABC1C6C-2331-6CC8-69E2-16BC5644588B}"/>
              </a:ext>
            </a:extLst>
          </p:cNvPr>
          <p:cNvSpPr/>
          <p:nvPr/>
        </p:nvSpPr>
        <p:spPr>
          <a:xfrm rot="16200000" flipV="1">
            <a:off x="2508244" y="1131799"/>
            <a:ext cx="1600423" cy="2775060"/>
          </a:xfrm>
          <a:prstGeom prst="bentUpArrow">
            <a:avLst>
              <a:gd name="adj1" fmla="val 11975"/>
              <a:gd name="adj2" fmla="val 14873"/>
              <a:gd name="adj3" fmla="val 25592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1A31DB-0784-4772-722A-7788304CF39D}"/>
              </a:ext>
            </a:extLst>
          </p:cNvPr>
          <p:cNvSpPr txBox="1"/>
          <p:nvPr/>
        </p:nvSpPr>
        <p:spPr>
          <a:xfrm rot="5400000">
            <a:off x="1538048" y="3484433"/>
            <a:ext cx="2228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Goods and Services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F541A3-F0E4-CDEF-E0DF-D165FA87DE3B}"/>
              </a:ext>
            </a:extLst>
          </p:cNvPr>
          <p:cNvSpPr txBox="1"/>
          <p:nvPr/>
        </p:nvSpPr>
        <p:spPr>
          <a:xfrm rot="5400000">
            <a:off x="9468382" y="3169243"/>
            <a:ext cx="390485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Payments for Factors of Production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FD4647-7AAD-0A67-2447-808FCC0B4BAD}"/>
              </a:ext>
            </a:extLst>
          </p:cNvPr>
          <p:cNvSpPr txBox="1"/>
          <p:nvPr/>
        </p:nvSpPr>
        <p:spPr>
          <a:xfrm rot="16200000">
            <a:off x="8087110" y="3419321"/>
            <a:ext cx="250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Factors  of Production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125602-0D14-29B0-F6D6-C5E71BAD4B20}"/>
              </a:ext>
            </a:extLst>
          </p:cNvPr>
          <p:cNvSpPr txBox="1"/>
          <p:nvPr/>
        </p:nvSpPr>
        <p:spPr>
          <a:xfrm rot="16200000" flipH="1">
            <a:off x="-1222942" y="3419321"/>
            <a:ext cx="367273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Payments for Goods and Services</a:t>
            </a:r>
          </a:p>
        </p:txBody>
      </p:sp>
      <p:pic>
        <p:nvPicPr>
          <p:cNvPr id="52" name="Graphic 51" descr="Production with solid fill">
            <a:extLst>
              <a:ext uri="{FF2B5EF4-FFF2-40B4-BE49-F238E27FC236}">
                <a16:creationId xmlns:a16="http://schemas.microsoft.com/office/drawing/2014/main" id="{051EC8A0-2A10-ECFE-2F68-228EE3BA2A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4908" y="5051825"/>
            <a:ext cx="955024" cy="955024"/>
          </a:xfrm>
          <a:prstGeom prst="rect">
            <a:avLst/>
          </a:prstGeom>
        </p:spPr>
      </p:pic>
      <p:pic>
        <p:nvPicPr>
          <p:cNvPr id="55" name="Content Placeholder 4" descr="House with solid fill">
            <a:extLst>
              <a:ext uri="{FF2B5EF4-FFF2-40B4-BE49-F238E27FC236}">
                <a16:creationId xmlns:a16="http://schemas.microsoft.com/office/drawing/2014/main" id="{EEF1C198-A678-2D1A-924F-C38E2C3FF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0464" y="1765664"/>
            <a:ext cx="763125" cy="7631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592FD8-5866-7CE2-76B9-CBA1D0F1F33E}"/>
              </a:ext>
            </a:extLst>
          </p:cNvPr>
          <p:cNvSpPr txBox="1"/>
          <p:nvPr/>
        </p:nvSpPr>
        <p:spPr>
          <a:xfrm>
            <a:off x="2948053" y="2581981"/>
            <a:ext cx="61678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C00000"/>
                </a:solidFill>
              </a:rPr>
              <a:t>Households Provide Factors of Production to firms </a:t>
            </a:r>
            <a:br>
              <a:rPr lang="en-CA" b="1" dirty="0">
                <a:solidFill>
                  <a:srgbClr val="C00000"/>
                </a:solidFill>
              </a:rPr>
            </a:br>
            <a:r>
              <a:rPr lang="en-CA" b="1" dirty="0">
                <a:solidFill>
                  <a:srgbClr val="C00000"/>
                </a:solidFill>
              </a:rPr>
              <a:t>through the factor market, firms use factors to produce goods for product market.</a:t>
            </a:r>
            <a:br>
              <a:rPr lang="en-CA" b="1" dirty="0">
                <a:solidFill>
                  <a:srgbClr val="0070C0"/>
                </a:solidFill>
              </a:rPr>
            </a:br>
            <a:br>
              <a:rPr lang="en-CA" b="1" dirty="0">
                <a:solidFill>
                  <a:srgbClr val="0070C0"/>
                </a:solidFill>
              </a:rPr>
            </a:br>
            <a:r>
              <a:rPr lang="en-CA" b="1" dirty="0">
                <a:solidFill>
                  <a:srgbClr val="0070C0"/>
                </a:solidFill>
              </a:rPr>
              <a:t>Households pay for goods in the product market</a:t>
            </a:r>
            <a:br>
              <a:rPr lang="en-CA" b="1" dirty="0">
                <a:solidFill>
                  <a:srgbClr val="0070C0"/>
                </a:solidFill>
              </a:rPr>
            </a:br>
            <a:r>
              <a:rPr lang="en-CA" b="1" dirty="0">
                <a:solidFill>
                  <a:srgbClr val="0070C0"/>
                </a:solidFill>
              </a:rPr>
              <a:t>Firms collect revenue and use revenue to</a:t>
            </a:r>
            <a:br>
              <a:rPr lang="en-CA" b="1" dirty="0">
                <a:solidFill>
                  <a:srgbClr val="0070C0"/>
                </a:solidFill>
              </a:rPr>
            </a:br>
            <a:r>
              <a:rPr lang="en-CA" b="1" dirty="0">
                <a:solidFill>
                  <a:srgbClr val="0070C0"/>
                </a:solidFill>
              </a:rPr>
              <a:t>purchase factors of production from households</a:t>
            </a:r>
            <a:br>
              <a:rPr lang="en-CA" b="1" dirty="0">
                <a:solidFill>
                  <a:srgbClr val="0070C0"/>
                </a:solidFill>
              </a:rPr>
            </a:br>
            <a:r>
              <a:rPr lang="en-CA" b="1" dirty="0">
                <a:solidFill>
                  <a:srgbClr val="0070C0"/>
                </a:solidFill>
              </a:rPr>
              <a:t>in factor market.</a:t>
            </a:r>
            <a:br>
              <a:rPr lang="en-CA" b="1" dirty="0">
                <a:solidFill>
                  <a:srgbClr val="0070C0"/>
                </a:solidFill>
              </a:rPr>
            </a:br>
            <a:endParaRPr lang="en-CA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120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DA1C7-A475-E493-4DFA-148DFF99F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AF3B-C915-7DE7-8866-171F9B7B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90" y="379671"/>
            <a:ext cx="11825893" cy="863471"/>
          </a:xfrm>
        </p:spPr>
        <p:txBody>
          <a:bodyPr/>
          <a:lstStyle/>
          <a:p>
            <a:r>
              <a:rPr lang="en-CA" sz="4000" b="1" dirty="0"/>
              <a:t>The Big Picture: Circular Flow with Government</a:t>
            </a:r>
          </a:p>
        </p:txBody>
      </p:sp>
      <p:pic>
        <p:nvPicPr>
          <p:cNvPr id="5" name="Content Placeholder 4" descr="House with solid fill">
            <a:extLst>
              <a:ext uri="{FF2B5EF4-FFF2-40B4-BE49-F238E27FC236}">
                <a16:creationId xmlns:a16="http://schemas.microsoft.com/office/drawing/2014/main" id="{64EA49D3-7C16-5A60-1330-8D89324D5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0464" y="1765664"/>
            <a:ext cx="763125" cy="763122"/>
          </a:xfrm>
        </p:spPr>
      </p:pic>
      <p:pic>
        <p:nvPicPr>
          <p:cNvPr id="10" name="Content Placeholder 4" descr="House with solid fill">
            <a:extLst>
              <a:ext uri="{FF2B5EF4-FFF2-40B4-BE49-F238E27FC236}">
                <a16:creationId xmlns:a16="http://schemas.microsoft.com/office/drawing/2014/main" id="{DEDCF909-8775-51FD-77D9-068AE9EBE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4591" y="1392832"/>
            <a:ext cx="763125" cy="763122"/>
          </a:xfrm>
          <a:prstGeom prst="rect">
            <a:avLst/>
          </a:prstGeom>
        </p:spPr>
      </p:pic>
      <p:pic>
        <p:nvPicPr>
          <p:cNvPr id="11" name="Content Placeholder 4" descr="House with solid fill">
            <a:extLst>
              <a:ext uri="{FF2B5EF4-FFF2-40B4-BE49-F238E27FC236}">
                <a16:creationId xmlns:a16="http://schemas.microsoft.com/office/drawing/2014/main" id="{4203FE8E-6C75-E663-8C32-7909622F7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5984" y="1376031"/>
            <a:ext cx="763125" cy="7631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ADE661-E6B8-7853-4E64-314914DD241C}"/>
              </a:ext>
            </a:extLst>
          </p:cNvPr>
          <p:cNvSpPr txBox="1"/>
          <p:nvPr/>
        </p:nvSpPr>
        <p:spPr>
          <a:xfrm>
            <a:off x="4882916" y="1093888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Households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B377C3-E30E-7248-99AF-6199E95F7467}"/>
              </a:ext>
            </a:extLst>
          </p:cNvPr>
          <p:cNvSpPr txBox="1"/>
          <p:nvPr/>
        </p:nvSpPr>
        <p:spPr>
          <a:xfrm>
            <a:off x="5073729" y="5863709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Firms</a:t>
            </a:r>
          </a:p>
        </p:txBody>
      </p:sp>
      <p:pic>
        <p:nvPicPr>
          <p:cNvPr id="43" name="Graphic 42" descr="Store with solid fill">
            <a:extLst>
              <a:ext uri="{FF2B5EF4-FFF2-40B4-BE49-F238E27FC236}">
                <a16:creationId xmlns:a16="http://schemas.microsoft.com/office/drawing/2014/main" id="{9DBF739A-FB49-78A8-37D0-A903DFABE0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2387" y="2769108"/>
            <a:ext cx="1319783" cy="1319783"/>
          </a:xfrm>
          <a:prstGeom prst="rect">
            <a:avLst/>
          </a:prstGeom>
        </p:spPr>
      </p:pic>
      <p:pic>
        <p:nvPicPr>
          <p:cNvPr id="44" name="Graphic 43" descr="Store with solid fill">
            <a:extLst>
              <a:ext uri="{FF2B5EF4-FFF2-40B4-BE49-F238E27FC236}">
                <a16:creationId xmlns:a16="http://schemas.microsoft.com/office/drawing/2014/main" id="{C1E4365F-B651-2322-B060-71E9FE3EAB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562" y="3232315"/>
            <a:ext cx="1319783" cy="131978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5674473-E8EB-FF63-C7A8-D9541631F335}"/>
              </a:ext>
            </a:extLst>
          </p:cNvPr>
          <p:cNvSpPr txBox="1"/>
          <p:nvPr/>
        </p:nvSpPr>
        <p:spPr>
          <a:xfrm>
            <a:off x="9585146" y="3996421"/>
            <a:ext cx="167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Factor Market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EC5641-4345-0F83-5950-02ED73F48599}"/>
              </a:ext>
            </a:extLst>
          </p:cNvPr>
          <p:cNvSpPr txBox="1"/>
          <p:nvPr/>
        </p:nvSpPr>
        <p:spPr>
          <a:xfrm>
            <a:off x="746675" y="4284467"/>
            <a:ext cx="183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Product Market</a:t>
            </a:r>
          </a:p>
        </p:txBody>
      </p:sp>
      <p:pic>
        <p:nvPicPr>
          <p:cNvPr id="8" name="Graphic 7" descr="Production with solid fill">
            <a:extLst>
              <a:ext uri="{FF2B5EF4-FFF2-40B4-BE49-F238E27FC236}">
                <a16:creationId xmlns:a16="http://schemas.microsoft.com/office/drawing/2014/main" id="{72D61FA4-7ABF-3279-EC7F-AEA1185E30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4908" y="5051825"/>
            <a:ext cx="955024" cy="955024"/>
          </a:xfrm>
          <a:prstGeom prst="rect">
            <a:avLst/>
          </a:prstGeom>
        </p:spPr>
      </p:pic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B1A8B6B8-C1F9-DA98-E017-8B835404A997}"/>
              </a:ext>
            </a:extLst>
          </p:cNvPr>
          <p:cNvSpPr/>
          <p:nvPr/>
        </p:nvSpPr>
        <p:spPr>
          <a:xfrm rot="16200000">
            <a:off x="7795861" y="93116"/>
            <a:ext cx="1600423" cy="3936499"/>
          </a:xfrm>
          <a:prstGeom prst="bentUpArrow">
            <a:avLst>
              <a:gd name="adj1" fmla="val 16116"/>
              <a:gd name="adj2" fmla="val 20854"/>
              <a:gd name="adj3" fmla="val 25592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Arrow: Bent-Up 20">
            <a:extLst>
              <a:ext uri="{FF2B5EF4-FFF2-40B4-BE49-F238E27FC236}">
                <a16:creationId xmlns:a16="http://schemas.microsoft.com/office/drawing/2014/main" id="{A2EE5143-B2E0-1EBD-DAE7-D73CFC20DAF2}"/>
              </a:ext>
            </a:extLst>
          </p:cNvPr>
          <p:cNvSpPr/>
          <p:nvPr/>
        </p:nvSpPr>
        <p:spPr>
          <a:xfrm rot="10800000">
            <a:off x="1020676" y="1401483"/>
            <a:ext cx="3501431" cy="1949981"/>
          </a:xfrm>
          <a:prstGeom prst="bentUpArrow">
            <a:avLst>
              <a:gd name="adj1" fmla="val 14989"/>
              <a:gd name="adj2" fmla="val 20854"/>
              <a:gd name="adj3" fmla="val 25123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Arrow: Bent-Up 21">
            <a:extLst>
              <a:ext uri="{FF2B5EF4-FFF2-40B4-BE49-F238E27FC236}">
                <a16:creationId xmlns:a16="http://schemas.microsoft.com/office/drawing/2014/main" id="{8DE7EDD6-B14D-DF5A-4D01-E9FE98E320BD}"/>
              </a:ext>
            </a:extLst>
          </p:cNvPr>
          <p:cNvSpPr/>
          <p:nvPr/>
        </p:nvSpPr>
        <p:spPr>
          <a:xfrm rot="5400000">
            <a:off x="2250282" y="3600813"/>
            <a:ext cx="1596593" cy="3659500"/>
          </a:xfrm>
          <a:prstGeom prst="bentUpArrow">
            <a:avLst>
              <a:gd name="adj1" fmla="val 15744"/>
              <a:gd name="adj2" fmla="val 17984"/>
              <a:gd name="adj3" fmla="val 25123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2E295EA9-C31C-CED1-0251-22BBF33E81AC}"/>
              </a:ext>
            </a:extLst>
          </p:cNvPr>
          <p:cNvSpPr/>
          <p:nvPr/>
        </p:nvSpPr>
        <p:spPr>
          <a:xfrm flipH="1">
            <a:off x="1532784" y="4566098"/>
            <a:ext cx="3266946" cy="1078619"/>
          </a:xfrm>
          <a:prstGeom prst="bentUpArrow">
            <a:avLst>
              <a:gd name="adj1" fmla="val 23181"/>
              <a:gd name="adj2" fmla="val 24828"/>
              <a:gd name="adj3" fmla="val 25592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Arrow: Bent-Up 25">
            <a:extLst>
              <a:ext uri="{FF2B5EF4-FFF2-40B4-BE49-F238E27FC236}">
                <a16:creationId xmlns:a16="http://schemas.microsoft.com/office/drawing/2014/main" id="{ADFB965C-FB1C-468D-AE97-6081AD76CA83}"/>
              </a:ext>
            </a:extLst>
          </p:cNvPr>
          <p:cNvSpPr/>
          <p:nvPr/>
        </p:nvSpPr>
        <p:spPr>
          <a:xfrm>
            <a:off x="6273068" y="4469133"/>
            <a:ext cx="4670987" cy="1498377"/>
          </a:xfrm>
          <a:prstGeom prst="bentUpArrow">
            <a:avLst>
              <a:gd name="adj1" fmla="val 18068"/>
              <a:gd name="adj2" fmla="val 20120"/>
              <a:gd name="adj3" fmla="val 24358"/>
            </a:avLst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94954801-A0D2-746C-C45C-A516E4564421}"/>
              </a:ext>
            </a:extLst>
          </p:cNvPr>
          <p:cNvSpPr/>
          <p:nvPr/>
        </p:nvSpPr>
        <p:spPr>
          <a:xfrm rot="16200000" flipH="1">
            <a:off x="7502767" y="2851230"/>
            <a:ext cx="1259637" cy="4237440"/>
          </a:xfrm>
          <a:prstGeom prst="bentUpArrow">
            <a:avLst>
              <a:gd name="adj1" fmla="val 20029"/>
              <a:gd name="adj2" fmla="val 17696"/>
              <a:gd name="adj3" fmla="val 30055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Arrow: Bent-Up 27">
            <a:extLst>
              <a:ext uri="{FF2B5EF4-FFF2-40B4-BE49-F238E27FC236}">
                <a16:creationId xmlns:a16="http://schemas.microsoft.com/office/drawing/2014/main" id="{60184A19-51E7-CF0B-3D09-E6F2812D2DF3}"/>
              </a:ext>
            </a:extLst>
          </p:cNvPr>
          <p:cNvSpPr/>
          <p:nvPr/>
        </p:nvSpPr>
        <p:spPr>
          <a:xfrm flipV="1">
            <a:off x="6739075" y="1931906"/>
            <a:ext cx="3396242" cy="976352"/>
          </a:xfrm>
          <a:prstGeom prst="bentUpArrow">
            <a:avLst>
              <a:gd name="adj1" fmla="val 24896"/>
              <a:gd name="adj2" fmla="val 25732"/>
              <a:gd name="adj3" fmla="val 21690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Arrow: Bent-Up 28">
            <a:extLst>
              <a:ext uri="{FF2B5EF4-FFF2-40B4-BE49-F238E27FC236}">
                <a16:creationId xmlns:a16="http://schemas.microsoft.com/office/drawing/2014/main" id="{1E06D26C-E329-978B-6703-446D089C93D2}"/>
              </a:ext>
            </a:extLst>
          </p:cNvPr>
          <p:cNvSpPr/>
          <p:nvPr/>
        </p:nvSpPr>
        <p:spPr>
          <a:xfrm rot="16200000" flipV="1">
            <a:off x="2508244" y="1131799"/>
            <a:ext cx="1600423" cy="2775060"/>
          </a:xfrm>
          <a:prstGeom prst="bentUpArrow">
            <a:avLst>
              <a:gd name="adj1" fmla="val 11975"/>
              <a:gd name="adj2" fmla="val 14873"/>
              <a:gd name="adj3" fmla="val 25592"/>
            </a:avLst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4D1557-BE5A-3544-0511-062E2C4E0507}"/>
              </a:ext>
            </a:extLst>
          </p:cNvPr>
          <p:cNvSpPr txBox="1"/>
          <p:nvPr/>
        </p:nvSpPr>
        <p:spPr>
          <a:xfrm rot="5400000">
            <a:off x="1479031" y="3475494"/>
            <a:ext cx="2228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Goods and Services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DD7133-C6D7-DE38-9951-0B2E9F3A7DA6}"/>
              </a:ext>
            </a:extLst>
          </p:cNvPr>
          <p:cNvSpPr txBox="1"/>
          <p:nvPr/>
        </p:nvSpPr>
        <p:spPr>
          <a:xfrm rot="5400000">
            <a:off x="9393275" y="3293471"/>
            <a:ext cx="390485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Payments for Factors of Production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3611C5-B5EF-3775-A41F-5914113E1B82}"/>
              </a:ext>
            </a:extLst>
          </p:cNvPr>
          <p:cNvSpPr txBox="1"/>
          <p:nvPr/>
        </p:nvSpPr>
        <p:spPr>
          <a:xfrm rot="16200000">
            <a:off x="8087110" y="3419321"/>
            <a:ext cx="250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Factors  of Production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AC4766-4AF9-754A-4457-DCC315713FF5}"/>
              </a:ext>
            </a:extLst>
          </p:cNvPr>
          <p:cNvSpPr txBox="1"/>
          <p:nvPr/>
        </p:nvSpPr>
        <p:spPr>
          <a:xfrm rot="16200000" flipH="1">
            <a:off x="-1222942" y="3419321"/>
            <a:ext cx="367273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Payments for Goods and Services</a:t>
            </a:r>
          </a:p>
        </p:txBody>
      </p:sp>
      <p:pic>
        <p:nvPicPr>
          <p:cNvPr id="3" name="Graphic 2" descr="Building with solid fill">
            <a:extLst>
              <a:ext uri="{FF2B5EF4-FFF2-40B4-BE49-F238E27FC236}">
                <a16:creationId xmlns:a16="http://schemas.microsoft.com/office/drawing/2014/main" id="{2CF2A772-3015-66A7-EAA0-E60DF24AFA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3113" y="3169388"/>
            <a:ext cx="915047" cy="915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88A817-5FC8-0907-ABBD-78002E730088}"/>
              </a:ext>
            </a:extLst>
          </p:cNvPr>
          <p:cNvSpPr txBox="1"/>
          <p:nvPr/>
        </p:nvSpPr>
        <p:spPr>
          <a:xfrm>
            <a:off x="4799730" y="3922315"/>
            <a:ext cx="149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Government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2AE4F260-B874-0B81-E6A8-A9C41F58B7A6}"/>
              </a:ext>
            </a:extLst>
          </p:cNvPr>
          <p:cNvSpPr/>
          <p:nvPr/>
        </p:nvSpPr>
        <p:spPr>
          <a:xfrm>
            <a:off x="6005421" y="3235522"/>
            <a:ext cx="2958075" cy="327400"/>
          </a:xfrm>
          <a:prstGeom prst="leftArrow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3968BE69-81F9-D2EC-54F8-994309F0270A}"/>
              </a:ext>
            </a:extLst>
          </p:cNvPr>
          <p:cNvSpPr/>
          <p:nvPr/>
        </p:nvSpPr>
        <p:spPr>
          <a:xfrm flipH="1">
            <a:off x="6083997" y="3567774"/>
            <a:ext cx="2958075" cy="327400"/>
          </a:xfrm>
          <a:prstGeom prst="leftArrow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1169459F-809C-F4C4-2E65-58044522E3D7}"/>
              </a:ext>
            </a:extLst>
          </p:cNvPr>
          <p:cNvSpPr/>
          <p:nvPr/>
        </p:nvSpPr>
        <p:spPr>
          <a:xfrm>
            <a:off x="2644678" y="3654866"/>
            <a:ext cx="2432868" cy="327400"/>
          </a:xfrm>
          <a:prstGeom prst="leftArrow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Arrow: Left 29">
            <a:extLst>
              <a:ext uri="{FF2B5EF4-FFF2-40B4-BE49-F238E27FC236}">
                <a16:creationId xmlns:a16="http://schemas.microsoft.com/office/drawing/2014/main" id="{7D4E9CA7-EC3D-B6A3-00D4-125D9716F184}"/>
              </a:ext>
            </a:extLst>
          </p:cNvPr>
          <p:cNvSpPr/>
          <p:nvPr/>
        </p:nvSpPr>
        <p:spPr>
          <a:xfrm flipH="1">
            <a:off x="2674807" y="3349927"/>
            <a:ext cx="2432868" cy="327400"/>
          </a:xfrm>
          <a:prstGeom prst="leftArrow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6C028873-63E7-0EC8-BE02-EDD1365F9153}"/>
              </a:ext>
            </a:extLst>
          </p:cNvPr>
          <p:cNvSpPr/>
          <p:nvPr/>
        </p:nvSpPr>
        <p:spPr>
          <a:xfrm rot="16200000">
            <a:off x="4962780" y="2671868"/>
            <a:ext cx="763124" cy="318724"/>
          </a:xfrm>
          <a:prstGeom prst="leftArrow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Arrow: Left 33">
            <a:extLst>
              <a:ext uri="{FF2B5EF4-FFF2-40B4-BE49-F238E27FC236}">
                <a16:creationId xmlns:a16="http://schemas.microsoft.com/office/drawing/2014/main" id="{D69A1B0E-3981-B4FC-9B04-A44E96D1D978}"/>
              </a:ext>
            </a:extLst>
          </p:cNvPr>
          <p:cNvSpPr/>
          <p:nvPr/>
        </p:nvSpPr>
        <p:spPr>
          <a:xfrm rot="16200000" flipH="1">
            <a:off x="5269100" y="2660562"/>
            <a:ext cx="763121" cy="318724"/>
          </a:xfrm>
          <a:prstGeom prst="leftArrow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Arrow: Left 36">
            <a:extLst>
              <a:ext uri="{FF2B5EF4-FFF2-40B4-BE49-F238E27FC236}">
                <a16:creationId xmlns:a16="http://schemas.microsoft.com/office/drawing/2014/main" id="{3E25F1B4-3FFA-9FCF-A8FB-30392A2C5054}"/>
              </a:ext>
            </a:extLst>
          </p:cNvPr>
          <p:cNvSpPr/>
          <p:nvPr/>
        </p:nvSpPr>
        <p:spPr>
          <a:xfrm rot="16200000">
            <a:off x="4962781" y="4517972"/>
            <a:ext cx="763124" cy="318724"/>
          </a:xfrm>
          <a:prstGeom prst="leftArrow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D64FC575-5683-3FF4-8108-3F8DE8D514B7}"/>
              </a:ext>
            </a:extLst>
          </p:cNvPr>
          <p:cNvSpPr/>
          <p:nvPr/>
        </p:nvSpPr>
        <p:spPr>
          <a:xfrm rot="16200000" flipH="1">
            <a:off x="5269101" y="4506666"/>
            <a:ext cx="763121" cy="318724"/>
          </a:xfrm>
          <a:prstGeom prst="leftArrow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F02185-FB45-9324-E11D-E208DFB22FD0}"/>
              </a:ext>
            </a:extLst>
          </p:cNvPr>
          <p:cNvSpPr txBox="1"/>
          <p:nvPr/>
        </p:nvSpPr>
        <p:spPr>
          <a:xfrm>
            <a:off x="6915150" y="2908258"/>
            <a:ext cx="78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Taxes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B2E979-3B78-1366-5988-B0BE3ADFA9E4}"/>
              </a:ext>
            </a:extLst>
          </p:cNvPr>
          <p:cNvSpPr txBox="1"/>
          <p:nvPr/>
        </p:nvSpPr>
        <p:spPr>
          <a:xfrm>
            <a:off x="4507424" y="2595089"/>
            <a:ext cx="78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Taxes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7C4570-CA77-73AB-41CF-7CF100862E6B}"/>
              </a:ext>
            </a:extLst>
          </p:cNvPr>
          <p:cNvSpPr txBox="1"/>
          <p:nvPr/>
        </p:nvSpPr>
        <p:spPr>
          <a:xfrm>
            <a:off x="3597081" y="2996133"/>
            <a:ext cx="78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Taxes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47809F-9515-A4F9-E178-DBC05DB5633A}"/>
              </a:ext>
            </a:extLst>
          </p:cNvPr>
          <p:cNvSpPr txBox="1"/>
          <p:nvPr/>
        </p:nvSpPr>
        <p:spPr>
          <a:xfrm>
            <a:off x="5707546" y="4519916"/>
            <a:ext cx="78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Taxes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EA036A-C5AD-B0ED-ACC1-FFDC15DA4440}"/>
              </a:ext>
            </a:extLst>
          </p:cNvPr>
          <p:cNvSpPr txBox="1"/>
          <p:nvPr/>
        </p:nvSpPr>
        <p:spPr>
          <a:xfrm>
            <a:off x="4099282" y="4416539"/>
            <a:ext cx="1193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Subsidies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D233EC-DEA7-8CB5-CE68-6EA2337B8DD9}"/>
              </a:ext>
            </a:extLst>
          </p:cNvPr>
          <p:cNvSpPr txBox="1"/>
          <p:nvPr/>
        </p:nvSpPr>
        <p:spPr>
          <a:xfrm>
            <a:off x="3423746" y="3828605"/>
            <a:ext cx="1193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Subsidies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BF44EB-BE6A-E9FF-EFA8-848B86C5DFF7}"/>
              </a:ext>
            </a:extLst>
          </p:cNvPr>
          <p:cNvSpPr txBox="1"/>
          <p:nvPr/>
        </p:nvSpPr>
        <p:spPr>
          <a:xfrm>
            <a:off x="6804797" y="3737649"/>
            <a:ext cx="1193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Subsidies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A20C32-44B5-1DAE-A9B7-B66EB185C1EF}"/>
              </a:ext>
            </a:extLst>
          </p:cNvPr>
          <p:cNvSpPr txBox="1"/>
          <p:nvPr/>
        </p:nvSpPr>
        <p:spPr>
          <a:xfrm>
            <a:off x="5785480" y="2606695"/>
            <a:ext cx="1193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Subsidies</a:t>
            </a:r>
          </a:p>
        </p:txBody>
      </p:sp>
    </p:spTree>
    <p:extLst>
      <p:ext uri="{BB962C8B-B14F-4D97-AF65-F5344CB8AC3E}">
        <p14:creationId xmlns:p14="http://schemas.microsoft.com/office/powerpoint/2010/main" val="4213375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06D04-11CE-1863-A3B4-6C825D5F6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64385-EA82-803C-C256-5BB0A50AA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b="1" dirty="0"/>
              <a:t>What is a Market?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67AD2-AEBC-6A6A-F7F5-CC9D707D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7145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 market a place (physical or not) where buyers and sellers exchange goods and services.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These could be retail storefronts where buyers and sellers meet, vending machines or an online site like amazon or </a:t>
            </a:r>
            <a:r>
              <a:rPr lang="en-CA" dirty="0" err="1"/>
              <a:t>Ebay</a:t>
            </a:r>
            <a:r>
              <a:rPr lang="en-CA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a condition of transaction in a market is </a:t>
            </a:r>
            <a:r>
              <a:rPr lang="en-CA" b="1" dirty="0"/>
              <a:t>price,</a:t>
            </a:r>
            <a:r>
              <a:rPr lang="en-CA" dirty="0"/>
              <a:t> but non price bargaining can occur (i.e. such as over wait time for a service as seen in the case of medical services).</a:t>
            </a:r>
          </a:p>
        </p:txBody>
      </p:sp>
    </p:spTree>
    <p:extLst>
      <p:ext uri="{BB962C8B-B14F-4D97-AF65-F5344CB8AC3E}">
        <p14:creationId xmlns:p14="http://schemas.microsoft.com/office/powerpoint/2010/main" val="1756318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72350-AC5A-CFD8-5C83-13FFA27A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FE5B-23BF-50FD-60EC-15C1C615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b="1" dirty="0"/>
              <a:t>The Two Sides of a Market</a:t>
            </a:r>
          </a:p>
        </p:txBody>
      </p:sp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6F963ABD-D4A9-D86D-95AF-1F79FE2DD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636" y="2603887"/>
            <a:ext cx="1650225" cy="1650225"/>
          </a:xfrm>
          <a:prstGeom prst="rect">
            <a:avLst/>
          </a:prstGeom>
        </p:spPr>
      </p:pic>
      <p:pic>
        <p:nvPicPr>
          <p:cNvPr id="8" name="Graphic 7" descr="Man with solid fill">
            <a:extLst>
              <a:ext uri="{FF2B5EF4-FFF2-40B4-BE49-F238E27FC236}">
                <a16:creationId xmlns:a16="http://schemas.microsoft.com/office/drawing/2014/main" id="{A8AA88F3-597E-F746-0981-2B92A3D0F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9139" y="2698640"/>
            <a:ext cx="1650225" cy="1650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96A73A-D183-D635-3EE0-00AE93E82216}"/>
              </a:ext>
            </a:extLst>
          </p:cNvPr>
          <p:cNvSpPr txBox="1"/>
          <p:nvPr/>
        </p:nvSpPr>
        <p:spPr>
          <a:xfrm>
            <a:off x="2469906" y="2199833"/>
            <a:ext cx="909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Buyers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3DA684-1A60-7A8E-0504-41F0FE1DB7D1}"/>
              </a:ext>
            </a:extLst>
          </p:cNvPr>
          <p:cNvSpPr txBox="1"/>
          <p:nvPr/>
        </p:nvSpPr>
        <p:spPr>
          <a:xfrm>
            <a:off x="8908941" y="2151718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Sellers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09DF9-8925-88F8-5290-5D59A8E3B8DA}"/>
              </a:ext>
            </a:extLst>
          </p:cNvPr>
          <p:cNvSpPr txBox="1"/>
          <p:nvPr/>
        </p:nvSpPr>
        <p:spPr>
          <a:xfrm>
            <a:off x="1603132" y="4254112"/>
            <a:ext cx="36949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Wants products or </a:t>
            </a:r>
            <a:br>
              <a:rPr lang="en-CA" dirty="0"/>
            </a:br>
            <a:r>
              <a:rPr lang="en-CA" dirty="0"/>
              <a:t>services at lowest price </a:t>
            </a:r>
            <a:br>
              <a:rPr lang="en-CA" dirty="0"/>
            </a:br>
            <a:r>
              <a:rPr lang="en-CA" dirty="0"/>
              <a:t>possible  (holding quality constant)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9CE448-CB61-C1BF-3617-26FB0E1A06A8}"/>
              </a:ext>
            </a:extLst>
          </p:cNvPr>
          <p:cNvSpPr txBox="1"/>
          <p:nvPr/>
        </p:nvSpPr>
        <p:spPr>
          <a:xfrm>
            <a:off x="8144902" y="4392611"/>
            <a:ext cx="2741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Wants to maximize profit</a:t>
            </a:r>
          </a:p>
        </p:txBody>
      </p:sp>
      <p:pic>
        <p:nvPicPr>
          <p:cNvPr id="14" name="Graphic 13" descr="Top Hat with solid fill">
            <a:extLst>
              <a:ext uri="{FF2B5EF4-FFF2-40B4-BE49-F238E27FC236}">
                <a16:creationId xmlns:a16="http://schemas.microsoft.com/office/drawing/2014/main" id="{CE097EE4-D156-8E76-E682-6468A1B185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2166" y="2417601"/>
            <a:ext cx="504170" cy="504170"/>
          </a:xfrm>
          <a:prstGeom prst="rect">
            <a:avLst/>
          </a:prstGeom>
        </p:spPr>
      </p:pic>
      <p:pic>
        <p:nvPicPr>
          <p:cNvPr id="16" name="Graphic 15" descr="Baseball hat with solid fill">
            <a:extLst>
              <a:ext uri="{FF2B5EF4-FFF2-40B4-BE49-F238E27FC236}">
                <a16:creationId xmlns:a16="http://schemas.microsoft.com/office/drawing/2014/main" id="{896EC608-3C3D-06EB-9C55-C4FEE3597C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72337" y="2409943"/>
            <a:ext cx="504170" cy="504170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5C67E2A5-A271-E26E-6771-6928F2F7D01E}"/>
              </a:ext>
            </a:extLst>
          </p:cNvPr>
          <p:cNvSpPr/>
          <p:nvPr/>
        </p:nvSpPr>
        <p:spPr>
          <a:xfrm>
            <a:off x="3486252" y="3034449"/>
            <a:ext cx="2200173" cy="434340"/>
          </a:xfrm>
          <a:prstGeom prst="rightArrow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747B121-1324-0D50-4AF0-22209641166D}"/>
              </a:ext>
            </a:extLst>
          </p:cNvPr>
          <p:cNvSpPr/>
          <p:nvPr/>
        </p:nvSpPr>
        <p:spPr>
          <a:xfrm rot="10800000">
            <a:off x="6305550" y="3034449"/>
            <a:ext cx="2505074" cy="434340"/>
          </a:xfrm>
          <a:prstGeom prst="rightArrow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056AF-BAE3-BEB8-B654-CF99067978D2}"/>
              </a:ext>
            </a:extLst>
          </p:cNvPr>
          <p:cNvSpPr txBox="1"/>
          <p:nvPr/>
        </p:nvSpPr>
        <p:spPr>
          <a:xfrm>
            <a:off x="5037578" y="2062593"/>
            <a:ext cx="2305888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Through bargaining </a:t>
            </a:r>
            <a:br>
              <a:rPr lang="en-CA" b="1" dirty="0"/>
            </a:br>
            <a:r>
              <a:rPr lang="en-CA" b="1" dirty="0"/>
              <a:t>they come to an </a:t>
            </a:r>
            <a:br>
              <a:rPr lang="en-CA" b="1" dirty="0"/>
            </a:br>
            <a:r>
              <a:rPr lang="en-CA" b="1" dirty="0"/>
              <a:t>agreed-upon Price</a:t>
            </a:r>
          </a:p>
        </p:txBody>
      </p:sp>
      <p:pic>
        <p:nvPicPr>
          <p:cNvPr id="4" name="Graphic 3" descr="Handshake with solid fill">
            <a:extLst>
              <a:ext uri="{FF2B5EF4-FFF2-40B4-BE49-F238E27FC236}">
                <a16:creationId xmlns:a16="http://schemas.microsoft.com/office/drawing/2014/main" id="{3E984D3E-5913-8829-629D-A07FE375CE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933" y="2774991"/>
            <a:ext cx="895700" cy="106245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B33EEC9-A9C7-CA01-6B20-099BCD1E042A}"/>
              </a:ext>
            </a:extLst>
          </p:cNvPr>
          <p:cNvSpPr txBox="1"/>
          <p:nvPr/>
        </p:nvSpPr>
        <p:spPr>
          <a:xfrm>
            <a:off x="5866673" y="3154420"/>
            <a:ext cx="32384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CA" sz="18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$</a:t>
            </a:r>
            <a:endParaRPr lang="en-CA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122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940DB-100F-F75A-E0D4-3D25EC4EC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B85F-2BFF-1D96-B3FF-DD735853B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b="1" dirty="0"/>
              <a:t>A More Realistic Story</a:t>
            </a:r>
          </a:p>
        </p:txBody>
      </p:sp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478DCF51-51ED-4FFD-6741-94E84F6AC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636" y="2603887"/>
            <a:ext cx="1650225" cy="1650225"/>
          </a:xfrm>
          <a:prstGeom prst="rect">
            <a:avLst/>
          </a:prstGeom>
        </p:spPr>
      </p:pic>
      <p:pic>
        <p:nvPicPr>
          <p:cNvPr id="8" name="Graphic 7" descr="Man with solid fill">
            <a:extLst>
              <a:ext uri="{FF2B5EF4-FFF2-40B4-BE49-F238E27FC236}">
                <a16:creationId xmlns:a16="http://schemas.microsoft.com/office/drawing/2014/main" id="{D5DA40D7-1EDF-7CD4-1B70-338890A27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9139" y="2698640"/>
            <a:ext cx="1650225" cy="1650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FCC6B7-8ED9-5013-B2DE-DC6D1DCBDF53}"/>
              </a:ext>
            </a:extLst>
          </p:cNvPr>
          <p:cNvSpPr txBox="1"/>
          <p:nvPr/>
        </p:nvSpPr>
        <p:spPr>
          <a:xfrm>
            <a:off x="2469906" y="2199833"/>
            <a:ext cx="909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Buyers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C78B25-8419-D5CF-A048-6F171712399D}"/>
              </a:ext>
            </a:extLst>
          </p:cNvPr>
          <p:cNvSpPr txBox="1"/>
          <p:nvPr/>
        </p:nvSpPr>
        <p:spPr>
          <a:xfrm>
            <a:off x="8908941" y="2151718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Sellers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F9DF0F-B66F-1281-F0CB-AA685EE76D9F}"/>
              </a:ext>
            </a:extLst>
          </p:cNvPr>
          <p:cNvSpPr txBox="1"/>
          <p:nvPr/>
        </p:nvSpPr>
        <p:spPr>
          <a:xfrm>
            <a:off x="1603132" y="4254112"/>
            <a:ext cx="36949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Wants products or </a:t>
            </a:r>
            <a:br>
              <a:rPr lang="en-CA" dirty="0"/>
            </a:br>
            <a:r>
              <a:rPr lang="en-CA" dirty="0"/>
              <a:t>services at lowest price </a:t>
            </a:r>
            <a:br>
              <a:rPr lang="en-CA" dirty="0"/>
            </a:br>
            <a:r>
              <a:rPr lang="en-CA" dirty="0"/>
              <a:t>possible  (holding quality constant)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6585B5-A71E-C7CF-B90F-D0FB159761F1}"/>
              </a:ext>
            </a:extLst>
          </p:cNvPr>
          <p:cNvSpPr txBox="1"/>
          <p:nvPr/>
        </p:nvSpPr>
        <p:spPr>
          <a:xfrm>
            <a:off x="8144902" y="4392611"/>
            <a:ext cx="2741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Wants to maximize profit</a:t>
            </a:r>
          </a:p>
        </p:txBody>
      </p:sp>
      <p:pic>
        <p:nvPicPr>
          <p:cNvPr id="14" name="Graphic 13" descr="Top Hat with solid fill">
            <a:extLst>
              <a:ext uri="{FF2B5EF4-FFF2-40B4-BE49-F238E27FC236}">
                <a16:creationId xmlns:a16="http://schemas.microsoft.com/office/drawing/2014/main" id="{5A7AEECC-EBDA-693D-6C42-1299AB02C5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2166" y="2417601"/>
            <a:ext cx="504170" cy="504170"/>
          </a:xfrm>
          <a:prstGeom prst="rect">
            <a:avLst/>
          </a:prstGeom>
        </p:spPr>
      </p:pic>
      <p:pic>
        <p:nvPicPr>
          <p:cNvPr id="16" name="Graphic 15" descr="Baseball hat with solid fill">
            <a:extLst>
              <a:ext uri="{FF2B5EF4-FFF2-40B4-BE49-F238E27FC236}">
                <a16:creationId xmlns:a16="http://schemas.microsoft.com/office/drawing/2014/main" id="{F7BD827A-9E72-A26C-C9BC-FA01227359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72337" y="2409943"/>
            <a:ext cx="504170" cy="504170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3ADFF1F2-3C54-E002-84E3-B06D237FBB00}"/>
              </a:ext>
            </a:extLst>
          </p:cNvPr>
          <p:cNvSpPr/>
          <p:nvPr/>
        </p:nvSpPr>
        <p:spPr>
          <a:xfrm>
            <a:off x="3486252" y="3034449"/>
            <a:ext cx="2200173" cy="434340"/>
          </a:xfrm>
          <a:prstGeom prst="rightArrow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9A130D3-A6D2-2821-333D-F8BF1B3C254C}"/>
              </a:ext>
            </a:extLst>
          </p:cNvPr>
          <p:cNvSpPr/>
          <p:nvPr/>
        </p:nvSpPr>
        <p:spPr>
          <a:xfrm rot="10800000">
            <a:off x="6305550" y="3034449"/>
            <a:ext cx="2505074" cy="434340"/>
          </a:xfrm>
          <a:prstGeom prst="rightArrow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3C5465-8962-17E2-EFD0-5739EFA282F5}"/>
              </a:ext>
            </a:extLst>
          </p:cNvPr>
          <p:cNvSpPr txBox="1"/>
          <p:nvPr/>
        </p:nvSpPr>
        <p:spPr>
          <a:xfrm>
            <a:off x="3948513" y="1787461"/>
            <a:ext cx="4817344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Price is observed by buyers and sellers </a:t>
            </a:r>
            <a:br>
              <a:rPr lang="en-CA" b="1" dirty="0"/>
            </a:br>
            <a:r>
              <a:rPr lang="en-CA" b="1" dirty="0"/>
              <a:t>and they decide to accept or reject.</a:t>
            </a:r>
            <a:br>
              <a:rPr lang="en-CA" b="1" dirty="0"/>
            </a:br>
            <a:br>
              <a:rPr lang="en-CA" b="1" dirty="0"/>
            </a:br>
            <a:r>
              <a:rPr lang="en-CA" b="1" dirty="0"/>
              <a:t>When both parties accept this is equilibrium</a:t>
            </a:r>
          </a:p>
        </p:txBody>
      </p:sp>
      <p:pic>
        <p:nvPicPr>
          <p:cNvPr id="4" name="Graphic 3" descr="Tag outline">
            <a:extLst>
              <a:ext uri="{FF2B5EF4-FFF2-40B4-BE49-F238E27FC236}">
                <a16:creationId xmlns:a16="http://schemas.microsoft.com/office/drawing/2014/main" id="{C87F834C-012B-7F3D-5CAE-6B0A1D053D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15739" y="2794419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F57909-0B57-CAE4-C0CC-E773E2093242}"/>
              </a:ext>
            </a:extLst>
          </p:cNvPr>
          <p:cNvSpPr txBox="1"/>
          <p:nvPr/>
        </p:nvSpPr>
        <p:spPr>
          <a:xfrm>
            <a:off x="5821783" y="3050916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19358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99201-D975-2DBE-660E-114D4CF1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546A-F369-327C-A8C1-B93BD2612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b="1" dirty="0"/>
              <a:t>Non Price Bargaining- Wait Time</a:t>
            </a:r>
          </a:p>
        </p:txBody>
      </p:sp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B792E17D-804D-8431-BB34-EDF8A6478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4968" y="2457972"/>
            <a:ext cx="1650225" cy="1650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DEFD54-5BC3-4A4A-1D0E-4E5E054C25F4}"/>
              </a:ext>
            </a:extLst>
          </p:cNvPr>
          <p:cNvSpPr txBox="1"/>
          <p:nvPr/>
        </p:nvSpPr>
        <p:spPr>
          <a:xfrm>
            <a:off x="1672238" y="2053918"/>
            <a:ext cx="954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Patient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73D8CE-EC40-1798-3D34-35D268DADE95}"/>
              </a:ext>
            </a:extLst>
          </p:cNvPr>
          <p:cNvSpPr txBox="1"/>
          <p:nvPr/>
        </p:nvSpPr>
        <p:spPr>
          <a:xfrm>
            <a:off x="8111273" y="2005803"/>
            <a:ext cx="91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Doctor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09F1D-D37B-D49E-A679-79F947018BF1}"/>
              </a:ext>
            </a:extLst>
          </p:cNvPr>
          <p:cNvSpPr txBox="1"/>
          <p:nvPr/>
        </p:nvSpPr>
        <p:spPr>
          <a:xfrm>
            <a:off x="609059" y="4021504"/>
            <a:ext cx="33030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Looking for Medical Care.</a:t>
            </a:r>
          </a:p>
          <a:p>
            <a:r>
              <a:rPr lang="en-CA" dirty="0"/>
              <a:t>Typically prefers sooner rather </a:t>
            </a:r>
            <a:br>
              <a:rPr lang="en-CA" dirty="0"/>
            </a:br>
            <a:r>
              <a:rPr lang="en-CA" dirty="0"/>
              <a:t>than later.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A06F07-BFCD-82A7-4E01-208EB191C145}"/>
              </a:ext>
            </a:extLst>
          </p:cNvPr>
          <p:cNvSpPr txBox="1"/>
          <p:nvPr/>
        </p:nvSpPr>
        <p:spPr>
          <a:xfrm>
            <a:off x="7318659" y="3948368"/>
            <a:ext cx="4241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Interested in patient wellbeing</a:t>
            </a:r>
            <a:br>
              <a:rPr lang="en-CA" dirty="0"/>
            </a:br>
            <a:r>
              <a:rPr lang="en-CA" dirty="0"/>
              <a:t>and income flow as defined by schedule.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B4C7AC7-CF7C-F37A-4DF9-3854D51E0066}"/>
              </a:ext>
            </a:extLst>
          </p:cNvPr>
          <p:cNvSpPr/>
          <p:nvPr/>
        </p:nvSpPr>
        <p:spPr>
          <a:xfrm>
            <a:off x="2688584" y="2888534"/>
            <a:ext cx="2136335" cy="434340"/>
          </a:xfrm>
          <a:prstGeom prst="rightArrow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42AF842-B421-A1AF-28D8-275AE483CB4A}"/>
              </a:ext>
            </a:extLst>
          </p:cNvPr>
          <p:cNvSpPr/>
          <p:nvPr/>
        </p:nvSpPr>
        <p:spPr>
          <a:xfrm rot="10800000">
            <a:off x="5573949" y="2888534"/>
            <a:ext cx="2439007" cy="434340"/>
          </a:xfrm>
          <a:prstGeom prst="rightArrow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Graphic 5" descr="Doctor female with solid fill">
            <a:extLst>
              <a:ext uri="{FF2B5EF4-FFF2-40B4-BE49-F238E27FC236}">
                <a16:creationId xmlns:a16="http://schemas.microsoft.com/office/drawing/2014/main" id="{0FF4EC79-9BD2-4F7C-14C6-01154C72C5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9613" y="2293986"/>
            <a:ext cx="1573799" cy="1573799"/>
          </a:xfrm>
          <a:prstGeom prst="rect">
            <a:avLst/>
          </a:prstGeom>
        </p:spPr>
      </p:pic>
      <p:pic>
        <p:nvPicPr>
          <p:cNvPr id="20" name="Graphic 19" descr="Monthly calendar outline">
            <a:extLst>
              <a:ext uri="{FF2B5EF4-FFF2-40B4-BE49-F238E27FC236}">
                <a16:creationId xmlns:a16="http://schemas.microsoft.com/office/drawing/2014/main" id="{F6DEFE96-BACA-01FB-E4B0-1FFB6E51C6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1120" y="2755401"/>
            <a:ext cx="914400" cy="914400"/>
          </a:xfrm>
          <a:prstGeom prst="rect">
            <a:avLst/>
          </a:prstGeom>
        </p:spPr>
      </p:pic>
      <p:pic>
        <p:nvPicPr>
          <p:cNvPr id="22" name="Graphic 21" descr="Clock with solid fill">
            <a:extLst>
              <a:ext uri="{FF2B5EF4-FFF2-40B4-BE49-F238E27FC236}">
                <a16:creationId xmlns:a16="http://schemas.microsoft.com/office/drawing/2014/main" id="{7CDC8E09-A45E-D82F-57A8-A8DF07EDC3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2899" y="2521571"/>
            <a:ext cx="518645" cy="51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07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9EAC6-6818-AC1D-4F83-5FD0D7F81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04AABE-D6EB-139E-F210-FA7A6AB0EB3F}"/>
              </a:ext>
            </a:extLst>
          </p:cNvPr>
          <p:cNvCxnSpPr>
            <a:cxnSpLocks/>
          </p:cNvCxnSpPr>
          <p:nvPr/>
        </p:nvCxnSpPr>
        <p:spPr>
          <a:xfrm flipV="1">
            <a:off x="3626580" y="2130649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95DE28F-8BFE-35ED-54E0-F1AFC776E4DA}"/>
              </a:ext>
            </a:extLst>
          </p:cNvPr>
          <p:cNvSpPr/>
          <p:nvPr/>
        </p:nvSpPr>
        <p:spPr>
          <a:xfrm>
            <a:off x="3626580" y="163341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1C8EA4-0CA3-C507-AA45-5AD8DC5B8038}"/>
              </a:ext>
            </a:extLst>
          </p:cNvPr>
          <p:cNvSpPr/>
          <p:nvPr/>
        </p:nvSpPr>
        <p:spPr>
          <a:xfrm>
            <a:off x="3224244" y="1467867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69BAA6-0187-56AF-DE90-25EDE2401560}"/>
              </a:ext>
            </a:extLst>
          </p:cNvPr>
          <p:cNvSpPr/>
          <p:nvPr/>
        </p:nvSpPr>
        <p:spPr>
          <a:xfrm rot="5400000">
            <a:off x="5534818" y="322888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BB735-5B86-834B-8EA2-2001ACE34171}"/>
              </a:ext>
            </a:extLst>
          </p:cNvPr>
          <p:cNvSpPr txBox="1"/>
          <p:nvPr/>
        </p:nvSpPr>
        <p:spPr>
          <a:xfrm>
            <a:off x="2958127" y="2018486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620157-15B2-C119-5B1B-0E207B434247}"/>
              </a:ext>
            </a:extLst>
          </p:cNvPr>
          <p:cNvSpPr txBox="1"/>
          <p:nvPr/>
        </p:nvSpPr>
        <p:spPr>
          <a:xfrm>
            <a:off x="6974036" y="575237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114CA-0386-65E9-5CB4-A3DD809B6A03}"/>
              </a:ext>
            </a:extLst>
          </p:cNvPr>
          <p:cNvSpPr txBox="1"/>
          <p:nvPr/>
        </p:nvSpPr>
        <p:spPr>
          <a:xfrm>
            <a:off x="7119372" y="202287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4F5F1D-ACCF-7D2D-DC75-570FE980C412}"/>
              </a:ext>
            </a:extLst>
          </p:cNvPr>
          <p:cNvCxnSpPr>
            <a:cxnSpLocks/>
          </p:cNvCxnSpPr>
          <p:nvPr/>
        </p:nvCxnSpPr>
        <p:spPr>
          <a:xfrm>
            <a:off x="3974052" y="2130649"/>
            <a:ext cx="3785616" cy="32426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0BCE4C-79EE-1125-3B56-6A055A36D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04" y="517383"/>
            <a:ext cx="10634472" cy="1117092"/>
          </a:xfrm>
        </p:spPr>
        <p:txBody>
          <a:bodyPr/>
          <a:lstStyle/>
          <a:p>
            <a:r>
              <a:rPr lang="en-CA" sz="3200" b="1" dirty="0"/>
              <a:t>Where we are Heading: The Demand and Supply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0E1F28-B4CC-8274-9E97-A5388DD57137}"/>
              </a:ext>
            </a:extLst>
          </p:cNvPr>
          <p:cNvSpPr txBox="1"/>
          <p:nvPr/>
        </p:nvSpPr>
        <p:spPr>
          <a:xfrm>
            <a:off x="7745865" y="5101046"/>
            <a:ext cx="106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E13A6E-E9A5-398C-9114-AF6D5D0307BD}"/>
              </a:ext>
            </a:extLst>
          </p:cNvPr>
          <p:cNvCxnSpPr>
            <a:cxnSpLocks/>
          </p:cNvCxnSpPr>
          <p:nvPr/>
        </p:nvCxnSpPr>
        <p:spPr>
          <a:xfrm flipV="1">
            <a:off x="3615679" y="3557365"/>
            <a:ext cx="2004071" cy="8446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0544B3-16D6-C488-8700-D1846A70AA71}"/>
              </a:ext>
            </a:extLst>
          </p:cNvPr>
          <p:cNvCxnSpPr>
            <a:cxnSpLocks/>
          </p:cNvCxnSpPr>
          <p:nvPr/>
        </p:nvCxnSpPr>
        <p:spPr>
          <a:xfrm flipH="1">
            <a:off x="5588175" y="3557365"/>
            <a:ext cx="31575" cy="2224592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88DBE8-ADBE-CB46-BADB-90BB13DBF69E}"/>
              </a:ext>
            </a:extLst>
          </p:cNvPr>
          <p:cNvCxnSpPr/>
          <p:nvPr/>
        </p:nvCxnSpPr>
        <p:spPr>
          <a:xfrm flipH="1">
            <a:off x="5940012" y="2876550"/>
            <a:ext cx="2869606" cy="66827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8577D0E-A97B-0534-99F4-3A20F3498053}"/>
              </a:ext>
            </a:extLst>
          </p:cNvPr>
          <p:cNvSpPr txBox="1"/>
          <p:nvPr/>
        </p:nvSpPr>
        <p:spPr>
          <a:xfrm>
            <a:off x="8548878" y="2507218"/>
            <a:ext cx="222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Market Equilibrium</a:t>
            </a:r>
          </a:p>
        </p:txBody>
      </p:sp>
    </p:spTree>
    <p:extLst>
      <p:ext uri="{BB962C8B-B14F-4D97-AF65-F5344CB8AC3E}">
        <p14:creationId xmlns:p14="http://schemas.microsoft.com/office/powerpoint/2010/main" val="3916900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3C8D-B758-1C87-D979-9F29C46D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9E98-2D16-7CA6-9659-E41FE4D3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Analyzing Markets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C1785-FA20-4795-FC60-413AF9E68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Section 1: Supply</a:t>
            </a:r>
          </a:p>
        </p:txBody>
      </p:sp>
    </p:spTree>
    <p:extLst>
      <p:ext uri="{BB962C8B-B14F-4D97-AF65-F5344CB8AC3E}">
        <p14:creationId xmlns:p14="http://schemas.microsoft.com/office/powerpoint/2010/main" val="452404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CFE4-2831-61B1-AD26-6ED616AF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2AEDC1-55D7-5556-0C2E-59F0DB20E986}"/>
              </a:ext>
            </a:extLst>
          </p:cNvPr>
          <p:cNvCxnSpPr>
            <a:cxnSpLocks/>
          </p:cNvCxnSpPr>
          <p:nvPr/>
        </p:nvCxnSpPr>
        <p:spPr>
          <a:xfrm flipV="1">
            <a:off x="940530" y="2211738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A5B41C5-77D1-ED8C-640E-35F2AB4571AE}"/>
              </a:ext>
            </a:extLst>
          </p:cNvPr>
          <p:cNvSpPr/>
          <p:nvPr/>
        </p:nvSpPr>
        <p:spPr>
          <a:xfrm>
            <a:off x="940530" y="1714500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0CD4D-399F-43C8-F839-82E3C3FAE7B6}"/>
              </a:ext>
            </a:extLst>
          </p:cNvPr>
          <p:cNvSpPr/>
          <p:nvPr/>
        </p:nvSpPr>
        <p:spPr>
          <a:xfrm>
            <a:off x="538194" y="1548956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5CB9A0-1EE9-2CBA-FE44-9D5C0CEB041A}"/>
              </a:ext>
            </a:extLst>
          </p:cNvPr>
          <p:cNvSpPr/>
          <p:nvPr/>
        </p:nvSpPr>
        <p:spPr>
          <a:xfrm rot="5400000">
            <a:off x="3033521" y="3125216"/>
            <a:ext cx="5062030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4A665C-3756-806E-038E-967C8E6DC800}"/>
              </a:ext>
            </a:extLst>
          </p:cNvPr>
          <p:cNvSpPr txBox="1"/>
          <p:nvPr/>
        </p:nvSpPr>
        <p:spPr>
          <a:xfrm>
            <a:off x="272077" y="2099575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84780-6D97-2A80-EB25-68FAF2AF61ED}"/>
              </a:ext>
            </a:extLst>
          </p:cNvPr>
          <p:cNvSpPr txBox="1"/>
          <p:nvPr/>
        </p:nvSpPr>
        <p:spPr>
          <a:xfrm>
            <a:off x="4287986" y="5833462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DCB428-D992-68AD-3351-453376390B53}"/>
              </a:ext>
            </a:extLst>
          </p:cNvPr>
          <p:cNvSpPr txBox="1"/>
          <p:nvPr/>
        </p:nvSpPr>
        <p:spPr>
          <a:xfrm>
            <a:off x="4433322" y="2103961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D6EC6B-12BE-1DE1-790D-A16FB7CC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b="1" dirty="0"/>
              <a:t>Thinking About Supply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26097D-90BA-12B1-CE1C-9D62F5B79838}"/>
              </a:ext>
            </a:extLst>
          </p:cNvPr>
          <p:cNvSpPr txBox="1"/>
          <p:nvPr/>
        </p:nvSpPr>
        <p:spPr>
          <a:xfrm flipH="1">
            <a:off x="6503666" y="1914909"/>
            <a:ext cx="43738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Market supply slopes upward because as the price good rises the incentive  to sell increases.</a:t>
            </a:r>
          </a:p>
          <a:p>
            <a:endParaRPr lang="en-CA" dirty="0"/>
          </a:p>
          <a:p>
            <a:r>
              <a:rPr lang="en-CA" dirty="0"/>
              <a:t>The reason why supply slopes upward has a lot to do with increasing opportunity cost associated with designating more resources to producing more goods.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49711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8252-9254-6A4E-F663-952298F7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07DFC0F-25F0-F02B-C62D-E859B8543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0605295"/>
              </p:ext>
            </p:extLst>
          </p:nvPr>
        </p:nvGraphicFramePr>
        <p:xfrm>
          <a:off x="6414522" y="3388629"/>
          <a:ext cx="4123313" cy="2502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36533">
                  <a:extLst>
                    <a:ext uri="{9D8B030D-6E8A-4147-A177-3AD203B41FA5}">
                      <a16:colId xmlns:a16="http://schemas.microsoft.com/office/drawing/2014/main" val="3200598706"/>
                    </a:ext>
                  </a:extLst>
                </a:gridCol>
                <a:gridCol w="2486780">
                  <a:extLst>
                    <a:ext uri="{9D8B030D-6E8A-4147-A177-3AD203B41FA5}">
                      <a16:colId xmlns:a16="http://schemas.microsoft.com/office/drawing/2014/main" val="1754173119"/>
                    </a:ext>
                  </a:extLst>
                </a:gridCol>
              </a:tblGrid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Willingness to Accept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Quantity available to sell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83788"/>
                  </a:ext>
                </a:extLst>
              </a:tr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903687"/>
                  </a:ext>
                </a:extLst>
              </a:tr>
              <a:tr h="347715">
                <a:tc>
                  <a:txBody>
                    <a:bodyPr/>
                    <a:lstStyle/>
                    <a:p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249590"/>
                  </a:ext>
                </a:extLst>
              </a:tr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94897"/>
                  </a:ext>
                </a:extLst>
              </a:tr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554119"/>
                  </a:ext>
                </a:extLst>
              </a:tr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8761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EA2FFAB-66D1-3F69-FEB8-A859DD4F5B9E}"/>
              </a:ext>
            </a:extLst>
          </p:cNvPr>
          <p:cNvSpPr/>
          <p:nvPr/>
        </p:nvSpPr>
        <p:spPr>
          <a:xfrm>
            <a:off x="940530" y="1714500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8429E7-5C40-59CA-80F8-A0CB2BB0AEB1}"/>
              </a:ext>
            </a:extLst>
          </p:cNvPr>
          <p:cNvSpPr/>
          <p:nvPr/>
        </p:nvSpPr>
        <p:spPr>
          <a:xfrm>
            <a:off x="538194" y="1548956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4386C7-8787-A23A-D802-CADAA740807D}"/>
              </a:ext>
            </a:extLst>
          </p:cNvPr>
          <p:cNvSpPr/>
          <p:nvPr/>
        </p:nvSpPr>
        <p:spPr>
          <a:xfrm rot="5400000">
            <a:off x="3033521" y="3125216"/>
            <a:ext cx="5062030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F0934-6C5A-8619-376F-B07E049C232F}"/>
              </a:ext>
            </a:extLst>
          </p:cNvPr>
          <p:cNvSpPr txBox="1"/>
          <p:nvPr/>
        </p:nvSpPr>
        <p:spPr>
          <a:xfrm>
            <a:off x="272077" y="2099575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F9685C-D743-D76E-AB8A-52C9EA1DB7CF}"/>
              </a:ext>
            </a:extLst>
          </p:cNvPr>
          <p:cNvSpPr txBox="1"/>
          <p:nvPr/>
        </p:nvSpPr>
        <p:spPr>
          <a:xfrm>
            <a:off x="4287986" y="5833462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3B57CE7-78D9-088E-B1E4-CD7E90490FB5}"/>
              </a:ext>
            </a:extLst>
          </p:cNvPr>
          <p:cNvCxnSpPr>
            <a:cxnSpLocks/>
            <a:stCxn id="13" idx="0"/>
            <a:endCxn id="15" idx="2"/>
          </p:cNvCxnSpPr>
          <p:nvPr/>
        </p:nvCxnSpPr>
        <p:spPr>
          <a:xfrm rot="5400000" flipH="1" flipV="1">
            <a:off x="2020656" y="4289036"/>
            <a:ext cx="357808" cy="874871"/>
          </a:xfrm>
          <a:prstGeom prst="bent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510211A-A5DE-4827-87A3-ABBA5FFB0A29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rot="5400000" flipH="1" flipV="1">
            <a:off x="2932694" y="3941565"/>
            <a:ext cx="315067" cy="754063"/>
          </a:xfrm>
          <a:prstGeom prst="bent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08885DD-2F72-D499-BFA8-2113BEAFADE2}"/>
              </a:ext>
            </a:extLst>
          </p:cNvPr>
          <p:cNvCxnSpPr>
            <a:cxnSpLocks/>
            <a:stCxn id="14" idx="0"/>
          </p:cNvCxnSpPr>
          <p:nvPr/>
        </p:nvCxnSpPr>
        <p:spPr>
          <a:xfrm rot="5400000" flipH="1" flipV="1">
            <a:off x="3505217" y="3575848"/>
            <a:ext cx="552018" cy="475534"/>
          </a:xfrm>
          <a:prstGeom prst="bentConnector3">
            <a:avLst>
              <a:gd name="adj1" fmla="val 100039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24A39527-2BD3-91B4-7992-6F6629A5C166}"/>
              </a:ext>
            </a:extLst>
          </p:cNvPr>
          <p:cNvCxnSpPr>
            <a:cxnSpLocks/>
            <a:stCxn id="16" idx="7"/>
            <a:endCxn id="17" idx="2"/>
          </p:cNvCxnSpPr>
          <p:nvPr/>
        </p:nvCxnSpPr>
        <p:spPr>
          <a:xfrm rot="5400000" flipH="1" flipV="1">
            <a:off x="3908902" y="3032874"/>
            <a:ext cx="709413" cy="205430"/>
          </a:xfrm>
          <a:prstGeom prst="bent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63A3EE2-665D-AAA3-A0C8-E2BAA97D5E4E}"/>
              </a:ext>
            </a:extLst>
          </p:cNvPr>
          <p:cNvSpPr/>
          <p:nvPr/>
        </p:nvSpPr>
        <p:spPr>
          <a:xfrm>
            <a:off x="3467259" y="4089624"/>
            <a:ext cx="152400" cy="14287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2DB2A11-B358-2E4B-44DA-D55B54FA25CC}"/>
              </a:ext>
            </a:extLst>
          </p:cNvPr>
          <p:cNvSpPr/>
          <p:nvPr/>
        </p:nvSpPr>
        <p:spPr>
          <a:xfrm>
            <a:off x="2636996" y="4476129"/>
            <a:ext cx="152400" cy="14287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BA83A5-B419-A190-6453-28DB86717EBA}"/>
              </a:ext>
            </a:extLst>
          </p:cNvPr>
          <p:cNvSpPr/>
          <p:nvPr/>
        </p:nvSpPr>
        <p:spPr>
          <a:xfrm>
            <a:off x="4030811" y="3469371"/>
            <a:ext cx="152400" cy="14287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C4AFF-358E-E115-F83D-B2CAB553B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b="1" dirty="0"/>
              <a:t>An Individual Supply Schedule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5FED10E-F744-2843-A5FC-AC6F79C8EFE6}"/>
              </a:ext>
            </a:extLst>
          </p:cNvPr>
          <p:cNvCxnSpPr>
            <a:cxnSpLocks/>
          </p:cNvCxnSpPr>
          <p:nvPr/>
        </p:nvCxnSpPr>
        <p:spPr>
          <a:xfrm flipH="1" flipV="1">
            <a:off x="4416785" y="2042192"/>
            <a:ext cx="11689" cy="66241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B13CB58-0F59-8035-338A-7D125F8378A3}"/>
              </a:ext>
            </a:extLst>
          </p:cNvPr>
          <p:cNvSpPr/>
          <p:nvPr/>
        </p:nvSpPr>
        <p:spPr>
          <a:xfrm>
            <a:off x="4366323" y="2709444"/>
            <a:ext cx="152400" cy="14287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B29739-805E-543A-6D53-61A0DFC11215}"/>
              </a:ext>
            </a:extLst>
          </p:cNvPr>
          <p:cNvSpPr txBox="1"/>
          <p:nvPr/>
        </p:nvSpPr>
        <p:spPr>
          <a:xfrm>
            <a:off x="1945141" y="4866945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8625CD-637F-98F3-9689-D7D60FA9E699}"/>
              </a:ext>
            </a:extLst>
          </p:cNvPr>
          <p:cNvSpPr txBox="1"/>
          <p:nvPr/>
        </p:nvSpPr>
        <p:spPr>
          <a:xfrm>
            <a:off x="2755058" y="4497613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F6DBF4-D9C2-DED3-6ACB-14CF70951AB4}"/>
              </a:ext>
            </a:extLst>
          </p:cNvPr>
          <p:cNvSpPr txBox="1"/>
          <p:nvPr/>
        </p:nvSpPr>
        <p:spPr>
          <a:xfrm>
            <a:off x="3662806" y="400105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691AFF-6C1C-64C2-7F6C-26F59D28A874}"/>
              </a:ext>
            </a:extLst>
          </p:cNvPr>
          <p:cNvSpPr txBox="1"/>
          <p:nvPr/>
        </p:nvSpPr>
        <p:spPr>
          <a:xfrm>
            <a:off x="4157852" y="3388629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154192-7316-AC54-CB9C-26B2EAC86123}"/>
              </a:ext>
            </a:extLst>
          </p:cNvPr>
          <p:cNvSpPr txBox="1"/>
          <p:nvPr/>
        </p:nvSpPr>
        <p:spPr>
          <a:xfrm>
            <a:off x="4485551" y="264975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E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99D8783E-22D9-E9CD-BA5C-5AAF389A29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79028" y="5068125"/>
            <a:ext cx="862412" cy="751379"/>
          </a:xfrm>
          <a:prstGeom prst="bentConnector3">
            <a:avLst>
              <a:gd name="adj1" fmla="val 103013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BBE6886-5D48-0A71-E783-CE9BA260A946}"/>
              </a:ext>
            </a:extLst>
          </p:cNvPr>
          <p:cNvSpPr/>
          <p:nvPr/>
        </p:nvSpPr>
        <p:spPr>
          <a:xfrm>
            <a:off x="1685925" y="4905375"/>
            <a:ext cx="152400" cy="14287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1A48C-2CE9-00E3-712F-023AFDD41BE9}"/>
              </a:ext>
            </a:extLst>
          </p:cNvPr>
          <p:cNvSpPr txBox="1"/>
          <p:nvPr/>
        </p:nvSpPr>
        <p:spPr>
          <a:xfrm>
            <a:off x="6524625" y="1781175"/>
            <a:ext cx="51224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We can think of the supply curve as a graphical </a:t>
            </a:r>
            <a:br>
              <a:rPr lang="en-CA" dirty="0"/>
            </a:br>
            <a:r>
              <a:rPr lang="en-CA" dirty="0"/>
              <a:t>representation of </a:t>
            </a:r>
            <a:r>
              <a:rPr lang="en-CA" b="1" dirty="0"/>
              <a:t>possible contracts</a:t>
            </a:r>
            <a:r>
              <a:rPr lang="en-CA" dirty="0"/>
              <a:t> that a seller</a:t>
            </a:r>
            <a:br>
              <a:rPr lang="en-CA" dirty="0"/>
            </a:br>
            <a:r>
              <a:rPr lang="en-CA" dirty="0"/>
              <a:t>is willing to accept.</a:t>
            </a:r>
          </a:p>
        </p:txBody>
      </p:sp>
    </p:spTree>
    <p:extLst>
      <p:ext uri="{BB962C8B-B14F-4D97-AF65-F5344CB8AC3E}">
        <p14:creationId xmlns:p14="http://schemas.microsoft.com/office/powerpoint/2010/main" val="2138212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3792-6B4D-CE1F-4FB9-7BE57BB9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CDBE2D2-BA7A-5F0A-0C98-4A1A0DAF3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0885728"/>
              </p:ext>
            </p:extLst>
          </p:nvPr>
        </p:nvGraphicFramePr>
        <p:xfrm>
          <a:off x="6114383" y="1924050"/>
          <a:ext cx="5225033" cy="2511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01720">
                  <a:extLst>
                    <a:ext uri="{9D8B030D-6E8A-4147-A177-3AD203B41FA5}">
                      <a16:colId xmlns:a16="http://schemas.microsoft.com/office/drawing/2014/main" val="1717677889"/>
                    </a:ext>
                  </a:extLst>
                </a:gridCol>
                <a:gridCol w="1636533">
                  <a:extLst>
                    <a:ext uri="{9D8B030D-6E8A-4147-A177-3AD203B41FA5}">
                      <a16:colId xmlns:a16="http://schemas.microsoft.com/office/drawing/2014/main" val="3200598706"/>
                    </a:ext>
                  </a:extLst>
                </a:gridCol>
                <a:gridCol w="2486780">
                  <a:extLst>
                    <a:ext uri="{9D8B030D-6E8A-4147-A177-3AD203B41FA5}">
                      <a16:colId xmlns:a16="http://schemas.microsoft.com/office/drawing/2014/main" val="1754173119"/>
                    </a:ext>
                  </a:extLst>
                </a:gridCol>
              </a:tblGrid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Seller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Willingness to Accept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Quantity available to sell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83788"/>
                  </a:ext>
                </a:extLst>
              </a:tr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Anthony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903687"/>
                  </a:ext>
                </a:extLst>
              </a:tr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Brian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249590"/>
                  </a:ext>
                </a:extLst>
              </a:tr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Craig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94897"/>
                  </a:ext>
                </a:extLst>
              </a:tr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Dale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554119"/>
                  </a:ext>
                </a:extLst>
              </a:tr>
              <a:tr h="374280">
                <a:tc>
                  <a:txBody>
                    <a:bodyPr/>
                    <a:lstStyle/>
                    <a:p>
                      <a:r>
                        <a:rPr lang="en-CA" dirty="0"/>
                        <a:t>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8761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3E180F1-562E-5AB5-1C53-8B380988CE6A}"/>
              </a:ext>
            </a:extLst>
          </p:cNvPr>
          <p:cNvSpPr/>
          <p:nvPr/>
        </p:nvSpPr>
        <p:spPr>
          <a:xfrm>
            <a:off x="940530" y="1714500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4C03D0-78DC-2872-00BF-BD60F42C49FB}"/>
              </a:ext>
            </a:extLst>
          </p:cNvPr>
          <p:cNvSpPr/>
          <p:nvPr/>
        </p:nvSpPr>
        <p:spPr>
          <a:xfrm>
            <a:off x="538194" y="1548956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DFE5DB-E402-88A6-4543-9E8B227E837B}"/>
              </a:ext>
            </a:extLst>
          </p:cNvPr>
          <p:cNvSpPr/>
          <p:nvPr/>
        </p:nvSpPr>
        <p:spPr>
          <a:xfrm rot="5400000">
            <a:off x="3033521" y="3125216"/>
            <a:ext cx="5062030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F109AF-AC7B-39C1-499C-22CC13B7F6EA}"/>
              </a:ext>
            </a:extLst>
          </p:cNvPr>
          <p:cNvSpPr txBox="1"/>
          <p:nvPr/>
        </p:nvSpPr>
        <p:spPr>
          <a:xfrm>
            <a:off x="272077" y="2099575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991AF-782E-78EF-9199-C550B0CDF689}"/>
              </a:ext>
            </a:extLst>
          </p:cNvPr>
          <p:cNvSpPr txBox="1"/>
          <p:nvPr/>
        </p:nvSpPr>
        <p:spPr>
          <a:xfrm>
            <a:off x="4287986" y="5833462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5CB1689-B617-48AD-D8B8-03B6CA20B13A}"/>
              </a:ext>
            </a:extLst>
          </p:cNvPr>
          <p:cNvCxnSpPr>
            <a:cxnSpLocks/>
            <a:stCxn id="13" idx="0"/>
            <a:endCxn id="15" idx="2"/>
          </p:cNvCxnSpPr>
          <p:nvPr/>
        </p:nvCxnSpPr>
        <p:spPr>
          <a:xfrm rot="5400000" flipH="1" flipV="1">
            <a:off x="2020656" y="4289036"/>
            <a:ext cx="357808" cy="874871"/>
          </a:xfrm>
          <a:prstGeom prst="bent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1DF253C-7AD2-F079-B65B-90E587F02033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rot="5400000" flipH="1" flipV="1">
            <a:off x="2932694" y="3941565"/>
            <a:ext cx="315067" cy="754063"/>
          </a:xfrm>
          <a:prstGeom prst="bent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677A9D8-D5FD-22E0-E867-9D8030A3E0D2}"/>
              </a:ext>
            </a:extLst>
          </p:cNvPr>
          <p:cNvCxnSpPr>
            <a:cxnSpLocks/>
            <a:stCxn id="14" idx="0"/>
          </p:cNvCxnSpPr>
          <p:nvPr/>
        </p:nvCxnSpPr>
        <p:spPr>
          <a:xfrm rot="5400000" flipH="1" flipV="1">
            <a:off x="3505217" y="3575848"/>
            <a:ext cx="552018" cy="475534"/>
          </a:xfrm>
          <a:prstGeom prst="bentConnector3">
            <a:avLst>
              <a:gd name="adj1" fmla="val 100039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9F430AC-6DA5-7039-1751-D68576C471BF}"/>
              </a:ext>
            </a:extLst>
          </p:cNvPr>
          <p:cNvCxnSpPr>
            <a:cxnSpLocks/>
            <a:stCxn id="16" idx="7"/>
            <a:endCxn id="17" idx="2"/>
          </p:cNvCxnSpPr>
          <p:nvPr/>
        </p:nvCxnSpPr>
        <p:spPr>
          <a:xfrm rot="5400000" flipH="1" flipV="1">
            <a:off x="3908902" y="3032874"/>
            <a:ext cx="709413" cy="205430"/>
          </a:xfrm>
          <a:prstGeom prst="bent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F8BAFE8-5947-EAF5-B94A-90DEE4C40ED0}"/>
              </a:ext>
            </a:extLst>
          </p:cNvPr>
          <p:cNvSpPr/>
          <p:nvPr/>
        </p:nvSpPr>
        <p:spPr>
          <a:xfrm>
            <a:off x="3467259" y="4089624"/>
            <a:ext cx="152400" cy="14287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19E3728-BF5C-87F1-0D44-25223DC2CCD7}"/>
              </a:ext>
            </a:extLst>
          </p:cNvPr>
          <p:cNvSpPr/>
          <p:nvPr/>
        </p:nvSpPr>
        <p:spPr>
          <a:xfrm>
            <a:off x="2636996" y="4476129"/>
            <a:ext cx="152400" cy="14287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3F5BC93-6348-3190-45F5-D4519726E7C1}"/>
              </a:ext>
            </a:extLst>
          </p:cNvPr>
          <p:cNvSpPr/>
          <p:nvPr/>
        </p:nvSpPr>
        <p:spPr>
          <a:xfrm>
            <a:off x="4030811" y="3469371"/>
            <a:ext cx="152400" cy="14287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B80B3-C0ED-D7A0-DD0C-BB8E85E51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b="1" dirty="0"/>
              <a:t>A Market Supply Schedule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D474D90-5674-5FF5-4664-CF295D44EE5B}"/>
              </a:ext>
            </a:extLst>
          </p:cNvPr>
          <p:cNvCxnSpPr>
            <a:cxnSpLocks/>
          </p:cNvCxnSpPr>
          <p:nvPr/>
        </p:nvCxnSpPr>
        <p:spPr>
          <a:xfrm flipH="1" flipV="1">
            <a:off x="4416785" y="2042192"/>
            <a:ext cx="11689" cy="66241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D64B915-C2BE-FFAF-7B68-89AC2D6201A8}"/>
              </a:ext>
            </a:extLst>
          </p:cNvPr>
          <p:cNvSpPr/>
          <p:nvPr/>
        </p:nvSpPr>
        <p:spPr>
          <a:xfrm>
            <a:off x="4366323" y="2709444"/>
            <a:ext cx="152400" cy="14287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33B49F-BD82-4663-5EA4-346341FBC736}"/>
              </a:ext>
            </a:extLst>
          </p:cNvPr>
          <p:cNvSpPr txBox="1"/>
          <p:nvPr/>
        </p:nvSpPr>
        <p:spPr>
          <a:xfrm>
            <a:off x="1945141" y="4866945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D72C04-3F90-DA92-7B02-53783B61CACC}"/>
              </a:ext>
            </a:extLst>
          </p:cNvPr>
          <p:cNvSpPr txBox="1"/>
          <p:nvPr/>
        </p:nvSpPr>
        <p:spPr>
          <a:xfrm>
            <a:off x="2755058" y="4497613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729E56-2973-B30C-5897-D33624129F5C}"/>
              </a:ext>
            </a:extLst>
          </p:cNvPr>
          <p:cNvSpPr txBox="1"/>
          <p:nvPr/>
        </p:nvSpPr>
        <p:spPr>
          <a:xfrm>
            <a:off x="3662806" y="400105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8DBF68-5DEE-9E3A-C69F-4978BCFAC28F}"/>
              </a:ext>
            </a:extLst>
          </p:cNvPr>
          <p:cNvSpPr txBox="1"/>
          <p:nvPr/>
        </p:nvSpPr>
        <p:spPr>
          <a:xfrm>
            <a:off x="4157852" y="3388629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FDE0C7-7716-62FD-CFE1-D16618FCC114}"/>
              </a:ext>
            </a:extLst>
          </p:cNvPr>
          <p:cNvSpPr txBox="1"/>
          <p:nvPr/>
        </p:nvSpPr>
        <p:spPr>
          <a:xfrm>
            <a:off x="4485551" y="264975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E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A1BE9E1-2430-C506-6ADB-44FDE7A9007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79028" y="5068125"/>
            <a:ext cx="862412" cy="751379"/>
          </a:xfrm>
          <a:prstGeom prst="bentConnector3">
            <a:avLst>
              <a:gd name="adj1" fmla="val 103013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E8BE7EE-8CAF-D295-4DD0-28DD5F844099}"/>
              </a:ext>
            </a:extLst>
          </p:cNvPr>
          <p:cNvSpPr/>
          <p:nvPr/>
        </p:nvSpPr>
        <p:spPr>
          <a:xfrm>
            <a:off x="1685925" y="4905375"/>
            <a:ext cx="152400" cy="14287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5752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C9618-2984-AEB0-96EE-E1B746E2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AF305-0E63-D863-8278-4618E97E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597407"/>
            <a:ext cx="11599153" cy="1131049"/>
          </a:xfrm>
        </p:spPr>
        <p:txBody>
          <a:bodyPr/>
          <a:lstStyle/>
          <a:p>
            <a:r>
              <a:rPr lang="en-CA" sz="4800" b="1" dirty="0"/>
              <a:t>Market Supply as the Sum of Individual Supply.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86D44B-5C6C-664F-4BF3-48D36E5C3BC0}"/>
              </a:ext>
            </a:extLst>
          </p:cNvPr>
          <p:cNvSpPr/>
          <p:nvPr/>
        </p:nvSpPr>
        <p:spPr>
          <a:xfrm>
            <a:off x="33020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B9CBDF-665F-28E6-3224-663764D81FBD}"/>
              </a:ext>
            </a:extLst>
          </p:cNvPr>
          <p:cNvSpPr/>
          <p:nvPr/>
        </p:nvSpPr>
        <p:spPr>
          <a:xfrm>
            <a:off x="3267075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7D69C7-71F9-3F07-AA6F-430A504EC66C}"/>
              </a:ext>
            </a:extLst>
          </p:cNvPr>
          <p:cNvSpPr/>
          <p:nvPr/>
        </p:nvSpPr>
        <p:spPr>
          <a:xfrm>
            <a:off x="609600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448DD5-1AA8-C1F5-FE21-BF2FC284C2C1}"/>
              </a:ext>
            </a:extLst>
          </p:cNvPr>
          <p:cNvSpPr/>
          <p:nvPr/>
        </p:nvSpPr>
        <p:spPr>
          <a:xfrm>
            <a:off x="931545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79EDFA-FD31-6718-DC63-CF2B56CB424B}"/>
              </a:ext>
            </a:extLst>
          </p:cNvPr>
          <p:cNvSpPr/>
          <p:nvPr/>
        </p:nvSpPr>
        <p:spPr>
          <a:xfrm>
            <a:off x="172339" y="2409824"/>
            <a:ext cx="11838686" cy="466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DBD129-0001-E7F8-656E-AC42549F3C47}"/>
              </a:ext>
            </a:extLst>
          </p:cNvPr>
          <p:cNvSpPr/>
          <p:nvPr/>
        </p:nvSpPr>
        <p:spPr>
          <a:xfrm rot="5400000">
            <a:off x="4645213" y="3612961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B645D4-F20F-C7FB-4F4D-EF104CC862E0}"/>
              </a:ext>
            </a:extLst>
          </p:cNvPr>
          <p:cNvSpPr/>
          <p:nvPr/>
        </p:nvSpPr>
        <p:spPr>
          <a:xfrm rot="5400000">
            <a:off x="7455086" y="3612962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E7AF67-BDFC-93E9-A5FF-6A2356B61943}"/>
              </a:ext>
            </a:extLst>
          </p:cNvPr>
          <p:cNvSpPr/>
          <p:nvPr/>
        </p:nvSpPr>
        <p:spPr>
          <a:xfrm rot="5400000">
            <a:off x="1771839" y="3660586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D09B1B-DB82-671C-3697-7C7918EAA82C}"/>
              </a:ext>
            </a:extLst>
          </p:cNvPr>
          <p:cNvSpPr/>
          <p:nvPr/>
        </p:nvSpPr>
        <p:spPr>
          <a:xfrm rot="5400000">
            <a:off x="10702735" y="3660586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B68EBC-957D-07BC-FC57-3465420AD43B}"/>
              </a:ext>
            </a:extLst>
          </p:cNvPr>
          <p:cNvSpPr txBox="1"/>
          <p:nvPr/>
        </p:nvSpPr>
        <p:spPr>
          <a:xfrm>
            <a:off x="2285941" y="476250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6F40DD-082D-CD45-B7CB-6E3CDA9E046C}"/>
              </a:ext>
            </a:extLst>
          </p:cNvPr>
          <p:cNvSpPr txBox="1"/>
          <p:nvPr/>
        </p:nvSpPr>
        <p:spPr>
          <a:xfrm>
            <a:off x="5143635" y="474928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F3074A-2972-E593-5DB2-5796113BB2DE}"/>
              </a:ext>
            </a:extLst>
          </p:cNvPr>
          <p:cNvSpPr txBox="1"/>
          <p:nvPr/>
        </p:nvSpPr>
        <p:spPr>
          <a:xfrm>
            <a:off x="7953508" y="474928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ABB7B1-3100-A920-4732-6948A384FDB0}"/>
              </a:ext>
            </a:extLst>
          </p:cNvPr>
          <p:cNvSpPr txBox="1"/>
          <p:nvPr/>
        </p:nvSpPr>
        <p:spPr>
          <a:xfrm>
            <a:off x="11182103" y="474928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E728EE-0535-EA5D-472A-A47CCF52B845}"/>
              </a:ext>
            </a:extLst>
          </p:cNvPr>
          <p:cNvSpPr txBox="1"/>
          <p:nvPr/>
        </p:nvSpPr>
        <p:spPr>
          <a:xfrm>
            <a:off x="5730930" y="269557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72E399-5B66-3984-3D98-39727EEDF9BB}"/>
              </a:ext>
            </a:extLst>
          </p:cNvPr>
          <p:cNvSpPr txBox="1"/>
          <p:nvPr/>
        </p:nvSpPr>
        <p:spPr>
          <a:xfrm>
            <a:off x="2879149" y="2640567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FAB404-E4B7-4E3E-DEC8-818C39B637E2}"/>
              </a:ext>
            </a:extLst>
          </p:cNvPr>
          <p:cNvSpPr txBox="1"/>
          <p:nvPr/>
        </p:nvSpPr>
        <p:spPr>
          <a:xfrm>
            <a:off x="27999" y="265747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F961DC-A500-320F-95A6-E5AD6F665279}"/>
              </a:ext>
            </a:extLst>
          </p:cNvPr>
          <p:cNvSpPr txBox="1"/>
          <p:nvPr/>
        </p:nvSpPr>
        <p:spPr>
          <a:xfrm>
            <a:off x="2656336" y="3691265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6B522B-5831-954B-3E92-5098D3F91449}"/>
              </a:ext>
            </a:extLst>
          </p:cNvPr>
          <p:cNvSpPr txBox="1"/>
          <p:nvPr/>
        </p:nvSpPr>
        <p:spPr>
          <a:xfrm>
            <a:off x="8690352" y="3571873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=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807B00-3D19-3E51-EB1F-8A3CB81F96B2}"/>
              </a:ext>
            </a:extLst>
          </p:cNvPr>
          <p:cNvSpPr txBox="1"/>
          <p:nvPr/>
        </p:nvSpPr>
        <p:spPr>
          <a:xfrm>
            <a:off x="5484470" y="3624590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+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04B272CD-D593-194D-B053-F1AD917B480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288038" y="3399536"/>
            <a:ext cx="1981202" cy="744730"/>
          </a:xfrm>
          <a:prstGeom prst="bentConnector3">
            <a:avLst>
              <a:gd name="adj1" fmla="val 13462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A5DE88A-5DA4-F2E9-CEAC-745A10CCA6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3766" y="3399536"/>
            <a:ext cx="1981202" cy="744730"/>
          </a:xfrm>
          <a:prstGeom prst="bentConnector3">
            <a:avLst>
              <a:gd name="adj1" fmla="val 40385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88710A2-D4E8-CF82-9046-A39957F8231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73446" y="3376138"/>
            <a:ext cx="1981202" cy="744730"/>
          </a:xfrm>
          <a:prstGeom prst="bentConnector3">
            <a:avLst>
              <a:gd name="adj1" fmla="val 71635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975434A-A148-8193-E3EA-9C84A157EB4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268042" y="4259294"/>
            <a:ext cx="548018" cy="458401"/>
          </a:xfrm>
          <a:prstGeom prst="bentConnector3">
            <a:avLst>
              <a:gd name="adj1" fmla="val 50000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B86DC0D-577F-4460-E085-1C76C043E14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42352" y="3653125"/>
            <a:ext cx="1167006" cy="509206"/>
          </a:xfrm>
          <a:prstGeom prst="bentConnector3">
            <a:avLst>
              <a:gd name="adj1" fmla="val 50000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AFACA6E-1B87-C909-2AC2-92932AA5CE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971997" y="3066363"/>
            <a:ext cx="1163778" cy="546857"/>
          </a:xfrm>
          <a:prstGeom prst="bentConnector3">
            <a:avLst>
              <a:gd name="adj1" fmla="val 50000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67D69C3-B94E-6673-431F-A7A41EDCE91C}"/>
              </a:ext>
            </a:extLst>
          </p:cNvPr>
          <p:cNvSpPr txBox="1"/>
          <p:nvPr/>
        </p:nvSpPr>
        <p:spPr>
          <a:xfrm>
            <a:off x="9000505" y="2767012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808698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D0F3F-E645-5CED-75DA-81C066A6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D9E7D2-56F8-DFB4-2242-5C423C11A441}"/>
              </a:ext>
            </a:extLst>
          </p:cNvPr>
          <p:cNvCxnSpPr>
            <a:cxnSpLocks/>
          </p:cNvCxnSpPr>
          <p:nvPr/>
        </p:nvCxnSpPr>
        <p:spPr>
          <a:xfrm flipV="1">
            <a:off x="356304" y="2914649"/>
            <a:ext cx="837742" cy="106680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5CB0FA9-2E57-5DCB-7E58-BAFD468AD988}"/>
              </a:ext>
            </a:extLst>
          </p:cNvPr>
          <p:cNvCxnSpPr>
            <a:cxnSpLocks/>
          </p:cNvCxnSpPr>
          <p:nvPr/>
        </p:nvCxnSpPr>
        <p:spPr>
          <a:xfrm flipV="1">
            <a:off x="3267075" y="2914649"/>
            <a:ext cx="1109665" cy="1223965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FC4DA9-51D2-26B2-0BBC-E35D682B9FFE}"/>
              </a:ext>
            </a:extLst>
          </p:cNvPr>
          <p:cNvCxnSpPr>
            <a:cxnSpLocks/>
          </p:cNvCxnSpPr>
          <p:nvPr/>
        </p:nvCxnSpPr>
        <p:spPr>
          <a:xfrm flipV="1">
            <a:off x="6091682" y="3009899"/>
            <a:ext cx="1276441" cy="140017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C2152B5-1F3C-824D-63B7-2AEA2A2D0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597407"/>
            <a:ext cx="11051795" cy="1197725"/>
          </a:xfrm>
        </p:spPr>
        <p:txBody>
          <a:bodyPr/>
          <a:lstStyle/>
          <a:p>
            <a:r>
              <a:rPr lang="en-CA" sz="4800" b="1" dirty="0"/>
              <a:t>Market Supply as the Sum of Individual Supply.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1C358-3034-435C-B857-AAB5115B2F57}"/>
              </a:ext>
            </a:extLst>
          </p:cNvPr>
          <p:cNvSpPr/>
          <p:nvPr/>
        </p:nvSpPr>
        <p:spPr>
          <a:xfrm>
            <a:off x="33020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BBD434-57FC-B7FD-3B16-249D8D27EE01}"/>
              </a:ext>
            </a:extLst>
          </p:cNvPr>
          <p:cNvSpPr/>
          <p:nvPr/>
        </p:nvSpPr>
        <p:spPr>
          <a:xfrm>
            <a:off x="3267075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258B12-D57A-7104-6E8A-B7AB0BDC46D9}"/>
              </a:ext>
            </a:extLst>
          </p:cNvPr>
          <p:cNvSpPr/>
          <p:nvPr/>
        </p:nvSpPr>
        <p:spPr>
          <a:xfrm>
            <a:off x="609600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635E1A-AB61-ED88-A6D7-0C7E54869DAD}"/>
              </a:ext>
            </a:extLst>
          </p:cNvPr>
          <p:cNvSpPr/>
          <p:nvPr/>
        </p:nvSpPr>
        <p:spPr>
          <a:xfrm>
            <a:off x="931545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25A500-8FD1-9FF9-B67C-F5E7280F23BD}"/>
              </a:ext>
            </a:extLst>
          </p:cNvPr>
          <p:cNvSpPr/>
          <p:nvPr/>
        </p:nvSpPr>
        <p:spPr>
          <a:xfrm>
            <a:off x="172339" y="2409824"/>
            <a:ext cx="11838686" cy="466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CE02C-8255-A827-53F9-31A313D00EC2}"/>
              </a:ext>
            </a:extLst>
          </p:cNvPr>
          <p:cNvSpPr/>
          <p:nvPr/>
        </p:nvSpPr>
        <p:spPr>
          <a:xfrm rot="5400000">
            <a:off x="4645213" y="3612961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F6E63D-C873-E900-614F-22DA58CF4180}"/>
              </a:ext>
            </a:extLst>
          </p:cNvPr>
          <p:cNvSpPr/>
          <p:nvPr/>
        </p:nvSpPr>
        <p:spPr>
          <a:xfrm rot="5400000">
            <a:off x="7455086" y="3612962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DF8B1F-5B2C-D030-DE0A-B4277F52B476}"/>
              </a:ext>
            </a:extLst>
          </p:cNvPr>
          <p:cNvSpPr/>
          <p:nvPr/>
        </p:nvSpPr>
        <p:spPr>
          <a:xfrm rot="5400000">
            <a:off x="1771839" y="3660586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0BC833-96E3-B0B8-D42B-C77853ED062E}"/>
              </a:ext>
            </a:extLst>
          </p:cNvPr>
          <p:cNvSpPr/>
          <p:nvPr/>
        </p:nvSpPr>
        <p:spPr>
          <a:xfrm rot="5400000">
            <a:off x="10702735" y="3660586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701CE6-E296-1E7D-2734-B5BDBE0521CF}"/>
              </a:ext>
            </a:extLst>
          </p:cNvPr>
          <p:cNvSpPr txBox="1"/>
          <p:nvPr/>
        </p:nvSpPr>
        <p:spPr>
          <a:xfrm>
            <a:off x="2285941" y="476250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BD3F12-1672-996F-F06E-35BBA14CEC41}"/>
              </a:ext>
            </a:extLst>
          </p:cNvPr>
          <p:cNvSpPr txBox="1"/>
          <p:nvPr/>
        </p:nvSpPr>
        <p:spPr>
          <a:xfrm>
            <a:off x="5143635" y="474928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C0004E-4832-3824-A3AE-7A2CD206B71F}"/>
              </a:ext>
            </a:extLst>
          </p:cNvPr>
          <p:cNvSpPr txBox="1"/>
          <p:nvPr/>
        </p:nvSpPr>
        <p:spPr>
          <a:xfrm>
            <a:off x="7953508" y="474928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1A65B5-0CA0-FE49-09AB-4208A677275D}"/>
              </a:ext>
            </a:extLst>
          </p:cNvPr>
          <p:cNvSpPr txBox="1"/>
          <p:nvPr/>
        </p:nvSpPr>
        <p:spPr>
          <a:xfrm>
            <a:off x="11182103" y="474928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C189DB-0E34-02F4-6C37-800CB7D87A64}"/>
              </a:ext>
            </a:extLst>
          </p:cNvPr>
          <p:cNvSpPr txBox="1"/>
          <p:nvPr/>
        </p:nvSpPr>
        <p:spPr>
          <a:xfrm>
            <a:off x="5730930" y="269557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33560C-ED1D-8259-E374-F0DDBC4D7341}"/>
              </a:ext>
            </a:extLst>
          </p:cNvPr>
          <p:cNvSpPr txBox="1"/>
          <p:nvPr/>
        </p:nvSpPr>
        <p:spPr>
          <a:xfrm>
            <a:off x="2879149" y="2640567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DF2575-E38B-AB6C-9974-FB4EABA3A95E}"/>
              </a:ext>
            </a:extLst>
          </p:cNvPr>
          <p:cNvSpPr txBox="1"/>
          <p:nvPr/>
        </p:nvSpPr>
        <p:spPr>
          <a:xfrm>
            <a:off x="27999" y="265747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D98C62-9E75-E3C9-9708-5D61D00D9455}"/>
              </a:ext>
            </a:extLst>
          </p:cNvPr>
          <p:cNvSpPr txBox="1"/>
          <p:nvPr/>
        </p:nvSpPr>
        <p:spPr>
          <a:xfrm>
            <a:off x="2656336" y="3691265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291299-B61D-F4FC-973E-533F89B72729}"/>
              </a:ext>
            </a:extLst>
          </p:cNvPr>
          <p:cNvSpPr txBox="1"/>
          <p:nvPr/>
        </p:nvSpPr>
        <p:spPr>
          <a:xfrm>
            <a:off x="8690352" y="3571873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=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A92891-0ED2-A714-FAC9-6D740DEDF5B1}"/>
              </a:ext>
            </a:extLst>
          </p:cNvPr>
          <p:cNvSpPr txBox="1"/>
          <p:nvPr/>
        </p:nvSpPr>
        <p:spPr>
          <a:xfrm>
            <a:off x="5484470" y="3624590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+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95D658A-8A68-D502-DC29-1AC24DD2C5FC}"/>
              </a:ext>
            </a:extLst>
          </p:cNvPr>
          <p:cNvCxnSpPr>
            <a:cxnSpLocks/>
          </p:cNvCxnSpPr>
          <p:nvPr/>
        </p:nvCxnSpPr>
        <p:spPr>
          <a:xfrm flipV="1">
            <a:off x="9351423" y="3098542"/>
            <a:ext cx="2194882" cy="1206758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60D2EE-D36E-979F-104C-07BCEC742BD8}"/>
              </a:ext>
            </a:extLst>
          </p:cNvPr>
          <p:cNvSpPr txBox="1"/>
          <p:nvPr/>
        </p:nvSpPr>
        <p:spPr>
          <a:xfrm>
            <a:off x="9000505" y="2767012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735529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E94E5-0A19-59D7-BB79-54D219F6D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6B7EA-65A2-72FF-B3B0-6DB85F0B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Analyzing Markets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6E14B-4887-A0DF-3A42-9456984EF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Section 2: Demand</a:t>
            </a:r>
          </a:p>
        </p:txBody>
      </p:sp>
    </p:spTree>
    <p:extLst>
      <p:ext uri="{BB962C8B-B14F-4D97-AF65-F5344CB8AC3E}">
        <p14:creationId xmlns:p14="http://schemas.microsoft.com/office/powerpoint/2010/main" val="4197843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70A2F-C3CB-6310-9A31-8B7AC0229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C44ED4-6169-71C2-4CDC-2C4B39F33FC1}"/>
              </a:ext>
            </a:extLst>
          </p:cNvPr>
          <p:cNvSpPr/>
          <p:nvPr/>
        </p:nvSpPr>
        <p:spPr>
          <a:xfrm>
            <a:off x="1074928" y="18048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962EA4-D222-969C-DB4A-A0D4A50CA0D7}"/>
              </a:ext>
            </a:extLst>
          </p:cNvPr>
          <p:cNvSpPr/>
          <p:nvPr/>
        </p:nvSpPr>
        <p:spPr>
          <a:xfrm>
            <a:off x="672592" y="1639317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18853D-1F35-AA23-E042-C1DCEDDA9BFE}"/>
              </a:ext>
            </a:extLst>
          </p:cNvPr>
          <p:cNvSpPr/>
          <p:nvPr/>
        </p:nvSpPr>
        <p:spPr>
          <a:xfrm rot="5400000">
            <a:off x="3146424" y="3237072"/>
            <a:ext cx="5105019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96A8C2-E453-CAA1-D043-C88D45791CD4}"/>
              </a:ext>
            </a:extLst>
          </p:cNvPr>
          <p:cNvSpPr txBox="1"/>
          <p:nvPr/>
        </p:nvSpPr>
        <p:spPr>
          <a:xfrm>
            <a:off x="406475" y="2189936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BFCC0-180C-BA58-3DE2-5F469DE70563}"/>
              </a:ext>
            </a:extLst>
          </p:cNvPr>
          <p:cNvSpPr txBox="1"/>
          <p:nvPr/>
        </p:nvSpPr>
        <p:spPr>
          <a:xfrm>
            <a:off x="4422384" y="592382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D880A3-E041-B34A-F65D-F9F745DF2380}"/>
              </a:ext>
            </a:extLst>
          </p:cNvPr>
          <p:cNvCxnSpPr>
            <a:cxnSpLocks/>
          </p:cNvCxnSpPr>
          <p:nvPr/>
        </p:nvCxnSpPr>
        <p:spPr>
          <a:xfrm>
            <a:off x="1422400" y="2302099"/>
            <a:ext cx="3785616" cy="32426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E35A9B1-1CC0-5BEB-3114-A3944787CA49}"/>
              </a:ext>
            </a:extLst>
          </p:cNvPr>
          <p:cNvSpPr txBox="1"/>
          <p:nvPr/>
        </p:nvSpPr>
        <p:spPr>
          <a:xfrm>
            <a:off x="5194213" y="5272496"/>
            <a:ext cx="106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C49BC-0AC4-ABB8-A6CA-3E5EC9F6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b="1" dirty="0"/>
              <a:t>Thinking About Demand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7B130-47F4-5770-160F-6CE4DB52757E}"/>
              </a:ext>
            </a:extLst>
          </p:cNvPr>
          <p:cNvSpPr txBox="1"/>
          <p:nvPr/>
        </p:nvSpPr>
        <p:spPr>
          <a:xfrm>
            <a:off x="5174293" y="2246157"/>
            <a:ext cx="62104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We can think of the demand curve as market</a:t>
            </a:r>
            <a:br>
              <a:rPr lang="en-CA" dirty="0"/>
            </a:br>
            <a:r>
              <a:rPr lang="en-CA" b="1" dirty="0"/>
              <a:t>Willingness to Pay Curve. </a:t>
            </a:r>
          </a:p>
          <a:p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It is downward sloping because for a typical good,</a:t>
            </a:r>
            <a:br>
              <a:rPr lang="en-CA" dirty="0"/>
            </a:br>
            <a:r>
              <a:rPr lang="en-CA" dirty="0"/>
              <a:t>as the price gets lower there are more consumers</a:t>
            </a:r>
            <a:br>
              <a:rPr lang="en-CA" dirty="0"/>
            </a:br>
            <a:r>
              <a:rPr lang="en-CA" dirty="0"/>
              <a:t>who are willing to purchase the good.</a:t>
            </a:r>
            <a:br>
              <a:rPr lang="en-CA" dirty="0"/>
            </a:b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 most cases, the lower the price the higher the quantity demanded.</a:t>
            </a:r>
          </a:p>
        </p:txBody>
      </p:sp>
    </p:spTree>
    <p:extLst>
      <p:ext uri="{BB962C8B-B14F-4D97-AF65-F5344CB8AC3E}">
        <p14:creationId xmlns:p14="http://schemas.microsoft.com/office/powerpoint/2010/main" val="3048471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33D30-8DC4-80ED-F85C-2712BE69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C317E2C-AC15-4C19-F287-068AC1CD415F}"/>
              </a:ext>
            </a:extLst>
          </p:cNvPr>
          <p:cNvSpPr/>
          <p:nvPr/>
        </p:nvSpPr>
        <p:spPr>
          <a:xfrm>
            <a:off x="1074928" y="18048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448398-DDCD-2ADB-1A5F-93D31FD77BD5}"/>
              </a:ext>
            </a:extLst>
          </p:cNvPr>
          <p:cNvSpPr/>
          <p:nvPr/>
        </p:nvSpPr>
        <p:spPr>
          <a:xfrm>
            <a:off x="672592" y="1639317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8DEE8-688F-DF9E-B9EA-F835E33E9AAA}"/>
              </a:ext>
            </a:extLst>
          </p:cNvPr>
          <p:cNvSpPr/>
          <p:nvPr/>
        </p:nvSpPr>
        <p:spPr>
          <a:xfrm rot="5400000">
            <a:off x="3146424" y="3237072"/>
            <a:ext cx="5105019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A8FFF1-16F1-1830-D295-B41061041ECA}"/>
              </a:ext>
            </a:extLst>
          </p:cNvPr>
          <p:cNvSpPr txBox="1"/>
          <p:nvPr/>
        </p:nvSpPr>
        <p:spPr>
          <a:xfrm>
            <a:off x="406475" y="2189936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9CC6C5-22C7-F209-39DD-9F5B720E2CAA}"/>
              </a:ext>
            </a:extLst>
          </p:cNvPr>
          <p:cNvSpPr txBox="1"/>
          <p:nvPr/>
        </p:nvSpPr>
        <p:spPr>
          <a:xfrm>
            <a:off x="4422384" y="592382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DB708-5C72-4C3F-31F8-3FF86A917026}"/>
              </a:ext>
            </a:extLst>
          </p:cNvPr>
          <p:cNvSpPr txBox="1"/>
          <p:nvPr/>
        </p:nvSpPr>
        <p:spPr>
          <a:xfrm>
            <a:off x="5180246" y="5031862"/>
            <a:ext cx="106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B8516-5595-1A15-C9F4-B3FAA28F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b="1" dirty="0"/>
              <a:t>A Market Demand Schedule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9359BB7-43CA-15A4-BB58-5E35BDA242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74520" y="2487409"/>
            <a:ext cx="1326245" cy="1325428"/>
          </a:xfrm>
          <a:prstGeom prst="bentConnector3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0059088-97BB-DDDD-88C8-0318BE8600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05688" y="3260960"/>
            <a:ext cx="1326245" cy="1325428"/>
          </a:xfrm>
          <a:prstGeom prst="bentConnector3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CA67ECB-D6C8-C88B-5066-F8D6CB53C46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39657" y="4323579"/>
            <a:ext cx="1783924" cy="1416568"/>
          </a:xfrm>
          <a:prstGeom prst="bentConnector3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BF947C-4634-4991-A659-D969A0A92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548256"/>
              </p:ext>
            </p:extLst>
          </p:nvPr>
        </p:nvGraphicFramePr>
        <p:xfrm>
          <a:off x="5921248" y="1914174"/>
          <a:ext cx="543153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12">
                  <a:extLst>
                    <a:ext uri="{9D8B030D-6E8A-4147-A177-3AD203B41FA5}">
                      <a16:colId xmlns:a16="http://schemas.microsoft.com/office/drawing/2014/main" val="3140734389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1960537044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4194214438"/>
                    </a:ext>
                  </a:extLst>
                </a:gridCol>
              </a:tblGrid>
              <a:tr h="347537">
                <a:tc>
                  <a:txBody>
                    <a:bodyPr/>
                    <a:lstStyle/>
                    <a:p>
                      <a:r>
                        <a:rPr lang="en-CA" dirty="0"/>
                        <a:t>Buyer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Willingness to Accept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Quantity Demanded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98373"/>
                  </a:ext>
                </a:extLst>
              </a:tr>
              <a:tr h="347537">
                <a:tc>
                  <a:txBody>
                    <a:bodyPr/>
                    <a:lstStyle/>
                    <a:p>
                      <a:r>
                        <a:rPr lang="en-CA" dirty="0"/>
                        <a:t>Albert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32460"/>
                  </a:ext>
                </a:extLst>
              </a:tr>
              <a:tr h="347537">
                <a:tc>
                  <a:txBody>
                    <a:bodyPr/>
                    <a:lstStyle/>
                    <a:p>
                      <a:r>
                        <a:rPr lang="en-CA" dirty="0"/>
                        <a:t>Brett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362012"/>
                  </a:ext>
                </a:extLst>
              </a:tr>
              <a:tr h="347537">
                <a:tc>
                  <a:txBody>
                    <a:bodyPr/>
                    <a:lstStyle/>
                    <a:p>
                      <a:r>
                        <a:rPr lang="en-CA" dirty="0"/>
                        <a:t>Cameron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83596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AC63923F-A9F9-CEDA-097A-4B628F2085D7}"/>
              </a:ext>
            </a:extLst>
          </p:cNvPr>
          <p:cNvSpPr/>
          <p:nvPr/>
        </p:nvSpPr>
        <p:spPr>
          <a:xfrm>
            <a:off x="2315183" y="3044757"/>
            <a:ext cx="194553" cy="21579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B695766-9833-CE72-66B9-FEE4D0901830}"/>
              </a:ext>
            </a:extLst>
          </p:cNvPr>
          <p:cNvSpPr/>
          <p:nvPr/>
        </p:nvSpPr>
        <p:spPr>
          <a:xfrm>
            <a:off x="3620439" y="3815777"/>
            <a:ext cx="194553" cy="21579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DBFF1C8-0BE0-E505-5BCC-45C0F8F7D605}"/>
              </a:ext>
            </a:extLst>
          </p:cNvPr>
          <p:cNvSpPr/>
          <p:nvPr/>
        </p:nvSpPr>
        <p:spPr>
          <a:xfrm>
            <a:off x="5056591" y="4929034"/>
            <a:ext cx="194553" cy="215794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398095-73B3-CA1B-553D-D3DD9BF4FA51}"/>
              </a:ext>
            </a:extLst>
          </p:cNvPr>
          <p:cNvSpPr txBox="1"/>
          <p:nvPr/>
        </p:nvSpPr>
        <p:spPr>
          <a:xfrm>
            <a:off x="2555884" y="2914336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8FC59-11E5-0BEE-C716-885CA2F90ED8}"/>
              </a:ext>
            </a:extLst>
          </p:cNvPr>
          <p:cNvSpPr txBox="1"/>
          <p:nvPr/>
        </p:nvSpPr>
        <p:spPr>
          <a:xfrm>
            <a:off x="3721217" y="3446579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B</a:t>
            </a:r>
            <a:endParaRPr lang="en-CA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48DED0-44D0-4A26-7980-B8762C04C326}"/>
              </a:ext>
            </a:extLst>
          </p:cNvPr>
          <p:cNvSpPr txBox="1"/>
          <p:nvPr/>
        </p:nvSpPr>
        <p:spPr>
          <a:xfrm>
            <a:off x="5155676" y="458588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874624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9972-05C1-E86D-0A16-8B1DDB0B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8427-C74B-744F-AE74-25F79711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6" y="602999"/>
            <a:ext cx="11462268" cy="1041896"/>
          </a:xfrm>
        </p:spPr>
        <p:txBody>
          <a:bodyPr/>
          <a:lstStyle/>
          <a:p>
            <a:r>
              <a:rPr lang="en-CA" sz="4800" b="1" dirty="0"/>
              <a:t>Market Demand as the Sum of Individual Demands.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8CD77-A627-8FD7-2E89-D55B2EC1E4A3}"/>
              </a:ext>
            </a:extLst>
          </p:cNvPr>
          <p:cNvSpPr/>
          <p:nvPr/>
        </p:nvSpPr>
        <p:spPr>
          <a:xfrm>
            <a:off x="33020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C33B2D-50FB-0F3A-2C66-965340079D8F}"/>
              </a:ext>
            </a:extLst>
          </p:cNvPr>
          <p:cNvSpPr/>
          <p:nvPr/>
        </p:nvSpPr>
        <p:spPr>
          <a:xfrm>
            <a:off x="3267075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70D7E0-0EE6-2485-F06F-D820F826CA3A}"/>
              </a:ext>
            </a:extLst>
          </p:cNvPr>
          <p:cNvSpPr/>
          <p:nvPr/>
        </p:nvSpPr>
        <p:spPr>
          <a:xfrm>
            <a:off x="609600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689804-CF4D-A4ED-DDB3-A5B8AC7C1630}"/>
              </a:ext>
            </a:extLst>
          </p:cNvPr>
          <p:cNvSpPr/>
          <p:nvPr/>
        </p:nvSpPr>
        <p:spPr>
          <a:xfrm>
            <a:off x="931545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D43FC6-DBBB-D612-5A33-1A473EE632C6}"/>
              </a:ext>
            </a:extLst>
          </p:cNvPr>
          <p:cNvSpPr/>
          <p:nvPr/>
        </p:nvSpPr>
        <p:spPr>
          <a:xfrm>
            <a:off x="172339" y="2409824"/>
            <a:ext cx="11838686" cy="466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923A26-ED30-61ED-FBB0-834B96CF10EF}"/>
              </a:ext>
            </a:extLst>
          </p:cNvPr>
          <p:cNvSpPr/>
          <p:nvPr/>
        </p:nvSpPr>
        <p:spPr>
          <a:xfrm rot="5400000">
            <a:off x="4645213" y="3612961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25C02E-13EB-9B11-0592-9BB98134539E}"/>
              </a:ext>
            </a:extLst>
          </p:cNvPr>
          <p:cNvSpPr/>
          <p:nvPr/>
        </p:nvSpPr>
        <p:spPr>
          <a:xfrm rot="5400000">
            <a:off x="7455086" y="3612962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E4B7AA-53FE-9FA1-C793-6629B6701E0E}"/>
              </a:ext>
            </a:extLst>
          </p:cNvPr>
          <p:cNvSpPr/>
          <p:nvPr/>
        </p:nvSpPr>
        <p:spPr>
          <a:xfrm rot="5400000">
            <a:off x="1771839" y="3660586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BF0D6D-5540-7FFE-F654-B9216F9ED378}"/>
              </a:ext>
            </a:extLst>
          </p:cNvPr>
          <p:cNvSpPr/>
          <p:nvPr/>
        </p:nvSpPr>
        <p:spPr>
          <a:xfrm rot="5400000">
            <a:off x="10702735" y="3660586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33CCA8-AE88-E76E-C98C-43936EB4F238}"/>
              </a:ext>
            </a:extLst>
          </p:cNvPr>
          <p:cNvSpPr txBox="1"/>
          <p:nvPr/>
        </p:nvSpPr>
        <p:spPr>
          <a:xfrm>
            <a:off x="2285941" y="476250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776E62-6D2F-4D2F-8F4C-857FAD0C9D2A}"/>
              </a:ext>
            </a:extLst>
          </p:cNvPr>
          <p:cNvSpPr txBox="1"/>
          <p:nvPr/>
        </p:nvSpPr>
        <p:spPr>
          <a:xfrm>
            <a:off x="5143635" y="474928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9CEE5F-106C-9DD3-02EB-16B76C86EB65}"/>
              </a:ext>
            </a:extLst>
          </p:cNvPr>
          <p:cNvSpPr txBox="1"/>
          <p:nvPr/>
        </p:nvSpPr>
        <p:spPr>
          <a:xfrm>
            <a:off x="7953508" y="474928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3CA8E3-9C6B-D40D-2097-6D8770A861DD}"/>
              </a:ext>
            </a:extLst>
          </p:cNvPr>
          <p:cNvSpPr txBox="1"/>
          <p:nvPr/>
        </p:nvSpPr>
        <p:spPr>
          <a:xfrm>
            <a:off x="11182103" y="474928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558C94-1914-FD4E-6157-1DE40B54420D}"/>
              </a:ext>
            </a:extLst>
          </p:cNvPr>
          <p:cNvSpPr txBox="1"/>
          <p:nvPr/>
        </p:nvSpPr>
        <p:spPr>
          <a:xfrm>
            <a:off x="5730930" y="269557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8D8AC7-CDC9-D9AA-6588-84C89D674250}"/>
              </a:ext>
            </a:extLst>
          </p:cNvPr>
          <p:cNvSpPr txBox="1"/>
          <p:nvPr/>
        </p:nvSpPr>
        <p:spPr>
          <a:xfrm>
            <a:off x="2879149" y="2640567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79C38C-2BFE-FBAE-7C1D-7B1EA85EEE74}"/>
              </a:ext>
            </a:extLst>
          </p:cNvPr>
          <p:cNvSpPr txBox="1"/>
          <p:nvPr/>
        </p:nvSpPr>
        <p:spPr>
          <a:xfrm>
            <a:off x="27999" y="265747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5F805AB-F055-3141-6323-076DFDAF29CB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60306" y="2931693"/>
            <a:ext cx="984916" cy="874628"/>
          </a:xfrm>
          <a:prstGeom prst="bentConnector3">
            <a:avLst>
              <a:gd name="adj1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900BEAD-55C8-B93C-EAFC-9B9E56843C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51287" y="3394190"/>
            <a:ext cx="1861070" cy="825788"/>
          </a:xfrm>
          <a:prstGeom prst="bentConnector3">
            <a:avLst>
              <a:gd name="adj1" fmla="val 4027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0F685EC-BA59-5464-F389-ED0FB578B11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78358" y="3405859"/>
            <a:ext cx="1861070" cy="825788"/>
          </a:xfrm>
          <a:prstGeom prst="bentConnector3">
            <a:avLst>
              <a:gd name="adj1" fmla="val 74055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3E1B7BD-1CDA-EAB2-3955-BC925DB94A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067608" y="3551470"/>
            <a:ext cx="864930" cy="619990"/>
          </a:xfrm>
          <a:prstGeom prst="bentConnector3">
            <a:avLst>
              <a:gd name="adj1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9E4723C-5725-3338-3AD6-D6081F912B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68821" y="4136004"/>
            <a:ext cx="847340" cy="379222"/>
          </a:xfrm>
          <a:prstGeom prst="bentConnector3">
            <a:avLst>
              <a:gd name="adj1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BBFA1D9-B385-8273-3BB3-D389B66A9EE6}"/>
              </a:ext>
            </a:extLst>
          </p:cNvPr>
          <p:cNvSpPr txBox="1"/>
          <p:nvPr/>
        </p:nvSpPr>
        <p:spPr>
          <a:xfrm>
            <a:off x="9023590" y="2758558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937F65D-9AAF-E636-A905-049E4FFE6C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37051" y="3341385"/>
            <a:ext cx="1871295" cy="921172"/>
          </a:xfrm>
          <a:prstGeom prst="bentConnector3">
            <a:avLst>
              <a:gd name="adj1" fmla="val 20987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D5D4D14-845E-8549-ADD1-FC8F4FE319B2}"/>
              </a:ext>
            </a:extLst>
          </p:cNvPr>
          <p:cNvSpPr txBox="1"/>
          <p:nvPr/>
        </p:nvSpPr>
        <p:spPr>
          <a:xfrm>
            <a:off x="2656336" y="3691265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EFABC0-7010-9CE0-D35A-D0F2A62E76DC}"/>
              </a:ext>
            </a:extLst>
          </p:cNvPr>
          <p:cNvSpPr txBox="1"/>
          <p:nvPr/>
        </p:nvSpPr>
        <p:spPr>
          <a:xfrm>
            <a:off x="8690352" y="3571873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=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E9A550-CC77-7BC7-5D24-C00F2AAA79EA}"/>
              </a:ext>
            </a:extLst>
          </p:cNvPr>
          <p:cNvSpPr txBox="1"/>
          <p:nvPr/>
        </p:nvSpPr>
        <p:spPr>
          <a:xfrm>
            <a:off x="5484470" y="3624590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186972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7193-61C0-FDB7-E588-DA478A2B7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5CF8226-E258-B72B-0C7D-5BFD6E7FEED5}"/>
              </a:ext>
            </a:extLst>
          </p:cNvPr>
          <p:cNvSpPr/>
          <p:nvPr/>
        </p:nvSpPr>
        <p:spPr>
          <a:xfrm>
            <a:off x="9312851" y="2972717"/>
            <a:ext cx="1701214" cy="1776569"/>
          </a:xfrm>
          <a:custGeom>
            <a:avLst/>
            <a:gdLst>
              <a:gd name="connsiteX0" fmla="*/ 0 w 1819073"/>
              <a:gd name="connsiteY0" fmla="*/ 0 h 1673157"/>
              <a:gd name="connsiteX1" fmla="*/ 340469 w 1819073"/>
              <a:gd name="connsiteY1" fmla="*/ 797668 h 1673157"/>
              <a:gd name="connsiteX2" fmla="*/ 1099226 w 1819073"/>
              <a:gd name="connsiteY2" fmla="*/ 1478604 h 1673157"/>
              <a:gd name="connsiteX3" fmla="*/ 1819073 w 1819073"/>
              <a:gd name="connsiteY3" fmla="*/ 1673157 h 1673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9073" h="1673157">
                <a:moveTo>
                  <a:pt x="0" y="0"/>
                </a:moveTo>
                <a:lnTo>
                  <a:pt x="340469" y="797668"/>
                </a:lnTo>
                <a:lnTo>
                  <a:pt x="1099226" y="1478604"/>
                </a:lnTo>
                <a:lnTo>
                  <a:pt x="1819073" y="1673157"/>
                </a:ln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52A1CD-806B-41F7-C24A-C8AD52110A9E}"/>
              </a:ext>
            </a:extLst>
          </p:cNvPr>
          <p:cNvCxnSpPr>
            <a:cxnSpLocks/>
          </p:cNvCxnSpPr>
          <p:nvPr/>
        </p:nvCxnSpPr>
        <p:spPr>
          <a:xfrm>
            <a:off x="330200" y="3100568"/>
            <a:ext cx="626353" cy="166193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F94E867-CCC9-27ED-6B37-B5B6584CD406}"/>
              </a:ext>
            </a:extLst>
          </p:cNvPr>
          <p:cNvCxnSpPr>
            <a:cxnSpLocks/>
          </p:cNvCxnSpPr>
          <p:nvPr/>
        </p:nvCxnSpPr>
        <p:spPr>
          <a:xfrm>
            <a:off x="6109568" y="4393169"/>
            <a:ext cx="1702557" cy="36933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89F4DB8-4B6B-78E6-32E0-F52FE6C3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94" y="764979"/>
            <a:ext cx="10634472" cy="1117092"/>
          </a:xfrm>
        </p:spPr>
        <p:txBody>
          <a:bodyPr/>
          <a:lstStyle/>
          <a:p>
            <a:r>
              <a:rPr lang="en-CA" sz="4400" b="1" dirty="0"/>
              <a:t>Market Demand as the Sum of Individual Demands.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46858-9384-B017-956B-F6879F31BD02}"/>
              </a:ext>
            </a:extLst>
          </p:cNvPr>
          <p:cNvSpPr/>
          <p:nvPr/>
        </p:nvSpPr>
        <p:spPr>
          <a:xfrm>
            <a:off x="33020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6B19D1-2139-01FD-C657-2F58C6A16219}"/>
              </a:ext>
            </a:extLst>
          </p:cNvPr>
          <p:cNvSpPr/>
          <p:nvPr/>
        </p:nvSpPr>
        <p:spPr>
          <a:xfrm>
            <a:off x="3267075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63B3D5-4529-3054-2507-8C7DDDEB3664}"/>
              </a:ext>
            </a:extLst>
          </p:cNvPr>
          <p:cNvSpPr/>
          <p:nvPr/>
        </p:nvSpPr>
        <p:spPr>
          <a:xfrm>
            <a:off x="609600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09AA8-9F07-91B6-CF71-1785965DC033}"/>
              </a:ext>
            </a:extLst>
          </p:cNvPr>
          <p:cNvSpPr/>
          <p:nvPr/>
        </p:nvSpPr>
        <p:spPr>
          <a:xfrm>
            <a:off x="9315450" y="2695575"/>
            <a:ext cx="2336800" cy="20669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7EB3F9-61A0-A5A0-53A1-4B22A49F4BE1}"/>
              </a:ext>
            </a:extLst>
          </p:cNvPr>
          <p:cNvSpPr/>
          <p:nvPr/>
        </p:nvSpPr>
        <p:spPr>
          <a:xfrm>
            <a:off x="172339" y="2409824"/>
            <a:ext cx="11838686" cy="466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3A14D2-9B21-EAF7-6A1D-534480C86BDD}"/>
              </a:ext>
            </a:extLst>
          </p:cNvPr>
          <p:cNvSpPr/>
          <p:nvPr/>
        </p:nvSpPr>
        <p:spPr>
          <a:xfrm rot="5400000">
            <a:off x="4645213" y="3612961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ADCC2D-D178-8CD9-993C-7FF3D9EFC4BB}"/>
              </a:ext>
            </a:extLst>
          </p:cNvPr>
          <p:cNvSpPr/>
          <p:nvPr/>
        </p:nvSpPr>
        <p:spPr>
          <a:xfrm rot="5400000">
            <a:off x="7455086" y="3612962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342D91-54BF-90C7-97CF-022B1374EF8A}"/>
              </a:ext>
            </a:extLst>
          </p:cNvPr>
          <p:cNvSpPr/>
          <p:nvPr/>
        </p:nvSpPr>
        <p:spPr>
          <a:xfrm rot="5400000">
            <a:off x="1771839" y="3660586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0FB1AC-9C03-17B4-53AA-BACC071D9415}"/>
              </a:ext>
            </a:extLst>
          </p:cNvPr>
          <p:cNvSpPr/>
          <p:nvPr/>
        </p:nvSpPr>
        <p:spPr>
          <a:xfrm rot="5400000">
            <a:off x="10702735" y="3660586"/>
            <a:ext cx="2066926" cy="403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B32DA4-B51E-97CE-6F0D-C9CFE542D7E4}"/>
              </a:ext>
            </a:extLst>
          </p:cNvPr>
          <p:cNvSpPr txBox="1"/>
          <p:nvPr/>
        </p:nvSpPr>
        <p:spPr>
          <a:xfrm>
            <a:off x="2285941" y="476250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3A9250-1211-72DC-BB79-607D3F530104}"/>
              </a:ext>
            </a:extLst>
          </p:cNvPr>
          <p:cNvSpPr txBox="1"/>
          <p:nvPr/>
        </p:nvSpPr>
        <p:spPr>
          <a:xfrm>
            <a:off x="5143635" y="474928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B66CC1-9CAD-7A4B-2FAB-023850A06E2B}"/>
              </a:ext>
            </a:extLst>
          </p:cNvPr>
          <p:cNvSpPr txBox="1"/>
          <p:nvPr/>
        </p:nvSpPr>
        <p:spPr>
          <a:xfrm>
            <a:off x="7953508" y="474928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CC709-BC80-DE90-54F6-2F119964EE3F}"/>
              </a:ext>
            </a:extLst>
          </p:cNvPr>
          <p:cNvSpPr txBox="1"/>
          <p:nvPr/>
        </p:nvSpPr>
        <p:spPr>
          <a:xfrm>
            <a:off x="11182103" y="474928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30F948-ED59-B335-39BA-CC8805A49C46}"/>
              </a:ext>
            </a:extLst>
          </p:cNvPr>
          <p:cNvSpPr txBox="1"/>
          <p:nvPr/>
        </p:nvSpPr>
        <p:spPr>
          <a:xfrm>
            <a:off x="5730930" y="269557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E5B0BF-4862-1D2B-25AA-4F1C7CDDAAE0}"/>
              </a:ext>
            </a:extLst>
          </p:cNvPr>
          <p:cNvSpPr txBox="1"/>
          <p:nvPr/>
        </p:nvSpPr>
        <p:spPr>
          <a:xfrm>
            <a:off x="2879149" y="2640567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06F4E9-3F9F-C498-5271-9CF403141169}"/>
              </a:ext>
            </a:extLst>
          </p:cNvPr>
          <p:cNvSpPr txBox="1"/>
          <p:nvPr/>
        </p:nvSpPr>
        <p:spPr>
          <a:xfrm>
            <a:off x="27999" y="265747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7CACE8-F5C7-2012-8600-86520490748D}"/>
              </a:ext>
            </a:extLst>
          </p:cNvPr>
          <p:cNvSpPr txBox="1"/>
          <p:nvPr/>
        </p:nvSpPr>
        <p:spPr>
          <a:xfrm>
            <a:off x="2656336" y="3691265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D8F1E-986E-8BC4-355C-7AC7F9B4A52F}"/>
              </a:ext>
            </a:extLst>
          </p:cNvPr>
          <p:cNvSpPr txBox="1"/>
          <p:nvPr/>
        </p:nvSpPr>
        <p:spPr>
          <a:xfrm>
            <a:off x="8690352" y="3571873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8B095-7D07-AB01-3F2E-42CDA8184358}"/>
              </a:ext>
            </a:extLst>
          </p:cNvPr>
          <p:cNvSpPr txBox="1"/>
          <p:nvPr/>
        </p:nvSpPr>
        <p:spPr>
          <a:xfrm>
            <a:off x="5484470" y="3624590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+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491A0F-8375-6867-6193-8703A14B1DCE}"/>
              </a:ext>
            </a:extLst>
          </p:cNvPr>
          <p:cNvCxnSpPr>
            <a:cxnSpLocks/>
          </p:cNvCxnSpPr>
          <p:nvPr/>
        </p:nvCxnSpPr>
        <p:spPr>
          <a:xfrm>
            <a:off x="3267075" y="3872753"/>
            <a:ext cx="799087" cy="87653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F2786D1-883B-7EB1-0228-AF0550F5C18B}"/>
              </a:ext>
            </a:extLst>
          </p:cNvPr>
          <p:cNvSpPr txBox="1"/>
          <p:nvPr/>
        </p:nvSpPr>
        <p:spPr>
          <a:xfrm>
            <a:off x="9000505" y="2767012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965779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95A59-B1C1-FDDD-CAD3-03747E8B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0188-649F-60D5-266F-3591B828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Analyzing Markets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C879-315C-29A3-9177-3BBAD73CF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Section 3: Market Equilibrium</a:t>
            </a:r>
          </a:p>
        </p:txBody>
      </p:sp>
    </p:spTree>
    <p:extLst>
      <p:ext uri="{BB962C8B-B14F-4D97-AF65-F5344CB8AC3E}">
        <p14:creationId xmlns:p14="http://schemas.microsoft.com/office/powerpoint/2010/main" val="1737127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14B9E-6F86-8B81-7D7E-B725B429F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1E92DA-C57C-0216-4845-D838751A063B}"/>
              </a:ext>
            </a:extLst>
          </p:cNvPr>
          <p:cNvCxnSpPr>
            <a:cxnSpLocks/>
          </p:cNvCxnSpPr>
          <p:nvPr/>
        </p:nvCxnSpPr>
        <p:spPr>
          <a:xfrm flipV="1">
            <a:off x="1066800" y="2225899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23322C4-7A47-83D6-EBA6-4F3CC570DEDF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76BEC6-2FD7-7D2E-8BBF-CEEB27216B37}"/>
              </a:ext>
            </a:extLst>
          </p:cNvPr>
          <p:cNvSpPr/>
          <p:nvPr/>
        </p:nvSpPr>
        <p:spPr>
          <a:xfrm>
            <a:off x="664464" y="1563117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0DBD17-D672-A3D9-E5E2-79FC5F357A75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E7E7E1-0DCA-2E54-FFB0-2490C30D146B}"/>
              </a:ext>
            </a:extLst>
          </p:cNvPr>
          <p:cNvSpPr txBox="1"/>
          <p:nvPr/>
        </p:nvSpPr>
        <p:spPr>
          <a:xfrm>
            <a:off x="398347" y="2113736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747A81-337F-A936-7F34-3A71C514DAF6}"/>
              </a:ext>
            </a:extLst>
          </p:cNvPr>
          <p:cNvSpPr txBox="1"/>
          <p:nvPr/>
        </p:nvSpPr>
        <p:spPr>
          <a:xfrm>
            <a:off x="4414256" y="584762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556554-4B44-ADD8-E723-0964149373BA}"/>
              </a:ext>
            </a:extLst>
          </p:cNvPr>
          <p:cNvSpPr txBox="1"/>
          <p:nvPr/>
        </p:nvSpPr>
        <p:spPr>
          <a:xfrm>
            <a:off x="4559592" y="211812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06AD6CE-6C50-E14B-A3F6-B4073039CD4C}"/>
              </a:ext>
            </a:extLst>
          </p:cNvPr>
          <p:cNvCxnSpPr>
            <a:cxnSpLocks/>
          </p:cNvCxnSpPr>
          <p:nvPr/>
        </p:nvCxnSpPr>
        <p:spPr>
          <a:xfrm>
            <a:off x="1414272" y="2225899"/>
            <a:ext cx="3785616" cy="32426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C0A03A5-4C71-976C-0B4C-C950E308CEBF}"/>
              </a:ext>
            </a:extLst>
          </p:cNvPr>
          <p:cNvSpPr txBox="1"/>
          <p:nvPr/>
        </p:nvSpPr>
        <p:spPr>
          <a:xfrm>
            <a:off x="5186085" y="5196296"/>
            <a:ext cx="106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06D4B3-A22A-6AA0-405D-15FA1D69CDBB}"/>
              </a:ext>
            </a:extLst>
          </p:cNvPr>
          <p:cNvCxnSpPr>
            <a:cxnSpLocks/>
          </p:cNvCxnSpPr>
          <p:nvPr/>
        </p:nvCxnSpPr>
        <p:spPr>
          <a:xfrm flipV="1">
            <a:off x="1055899" y="3652615"/>
            <a:ext cx="2004071" cy="8446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87197D-B6C5-B38B-0604-EDF2E9607F8A}"/>
              </a:ext>
            </a:extLst>
          </p:cNvPr>
          <p:cNvCxnSpPr>
            <a:cxnSpLocks/>
          </p:cNvCxnSpPr>
          <p:nvPr/>
        </p:nvCxnSpPr>
        <p:spPr>
          <a:xfrm flipH="1">
            <a:off x="3028395" y="3652615"/>
            <a:ext cx="31575" cy="2224592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0B2859-4DDE-FB3F-81CA-12A243F9A9A6}"/>
              </a:ext>
            </a:extLst>
          </p:cNvPr>
          <p:cNvCxnSpPr/>
          <p:nvPr/>
        </p:nvCxnSpPr>
        <p:spPr>
          <a:xfrm flipH="1">
            <a:off x="3380232" y="2971800"/>
            <a:ext cx="2869606" cy="66827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5130828-3796-2A29-29AF-8354BBEA170B}"/>
              </a:ext>
            </a:extLst>
          </p:cNvPr>
          <p:cNvSpPr txBox="1"/>
          <p:nvPr/>
        </p:nvSpPr>
        <p:spPr>
          <a:xfrm>
            <a:off x="5989098" y="2602468"/>
            <a:ext cx="222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Market Equilibrium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4D5EA0-A711-F861-04B2-15C229C8D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Market Equilibrium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200427-1386-02DB-C51C-B1F2C08B43EB}"/>
              </a:ext>
            </a:extLst>
          </p:cNvPr>
          <p:cNvSpPr txBox="1"/>
          <p:nvPr/>
        </p:nvSpPr>
        <p:spPr>
          <a:xfrm>
            <a:off x="579806" y="3518736"/>
            <a:ext cx="44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34A31-BE79-D68B-03B1-A68B01D27FE2}"/>
              </a:ext>
            </a:extLst>
          </p:cNvPr>
          <p:cNvSpPr txBox="1"/>
          <p:nvPr/>
        </p:nvSpPr>
        <p:spPr>
          <a:xfrm>
            <a:off x="2820161" y="590712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FE35F-87CC-2133-83B7-5DE209325342}"/>
              </a:ext>
            </a:extLst>
          </p:cNvPr>
          <p:cNvSpPr txBox="1"/>
          <p:nvPr/>
        </p:nvSpPr>
        <p:spPr>
          <a:xfrm>
            <a:off x="8081833" y="1563117"/>
            <a:ext cx="396828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 Market Equilibrium is defined characterized as a situation where the quantity supplied is equal to the quantity demanded.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It is a situation where the </a:t>
            </a:r>
            <a:r>
              <a:rPr lang="en-CA" b="1" dirty="0"/>
              <a:t>market clears.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Everyone who is willing to pay at the market price can obtain the product and everyone who wants to sell at that price can sell.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9176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6A0D-7DF3-307C-C8E9-566215AD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0D39D28-4683-1C89-6711-8D9360D3D35F}"/>
              </a:ext>
            </a:extLst>
          </p:cNvPr>
          <p:cNvCxnSpPr>
            <a:cxnSpLocks/>
          </p:cNvCxnSpPr>
          <p:nvPr/>
        </p:nvCxnSpPr>
        <p:spPr>
          <a:xfrm flipV="1">
            <a:off x="1066800" y="2225899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7E905B-BF93-BC78-73BE-7572369290F5}"/>
              </a:ext>
            </a:extLst>
          </p:cNvPr>
          <p:cNvCxnSpPr>
            <a:cxnSpLocks/>
          </p:cNvCxnSpPr>
          <p:nvPr/>
        </p:nvCxnSpPr>
        <p:spPr>
          <a:xfrm>
            <a:off x="1406971" y="2249121"/>
            <a:ext cx="3785616" cy="32426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679D94-5BFD-13F5-D22E-0CA0F2559266}"/>
              </a:ext>
            </a:extLst>
          </p:cNvPr>
          <p:cNvCxnSpPr/>
          <p:nvPr/>
        </p:nvCxnSpPr>
        <p:spPr>
          <a:xfrm flipV="1">
            <a:off x="1066800" y="2708784"/>
            <a:ext cx="4318963" cy="95250"/>
          </a:xfrm>
          <a:prstGeom prst="line">
            <a:avLst/>
          </a:prstGeom>
          <a:ln w="571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027DB7B-FA94-D6A3-F7CC-D5A5DD0CB6EA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57FE8D-D629-15E6-86EC-D2D34A52471F}"/>
              </a:ext>
            </a:extLst>
          </p:cNvPr>
          <p:cNvSpPr/>
          <p:nvPr/>
        </p:nvSpPr>
        <p:spPr>
          <a:xfrm>
            <a:off x="664464" y="1563117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3881046-1A86-ED80-B9EB-9FC7B9CD6967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EEED9C-1789-D2C3-6A36-3AECC907634A}"/>
              </a:ext>
            </a:extLst>
          </p:cNvPr>
          <p:cNvSpPr txBox="1"/>
          <p:nvPr/>
        </p:nvSpPr>
        <p:spPr>
          <a:xfrm>
            <a:off x="398347" y="2113736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76C897-D832-F421-EB98-3B3758FA76DE}"/>
              </a:ext>
            </a:extLst>
          </p:cNvPr>
          <p:cNvSpPr txBox="1"/>
          <p:nvPr/>
        </p:nvSpPr>
        <p:spPr>
          <a:xfrm>
            <a:off x="4414256" y="584762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A2A0D0-E47F-E498-FDD5-8903D18846E5}"/>
              </a:ext>
            </a:extLst>
          </p:cNvPr>
          <p:cNvSpPr txBox="1"/>
          <p:nvPr/>
        </p:nvSpPr>
        <p:spPr>
          <a:xfrm>
            <a:off x="4559592" y="211812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5F1771-9996-4123-3F47-215B92461629}"/>
              </a:ext>
            </a:extLst>
          </p:cNvPr>
          <p:cNvSpPr txBox="1"/>
          <p:nvPr/>
        </p:nvSpPr>
        <p:spPr>
          <a:xfrm>
            <a:off x="5186085" y="5196296"/>
            <a:ext cx="106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F461528-C0D2-EEBF-2CFA-339C6E1236F9}"/>
              </a:ext>
            </a:extLst>
          </p:cNvPr>
          <p:cNvCxnSpPr>
            <a:cxnSpLocks/>
          </p:cNvCxnSpPr>
          <p:nvPr/>
        </p:nvCxnSpPr>
        <p:spPr>
          <a:xfrm>
            <a:off x="2029002" y="2833816"/>
            <a:ext cx="20037" cy="303085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CB12AC-48B7-CDCF-1030-5569927B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Markets out of equilibrium: Price Floor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F0F847-8652-7E42-8799-FA32863DA7F1}"/>
                  </a:ext>
                </a:extLst>
              </p:cNvPr>
              <p:cNvSpPr txBox="1"/>
              <p:nvPr/>
            </p:nvSpPr>
            <p:spPr>
              <a:xfrm>
                <a:off x="5494085" y="2550849"/>
                <a:ext cx="490071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p>
                      </m:s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F0F847-8652-7E42-8799-FA32863D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085" y="2550849"/>
                <a:ext cx="490071" cy="3742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5C085E-39F1-3667-8911-66B6CBC824E2}"/>
                  </a:ext>
                </a:extLst>
              </p:cNvPr>
              <p:cNvSpPr txBox="1"/>
              <p:nvPr/>
            </p:nvSpPr>
            <p:spPr>
              <a:xfrm>
                <a:off x="1809926" y="5882437"/>
                <a:ext cx="529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5C085E-39F1-3667-8911-66B6CBC82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926" y="5882437"/>
                <a:ext cx="529247" cy="369332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9C24BE0-8214-BDDC-7BDE-4B62D4EAABAE}"/>
              </a:ext>
            </a:extLst>
          </p:cNvPr>
          <p:cNvSpPr txBox="1"/>
          <p:nvPr/>
        </p:nvSpPr>
        <p:spPr>
          <a:xfrm>
            <a:off x="7090268" y="1631587"/>
            <a:ext cx="39682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Introduction of price controls can cause a difference between supply and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first kind of control is a </a:t>
            </a:r>
            <a:r>
              <a:rPr lang="en-CA" b="1" dirty="0"/>
              <a:t>price floor</a:t>
            </a:r>
            <a:r>
              <a:rPr lang="en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It defines the minimum price which must be charged for a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Note that the price floor defines a minimum! If the price floor is below equilibrium, it does not bind.</a:t>
            </a:r>
          </a:p>
          <a:p>
            <a:endParaRPr lang="en-CA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2E6FEB-EBEA-AE84-8F76-9115A646642A}"/>
              </a:ext>
            </a:extLst>
          </p:cNvPr>
          <p:cNvCxnSpPr>
            <a:cxnSpLocks/>
          </p:cNvCxnSpPr>
          <p:nvPr/>
        </p:nvCxnSpPr>
        <p:spPr>
          <a:xfrm>
            <a:off x="4019727" y="2833816"/>
            <a:ext cx="20037" cy="303085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126C29-5821-887A-B437-3496FB639522}"/>
                  </a:ext>
                </a:extLst>
              </p:cNvPr>
              <p:cNvSpPr txBox="1"/>
              <p:nvPr/>
            </p:nvSpPr>
            <p:spPr>
              <a:xfrm>
                <a:off x="3795759" y="5903342"/>
                <a:ext cx="4955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sub>
                      </m:sSub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126C29-5821-887A-B437-3496FB639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759" y="5903342"/>
                <a:ext cx="495585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497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3FF1-E5F6-D9FD-F66D-B7470058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9FBF1BA-C044-C1B7-19DF-2A0A6A05A6DD}"/>
              </a:ext>
            </a:extLst>
          </p:cNvPr>
          <p:cNvCxnSpPr>
            <a:cxnSpLocks/>
          </p:cNvCxnSpPr>
          <p:nvPr/>
        </p:nvCxnSpPr>
        <p:spPr>
          <a:xfrm flipV="1">
            <a:off x="1066800" y="2225899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B46B69A-4654-DC30-7C3C-6FE6C73DD759}"/>
              </a:ext>
            </a:extLst>
          </p:cNvPr>
          <p:cNvCxnSpPr>
            <a:cxnSpLocks/>
          </p:cNvCxnSpPr>
          <p:nvPr/>
        </p:nvCxnSpPr>
        <p:spPr>
          <a:xfrm>
            <a:off x="1406971" y="2249121"/>
            <a:ext cx="3785616" cy="32426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413F8-25D8-CFF3-F108-08568EF0D93C}"/>
              </a:ext>
            </a:extLst>
          </p:cNvPr>
          <p:cNvCxnSpPr/>
          <p:nvPr/>
        </p:nvCxnSpPr>
        <p:spPr>
          <a:xfrm flipV="1">
            <a:off x="1039302" y="4620541"/>
            <a:ext cx="4318963" cy="95250"/>
          </a:xfrm>
          <a:prstGeom prst="line">
            <a:avLst/>
          </a:prstGeom>
          <a:ln w="571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E87292C-F7B8-019A-98EC-0EA55CB59227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C51D8A-B1CF-B402-34A2-15B103CC6B61}"/>
              </a:ext>
            </a:extLst>
          </p:cNvPr>
          <p:cNvSpPr/>
          <p:nvPr/>
        </p:nvSpPr>
        <p:spPr>
          <a:xfrm>
            <a:off x="664464" y="1563117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89E86A-1988-C0EB-76EF-5F84AD7DAA01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5DCFCB-5953-92A6-0998-5BD57E26AA43}"/>
              </a:ext>
            </a:extLst>
          </p:cNvPr>
          <p:cNvSpPr txBox="1"/>
          <p:nvPr/>
        </p:nvSpPr>
        <p:spPr>
          <a:xfrm>
            <a:off x="398347" y="2113736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28DE9D-0B10-0464-3FD2-DAB406F97E22}"/>
              </a:ext>
            </a:extLst>
          </p:cNvPr>
          <p:cNvSpPr txBox="1"/>
          <p:nvPr/>
        </p:nvSpPr>
        <p:spPr>
          <a:xfrm>
            <a:off x="4414256" y="584762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BA1925-CC8B-5952-BF3D-6E530EA5FD4E}"/>
              </a:ext>
            </a:extLst>
          </p:cNvPr>
          <p:cNvSpPr txBox="1"/>
          <p:nvPr/>
        </p:nvSpPr>
        <p:spPr>
          <a:xfrm>
            <a:off x="4559592" y="211812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C0C12D-D65A-BD4F-5EC6-E4232B6D1763}"/>
              </a:ext>
            </a:extLst>
          </p:cNvPr>
          <p:cNvSpPr txBox="1"/>
          <p:nvPr/>
        </p:nvSpPr>
        <p:spPr>
          <a:xfrm>
            <a:off x="5186085" y="5196296"/>
            <a:ext cx="106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0C18770-28E8-9CFA-BA31-AB15B2D14E1C}"/>
              </a:ext>
            </a:extLst>
          </p:cNvPr>
          <p:cNvCxnSpPr>
            <a:cxnSpLocks/>
          </p:cNvCxnSpPr>
          <p:nvPr/>
        </p:nvCxnSpPr>
        <p:spPr>
          <a:xfrm>
            <a:off x="2027912" y="4715791"/>
            <a:ext cx="21127" cy="1148875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8171C70-9896-EDAA-344E-02B41D58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Markets out of equilibrium: Price Ceiling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751BA-2DF7-AAAB-E6E9-2117123CC541}"/>
                  </a:ext>
                </a:extLst>
              </p:cNvPr>
              <p:cNvSpPr txBox="1"/>
              <p:nvPr/>
            </p:nvSpPr>
            <p:spPr>
              <a:xfrm>
                <a:off x="5296396" y="4455046"/>
                <a:ext cx="501291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751BA-2DF7-AAAB-E6E9-2117123CC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396" y="4455046"/>
                <a:ext cx="501291" cy="3755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122BA7-E14B-4961-F446-7A7E68171ABD}"/>
                  </a:ext>
                </a:extLst>
              </p:cNvPr>
              <p:cNvSpPr txBox="1"/>
              <p:nvPr/>
            </p:nvSpPr>
            <p:spPr>
              <a:xfrm>
                <a:off x="3945788" y="5844395"/>
                <a:ext cx="529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122BA7-E14B-4961-F446-7A7E68171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88" y="5844395"/>
                <a:ext cx="529247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266964E-EA37-4EAE-E6CF-7BFAA2C26405}"/>
              </a:ext>
            </a:extLst>
          </p:cNvPr>
          <p:cNvSpPr txBox="1"/>
          <p:nvPr/>
        </p:nvSpPr>
        <p:spPr>
          <a:xfrm>
            <a:off x="6434761" y="1681663"/>
            <a:ext cx="4698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Another price control is a </a:t>
            </a:r>
            <a:r>
              <a:rPr lang="en-CA" b="1" dirty="0"/>
              <a:t>price ceiling.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It defines a </a:t>
            </a:r>
            <a:r>
              <a:rPr lang="en-CA" b="1" dirty="0"/>
              <a:t>maximum</a:t>
            </a:r>
            <a:r>
              <a:rPr lang="en-CA" dirty="0"/>
              <a:t> price which can be paid for a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 this case the quantity demanded will exceed the quantity supplied and a shortage will be created.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 the context of health economics, we can understand the fact that </a:t>
            </a:r>
            <a:r>
              <a:rPr lang="en-CA" b="1" dirty="0"/>
              <a:t>wait times </a:t>
            </a:r>
            <a:r>
              <a:rPr lang="en-CA" dirty="0"/>
              <a:t>are longer in Canada compared to the US for procedures, primarily due to this fact that fees for procedures is regulated.</a:t>
            </a:r>
          </a:p>
          <a:p>
            <a:endParaRPr lang="en-CA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44E59D-1AB7-4778-FDBF-BD5E4D1F1339}"/>
              </a:ext>
            </a:extLst>
          </p:cNvPr>
          <p:cNvCxnSpPr>
            <a:cxnSpLocks/>
          </p:cNvCxnSpPr>
          <p:nvPr/>
        </p:nvCxnSpPr>
        <p:spPr>
          <a:xfrm flipH="1">
            <a:off x="4191961" y="4668166"/>
            <a:ext cx="1117" cy="1179457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8AE059-7BFD-EF6F-B49D-575C9E7BED9F}"/>
                  </a:ext>
                </a:extLst>
              </p:cNvPr>
              <p:cNvSpPr txBox="1"/>
              <p:nvPr/>
            </p:nvSpPr>
            <p:spPr>
              <a:xfrm>
                <a:off x="1790138" y="5799609"/>
                <a:ext cx="4955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sub>
                      </m:sSub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8AE059-7BFD-EF6F-B49D-575C9E7BE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138" y="5799609"/>
                <a:ext cx="495585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9787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43F0-C8A4-9374-E653-4ED5FD0F3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4A88-840F-0EFA-9D78-8169BF3F0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Shifts in Supply and Demand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A4A83-C756-9D17-82CA-8E8212089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7741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8F6F-7CC9-2B80-B300-083DE7D67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B83CB3-F58A-3966-B9C1-07538977342C}"/>
              </a:ext>
            </a:extLst>
          </p:cNvPr>
          <p:cNvCxnSpPr>
            <a:cxnSpLocks/>
          </p:cNvCxnSpPr>
          <p:nvPr/>
        </p:nvCxnSpPr>
        <p:spPr>
          <a:xfrm flipV="1">
            <a:off x="1066800" y="2225899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0FD8BE7-8CB9-AE55-C595-5AEB382A9090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BE276A-0A81-D43A-1752-DA0F5427B68A}"/>
              </a:ext>
            </a:extLst>
          </p:cNvPr>
          <p:cNvSpPr/>
          <p:nvPr/>
        </p:nvSpPr>
        <p:spPr>
          <a:xfrm>
            <a:off x="664464" y="1563117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B3F058-2315-4DB0-E9D1-0953E558323C}"/>
              </a:ext>
            </a:extLst>
          </p:cNvPr>
          <p:cNvSpPr/>
          <p:nvPr/>
        </p:nvSpPr>
        <p:spPr>
          <a:xfrm rot="5400000">
            <a:off x="3029691" y="3318276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E2D50-AA10-857B-7621-669A4B1B7069}"/>
              </a:ext>
            </a:extLst>
          </p:cNvPr>
          <p:cNvSpPr txBox="1"/>
          <p:nvPr/>
        </p:nvSpPr>
        <p:spPr>
          <a:xfrm>
            <a:off x="398347" y="2113736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8FEF1-8FA2-8C75-0121-49A1E97C5428}"/>
              </a:ext>
            </a:extLst>
          </p:cNvPr>
          <p:cNvSpPr txBox="1"/>
          <p:nvPr/>
        </p:nvSpPr>
        <p:spPr>
          <a:xfrm>
            <a:off x="4414256" y="584762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3CCF3-3B6F-486A-6608-481FEC4A6030}"/>
              </a:ext>
            </a:extLst>
          </p:cNvPr>
          <p:cNvSpPr txBox="1"/>
          <p:nvPr/>
        </p:nvSpPr>
        <p:spPr>
          <a:xfrm>
            <a:off x="4559592" y="211812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ED29D4-3A04-881D-854D-42F0111E7C76}"/>
              </a:ext>
            </a:extLst>
          </p:cNvPr>
          <p:cNvCxnSpPr>
            <a:cxnSpLocks/>
          </p:cNvCxnSpPr>
          <p:nvPr/>
        </p:nvCxnSpPr>
        <p:spPr>
          <a:xfrm>
            <a:off x="1414272" y="2225899"/>
            <a:ext cx="3785616" cy="32426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59C2A0-CA84-41E4-9DF8-AB864ECB75A3}"/>
              </a:ext>
            </a:extLst>
          </p:cNvPr>
          <p:cNvSpPr txBox="1"/>
          <p:nvPr/>
        </p:nvSpPr>
        <p:spPr>
          <a:xfrm>
            <a:off x="5186085" y="5196296"/>
            <a:ext cx="1235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 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B05B5B-57AC-298A-48FF-1F51556283DF}"/>
              </a:ext>
            </a:extLst>
          </p:cNvPr>
          <p:cNvCxnSpPr>
            <a:cxnSpLocks/>
          </p:cNvCxnSpPr>
          <p:nvPr/>
        </p:nvCxnSpPr>
        <p:spPr>
          <a:xfrm>
            <a:off x="1932345" y="1714500"/>
            <a:ext cx="3785616" cy="32426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B77D40C-FFBE-4D6E-A06C-D50BAD1225A1}"/>
              </a:ext>
            </a:extLst>
          </p:cNvPr>
          <p:cNvSpPr txBox="1"/>
          <p:nvPr/>
        </p:nvSpPr>
        <p:spPr>
          <a:xfrm>
            <a:off x="5717961" y="4769958"/>
            <a:ext cx="1235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 1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DAE4C04-0EEE-A19B-0685-BEE0E02CBC4A}"/>
              </a:ext>
            </a:extLst>
          </p:cNvPr>
          <p:cNvSpPr/>
          <p:nvPr/>
        </p:nvSpPr>
        <p:spPr>
          <a:xfrm>
            <a:off x="2366682" y="2680208"/>
            <a:ext cx="774551" cy="3749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7C6AAF1-B325-5F80-2043-AFE9867556DD}"/>
              </a:ext>
            </a:extLst>
          </p:cNvPr>
          <p:cNvSpPr/>
          <p:nvPr/>
        </p:nvSpPr>
        <p:spPr>
          <a:xfrm>
            <a:off x="4094411" y="4183065"/>
            <a:ext cx="774551" cy="3749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F3C2A-B14B-541F-17CD-A82D045D9415}"/>
              </a:ext>
            </a:extLst>
          </p:cNvPr>
          <p:cNvSpPr txBox="1"/>
          <p:nvPr/>
        </p:nvSpPr>
        <p:spPr>
          <a:xfrm>
            <a:off x="6961545" y="1784972"/>
            <a:ext cx="52427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When demand increases, it raises both the Equilibrium Market Price and Quantity.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US" b="1" dirty="0"/>
              <a:t>Reasons Demand Can Shift Right (Increase):</a:t>
            </a:r>
            <a:endParaRPr lang="en-US" dirty="0"/>
          </a:p>
          <a:p>
            <a:r>
              <a:rPr lang="en-US" dirty="0"/>
              <a:t>-Increase in consumer income (for normal goods)</a:t>
            </a:r>
          </a:p>
          <a:p>
            <a:r>
              <a:rPr lang="en-US" dirty="0"/>
              <a:t>-Rise in price of a substitute good</a:t>
            </a:r>
          </a:p>
          <a:p>
            <a:r>
              <a:rPr lang="en-US" dirty="0"/>
              <a:t>-Fall in price of a complementary good</a:t>
            </a:r>
          </a:p>
          <a:p>
            <a:r>
              <a:rPr lang="en-US" dirty="0"/>
              <a:t>-Positive change in consumer tastes/preferences</a:t>
            </a:r>
          </a:p>
          <a:p>
            <a:r>
              <a:rPr lang="en-US" dirty="0"/>
              <a:t>-Increase in population or market size</a:t>
            </a:r>
          </a:p>
          <a:p>
            <a:r>
              <a:rPr lang="en-US" dirty="0"/>
              <a:t>-Expectations of higher future prices</a:t>
            </a:r>
          </a:p>
          <a:p>
            <a:r>
              <a:rPr lang="en-US" dirty="0"/>
              <a:t>-Government subsidies or tax cuts</a:t>
            </a:r>
          </a:p>
          <a:p>
            <a:r>
              <a:rPr lang="en-US" dirty="0"/>
              <a:t>-Successful advertising or positive publicity</a:t>
            </a:r>
          </a:p>
          <a:p>
            <a:endParaRPr lang="en-US" dirty="0"/>
          </a:p>
          <a:p>
            <a:br>
              <a:rPr lang="en-CA" dirty="0"/>
            </a:br>
            <a:r>
              <a:rPr lang="en-CA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F6680-0A26-434E-2BE2-2CCD641E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Shifts in Demand: Increase in Demand</a:t>
            </a:r>
          </a:p>
        </p:txBody>
      </p:sp>
    </p:spTree>
    <p:extLst>
      <p:ext uri="{BB962C8B-B14F-4D97-AF65-F5344CB8AC3E}">
        <p14:creationId xmlns:p14="http://schemas.microsoft.com/office/powerpoint/2010/main" val="3113677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14E0-9887-A686-068E-D5C8FFD33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2E7B35-68EA-7516-54D5-F23F7812B822}"/>
              </a:ext>
            </a:extLst>
          </p:cNvPr>
          <p:cNvCxnSpPr>
            <a:cxnSpLocks/>
          </p:cNvCxnSpPr>
          <p:nvPr/>
        </p:nvCxnSpPr>
        <p:spPr>
          <a:xfrm flipV="1">
            <a:off x="1066800" y="2225899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E4F76F6-19D1-2975-AA2F-51287DA104FD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39A7B7-5C50-8984-12FA-E16663B6942B}"/>
              </a:ext>
            </a:extLst>
          </p:cNvPr>
          <p:cNvSpPr/>
          <p:nvPr/>
        </p:nvSpPr>
        <p:spPr>
          <a:xfrm>
            <a:off x="664464" y="1563117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123AEA-06BD-B1B1-8271-D6EB019A19EB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34420-5A43-2FBB-9B4F-0A8635B39B0D}"/>
              </a:ext>
            </a:extLst>
          </p:cNvPr>
          <p:cNvSpPr txBox="1"/>
          <p:nvPr/>
        </p:nvSpPr>
        <p:spPr>
          <a:xfrm>
            <a:off x="398347" y="2113736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AC9EB-D74C-0DCF-E641-C96A21CA68EF}"/>
              </a:ext>
            </a:extLst>
          </p:cNvPr>
          <p:cNvSpPr txBox="1"/>
          <p:nvPr/>
        </p:nvSpPr>
        <p:spPr>
          <a:xfrm>
            <a:off x="4414256" y="584762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4DE7F-D708-8FF7-0AEC-50EAD8292BCF}"/>
              </a:ext>
            </a:extLst>
          </p:cNvPr>
          <p:cNvSpPr txBox="1"/>
          <p:nvPr/>
        </p:nvSpPr>
        <p:spPr>
          <a:xfrm>
            <a:off x="4559592" y="211812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4733DD-FA85-9CB9-D654-14824D9CF01F}"/>
              </a:ext>
            </a:extLst>
          </p:cNvPr>
          <p:cNvCxnSpPr>
            <a:cxnSpLocks/>
          </p:cNvCxnSpPr>
          <p:nvPr/>
        </p:nvCxnSpPr>
        <p:spPr>
          <a:xfrm>
            <a:off x="1414272" y="2225899"/>
            <a:ext cx="3785616" cy="32426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E5BA277-A4AD-A3FB-606B-F9761E892DFE}"/>
              </a:ext>
            </a:extLst>
          </p:cNvPr>
          <p:cNvSpPr txBox="1"/>
          <p:nvPr/>
        </p:nvSpPr>
        <p:spPr>
          <a:xfrm>
            <a:off x="5186085" y="5196296"/>
            <a:ext cx="1235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 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113E53-AE27-BB96-9D86-0BDDF8DF79C3}"/>
              </a:ext>
            </a:extLst>
          </p:cNvPr>
          <p:cNvCxnSpPr>
            <a:cxnSpLocks/>
          </p:cNvCxnSpPr>
          <p:nvPr/>
        </p:nvCxnSpPr>
        <p:spPr>
          <a:xfrm>
            <a:off x="1157381" y="2833816"/>
            <a:ext cx="3190795" cy="278845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08C613B-0E15-5655-E3DA-E5A047C47912}"/>
              </a:ext>
            </a:extLst>
          </p:cNvPr>
          <p:cNvSpPr txBox="1"/>
          <p:nvPr/>
        </p:nvSpPr>
        <p:spPr>
          <a:xfrm>
            <a:off x="4255321" y="5426503"/>
            <a:ext cx="1235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 1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BF1C5B9-C295-1582-A2DC-A31E196F397F}"/>
              </a:ext>
            </a:extLst>
          </p:cNvPr>
          <p:cNvSpPr/>
          <p:nvPr/>
        </p:nvSpPr>
        <p:spPr>
          <a:xfrm rot="10563165">
            <a:off x="1778933" y="3046363"/>
            <a:ext cx="617567" cy="4051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313B796-E03B-F759-69FD-47C750E63107}"/>
              </a:ext>
            </a:extLst>
          </p:cNvPr>
          <p:cNvSpPr/>
          <p:nvPr/>
        </p:nvSpPr>
        <p:spPr>
          <a:xfrm rot="10563165">
            <a:off x="3409150" y="4457407"/>
            <a:ext cx="617567" cy="4051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B7BB5-DFBF-2F84-7D76-DD92CEEB6101}"/>
              </a:ext>
            </a:extLst>
          </p:cNvPr>
          <p:cNvSpPr txBox="1"/>
          <p:nvPr/>
        </p:nvSpPr>
        <p:spPr>
          <a:xfrm>
            <a:off x="6471390" y="1926294"/>
            <a:ext cx="528734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When demand decreases, it decreases both the </a:t>
            </a:r>
            <a:br>
              <a:rPr lang="en-CA" dirty="0"/>
            </a:br>
            <a:r>
              <a:rPr lang="en-CA" dirty="0"/>
              <a:t>equilibrium market price and quantity.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US" b="1" dirty="0"/>
              <a:t>Reasons Demand Can Shift Left (Decrease):</a:t>
            </a:r>
            <a:br>
              <a:rPr lang="en-CA" dirty="0"/>
            </a:br>
            <a:r>
              <a:rPr lang="en-CA" dirty="0"/>
              <a:t>-Decrease in consumer Income (for normal goods).</a:t>
            </a:r>
            <a:br>
              <a:rPr lang="en-CA" dirty="0"/>
            </a:br>
            <a:r>
              <a:rPr lang="en-CA" dirty="0"/>
              <a:t>-fall in the price of a substitute good.</a:t>
            </a:r>
            <a:br>
              <a:rPr lang="en-CA" dirty="0"/>
            </a:br>
            <a:r>
              <a:rPr lang="en-CA" dirty="0"/>
              <a:t>-Rise in the price of a complementary good.</a:t>
            </a:r>
            <a:br>
              <a:rPr lang="en-CA" dirty="0"/>
            </a:br>
            <a:r>
              <a:rPr lang="en-CA" dirty="0"/>
              <a:t>-Negative change in consumer tastes/preferences.</a:t>
            </a:r>
            <a:br>
              <a:rPr lang="en-CA" dirty="0"/>
            </a:br>
            <a:r>
              <a:rPr lang="en-CA" dirty="0"/>
              <a:t>-Decrease in population or market size.</a:t>
            </a:r>
            <a:br>
              <a:rPr lang="en-CA" dirty="0"/>
            </a:br>
            <a:r>
              <a:rPr lang="en-CA" dirty="0"/>
              <a:t>-Expectations of lower future prices.</a:t>
            </a:r>
            <a:br>
              <a:rPr lang="en-CA" dirty="0"/>
            </a:br>
            <a:r>
              <a:rPr lang="en-CA" dirty="0"/>
              <a:t>-Higher taxes on consume incomes.</a:t>
            </a:r>
            <a:br>
              <a:rPr lang="en-CA" dirty="0"/>
            </a:br>
            <a:r>
              <a:rPr lang="en-CA" dirty="0"/>
              <a:t>-Loss in popularity or negative publicity,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721E73-566D-05BE-B679-08EFCF00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Shifts in Demand: Decrease in Demand</a:t>
            </a:r>
          </a:p>
        </p:txBody>
      </p:sp>
    </p:spTree>
    <p:extLst>
      <p:ext uri="{BB962C8B-B14F-4D97-AF65-F5344CB8AC3E}">
        <p14:creationId xmlns:p14="http://schemas.microsoft.com/office/powerpoint/2010/main" val="5609633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65D7-6043-9A04-48E6-7C03336EA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CF66B6-C62D-1E9F-3BEA-A8AC4EF2C395}"/>
              </a:ext>
            </a:extLst>
          </p:cNvPr>
          <p:cNvCxnSpPr>
            <a:cxnSpLocks/>
          </p:cNvCxnSpPr>
          <p:nvPr/>
        </p:nvCxnSpPr>
        <p:spPr>
          <a:xfrm flipV="1">
            <a:off x="1066800" y="2225899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9F3F9FA-4273-74E7-79BB-227D50916F0A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BE43C6-1B14-292E-DF8E-E0A62F042644}"/>
              </a:ext>
            </a:extLst>
          </p:cNvPr>
          <p:cNvSpPr/>
          <p:nvPr/>
        </p:nvSpPr>
        <p:spPr>
          <a:xfrm>
            <a:off x="664464" y="1563117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8BC1FB-AE79-0501-ABEE-1C5618710B36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BB40F-E922-1025-9903-1154672F4C46}"/>
              </a:ext>
            </a:extLst>
          </p:cNvPr>
          <p:cNvSpPr txBox="1"/>
          <p:nvPr/>
        </p:nvSpPr>
        <p:spPr>
          <a:xfrm>
            <a:off x="398347" y="2113736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F8DAB-724A-F6ED-8C19-20C9D7252876}"/>
              </a:ext>
            </a:extLst>
          </p:cNvPr>
          <p:cNvSpPr txBox="1"/>
          <p:nvPr/>
        </p:nvSpPr>
        <p:spPr>
          <a:xfrm>
            <a:off x="4414256" y="584762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681C00-C9A2-0F0C-DA76-8683A93E7FCB}"/>
              </a:ext>
            </a:extLst>
          </p:cNvPr>
          <p:cNvSpPr txBox="1"/>
          <p:nvPr/>
        </p:nvSpPr>
        <p:spPr>
          <a:xfrm>
            <a:off x="4559592" y="2118122"/>
            <a:ext cx="1084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 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7AC9BF-7344-1112-2718-130B9B753A0A}"/>
              </a:ext>
            </a:extLst>
          </p:cNvPr>
          <p:cNvCxnSpPr>
            <a:cxnSpLocks/>
          </p:cNvCxnSpPr>
          <p:nvPr/>
        </p:nvCxnSpPr>
        <p:spPr>
          <a:xfrm>
            <a:off x="1414272" y="2225899"/>
            <a:ext cx="3785616" cy="32426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B55306-9287-C7DD-F600-436864B5AFB1}"/>
              </a:ext>
            </a:extLst>
          </p:cNvPr>
          <p:cNvCxnSpPr>
            <a:cxnSpLocks/>
          </p:cNvCxnSpPr>
          <p:nvPr/>
        </p:nvCxnSpPr>
        <p:spPr>
          <a:xfrm flipV="1">
            <a:off x="1948558" y="2501615"/>
            <a:ext cx="3251330" cy="320712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5C75543-D048-3AAE-1FEC-B1C59FCD3547}"/>
              </a:ext>
            </a:extLst>
          </p:cNvPr>
          <p:cNvSpPr txBox="1"/>
          <p:nvPr/>
        </p:nvSpPr>
        <p:spPr>
          <a:xfrm>
            <a:off x="6362117" y="1903689"/>
            <a:ext cx="539519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When supply increases, it decreases the </a:t>
            </a:r>
            <a:br>
              <a:rPr lang="en-CA" dirty="0"/>
            </a:br>
            <a:r>
              <a:rPr lang="en-CA" dirty="0"/>
              <a:t>equilibrium market price and raises quantity.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US" b="1" dirty="0"/>
              <a:t>Reasons Supply Can Shift Right (Increase):</a:t>
            </a:r>
            <a:endParaRPr lang="en-US" dirty="0"/>
          </a:p>
          <a:p>
            <a:r>
              <a:rPr lang="en-US" dirty="0"/>
              <a:t>Fall in production costs (e.g., cheaper raw materials)</a:t>
            </a:r>
          </a:p>
          <a:p>
            <a:r>
              <a:rPr lang="en-US" dirty="0"/>
              <a:t>Technological improvements</a:t>
            </a:r>
          </a:p>
          <a:p>
            <a:r>
              <a:rPr lang="en-US" dirty="0"/>
              <a:t>Government subsidies</a:t>
            </a:r>
          </a:p>
          <a:p>
            <a:r>
              <a:rPr lang="en-US" dirty="0"/>
              <a:t>Favorable weather (for agriculture)</a:t>
            </a:r>
          </a:p>
          <a:p>
            <a:r>
              <a:rPr lang="en-US" dirty="0"/>
              <a:t>Entry of new firms into the market</a:t>
            </a:r>
          </a:p>
          <a:p>
            <a:r>
              <a:rPr lang="en-US" dirty="0"/>
              <a:t>Expectations of lower future prices</a:t>
            </a:r>
          </a:p>
          <a:p>
            <a:r>
              <a:rPr lang="en-US" dirty="0"/>
              <a:t>Reduction in taxes or regulations</a:t>
            </a:r>
            <a:br>
              <a:rPr lang="en-CA" dirty="0"/>
            </a:br>
            <a:r>
              <a:rPr lang="en-CA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E90C7-D7B9-8E4E-24B4-830E4E3021AB}"/>
              </a:ext>
            </a:extLst>
          </p:cNvPr>
          <p:cNvSpPr txBox="1"/>
          <p:nvPr/>
        </p:nvSpPr>
        <p:spPr>
          <a:xfrm>
            <a:off x="5106238" y="2507583"/>
            <a:ext cx="1084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 1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47DB915-02C2-9F62-1742-5DB213DBDE9D}"/>
              </a:ext>
            </a:extLst>
          </p:cNvPr>
          <p:cNvSpPr/>
          <p:nvPr/>
        </p:nvSpPr>
        <p:spPr>
          <a:xfrm>
            <a:off x="3505200" y="3286124"/>
            <a:ext cx="523875" cy="353949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572AE86-036A-8CBB-550E-0ECC56AA8B38}"/>
              </a:ext>
            </a:extLst>
          </p:cNvPr>
          <p:cNvSpPr/>
          <p:nvPr/>
        </p:nvSpPr>
        <p:spPr>
          <a:xfrm>
            <a:off x="2557438" y="4114700"/>
            <a:ext cx="523875" cy="353949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D9F79-562C-4815-3FEE-0E3F2DAE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Shifts in Supply: Increase in Supply</a:t>
            </a:r>
          </a:p>
        </p:txBody>
      </p:sp>
    </p:spTree>
    <p:extLst>
      <p:ext uri="{BB962C8B-B14F-4D97-AF65-F5344CB8AC3E}">
        <p14:creationId xmlns:p14="http://schemas.microsoft.com/office/powerpoint/2010/main" val="39571410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5AD49-C221-5779-108D-EB1140259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67D1E0A-83AA-BA0F-8CAA-B520B655F473}"/>
              </a:ext>
            </a:extLst>
          </p:cNvPr>
          <p:cNvCxnSpPr>
            <a:cxnSpLocks/>
          </p:cNvCxnSpPr>
          <p:nvPr/>
        </p:nvCxnSpPr>
        <p:spPr>
          <a:xfrm flipV="1">
            <a:off x="1066800" y="2225899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F091A81-011D-5D28-9C3E-E3F654520AA4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5DA513-B309-8BF4-6DC0-D5F06CBA5FAA}"/>
              </a:ext>
            </a:extLst>
          </p:cNvPr>
          <p:cNvSpPr/>
          <p:nvPr/>
        </p:nvSpPr>
        <p:spPr>
          <a:xfrm>
            <a:off x="664464" y="1481848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4EF6C-CB2A-F85A-2D49-29DC8846E293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771EB2-A1EE-5831-B0C9-A7BD03C19CC9}"/>
              </a:ext>
            </a:extLst>
          </p:cNvPr>
          <p:cNvSpPr txBox="1"/>
          <p:nvPr/>
        </p:nvSpPr>
        <p:spPr>
          <a:xfrm>
            <a:off x="398347" y="2113736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A3D9A-DFBA-45D0-A9A2-1F7FC59D3E00}"/>
              </a:ext>
            </a:extLst>
          </p:cNvPr>
          <p:cNvSpPr txBox="1"/>
          <p:nvPr/>
        </p:nvSpPr>
        <p:spPr>
          <a:xfrm>
            <a:off x="4414256" y="584762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4894F7-E6DE-E9CF-81A1-F3690BEBB468}"/>
              </a:ext>
            </a:extLst>
          </p:cNvPr>
          <p:cNvSpPr txBox="1"/>
          <p:nvPr/>
        </p:nvSpPr>
        <p:spPr>
          <a:xfrm>
            <a:off x="4559592" y="2118122"/>
            <a:ext cx="1084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 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C34B36-0F5D-6E26-6473-6D6D26CD3924}"/>
              </a:ext>
            </a:extLst>
          </p:cNvPr>
          <p:cNvCxnSpPr>
            <a:cxnSpLocks/>
          </p:cNvCxnSpPr>
          <p:nvPr/>
        </p:nvCxnSpPr>
        <p:spPr>
          <a:xfrm>
            <a:off x="1414272" y="2225899"/>
            <a:ext cx="3785616" cy="32426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F3EA1E-0699-7CFF-F632-AAE4942E7FEA}"/>
              </a:ext>
            </a:extLst>
          </p:cNvPr>
          <p:cNvCxnSpPr>
            <a:cxnSpLocks/>
          </p:cNvCxnSpPr>
          <p:nvPr/>
        </p:nvCxnSpPr>
        <p:spPr>
          <a:xfrm flipV="1">
            <a:off x="1133288" y="1846833"/>
            <a:ext cx="2877695" cy="281616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7AF8A65-E2E3-8A26-96AE-D7717132C503}"/>
              </a:ext>
            </a:extLst>
          </p:cNvPr>
          <p:cNvSpPr txBox="1"/>
          <p:nvPr/>
        </p:nvSpPr>
        <p:spPr>
          <a:xfrm>
            <a:off x="6112026" y="1846833"/>
            <a:ext cx="66931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When supply shifts to the left, it raises the </a:t>
            </a:r>
            <a:br>
              <a:rPr lang="en-CA" dirty="0"/>
            </a:br>
            <a:r>
              <a:rPr lang="en-CA" dirty="0"/>
              <a:t>equilibrium market price and decreases quantity.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US" b="1" dirty="0"/>
              <a:t>Reasons Supply Can Shift Left (Decrease):</a:t>
            </a:r>
            <a:endParaRPr lang="en-US" dirty="0"/>
          </a:p>
          <a:p>
            <a:r>
              <a:rPr lang="en-US" dirty="0"/>
              <a:t>-Rise in production costs (e.g., higher wages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-Technological setbacks or production disruptions</a:t>
            </a:r>
          </a:p>
          <a:p>
            <a:r>
              <a:rPr lang="en-US" dirty="0"/>
              <a:t>-Withdrawal of subsidies</a:t>
            </a:r>
          </a:p>
          <a:p>
            <a:r>
              <a:rPr lang="en-US" dirty="0"/>
              <a:t>-Unfavorable weather or natural disasters</a:t>
            </a:r>
          </a:p>
          <a:p>
            <a:r>
              <a:rPr lang="en-US" dirty="0"/>
              <a:t>-Exit of firms from the market</a:t>
            </a:r>
          </a:p>
          <a:p>
            <a:r>
              <a:rPr lang="en-US" dirty="0"/>
              <a:t>-Expectations of higher future prices (holding back supply)</a:t>
            </a:r>
          </a:p>
          <a:p>
            <a:r>
              <a:rPr lang="en-US" dirty="0"/>
              <a:t>-Increase in taxes or stricter regulations</a:t>
            </a:r>
          </a:p>
          <a:p>
            <a:br>
              <a:rPr lang="en-CA" dirty="0"/>
            </a:br>
            <a:br>
              <a:rPr lang="en-CA" dirty="0"/>
            </a:br>
            <a:r>
              <a:rPr lang="en-CA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7299B-0E6F-E514-0DC6-E21316DC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Shifts in Supply: Decrease om Supply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7B59375-7B1B-2BDF-0FB4-B9335F351977}"/>
              </a:ext>
            </a:extLst>
          </p:cNvPr>
          <p:cNvSpPr/>
          <p:nvPr/>
        </p:nvSpPr>
        <p:spPr>
          <a:xfrm rot="10800000">
            <a:off x="3118294" y="2743861"/>
            <a:ext cx="523875" cy="353949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521547C-98CC-0D18-6D1C-8E9139F4399A}"/>
              </a:ext>
            </a:extLst>
          </p:cNvPr>
          <p:cNvSpPr/>
          <p:nvPr/>
        </p:nvSpPr>
        <p:spPr>
          <a:xfrm rot="10800000">
            <a:off x="2048260" y="3847228"/>
            <a:ext cx="523875" cy="353949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30F46A-76BC-CD4D-9161-ADA9AE7C6ECD}"/>
              </a:ext>
            </a:extLst>
          </p:cNvPr>
          <p:cNvSpPr txBox="1"/>
          <p:nvPr/>
        </p:nvSpPr>
        <p:spPr>
          <a:xfrm>
            <a:off x="4005730" y="1739056"/>
            <a:ext cx="1084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 1</a:t>
            </a:r>
          </a:p>
        </p:txBody>
      </p:sp>
    </p:spTree>
    <p:extLst>
      <p:ext uri="{BB962C8B-B14F-4D97-AF65-F5344CB8AC3E}">
        <p14:creationId xmlns:p14="http://schemas.microsoft.com/office/powerpoint/2010/main" val="1520950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ACBB7-A0C4-2DD6-DDAA-6539D3F5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5F3A-03EC-FEA6-0E55-BEE9483F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Applications of the Supply and Demand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94391-631D-43BA-EDF1-8BDECB0D2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Using Supply and Demand to Understand Stock Market Fluctuations</a:t>
            </a:r>
          </a:p>
        </p:txBody>
      </p:sp>
    </p:spTree>
    <p:extLst>
      <p:ext uri="{BB962C8B-B14F-4D97-AF65-F5344CB8AC3E}">
        <p14:creationId xmlns:p14="http://schemas.microsoft.com/office/powerpoint/2010/main" val="2710687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779C6-1A5D-EA6B-57F9-0423D23B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3DAB-42D1-025A-08A6-080E8A73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Some Stock Market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F3633-98C3-449F-547C-F8C45281D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714500"/>
            <a:ext cx="11451257" cy="403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70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EA8A-2FFB-BA29-65B3-4266E4A1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E035-DF53-EFDA-D53D-26A32E729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What is causing markets to move?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3B2A73-A8F9-85DA-E8C3-73A218547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722162"/>
              </p:ext>
            </p:extLst>
          </p:nvPr>
        </p:nvGraphicFramePr>
        <p:xfrm>
          <a:off x="1603375" y="2148416"/>
          <a:ext cx="893127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325">
                  <a:extLst>
                    <a:ext uri="{9D8B030D-6E8A-4147-A177-3AD203B41FA5}">
                      <a16:colId xmlns:a16="http://schemas.microsoft.com/office/drawing/2014/main" val="2861047526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3344557113"/>
                    </a:ext>
                  </a:extLst>
                </a:gridCol>
                <a:gridCol w="4591051">
                  <a:extLst>
                    <a:ext uri="{9D8B030D-6E8A-4147-A177-3AD203B41FA5}">
                      <a16:colId xmlns:a16="http://schemas.microsoft.com/office/drawing/2014/main" val="4018383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Change in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Change in Quantity (Volume)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What is Happening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6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Demand has increased </a:t>
                      </a:r>
                      <a:br>
                        <a:rPr lang="en-CA" dirty="0"/>
                      </a:br>
                      <a:r>
                        <a:rPr lang="en-CA" dirty="0"/>
                        <a:t>(Right shift in Demand curve)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941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Supply has decreased</a:t>
                      </a:r>
                      <a:br>
                        <a:rPr lang="en-CA" dirty="0"/>
                      </a:br>
                      <a:r>
                        <a:rPr lang="en-CA" dirty="0"/>
                        <a:t>(Left Shift in Supply Curve)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290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Supply has increased </a:t>
                      </a:r>
                      <a:br>
                        <a:rPr lang="en-CA" dirty="0"/>
                      </a:br>
                      <a:r>
                        <a:rPr lang="en-CA" dirty="0"/>
                        <a:t>(Right Shift in Supply curve)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852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Demand has Decreased</a:t>
                      </a:r>
                      <a:br>
                        <a:rPr lang="en-CA" dirty="0"/>
                      </a:br>
                      <a:r>
                        <a:rPr lang="en-CA" dirty="0"/>
                        <a:t>(Left shift in Demand Curve)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840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5804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7E788-A73C-D460-7603-79ACE6AD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64FB-4321-70D1-1498-FE18CC80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Observing Shifts in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065A6-1DF8-A44F-2B84-C48C142E5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1590675"/>
            <a:ext cx="11210951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27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47AC-D547-5931-417B-76E2B459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248A-757F-7F44-D648-2EE15ADE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Demand for Insurance and Some Consumer Theory for Risk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08F79-2169-BD0D-663E-79875EC73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An Overview</a:t>
            </a:r>
          </a:p>
        </p:txBody>
      </p:sp>
    </p:spTree>
    <p:extLst>
      <p:ext uri="{BB962C8B-B14F-4D97-AF65-F5344CB8AC3E}">
        <p14:creationId xmlns:p14="http://schemas.microsoft.com/office/powerpoint/2010/main" val="25017887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49CD-44A5-D19C-321E-93E7470F8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515112"/>
            <a:ext cx="10128250" cy="926592"/>
          </a:xfrm>
        </p:spPr>
        <p:txBody>
          <a:bodyPr/>
          <a:lstStyle/>
          <a:p>
            <a:r>
              <a:rPr lang="en-CA" sz="4800" dirty="0"/>
              <a:t>Why Insurance?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DBDD5-4DEA-FDEC-F660-C472D505E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704975"/>
            <a:ext cx="10433050" cy="417461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People buy insurance to protect themselves from the risk of financial losses.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These losses can be due to sudden changes in individual’s health, accidents or job loss.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/>
              <a:t>Insurance</a:t>
            </a:r>
            <a:r>
              <a:rPr lang="en-CA" dirty="0"/>
              <a:t> minimizes the loss associated with adverse events.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 demand for Insurance comes from the fact that people are </a:t>
            </a:r>
            <a:r>
              <a:rPr lang="en-CA" b="1" dirty="0"/>
              <a:t>Risk Adverse </a:t>
            </a:r>
            <a:r>
              <a:rPr lang="en-CA" dirty="0"/>
              <a:t>(meaning that they dislike risk and prefer certainty)</a:t>
            </a:r>
          </a:p>
        </p:txBody>
      </p:sp>
    </p:spTree>
    <p:extLst>
      <p:ext uri="{BB962C8B-B14F-4D97-AF65-F5344CB8AC3E}">
        <p14:creationId xmlns:p14="http://schemas.microsoft.com/office/powerpoint/2010/main" val="768438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FB2BE-070A-C2BA-3A7D-C2182E34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 6">
            <a:extLst>
              <a:ext uri="{FF2B5EF4-FFF2-40B4-BE49-F238E27FC236}">
                <a16:creationId xmlns:a16="http://schemas.microsoft.com/office/drawing/2014/main" id="{59B7DBCB-C62D-47EA-7A18-3B236B010CD9}"/>
              </a:ext>
            </a:extLst>
          </p:cNvPr>
          <p:cNvSpPr/>
          <p:nvPr/>
        </p:nvSpPr>
        <p:spPr>
          <a:xfrm>
            <a:off x="1075134" y="3037941"/>
            <a:ext cx="8871300" cy="5438954"/>
          </a:xfrm>
          <a:prstGeom prst="arc">
            <a:avLst>
              <a:gd name="adj1" fmla="val 10684101"/>
              <a:gd name="adj2" fmla="val 16185352"/>
            </a:avLst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167ECF-47E7-32E3-C75B-5FE5D306D112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7C8458-8480-2AB1-B47E-9611B4A1BA98}"/>
              </a:ext>
            </a:extLst>
          </p:cNvPr>
          <p:cNvSpPr/>
          <p:nvPr/>
        </p:nvSpPr>
        <p:spPr>
          <a:xfrm>
            <a:off x="664464" y="1481848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51A34-330C-8764-8B61-C4312C62ECAB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3DB0D-20CB-9005-5190-582027DFA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64083"/>
            <a:ext cx="11137899" cy="945642"/>
          </a:xfrm>
        </p:spPr>
        <p:txBody>
          <a:bodyPr/>
          <a:lstStyle/>
          <a:p>
            <a:r>
              <a:rPr lang="en-US" sz="4800" dirty="0"/>
              <a:t>How Risk Aversion Creates Insurance Demand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D8F7-80C9-1763-BCA1-4B4771BEC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9899" y="2066926"/>
            <a:ext cx="4095751" cy="3812666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Utility is defined as the satisfaction a consumer gets from consuming a good.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A key result in consumer theory is that consumers have a </a:t>
            </a:r>
            <a:r>
              <a:rPr lang="en-CA" b="1" dirty="0"/>
              <a:t>Diminishing Marginal Utility </a:t>
            </a:r>
            <a:r>
              <a:rPr lang="en-CA" dirty="0"/>
              <a:t>from consumption.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This means that the additional satisfaction a consumer gets from consuming more and more of a good is decreasing.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Graphically this implies that the total utility from consumption is a concave function.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5B6BF9-658C-3501-5115-12D80D4411BC}"/>
              </a:ext>
            </a:extLst>
          </p:cNvPr>
          <p:cNvSpPr txBox="1"/>
          <p:nvPr/>
        </p:nvSpPr>
        <p:spPr>
          <a:xfrm>
            <a:off x="4950805" y="5889181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45CE7A-4DF1-7603-C366-DD40D23CE3CB}"/>
              </a:ext>
            </a:extLst>
          </p:cNvPr>
          <p:cNvSpPr txBox="1"/>
          <p:nvPr/>
        </p:nvSpPr>
        <p:spPr>
          <a:xfrm>
            <a:off x="-301797" y="2008977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</p:spTree>
    <p:extLst>
      <p:ext uri="{BB962C8B-B14F-4D97-AF65-F5344CB8AC3E}">
        <p14:creationId xmlns:p14="http://schemas.microsoft.com/office/powerpoint/2010/main" val="2057253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92734-9861-C5A3-5317-28D39B28C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 6">
            <a:extLst>
              <a:ext uri="{FF2B5EF4-FFF2-40B4-BE49-F238E27FC236}">
                <a16:creationId xmlns:a16="http://schemas.microsoft.com/office/drawing/2014/main" id="{ED36ECC7-E8CD-6C46-D0C4-FA4D26A63256}"/>
              </a:ext>
            </a:extLst>
          </p:cNvPr>
          <p:cNvSpPr/>
          <p:nvPr/>
        </p:nvSpPr>
        <p:spPr>
          <a:xfrm>
            <a:off x="1075134" y="3037941"/>
            <a:ext cx="8871300" cy="5438954"/>
          </a:xfrm>
          <a:prstGeom prst="arc">
            <a:avLst>
              <a:gd name="adj1" fmla="val 10684101"/>
              <a:gd name="adj2" fmla="val 16185352"/>
            </a:avLst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91D4E7-4B98-DE71-FBAA-82D92E22FF1C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2BB56-E12C-2454-D44D-FE08538C764E}"/>
              </a:ext>
            </a:extLst>
          </p:cNvPr>
          <p:cNvSpPr/>
          <p:nvPr/>
        </p:nvSpPr>
        <p:spPr>
          <a:xfrm>
            <a:off x="664464" y="1481848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2E3577-7B4E-54F6-5080-8071D7423F53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1049-B935-6670-FB2C-A22D4AF9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64083"/>
            <a:ext cx="11137899" cy="945642"/>
          </a:xfrm>
        </p:spPr>
        <p:txBody>
          <a:bodyPr/>
          <a:lstStyle/>
          <a:p>
            <a:r>
              <a:rPr lang="en-US" sz="4800" dirty="0"/>
              <a:t>How Risk Aversion Creates Insurance Demand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D44CF-1FF7-1ADC-B1BF-D64E2BD2E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9899" y="2066926"/>
            <a:ext cx="4095751" cy="3812666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Consider two points on this curve A and 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Here A has a lower level of utility compared to B because less of A is consumed.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A consumer with these preferences get a higher utility from B compared to 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3E34AA-4162-A5C0-2930-0572B78B22B8}"/>
              </a:ext>
            </a:extLst>
          </p:cNvPr>
          <p:cNvSpPr txBox="1"/>
          <p:nvPr/>
        </p:nvSpPr>
        <p:spPr>
          <a:xfrm>
            <a:off x="4950805" y="5889181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20209-EEAF-C785-C17F-0C88A8D660BA}"/>
              </a:ext>
            </a:extLst>
          </p:cNvPr>
          <p:cNvSpPr txBox="1"/>
          <p:nvPr/>
        </p:nvSpPr>
        <p:spPr>
          <a:xfrm>
            <a:off x="-301797" y="2008977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CBC644-6788-C8B6-238C-4303776C28E6}"/>
              </a:ext>
            </a:extLst>
          </p:cNvPr>
          <p:cNvSpPr/>
          <p:nvPr/>
        </p:nvSpPr>
        <p:spPr>
          <a:xfrm>
            <a:off x="1653823" y="4238625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B593A2-AD1A-19AB-54D1-D2B1298375B6}"/>
              </a:ext>
            </a:extLst>
          </p:cNvPr>
          <p:cNvSpPr/>
          <p:nvPr/>
        </p:nvSpPr>
        <p:spPr>
          <a:xfrm>
            <a:off x="4307133" y="3037941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778BFB-E6AA-7B31-CD4F-9DBC50D0C0EE}"/>
              </a:ext>
            </a:extLst>
          </p:cNvPr>
          <p:cNvSpPr txBox="1"/>
          <p:nvPr/>
        </p:nvSpPr>
        <p:spPr>
          <a:xfrm>
            <a:off x="4101587" y="265530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78502B-0FC3-2AD3-1B37-D2BAEB8761A3}"/>
              </a:ext>
            </a:extLst>
          </p:cNvPr>
          <p:cNvSpPr txBox="1"/>
          <p:nvPr/>
        </p:nvSpPr>
        <p:spPr>
          <a:xfrm>
            <a:off x="1478935" y="385599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9A8671-785F-69E7-3DA8-54A734E45DAF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405646" y="3218916"/>
            <a:ext cx="0" cy="2660676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21EFBF-F12D-7F5C-AF24-7E45F4547E60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1728857" y="4419600"/>
            <a:ext cx="23479" cy="1459992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96DC58-910D-1CBB-CE7A-6236400677F3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066800" y="4329113"/>
            <a:ext cx="587023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671ABE-3489-0A4C-DF90-C9DCD7979F4D}"/>
              </a:ext>
            </a:extLst>
          </p:cNvPr>
          <p:cNvCxnSpPr>
            <a:cxnSpLocks/>
          </p:cNvCxnSpPr>
          <p:nvPr/>
        </p:nvCxnSpPr>
        <p:spPr>
          <a:xfrm flipH="1">
            <a:off x="1075134" y="3114141"/>
            <a:ext cx="3191723" cy="1428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2E57AE-3431-3702-56F4-35BFC8C1697E}"/>
                  </a:ext>
                </a:extLst>
              </p:cNvPr>
              <p:cNvSpPr txBox="1"/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2E57AE-3431-3702-56F4-35BFC8C16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blipFill>
                <a:blip r:embed="rId2"/>
                <a:stretch>
                  <a:fillRect r="-2222"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A371AF-B9D7-3B49-3CB1-9C8F6219C061}"/>
                  </a:ext>
                </a:extLst>
              </p:cNvPr>
              <p:cNvSpPr txBox="1"/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A371AF-B9D7-3B49-3CB1-9C8F6219C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blipFill>
                <a:blip r:embed="rId3"/>
                <a:stretch>
                  <a:fillRect r="-2222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EA09BF-02D5-17AC-AA28-AFF073F8A592}"/>
                  </a:ext>
                </a:extLst>
              </p:cNvPr>
              <p:cNvSpPr txBox="1"/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EA09BF-02D5-17AC-AA28-AFF073F8A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77EA5FF-0E9C-5BC0-DA41-942182AEA222}"/>
                  </a:ext>
                </a:extLst>
              </p:cNvPr>
              <p:cNvSpPr txBox="1"/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77EA5FF-0E9C-5BC0-DA41-942182AEA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638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99F5-9048-89A2-53BA-76EE0EC4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 6">
            <a:extLst>
              <a:ext uri="{FF2B5EF4-FFF2-40B4-BE49-F238E27FC236}">
                <a16:creationId xmlns:a16="http://schemas.microsoft.com/office/drawing/2014/main" id="{6A498A9A-AB52-D150-713D-C2D490E74687}"/>
              </a:ext>
            </a:extLst>
          </p:cNvPr>
          <p:cNvSpPr/>
          <p:nvPr/>
        </p:nvSpPr>
        <p:spPr>
          <a:xfrm>
            <a:off x="1075134" y="3037941"/>
            <a:ext cx="8871300" cy="5438954"/>
          </a:xfrm>
          <a:prstGeom prst="arc">
            <a:avLst>
              <a:gd name="adj1" fmla="val 10684101"/>
              <a:gd name="adj2" fmla="val 16185352"/>
            </a:avLst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22FA0-2CFA-E997-033F-FD92B040FCB3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E0EFCB-F097-14D8-13CF-6FDB1F7B0BFF}"/>
              </a:ext>
            </a:extLst>
          </p:cNvPr>
          <p:cNvSpPr/>
          <p:nvPr/>
        </p:nvSpPr>
        <p:spPr>
          <a:xfrm>
            <a:off x="664464" y="1481848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12ED17-D3A2-5BB0-5B48-E95BD4DBFC90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08756-5152-41ED-0C73-5BA55242C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64083"/>
            <a:ext cx="11137899" cy="945642"/>
          </a:xfrm>
        </p:spPr>
        <p:txBody>
          <a:bodyPr/>
          <a:lstStyle/>
          <a:p>
            <a:r>
              <a:rPr lang="en-US" sz="4800" dirty="0"/>
              <a:t>How Risk Aversion Creates Insurance Demand</a:t>
            </a:r>
            <a:endParaRPr lang="en-CA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BA691-92F2-0C88-12F9-00AC2746C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19899" y="2066926"/>
                <a:ext cx="4095751" cy="3812666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Suppose instead that consumers are offered a gamble where they have a 50-50 chance of getting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CA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CA" dirty="0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In this case we think of them consuming an average bundle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en-CA" dirty="0"/>
                  <a:t> and obtain utility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</m:d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BA691-92F2-0C88-12F9-00AC2746C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9899" y="2066926"/>
                <a:ext cx="4095751" cy="3812666"/>
              </a:xfrm>
              <a:blipFill>
                <a:blip r:embed="rId2"/>
                <a:stretch>
                  <a:fillRect l="-2083" t="-1278" r="-11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7B8B91B-A88A-722C-E172-C6832F5DB96C}"/>
              </a:ext>
            </a:extLst>
          </p:cNvPr>
          <p:cNvSpPr txBox="1"/>
          <p:nvPr/>
        </p:nvSpPr>
        <p:spPr>
          <a:xfrm>
            <a:off x="4950805" y="5889181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74BD4-CE17-1CFC-E711-5FFC754378EF}"/>
              </a:ext>
            </a:extLst>
          </p:cNvPr>
          <p:cNvSpPr txBox="1"/>
          <p:nvPr/>
        </p:nvSpPr>
        <p:spPr>
          <a:xfrm>
            <a:off x="-301797" y="2008977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68665C-987F-32EC-B2CA-9B59E885B97A}"/>
              </a:ext>
            </a:extLst>
          </p:cNvPr>
          <p:cNvSpPr/>
          <p:nvPr/>
        </p:nvSpPr>
        <p:spPr>
          <a:xfrm>
            <a:off x="1653823" y="4238625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C34F84E-6304-BC4B-8AC0-DF6867E85F0C}"/>
              </a:ext>
            </a:extLst>
          </p:cNvPr>
          <p:cNvSpPr/>
          <p:nvPr/>
        </p:nvSpPr>
        <p:spPr>
          <a:xfrm>
            <a:off x="4307133" y="3037941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C65D31-A5CE-6A28-5730-0516528BAC50}"/>
              </a:ext>
            </a:extLst>
          </p:cNvPr>
          <p:cNvSpPr txBox="1"/>
          <p:nvPr/>
        </p:nvSpPr>
        <p:spPr>
          <a:xfrm>
            <a:off x="4101587" y="265530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885A7D-A3E4-720E-9952-66776AE97B45}"/>
              </a:ext>
            </a:extLst>
          </p:cNvPr>
          <p:cNvSpPr txBox="1"/>
          <p:nvPr/>
        </p:nvSpPr>
        <p:spPr>
          <a:xfrm>
            <a:off x="1478935" y="385599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1C2EDF-11D3-C18F-DB98-22CE45E4769D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405646" y="3218916"/>
            <a:ext cx="0" cy="2660676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3C3501-CDD6-86F0-49A5-51A6BF3D2290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1728857" y="4419600"/>
            <a:ext cx="23479" cy="1459992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1B1FA1-359C-C61C-69B7-14AC75C2A3D6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066800" y="4329113"/>
            <a:ext cx="587023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DBE800-C8ED-1FC2-7518-10128CC42E81}"/>
              </a:ext>
            </a:extLst>
          </p:cNvPr>
          <p:cNvCxnSpPr>
            <a:cxnSpLocks/>
          </p:cNvCxnSpPr>
          <p:nvPr/>
        </p:nvCxnSpPr>
        <p:spPr>
          <a:xfrm flipH="1">
            <a:off x="1075134" y="3114141"/>
            <a:ext cx="3191723" cy="1428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B64776-9506-D312-DD1B-630D87EF7D19}"/>
                  </a:ext>
                </a:extLst>
              </p:cNvPr>
              <p:cNvSpPr txBox="1"/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B64776-9506-D312-DD1B-630D87EF7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blipFill>
                <a:blip r:embed="rId3"/>
                <a:stretch>
                  <a:fillRect r="-2222"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98F1F43-D376-0130-FE53-8B4A6A9A764D}"/>
                  </a:ext>
                </a:extLst>
              </p:cNvPr>
              <p:cNvSpPr txBox="1"/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98F1F43-D376-0130-FE53-8B4A6A9A7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blipFill>
                <a:blip r:embed="rId4"/>
                <a:stretch>
                  <a:fillRect r="-2222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9B925B-3E83-EFD2-6925-D0BE607BCADD}"/>
                  </a:ext>
                </a:extLst>
              </p:cNvPr>
              <p:cNvSpPr txBox="1"/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9B925B-3E83-EFD2-6925-D0BE607BC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57E80C0-1CA2-1AAD-ABCB-D4FCAE55384C}"/>
                  </a:ext>
                </a:extLst>
              </p:cNvPr>
              <p:cNvSpPr txBox="1"/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57E80C0-1CA2-1AAD-ABCB-D4FCAE553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B01CF2-9645-2808-2008-E25966EEC050}"/>
              </a:ext>
            </a:extLst>
          </p:cNvPr>
          <p:cNvCxnSpPr>
            <a:stCxn id="10" idx="6"/>
            <a:endCxn id="11" idx="3"/>
          </p:cNvCxnSpPr>
          <p:nvPr/>
        </p:nvCxnSpPr>
        <p:spPr>
          <a:xfrm flipV="1">
            <a:off x="1850849" y="3192413"/>
            <a:ext cx="2485138" cy="113670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9644CC5-B473-ED39-C26E-4FE6B25E70FB}"/>
              </a:ext>
            </a:extLst>
          </p:cNvPr>
          <p:cNvSpPr/>
          <p:nvPr/>
        </p:nvSpPr>
        <p:spPr>
          <a:xfrm>
            <a:off x="3020222" y="3670275"/>
            <a:ext cx="197026" cy="180975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97BD5C-4653-CA7C-4083-F74915E073EC}"/>
                  </a:ext>
                </a:extLst>
              </p:cNvPr>
              <p:cNvSpPr txBox="1"/>
              <p:nvPr/>
            </p:nvSpPr>
            <p:spPr>
              <a:xfrm>
                <a:off x="2917729" y="585374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97BD5C-4653-CA7C-4083-F74915E07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729" y="5853748"/>
                <a:ext cx="3513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5DEC76-1261-BFD3-DC99-ADAA65FB1F02}"/>
              </a:ext>
            </a:extLst>
          </p:cNvPr>
          <p:cNvCxnSpPr>
            <a:cxnSpLocks/>
            <a:stCxn id="16" idx="4"/>
            <a:endCxn id="18" idx="0"/>
          </p:cNvCxnSpPr>
          <p:nvPr/>
        </p:nvCxnSpPr>
        <p:spPr>
          <a:xfrm flipH="1">
            <a:off x="3093418" y="3851250"/>
            <a:ext cx="25317" cy="200249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6BE83F7-B03D-7232-7305-422272619736}"/>
              </a:ext>
            </a:extLst>
          </p:cNvPr>
          <p:cNvCxnSpPr>
            <a:cxnSpLocks/>
            <a:stCxn id="4" idx="1"/>
            <a:endCxn id="16" idx="2"/>
          </p:cNvCxnSpPr>
          <p:nvPr/>
        </p:nvCxnSpPr>
        <p:spPr>
          <a:xfrm flipV="1">
            <a:off x="1066800" y="3760763"/>
            <a:ext cx="1953422" cy="4815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3B8ECE-DB1D-4921-3423-0C5EA634BEE1}"/>
                  </a:ext>
                </a:extLst>
              </p:cNvPr>
              <p:cNvSpPr txBox="1"/>
              <p:nvPr/>
            </p:nvSpPr>
            <p:spPr>
              <a:xfrm>
                <a:off x="-479" y="3564327"/>
                <a:ext cx="115736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100" b="1" i="1" smtClean="0">
                          <a:latin typeface="Cambria Math" panose="02040503050406030204" pitchFamily="18" charset="0"/>
                        </a:rPr>
                        <m:t>𝐩𝐔</m:t>
                      </m:r>
                      <m:d>
                        <m:d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100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1100" b="1" i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CA" sz="1100" b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1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CA" sz="11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1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CA" sz="1100" b="1" i="1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CA" sz="1100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1" i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CA" sz="1100" b="1" i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en-CA" sz="11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11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3B8ECE-DB1D-4921-3423-0C5EA634B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" y="3564327"/>
                <a:ext cx="1157368" cy="430887"/>
              </a:xfrm>
              <a:prstGeom prst="rect">
                <a:avLst/>
              </a:prstGeom>
              <a:blipFill>
                <a:blip r:embed="rId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140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F25C4-6CEA-77D7-DFB6-55B61064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 6">
            <a:extLst>
              <a:ext uri="{FF2B5EF4-FFF2-40B4-BE49-F238E27FC236}">
                <a16:creationId xmlns:a16="http://schemas.microsoft.com/office/drawing/2014/main" id="{EDE07DD0-27E9-819C-0513-29DEAEB10934}"/>
              </a:ext>
            </a:extLst>
          </p:cNvPr>
          <p:cNvSpPr/>
          <p:nvPr/>
        </p:nvSpPr>
        <p:spPr>
          <a:xfrm>
            <a:off x="1075134" y="3037941"/>
            <a:ext cx="8871300" cy="5438954"/>
          </a:xfrm>
          <a:prstGeom prst="arc">
            <a:avLst>
              <a:gd name="adj1" fmla="val 10684101"/>
              <a:gd name="adj2" fmla="val 16185352"/>
            </a:avLst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21A87D-F6E7-28B8-996F-9FD8812F7D14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365A61-3F8D-0A2B-A6E4-E4101F7467D3}"/>
              </a:ext>
            </a:extLst>
          </p:cNvPr>
          <p:cNvSpPr/>
          <p:nvPr/>
        </p:nvSpPr>
        <p:spPr>
          <a:xfrm>
            <a:off x="664464" y="1481848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CB87FF-88D8-078A-1F99-BD41CE43E28D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D25DB-8364-01B1-B0D9-55543666A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64083"/>
            <a:ext cx="11137899" cy="945642"/>
          </a:xfrm>
        </p:spPr>
        <p:txBody>
          <a:bodyPr/>
          <a:lstStyle/>
          <a:p>
            <a:r>
              <a:rPr lang="en-US" sz="4800" dirty="0"/>
              <a:t>How Risk Aversion Creates Insurance Demand</a:t>
            </a:r>
            <a:endParaRPr lang="en-CA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1211E3-978D-5B7A-FC3F-2012CB32DE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19899" y="2066926"/>
                <a:ext cx="4095751" cy="3812666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This can be oriented for any probability. More generally we define:</a:t>
                </a:r>
                <a:br>
                  <a:rPr lang="en-CA" dirty="0"/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dirty="0" smtClean="0">
                            <a:latin typeface="Cambria Math" panose="02040503050406030204" pitchFamily="18" charset="0"/>
                          </a:rPr>
                          <m:t>px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b="0" i="0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0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CA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endParaRPr lang="en-CA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The </a:t>
                </a:r>
                <a:r>
                  <a:rPr lang="en-CA" dirty="0">
                    <a:solidFill>
                      <a:srgbClr val="C00000"/>
                    </a:solidFill>
                  </a:rPr>
                  <a:t>red dotted line </a:t>
                </a:r>
                <a:r>
                  <a:rPr lang="en-CA" dirty="0"/>
                  <a:t>tells us all possible gambles between these two outcomes as they depend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CA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1211E3-978D-5B7A-FC3F-2012CB32D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9899" y="2066926"/>
                <a:ext cx="4095751" cy="3812666"/>
              </a:xfrm>
              <a:blipFill>
                <a:blip r:embed="rId2"/>
                <a:stretch>
                  <a:fillRect l="-2083" t="-1278" r="-282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98752CC-2C3B-CC47-2F2B-4EA36D68F505}"/>
              </a:ext>
            </a:extLst>
          </p:cNvPr>
          <p:cNvSpPr txBox="1"/>
          <p:nvPr/>
        </p:nvSpPr>
        <p:spPr>
          <a:xfrm>
            <a:off x="4950805" y="5889181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C8B25-84D3-E1E3-D68C-6401D32CD34B}"/>
              </a:ext>
            </a:extLst>
          </p:cNvPr>
          <p:cNvSpPr txBox="1"/>
          <p:nvPr/>
        </p:nvSpPr>
        <p:spPr>
          <a:xfrm>
            <a:off x="-301797" y="2008977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655C79-2B8C-B8BE-A41D-30C4EEA2E0E7}"/>
              </a:ext>
            </a:extLst>
          </p:cNvPr>
          <p:cNvSpPr/>
          <p:nvPr/>
        </p:nvSpPr>
        <p:spPr>
          <a:xfrm>
            <a:off x="1653823" y="4238625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005260-8780-4AAE-437C-629273629E7A}"/>
              </a:ext>
            </a:extLst>
          </p:cNvPr>
          <p:cNvSpPr/>
          <p:nvPr/>
        </p:nvSpPr>
        <p:spPr>
          <a:xfrm>
            <a:off x="4307133" y="3037941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42857-A3FA-5C89-9DF5-66B60ACCCC3A}"/>
              </a:ext>
            </a:extLst>
          </p:cNvPr>
          <p:cNvSpPr txBox="1"/>
          <p:nvPr/>
        </p:nvSpPr>
        <p:spPr>
          <a:xfrm>
            <a:off x="4101587" y="265530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A57D2E-53C3-66CE-4A15-1F3FF1F80D24}"/>
              </a:ext>
            </a:extLst>
          </p:cNvPr>
          <p:cNvSpPr txBox="1"/>
          <p:nvPr/>
        </p:nvSpPr>
        <p:spPr>
          <a:xfrm>
            <a:off x="1478935" y="385599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418FA6-93B3-796D-6DBA-D2E4C7AB58B5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405646" y="3218916"/>
            <a:ext cx="0" cy="2660676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990921-1699-162B-45FE-EEF422979E2D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1728857" y="4419600"/>
            <a:ext cx="23479" cy="1459992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1717C3-C04D-442C-F962-6758DE739D33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066800" y="4329113"/>
            <a:ext cx="587023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AC5E64-AB0A-4DE3-8D33-1342DE6EE116}"/>
              </a:ext>
            </a:extLst>
          </p:cNvPr>
          <p:cNvCxnSpPr>
            <a:cxnSpLocks/>
          </p:cNvCxnSpPr>
          <p:nvPr/>
        </p:nvCxnSpPr>
        <p:spPr>
          <a:xfrm flipH="1">
            <a:off x="1075134" y="3114141"/>
            <a:ext cx="3191723" cy="1428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3365AF-4CD2-6C37-541B-D7FF4EAFAE67}"/>
                  </a:ext>
                </a:extLst>
              </p:cNvPr>
              <p:cNvSpPr txBox="1"/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3365AF-4CD2-6C37-541B-D7FF4EAFA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blipFill>
                <a:blip r:embed="rId3"/>
                <a:stretch>
                  <a:fillRect r="-2222"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40C073-F496-4ACC-E4B5-600D1A38F90E}"/>
                  </a:ext>
                </a:extLst>
              </p:cNvPr>
              <p:cNvSpPr txBox="1"/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40C073-F496-4ACC-E4B5-600D1A38F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blipFill>
                <a:blip r:embed="rId4"/>
                <a:stretch>
                  <a:fillRect r="-2222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5BA4AD5-3B18-34DB-52C2-EE30BD691C95}"/>
                  </a:ext>
                </a:extLst>
              </p:cNvPr>
              <p:cNvSpPr txBox="1"/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5BA4AD5-3B18-34DB-52C2-EE30BD691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9F569C6-3EFB-F899-7444-75613698005A}"/>
                  </a:ext>
                </a:extLst>
              </p:cNvPr>
              <p:cNvSpPr txBox="1"/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9F569C6-3EFB-F899-7444-756136980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A1CD3B-6B30-EEE7-AAB1-07005B578CC7}"/>
              </a:ext>
            </a:extLst>
          </p:cNvPr>
          <p:cNvCxnSpPr>
            <a:stCxn id="10" idx="6"/>
            <a:endCxn id="11" idx="3"/>
          </p:cNvCxnSpPr>
          <p:nvPr/>
        </p:nvCxnSpPr>
        <p:spPr>
          <a:xfrm flipV="1">
            <a:off x="1850849" y="3192413"/>
            <a:ext cx="2485138" cy="113670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46E48E9-87A3-2F27-C2E5-F3A20F26AE8C}"/>
              </a:ext>
            </a:extLst>
          </p:cNvPr>
          <p:cNvSpPr/>
          <p:nvPr/>
        </p:nvSpPr>
        <p:spPr>
          <a:xfrm>
            <a:off x="3020222" y="3670275"/>
            <a:ext cx="197026" cy="180975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BD3E14-CC1A-AB0E-2F79-FAED022D87E3}"/>
                  </a:ext>
                </a:extLst>
              </p:cNvPr>
              <p:cNvSpPr txBox="1"/>
              <p:nvPr/>
            </p:nvSpPr>
            <p:spPr>
              <a:xfrm>
                <a:off x="2917729" y="585374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BD3E14-CC1A-AB0E-2F79-FAED022D8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729" y="5853748"/>
                <a:ext cx="3513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3A8B54-F6EA-F1E2-07E8-B5A7A09831E8}"/>
              </a:ext>
            </a:extLst>
          </p:cNvPr>
          <p:cNvCxnSpPr>
            <a:cxnSpLocks/>
            <a:stCxn id="16" idx="4"/>
            <a:endCxn id="18" idx="0"/>
          </p:cNvCxnSpPr>
          <p:nvPr/>
        </p:nvCxnSpPr>
        <p:spPr>
          <a:xfrm flipH="1">
            <a:off x="3093418" y="3851250"/>
            <a:ext cx="25317" cy="200249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3273BA-CEA3-B218-2878-64543EEA1D13}"/>
              </a:ext>
            </a:extLst>
          </p:cNvPr>
          <p:cNvCxnSpPr>
            <a:cxnSpLocks/>
            <a:stCxn id="4" idx="1"/>
            <a:endCxn id="16" idx="2"/>
          </p:cNvCxnSpPr>
          <p:nvPr/>
        </p:nvCxnSpPr>
        <p:spPr>
          <a:xfrm flipV="1">
            <a:off x="1066800" y="3760763"/>
            <a:ext cx="1953422" cy="4815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3FA406-EC61-0B4E-6FB8-8F023D0349E0}"/>
                  </a:ext>
                </a:extLst>
              </p:cNvPr>
              <p:cNvSpPr txBox="1"/>
              <p:nvPr/>
            </p:nvSpPr>
            <p:spPr>
              <a:xfrm>
                <a:off x="-28720" y="3609771"/>
                <a:ext cx="115736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100" b="1" i="1" smtClean="0">
                          <a:latin typeface="Cambria Math" panose="02040503050406030204" pitchFamily="18" charset="0"/>
                        </a:rPr>
                        <m:t>𝐩𝐔</m:t>
                      </m:r>
                      <m:d>
                        <m:d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100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1100" b="1" i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CA" sz="1100" b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1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CA" sz="11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1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CA" sz="1100" b="1" i="1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CA" sz="1100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1" i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CA" sz="1100" b="1" i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en-CA" sz="11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11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3FA406-EC61-0B4E-6FB8-8F023D034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720" y="3609771"/>
                <a:ext cx="1157368" cy="430887"/>
              </a:xfrm>
              <a:prstGeom prst="rect">
                <a:avLst/>
              </a:prstGeom>
              <a:blipFill>
                <a:blip r:embed="rId8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761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98105-5F6C-6F30-F37F-9A3E0977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 6">
            <a:extLst>
              <a:ext uri="{FF2B5EF4-FFF2-40B4-BE49-F238E27FC236}">
                <a16:creationId xmlns:a16="http://schemas.microsoft.com/office/drawing/2014/main" id="{4ED7277B-1601-98F0-B62A-DED7116CE781}"/>
              </a:ext>
            </a:extLst>
          </p:cNvPr>
          <p:cNvSpPr/>
          <p:nvPr/>
        </p:nvSpPr>
        <p:spPr>
          <a:xfrm>
            <a:off x="1075134" y="3037941"/>
            <a:ext cx="8871300" cy="5438954"/>
          </a:xfrm>
          <a:prstGeom prst="arc">
            <a:avLst>
              <a:gd name="adj1" fmla="val 10684101"/>
              <a:gd name="adj2" fmla="val 16185352"/>
            </a:avLst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0D48F4-5B56-E408-646A-25B48E3263C4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A27123-1E84-1AAB-0B90-84C2EE8479D5}"/>
              </a:ext>
            </a:extLst>
          </p:cNvPr>
          <p:cNvSpPr/>
          <p:nvPr/>
        </p:nvSpPr>
        <p:spPr>
          <a:xfrm>
            <a:off x="664464" y="1481848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CE1180-6F3B-4D17-4B2E-DE8C790DC37F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08BD4-F754-1648-35C6-DE9561AA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64083"/>
            <a:ext cx="11137899" cy="945642"/>
          </a:xfrm>
        </p:spPr>
        <p:txBody>
          <a:bodyPr/>
          <a:lstStyle/>
          <a:p>
            <a:r>
              <a:rPr lang="en-US" sz="4800" dirty="0"/>
              <a:t>How Risk Aversion Creates Insurance Demand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3CFA2-93C5-D716-45B2-CDF997CB9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9899" y="2066926"/>
            <a:ext cx="4095751" cy="381266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What's noticed right away is that the level of utility had for any gamble will have a lower utility compared to a certain level of consumption.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5B2D2F-A1AE-6988-3941-DC35D1AE53EF}"/>
              </a:ext>
            </a:extLst>
          </p:cNvPr>
          <p:cNvSpPr txBox="1"/>
          <p:nvPr/>
        </p:nvSpPr>
        <p:spPr>
          <a:xfrm>
            <a:off x="4950805" y="5889181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489899-AED5-54A2-26DF-2372E6FD9A54}"/>
              </a:ext>
            </a:extLst>
          </p:cNvPr>
          <p:cNvSpPr txBox="1"/>
          <p:nvPr/>
        </p:nvSpPr>
        <p:spPr>
          <a:xfrm>
            <a:off x="-301797" y="2008977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AFDEB6-FACA-8544-44F1-C849E09447C8}"/>
              </a:ext>
            </a:extLst>
          </p:cNvPr>
          <p:cNvSpPr/>
          <p:nvPr/>
        </p:nvSpPr>
        <p:spPr>
          <a:xfrm>
            <a:off x="1653823" y="4238625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0F43A8-1EE0-971D-1946-E61B4B37D23F}"/>
              </a:ext>
            </a:extLst>
          </p:cNvPr>
          <p:cNvSpPr/>
          <p:nvPr/>
        </p:nvSpPr>
        <p:spPr>
          <a:xfrm>
            <a:off x="4307133" y="3037941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73740-528A-3FEA-22A0-C2F2F6D905B6}"/>
              </a:ext>
            </a:extLst>
          </p:cNvPr>
          <p:cNvSpPr txBox="1"/>
          <p:nvPr/>
        </p:nvSpPr>
        <p:spPr>
          <a:xfrm>
            <a:off x="4101587" y="265530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DA287D-1254-1180-7F9B-878FE5BC6893}"/>
              </a:ext>
            </a:extLst>
          </p:cNvPr>
          <p:cNvSpPr txBox="1"/>
          <p:nvPr/>
        </p:nvSpPr>
        <p:spPr>
          <a:xfrm>
            <a:off x="1478935" y="385599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F1655B-2C11-24A5-E6C5-E0A9FA4D65EB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405646" y="3218916"/>
            <a:ext cx="0" cy="2660676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A14E50-F884-FC85-B97B-0E1B910DA1B4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1728857" y="4419600"/>
            <a:ext cx="23479" cy="1459992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7DA11D-8CC6-7A85-4C8D-2F52B0EB278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066800" y="4329113"/>
            <a:ext cx="587023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B25519-26A5-8971-308A-B9A4F65636A1}"/>
              </a:ext>
            </a:extLst>
          </p:cNvPr>
          <p:cNvCxnSpPr>
            <a:cxnSpLocks/>
          </p:cNvCxnSpPr>
          <p:nvPr/>
        </p:nvCxnSpPr>
        <p:spPr>
          <a:xfrm flipH="1">
            <a:off x="1075134" y="3114141"/>
            <a:ext cx="3191723" cy="1428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29E74DA-A19C-1AF5-0106-2FB016CE8C49}"/>
                  </a:ext>
                </a:extLst>
              </p:cNvPr>
              <p:cNvSpPr txBox="1"/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29E74DA-A19C-1AF5-0106-2FB016CE8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blipFill>
                <a:blip r:embed="rId2"/>
                <a:stretch>
                  <a:fillRect r="-2222"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0716DB-8B61-33B6-F188-99A20A859B45}"/>
                  </a:ext>
                </a:extLst>
              </p:cNvPr>
              <p:cNvSpPr txBox="1"/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0716DB-8B61-33B6-F188-99A20A859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blipFill>
                <a:blip r:embed="rId3"/>
                <a:stretch>
                  <a:fillRect r="-2222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CF4491-45FA-9C8A-70F0-EA1A3F1867E2}"/>
                  </a:ext>
                </a:extLst>
              </p:cNvPr>
              <p:cNvSpPr txBox="1"/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CF4491-45FA-9C8A-70F0-EA1A3F186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F43159-AA5E-8CF3-EDFA-AF0AB970FB67}"/>
                  </a:ext>
                </a:extLst>
              </p:cNvPr>
              <p:cNvSpPr txBox="1"/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F43159-AA5E-8CF3-EDFA-AF0AB970F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706BF3-057A-377C-6CF0-594A189626CA}"/>
              </a:ext>
            </a:extLst>
          </p:cNvPr>
          <p:cNvCxnSpPr>
            <a:stCxn id="10" idx="6"/>
            <a:endCxn id="11" idx="3"/>
          </p:cNvCxnSpPr>
          <p:nvPr/>
        </p:nvCxnSpPr>
        <p:spPr>
          <a:xfrm flipV="1">
            <a:off x="1850849" y="3192413"/>
            <a:ext cx="2485138" cy="113670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BBD683B7-97F9-893A-FD8E-93B7C7151327}"/>
              </a:ext>
            </a:extLst>
          </p:cNvPr>
          <p:cNvSpPr/>
          <p:nvPr/>
        </p:nvSpPr>
        <p:spPr>
          <a:xfrm>
            <a:off x="3020222" y="3670275"/>
            <a:ext cx="197026" cy="180975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5B8419-701F-B174-976F-534F21102BE0}"/>
                  </a:ext>
                </a:extLst>
              </p:cNvPr>
              <p:cNvSpPr txBox="1"/>
              <p:nvPr/>
            </p:nvSpPr>
            <p:spPr>
              <a:xfrm>
                <a:off x="2917729" y="585374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5B8419-701F-B174-976F-534F21102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729" y="5853748"/>
                <a:ext cx="35137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F5C4F3-4662-AEAC-E9BC-C9803BD9B73B}"/>
              </a:ext>
            </a:extLst>
          </p:cNvPr>
          <p:cNvCxnSpPr>
            <a:cxnSpLocks/>
            <a:stCxn id="16" idx="4"/>
            <a:endCxn id="18" idx="0"/>
          </p:cNvCxnSpPr>
          <p:nvPr/>
        </p:nvCxnSpPr>
        <p:spPr>
          <a:xfrm flipH="1">
            <a:off x="3093418" y="3851250"/>
            <a:ext cx="25317" cy="200249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286B994-E594-28B3-2683-4CFC29EDAA64}"/>
              </a:ext>
            </a:extLst>
          </p:cNvPr>
          <p:cNvCxnSpPr>
            <a:cxnSpLocks/>
            <a:stCxn id="4" idx="1"/>
            <a:endCxn id="16" idx="2"/>
          </p:cNvCxnSpPr>
          <p:nvPr/>
        </p:nvCxnSpPr>
        <p:spPr>
          <a:xfrm flipV="1">
            <a:off x="1066800" y="3760763"/>
            <a:ext cx="1953422" cy="4815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D20196-E8DB-5165-C598-D6D76E364E54}"/>
                  </a:ext>
                </a:extLst>
              </p:cNvPr>
              <p:cNvSpPr txBox="1"/>
              <p:nvPr/>
            </p:nvSpPr>
            <p:spPr>
              <a:xfrm>
                <a:off x="-479" y="3564327"/>
                <a:ext cx="115736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100" b="1" i="1" smtClean="0">
                          <a:latin typeface="Cambria Math" panose="02040503050406030204" pitchFamily="18" charset="0"/>
                        </a:rPr>
                        <m:t>𝐩𝐔</m:t>
                      </m:r>
                      <m:d>
                        <m:d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100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1100" b="1" i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CA" sz="1100" b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1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CA" sz="11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1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CA" sz="1100" b="1" i="1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CA" sz="1100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1" i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CA" sz="1100" b="1" i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en-CA" sz="11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11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D20196-E8DB-5165-C598-D6D76E364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" y="3564327"/>
                <a:ext cx="1157368" cy="430887"/>
              </a:xfrm>
              <a:prstGeom prst="rect">
                <a:avLst/>
              </a:prstGeom>
              <a:blipFill>
                <a:blip r:embed="rId7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993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17345-2DE9-E8EB-0311-1CCAB120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 6">
            <a:extLst>
              <a:ext uri="{FF2B5EF4-FFF2-40B4-BE49-F238E27FC236}">
                <a16:creationId xmlns:a16="http://schemas.microsoft.com/office/drawing/2014/main" id="{442081DC-C3D1-D133-A522-90E81E3D1A10}"/>
              </a:ext>
            </a:extLst>
          </p:cNvPr>
          <p:cNvSpPr/>
          <p:nvPr/>
        </p:nvSpPr>
        <p:spPr>
          <a:xfrm>
            <a:off x="1075134" y="3037941"/>
            <a:ext cx="8871300" cy="5438954"/>
          </a:xfrm>
          <a:prstGeom prst="arc">
            <a:avLst>
              <a:gd name="adj1" fmla="val 10684101"/>
              <a:gd name="adj2" fmla="val 16185352"/>
            </a:avLst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058964-149A-CE8F-7790-9F9A9AA6164B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A52548-D6ED-6330-0C4E-5FD849FCE3C8}"/>
              </a:ext>
            </a:extLst>
          </p:cNvPr>
          <p:cNvSpPr/>
          <p:nvPr/>
        </p:nvSpPr>
        <p:spPr>
          <a:xfrm>
            <a:off x="664464" y="1481848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6FADCC-7397-584E-C2DE-63E85747C132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FACBC-74FD-B48B-07B6-3F41698C8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64083"/>
            <a:ext cx="11137899" cy="945642"/>
          </a:xfrm>
        </p:spPr>
        <p:txBody>
          <a:bodyPr/>
          <a:lstStyle/>
          <a:p>
            <a:r>
              <a:rPr lang="en-US" sz="4800" dirty="0"/>
              <a:t>How Risk Aversion Creates Insurance Demand</a:t>
            </a:r>
            <a:endParaRPr lang="en-CA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156410-73B7-8E21-01B5-C0BF16EE7B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19899" y="2066926"/>
                <a:ext cx="4600576" cy="3886240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What is seen here is that consumers can be provided with less of a good and still obtain the same level of utility as the gamble.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CE</m:t>
                        </m:r>
                      </m:sub>
                    </m:sSub>
                  </m:oMath>
                </a14:m>
                <a:r>
                  <a:rPr lang="en-CA" dirty="0"/>
                  <a:t> is the “</a:t>
                </a:r>
                <a:r>
                  <a:rPr lang="en-CA" b="1" dirty="0"/>
                  <a:t>certainty equivalent</a:t>
                </a:r>
                <a:r>
                  <a:rPr lang="en-CA" dirty="0"/>
                  <a:t>” amount of  good X where consumers are indifferent between the gamble and consuming that bundle directly.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Mathematically the </a:t>
                </a:r>
                <a:r>
                  <a:rPr lang="en-CA" dirty="0" err="1"/>
                  <a:t>certianty</a:t>
                </a:r>
                <a:r>
                  <a:rPr lang="en-CA" dirty="0"/>
                  <a:t> equivalent is one where: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CE</m:t>
                            </m:r>
                          </m:sub>
                        </m:sSub>
                      </m:e>
                    </m:d>
                    <m:r>
                      <a:rPr lang="en-CA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pU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e>
                    </m:d>
                    <m:r>
                      <a:rPr lang="en-CA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CA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156410-73B7-8E21-01B5-C0BF16EE7B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9899" y="2066926"/>
                <a:ext cx="4600576" cy="3886240"/>
              </a:xfrm>
              <a:blipFill>
                <a:blip r:embed="rId2"/>
                <a:stretch>
                  <a:fillRect l="-1592" t="-2821" r="-928" b="-78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1063DC1-A489-6B9C-F844-6FCA2E7A7BDF}"/>
              </a:ext>
            </a:extLst>
          </p:cNvPr>
          <p:cNvSpPr txBox="1"/>
          <p:nvPr/>
        </p:nvSpPr>
        <p:spPr>
          <a:xfrm>
            <a:off x="4950805" y="5889181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0251D4-CDCE-9182-BCED-6E9AF585EB82}"/>
              </a:ext>
            </a:extLst>
          </p:cNvPr>
          <p:cNvSpPr txBox="1"/>
          <p:nvPr/>
        </p:nvSpPr>
        <p:spPr>
          <a:xfrm>
            <a:off x="-301797" y="2008977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248D34-B33A-C285-E903-AA35BF0B8F7C}"/>
              </a:ext>
            </a:extLst>
          </p:cNvPr>
          <p:cNvSpPr/>
          <p:nvPr/>
        </p:nvSpPr>
        <p:spPr>
          <a:xfrm>
            <a:off x="1653823" y="4238625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21D666B-5D0E-4232-B8FC-D5C6E5F9B3C8}"/>
              </a:ext>
            </a:extLst>
          </p:cNvPr>
          <p:cNvSpPr/>
          <p:nvPr/>
        </p:nvSpPr>
        <p:spPr>
          <a:xfrm>
            <a:off x="4307133" y="3037941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F8F3D2-AB83-66C0-6840-4FBD094AF88A}"/>
              </a:ext>
            </a:extLst>
          </p:cNvPr>
          <p:cNvSpPr txBox="1"/>
          <p:nvPr/>
        </p:nvSpPr>
        <p:spPr>
          <a:xfrm>
            <a:off x="4101587" y="265530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70B183-790B-2DAE-1611-AC6C25AA841A}"/>
              </a:ext>
            </a:extLst>
          </p:cNvPr>
          <p:cNvSpPr txBox="1"/>
          <p:nvPr/>
        </p:nvSpPr>
        <p:spPr>
          <a:xfrm>
            <a:off x="1478935" y="385599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FD13C76-C024-553D-A4B9-60270BDF7DFD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405646" y="3218916"/>
            <a:ext cx="0" cy="2660676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5319A8-F77E-B3A9-A279-CF6B316F094A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1728857" y="4419600"/>
            <a:ext cx="23479" cy="1459992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B433B7-DC35-F5A0-B3EE-98212DF920B5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066800" y="4329113"/>
            <a:ext cx="587023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665A297-477F-B97D-21F1-C0F84BC802CA}"/>
              </a:ext>
            </a:extLst>
          </p:cNvPr>
          <p:cNvCxnSpPr>
            <a:cxnSpLocks/>
          </p:cNvCxnSpPr>
          <p:nvPr/>
        </p:nvCxnSpPr>
        <p:spPr>
          <a:xfrm flipH="1">
            <a:off x="1075134" y="3114141"/>
            <a:ext cx="3191723" cy="1428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0BDB70-1EC7-0C24-A09C-C3124F222E8D}"/>
                  </a:ext>
                </a:extLst>
              </p:cNvPr>
              <p:cNvSpPr txBox="1"/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0BDB70-1EC7-0C24-A09C-C3124F222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blipFill>
                <a:blip r:embed="rId3"/>
                <a:stretch>
                  <a:fillRect r="-2222"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672FB5-824C-294E-F1B2-976E44174616}"/>
                  </a:ext>
                </a:extLst>
              </p:cNvPr>
              <p:cNvSpPr txBox="1"/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672FB5-824C-294E-F1B2-976E44174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blipFill>
                <a:blip r:embed="rId4"/>
                <a:stretch>
                  <a:fillRect r="-2222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A92912-5C4D-DB70-4AFB-C47BD7ED2A6A}"/>
                  </a:ext>
                </a:extLst>
              </p:cNvPr>
              <p:cNvSpPr txBox="1"/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A92912-5C4D-DB70-4AFB-C47BD7ED2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5173C6-1A4D-2624-327F-BB7DA2C08147}"/>
                  </a:ext>
                </a:extLst>
              </p:cNvPr>
              <p:cNvSpPr txBox="1"/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5173C6-1A4D-2624-327F-BB7DA2C08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57B87F-990E-663A-B44A-3AD236CF6A47}"/>
              </a:ext>
            </a:extLst>
          </p:cNvPr>
          <p:cNvCxnSpPr>
            <a:stCxn id="10" idx="6"/>
            <a:endCxn id="11" idx="3"/>
          </p:cNvCxnSpPr>
          <p:nvPr/>
        </p:nvCxnSpPr>
        <p:spPr>
          <a:xfrm flipV="1">
            <a:off x="1850849" y="3192413"/>
            <a:ext cx="2485138" cy="113670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D237DC8C-E5F4-E461-5C6A-70B774441D78}"/>
              </a:ext>
            </a:extLst>
          </p:cNvPr>
          <p:cNvSpPr/>
          <p:nvPr/>
        </p:nvSpPr>
        <p:spPr>
          <a:xfrm>
            <a:off x="3020222" y="3670275"/>
            <a:ext cx="197026" cy="180975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14C608-F3C5-9019-1084-6023C6F74FC3}"/>
                  </a:ext>
                </a:extLst>
              </p:cNvPr>
              <p:cNvSpPr txBox="1"/>
              <p:nvPr/>
            </p:nvSpPr>
            <p:spPr>
              <a:xfrm>
                <a:off x="2917729" y="585374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14C608-F3C5-9019-1084-6023C6F74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729" y="5853748"/>
                <a:ext cx="3513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D4D3D0-845E-1055-4D47-564D1B8BCE15}"/>
              </a:ext>
            </a:extLst>
          </p:cNvPr>
          <p:cNvCxnSpPr>
            <a:cxnSpLocks/>
            <a:stCxn id="16" idx="4"/>
            <a:endCxn id="18" idx="0"/>
          </p:cNvCxnSpPr>
          <p:nvPr/>
        </p:nvCxnSpPr>
        <p:spPr>
          <a:xfrm flipH="1">
            <a:off x="3093418" y="3851250"/>
            <a:ext cx="25317" cy="200249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C2795C-4E0C-25E2-F2A8-5854C41EC04A}"/>
              </a:ext>
            </a:extLst>
          </p:cNvPr>
          <p:cNvCxnSpPr>
            <a:cxnSpLocks/>
            <a:stCxn id="4" idx="1"/>
            <a:endCxn id="16" idx="2"/>
          </p:cNvCxnSpPr>
          <p:nvPr/>
        </p:nvCxnSpPr>
        <p:spPr>
          <a:xfrm flipV="1">
            <a:off x="1066800" y="3760763"/>
            <a:ext cx="1953422" cy="4815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5FF768-1EFB-0C0B-21D7-CCB156CE7DA3}"/>
                  </a:ext>
                </a:extLst>
              </p:cNvPr>
              <p:cNvSpPr txBox="1"/>
              <p:nvPr/>
            </p:nvSpPr>
            <p:spPr>
              <a:xfrm>
                <a:off x="-479" y="3564327"/>
                <a:ext cx="115736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100" b="1" i="1" smtClean="0">
                          <a:latin typeface="Cambria Math" panose="02040503050406030204" pitchFamily="18" charset="0"/>
                        </a:rPr>
                        <m:t>𝐩𝐔</m:t>
                      </m:r>
                      <m:d>
                        <m:d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100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1100" b="1" i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CA" sz="1100" b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1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CA" sz="11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1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CA" sz="1100" b="1" i="1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CA" sz="1100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1" i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CA" sz="1100" b="1" i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en-CA" sz="11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1100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5FF768-1EFB-0C0B-21D7-CCB156CE7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" y="3564327"/>
                <a:ext cx="1157368" cy="430887"/>
              </a:xfrm>
              <a:prstGeom prst="rect">
                <a:avLst/>
              </a:prstGeom>
              <a:blipFill>
                <a:blip r:embed="rId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6B52E4-F099-7C19-3959-73E40D8A6983}"/>
              </a:ext>
            </a:extLst>
          </p:cNvPr>
          <p:cNvCxnSpPr>
            <a:cxnSpLocks/>
          </p:cNvCxnSpPr>
          <p:nvPr/>
        </p:nvCxnSpPr>
        <p:spPr>
          <a:xfrm flipH="1">
            <a:off x="2348303" y="3784842"/>
            <a:ext cx="36504" cy="2168324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8637DA1-75DE-9787-8192-EF4AEA5E33F6}"/>
              </a:ext>
            </a:extLst>
          </p:cNvPr>
          <p:cNvSpPr/>
          <p:nvPr/>
        </p:nvSpPr>
        <p:spPr>
          <a:xfrm>
            <a:off x="2289567" y="3682315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71601C-814C-B5EB-C89A-65E0793410FF}"/>
                  </a:ext>
                </a:extLst>
              </p:cNvPr>
              <p:cNvSpPr txBox="1"/>
              <p:nvPr/>
            </p:nvSpPr>
            <p:spPr>
              <a:xfrm>
                <a:off x="2153296" y="5861352"/>
                <a:ext cx="5786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CE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71601C-814C-B5EB-C89A-65E079341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96" y="5861352"/>
                <a:ext cx="578620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6013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3E0E-ADFD-0958-11E4-4E75FD4F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408AB-0035-6DDA-2816-910C16D40D1F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093418" y="3508895"/>
            <a:ext cx="0" cy="2344853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c 6">
            <a:extLst>
              <a:ext uri="{FF2B5EF4-FFF2-40B4-BE49-F238E27FC236}">
                <a16:creationId xmlns:a16="http://schemas.microsoft.com/office/drawing/2014/main" id="{F18D5181-F143-6E56-102C-ED82C7688870}"/>
              </a:ext>
            </a:extLst>
          </p:cNvPr>
          <p:cNvSpPr/>
          <p:nvPr/>
        </p:nvSpPr>
        <p:spPr>
          <a:xfrm>
            <a:off x="1075134" y="3037941"/>
            <a:ext cx="8871300" cy="5438954"/>
          </a:xfrm>
          <a:prstGeom prst="arc">
            <a:avLst>
              <a:gd name="adj1" fmla="val 10684101"/>
              <a:gd name="adj2" fmla="val 16185352"/>
            </a:avLst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26D4F5-1B85-C32F-9432-5D98C72BFE01}"/>
              </a:ext>
            </a:extLst>
          </p:cNvPr>
          <p:cNvSpPr/>
          <p:nvPr/>
        </p:nvSpPr>
        <p:spPr>
          <a:xfrm>
            <a:off x="1066800" y="1728661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72D6C8-C526-869F-7769-54A84F4B8657}"/>
              </a:ext>
            </a:extLst>
          </p:cNvPr>
          <p:cNvSpPr/>
          <p:nvPr/>
        </p:nvSpPr>
        <p:spPr>
          <a:xfrm>
            <a:off x="664464" y="1481848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68B4BD-D877-E371-4672-E75D846B48DA}"/>
              </a:ext>
            </a:extLst>
          </p:cNvPr>
          <p:cNvSpPr/>
          <p:nvPr/>
        </p:nvSpPr>
        <p:spPr>
          <a:xfrm rot="5400000">
            <a:off x="2975038" y="3324130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C42BD-2F3E-2EC0-F564-62ECA6A2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64083"/>
            <a:ext cx="11137899" cy="945642"/>
          </a:xfrm>
        </p:spPr>
        <p:txBody>
          <a:bodyPr/>
          <a:lstStyle/>
          <a:p>
            <a:r>
              <a:rPr lang="en-US" sz="4800" dirty="0"/>
              <a:t>How Risk Aversion Creates Insurance Demand</a:t>
            </a:r>
            <a:endParaRPr lang="en-CA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8F44FE-BA08-D416-F8EF-3056E0007E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22159" y="2066926"/>
                <a:ext cx="5098316" cy="3886240"/>
              </a:xfrm>
            </p:spPr>
            <p:txBody>
              <a:bodyPr>
                <a:normAutofit fontScale="92500" lnSpcReduction="10000"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Risk aversion is detectable when: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U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e>
                    </m:d>
                    <m:r>
                      <a:rPr lang="en-CA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pU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e>
                    </m:d>
                    <m:r>
                      <a:rPr lang="en-CA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e>
                    </m:d>
                  </m:oMath>
                </a14:m>
                <a:br>
                  <a:rPr lang="en-CA" dirty="0"/>
                </a:br>
                <a:br>
                  <a:rPr lang="en-CA" dirty="0"/>
                </a:br>
                <a:r>
                  <a:rPr lang="en-CA" dirty="0"/>
                  <a:t>or where</a:t>
                </a:r>
                <a:br>
                  <a:rPr lang="en-CA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CE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̅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br>
                  <a:rPr lang="en-CA" dirty="0"/>
                </a:br>
                <a:endParaRPr lang="en-CA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In plain English this is where the utility from a certain outcome is higher than its </a:t>
                </a:r>
                <a:r>
                  <a:rPr lang="en-CA" b="1" dirty="0"/>
                  <a:t>Expected Utility</a:t>
                </a:r>
                <a:r>
                  <a:rPr lang="en-CA" dirty="0"/>
                  <a:t> as defined by the probability weighted average </a:t>
                </a:r>
                <a:r>
                  <a:rPr lang="en-CA" b="1" dirty="0"/>
                  <a:t>OR</a:t>
                </a:r>
                <a:r>
                  <a:rPr lang="en-CA" dirty="0"/>
                  <a:t> when the certainty equivalent is less than the expected average outcome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8F44FE-BA08-D416-F8EF-3056E0007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22159" y="2066926"/>
                <a:ext cx="5098316" cy="3886240"/>
              </a:xfrm>
              <a:blipFill>
                <a:blip r:embed="rId2"/>
                <a:stretch>
                  <a:fillRect l="-1316" t="-2038" b="-18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3E529E7-9B9E-A19E-4705-E09BC5D54DB8}"/>
              </a:ext>
            </a:extLst>
          </p:cNvPr>
          <p:cNvSpPr txBox="1"/>
          <p:nvPr/>
        </p:nvSpPr>
        <p:spPr>
          <a:xfrm>
            <a:off x="4950805" y="5889181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E2C33-FF91-3BE7-B2EC-60E4F2AF6041}"/>
              </a:ext>
            </a:extLst>
          </p:cNvPr>
          <p:cNvSpPr txBox="1"/>
          <p:nvPr/>
        </p:nvSpPr>
        <p:spPr>
          <a:xfrm>
            <a:off x="-301797" y="2008977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55B25F2-57C7-42A5-16C5-FC92B7DD8230}"/>
              </a:ext>
            </a:extLst>
          </p:cNvPr>
          <p:cNvSpPr/>
          <p:nvPr/>
        </p:nvSpPr>
        <p:spPr>
          <a:xfrm>
            <a:off x="1653823" y="4238625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78FFF1-C9EF-2120-07E5-903B71160050}"/>
              </a:ext>
            </a:extLst>
          </p:cNvPr>
          <p:cNvSpPr/>
          <p:nvPr/>
        </p:nvSpPr>
        <p:spPr>
          <a:xfrm>
            <a:off x="4307133" y="3037941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1CF9C9-825D-840E-8F11-01B652FF52C6}"/>
              </a:ext>
            </a:extLst>
          </p:cNvPr>
          <p:cNvSpPr txBox="1"/>
          <p:nvPr/>
        </p:nvSpPr>
        <p:spPr>
          <a:xfrm>
            <a:off x="4101587" y="265530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74CFFD-44EC-E4BB-97EB-ED440A16AC94}"/>
              </a:ext>
            </a:extLst>
          </p:cNvPr>
          <p:cNvSpPr txBox="1"/>
          <p:nvPr/>
        </p:nvSpPr>
        <p:spPr>
          <a:xfrm>
            <a:off x="1478935" y="385599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83AA91-B546-739F-E17D-537D76B10123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405646" y="3218916"/>
            <a:ext cx="0" cy="2660676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3763EC-00A5-07AC-A48E-959C68467F04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1728857" y="4419600"/>
            <a:ext cx="23479" cy="1459992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8CC6E8-2E2D-A579-2C7C-0428EBE8B56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066800" y="4329113"/>
            <a:ext cx="587023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12AA1B-BF2D-7CA7-0513-20CDBEB3C452}"/>
              </a:ext>
            </a:extLst>
          </p:cNvPr>
          <p:cNvCxnSpPr>
            <a:cxnSpLocks/>
          </p:cNvCxnSpPr>
          <p:nvPr/>
        </p:nvCxnSpPr>
        <p:spPr>
          <a:xfrm flipH="1">
            <a:off x="1075134" y="3114141"/>
            <a:ext cx="3191723" cy="1428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82D826-6041-BCF3-FD57-6126C41DA19E}"/>
                  </a:ext>
                </a:extLst>
              </p:cNvPr>
              <p:cNvSpPr txBox="1"/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0BDB70-1EC7-0C24-A09C-C3124F222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33" y="2945089"/>
                <a:ext cx="822276" cy="369332"/>
              </a:xfrm>
              <a:prstGeom prst="rect">
                <a:avLst/>
              </a:prstGeom>
              <a:blipFill>
                <a:blip r:embed="rId3"/>
                <a:stretch>
                  <a:fillRect r="-2222"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FA28826-3994-44E0-EA6A-BDB2B89D144F}"/>
                  </a:ext>
                </a:extLst>
              </p:cNvPr>
              <p:cNvSpPr txBox="1"/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672FB5-824C-294E-F1B2-976E44174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83" y="4083524"/>
                <a:ext cx="823880" cy="369332"/>
              </a:xfrm>
              <a:prstGeom prst="rect">
                <a:avLst/>
              </a:prstGeom>
              <a:blipFill>
                <a:blip r:embed="rId4"/>
                <a:stretch>
                  <a:fillRect r="-2222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20F052-32E0-DB1C-6F45-FD70396BFC25}"/>
                  </a:ext>
                </a:extLst>
              </p:cNvPr>
              <p:cNvSpPr txBox="1"/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A92912-5C4D-DB70-4AFB-C47BD7ED2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410" y="5853748"/>
                <a:ext cx="482440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C36351-2508-EAA6-F5AC-B3C7024BA77A}"/>
                  </a:ext>
                </a:extLst>
              </p:cNvPr>
              <p:cNvSpPr txBox="1"/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5173C6-1A4D-2624-327F-BB7DA2C08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594" y="5853748"/>
                <a:ext cx="507693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DC39AE-C94E-DD32-DA5C-929A032D04C6}"/>
              </a:ext>
            </a:extLst>
          </p:cNvPr>
          <p:cNvCxnSpPr>
            <a:stCxn id="10" idx="6"/>
            <a:endCxn id="11" idx="3"/>
          </p:cNvCxnSpPr>
          <p:nvPr/>
        </p:nvCxnSpPr>
        <p:spPr>
          <a:xfrm flipV="1">
            <a:off x="1850849" y="3192413"/>
            <a:ext cx="2485138" cy="113670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39F7903-C329-3E6B-BC23-2E748FE427AE}"/>
              </a:ext>
            </a:extLst>
          </p:cNvPr>
          <p:cNvSpPr/>
          <p:nvPr/>
        </p:nvSpPr>
        <p:spPr>
          <a:xfrm>
            <a:off x="3020222" y="3670275"/>
            <a:ext cx="197026" cy="180975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B603B9-E939-AC79-84C9-4E1928D7BC84}"/>
                  </a:ext>
                </a:extLst>
              </p:cNvPr>
              <p:cNvSpPr txBox="1"/>
              <p:nvPr/>
            </p:nvSpPr>
            <p:spPr>
              <a:xfrm>
                <a:off x="2917729" y="585374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B603B9-E939-AC79-84C9-4E1928D7B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729" y="5853748"/>
                <a:ext cx="3513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AEF3C2-D064-142D-81CC-8F0E3A114166}"/>
              </a:ext>
            </a:extLst>
          </p:cNvPr>
          <p:cNvCxnSpPr>
            <a:cxnSpLocks/>
            <a:stCxn id="16" idx="4"/>
            <a:endCxn id="18" idx="0"/>
          </p:cNvCxnSpPr>
          <p:nvPr/>
        </p:nvCxnSpPr>
        <p:spPr>
          <a:xfrm flipH="1">
            <a:off x="3093418" y="3851250"/>
            <a:ext cx="25317" cy="200249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CAF549B-4250-C24D-2E79-2618DFA439FC}"/>
              </a:ext>
            </a:extLst>
          </p:cNvPr>
          <p:cNvCxnSpPr>
            <a:cxnSpLocks/>
            <a:stCxn id="4" idx="1"/>
            <a:endCxn id="16" idx="2"/>
          </p:cNvCxnSpPr>
          <p:nvPr/>
        </p:nvCxnSpPr>
        <p:spPr>
          <a:xfrm flipV="1">
            <a:off x="1066800" y="3760763"/>
            <a:ext cx="1953422" cy="4815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787F30-344A-8773-765B-87A31DBD45E8}"/>
                  </a:ext>
                </a:extLst>
              </p:cNvPr>
              <p:cNvSpPr txBox="1"/>
              <p:nvPr/>
            </p:nvSpPr>
            <p:spPr>
              <a:xfrm>
                <a:off x="3047260" y="5858987"/>
                <a:ext cx="7084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787F30-344A-8773-765B-87A31DBD4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260" y="5858987"/>
                <a:ext cx="708464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6A21AC9-A22D-9992-24C3-62E4306DDB08}"/>
                  </a:ext>
                </a:extLst>
              </p:cNvPr>
              <p:cNvSpPr txBox="1"/>
              <p:nvPr/>
            </p:nvSpPr>
            <p:spPr>
              <a:xfrm>
                <a:off x="325881" y="3273268"/>
                <a:ext cx="8126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6A21AC9-A22D-9992-24C3-62E4306DD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81" y="3273268"/>
                <a:ext cx="812658" cy="369332"/>
              </a:xfrm>
              <a:prstGeom prst="rect">
                <a:avLst/>
              </a:prstGeom>
              <a:blipFill>
                <a:blip r:embed="rId9"/>
                <a:stretch>
                  <a:fillRect r="-1493" b="-147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CB0846-C096-2776-7355-DC59A5BAEBD3}"/>
              </a:ext>
            </a:extLst>
          </p:cNvPr>
          <p:cNvCxnSpPr>
            <a:cxnSpLocks/>
          </p:cNvCxnSpPr>
          <p:nvPr/>
        </p:nvCxnSpPr>
        <p:spPr>
          <a:xfrm flipV="1">
            <a:off x="1124363" y="3484816"/>
            <a:ext cx="1953422" cy="4815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0E72272-1929-EB66-7BF3-ABBB37169393}"/>
              </a:ext>
            </a:extLst>
          </p:cNvPr>
          <p:cNvSpPr/>
          <p:nvPr/>
        </p:nvSpPr>
        <p:spPr>
          <a:xfrm>
            <a:off x="2994905" y="3367446"/>
            <a:ext cx="197026" cy="180975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7EA4D76-498F-E10F-2EC2-F0C970C8C6FE}"/>
                  </a:ext>
                </a:extLst>
              </p:cNvPr>
              <p:cNvSpPr txBox="1"/>
              <p:nvPr/>
            </p:nvSpPr>
            <p:spPr>
              <a:xfrm>
                <a:off x="0" y="3640074"/>
                <a:ext cx="115736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100" b="1" i="1" smtClean="0">
                          <a:latin typeface="Cambria Math" panose="02040503050406030204" pitchFamily="18" charset="0"/>
                        </a:rPr>
                        <m:t>𝐩𝐔</m:t>
                      </m:r>
                      <m:d>
                        <m:d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100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1100" b="1" i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CA" sz="1100" b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1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CA" sz="11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1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CA" sz="1100" b="1" i="1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CA" sz="1100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sz="11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1" i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CA" sz="1100" b="1" i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en-CA" sz="11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1100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7EA4D76-498F-E10F-2EC2-F0C970C8C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40074"/>
                <a:ext cx="1157368" cy="430887"/>
              </a:xfrm>
              <a:prstGeom prst="rect">
                <a:avLst/>
              </a:prstGeom>
              <a:blipFill>
                <a:blip r:embed="rId10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C0BA45-558F-4786-BA49-13FF8EA82F72}"/>
              </a:ext>
            </a:extLst>
          </p:cNvPr>
          <p:cNvCxnSpPr>
            <a:cxnSpLocks/>
          </p:cNvCxnSpPr>
          <p:nvPr/>
        </p:nvCxnSpPr>
        <p:spPr>
          <a:xfrm flipH="1">
            <a:off x="2348303" y="3784842"/>
            <a:ext cx="36504" cy="2168324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73B78967-5DBF-36C6-A950-C4D18AD2CD60}"/>
              </a:ext>
            </a:extLst>
          </p:cNvPr>
          <p:cNvSpPr/>
          <p:nvPr/>
        </p:nvSpPr>
        <p:spPr>
          <a:xfrm>
            <a:off x="2289567" y="3682315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ECBE1B3-AA0A-F81F-E6BC-9BC9EEA84296}"/>
                  </a:ext>
                </a:extLst>
              </p:cNvPr>
              <p:cNvSpPr txBox="1"/>
              <p:nvPr/>
            </p:nvSpPr>
            <p:spPr>
              <a:xfrm>
                <a:off x="2153296" y="5861352"/>
                <a:ext cx="5786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CE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ECBE1B3-AA0A-F81F-E6BC-9BC9EEA84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96" y="5861352"/>
                <a:ext cx="578620" cy="369332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3335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15D2-4F02-8857-95B5-4495C47B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c 17">
            <a:extLst>
              <a:ext uri="{FF2B5EF4-FFF2-40B4-BE49-F238E27FC236}">
                <a16:creationId xmlns:a16="http://schemas.microsoft.com/office/drawing/2014/main" id="{C9EE44BA-3986-DC31-50EC-EB6624718118}"/>
              </a:ext>
            </a:extLst>
          </p:cNvPr>
          <p:cNvSpPr/>
          <p:nvPr/>
        </p:nvSpPr>
        <p:spPr>
          <a:xfrm rot="5598449">
            <a:off x="2385307" y="-2175159"/>
            <a:ext cx="8036940" cy="7859346"/>
          </a:xfrm>
          <a:prstGeom prst="arc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F0DE2-227C-BB17-9A82-5EB3CB9D657F}"/>
              </a:ext>
            </a:extLst>
          </p:cNvPr>
          <p:cNvSpPr/>
          <p:nvPr/>
        </p:nvSpPr>
        <p:spPr>
          <a:xfrm>
            <a:off x="6184899" y="1647825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343B-CE4A-E8E9-FE37-3957EC8D70AC}"/>
              </a:ext>
            </a:extLst>
          </p:cNvPr>
          <p:cNvSpPr/>
          <p:nvPr/>
        </p:nvSpPr>
        <p:spPr>
          <a:xfrm>
            <a:off x="5782563" y="1401012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601757-8D91-4B06-B7AC-4B2EADBC17FC}"/>
              </a:ext>
            </a:extLst>
          </p:cNvPr>
          <p:cNvCxnSpPr/>
          <p:nvPr/>
        </p:nvCxnSpPr>
        <p:spPr>
          <a:xfrm flipV="1">
            <a:off x="819150" y="2286000"/>
            <a:ext cx="3724275" cy="3522345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CDB34-756A-1124-4007-E819BE56EA29}"/>
              </a:ext>
            </a:extLst>
          </p:cNvPr>
          <p:cNvSpPr/>
          <p:nvPr/>
        </p:nvSpPr>
        <p:spPr>
          <a:xfrm rot="5400000">
            <a:off x="8093137" y="3243294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A756E7-2572-1CA3-1AED-7CDE2EF2C289}"/>
              </a:ext>
            </a:extLst>
          </p:cNvPr>
          <p:cNvSpPr txBox="1"/>
          <p:nvPr/>
        </p:nvSpPr>
        <p:spPr>
          <a:xfrm>
            <a:off x="10068904" y="5808345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CA6590-DBEE-206E-BDB8-6F3D55DD1766}"/>
              </a:ext>
            </a:extLst>
          </p:cNvPr>
          <p:cNvSpPr/>
          <p:nvPr/>
        </p:nvSpPr>
        <p:spPr>
          <a:xfrm>
            <a:off x="819150" y="1647825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47829-24B5-32DF-DE69-5F53F57CB73C}"/>
              </a:ext>
            </a:extLst>
          </p:cNvPr>
          <p:cNvSpPr/>
          <p:nvPr/>
        </p:nvSpPr>
        <p:spPr>
          <a:xfrm>
            <a:off x="416814" y="1401012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C5E9D7-F07F-BFCA-E11E-2DAC0301A757}"/>
              </a:ext>
            </a:extLst>
          </p:cNvPr>
          <p:cNvSpPr/>
          <p:nvPr/>
        </p:nvSpPr>
        <p:spPr>
          <a:xfrm rot="5400000">
            <a:off x="2727388" y="3243294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703A30-59FF-F4F2-D2EB-583C8954360F}"/>
              </a:ext>
            </a:extLst>
          </p:cNvPr>
          <p:cNvSpPr txBox="1"/>
          <p:nvPr/>
        </p:nvSpPr>
        <p:spPr>
          <a:xfrm>
            <a:off x="4703155" y="5808345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5B385-6FBA-EC3B-8444-5245CB59CEA2}"/>
              </a:ext>
            </a:extLst>
          </p:cNvPr>
          <p:cNvSpPr txBox="1"/>
          <p:nvPr/>
        </p:nvSpPr>
        <p:spPr>
          <a:xfrm>
            <a:off x="-549447" y="1928141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C1D2B-7C85-E676-A791-30729D0BB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11" y="406080"/>
            <a:ext cx="10128250" cy="926592"/>
          </a:xfrm>
        </p:spPr>
        <p:txBody>
          <a:bodyPr/>
          <a:lstStyle/>
          <a:p>
            <a:r>
              <a:rPr lang="en-CA" dirty="0"/>
              <a:t>Other Risk Preferences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996CFE-CBF5-2933-D826-600805C377B1}"/>
              </a:ext>
            </a:extLst>
          </p:cNvPr>
          <p:cNvSpPr txBox="1"/>
          <p:nvPr/>
        </p:nvSpPr>
        <p:spPr>
          <a:xfrm>
            <a:off x="4816302" y="1928141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3F4046-33EB-0868-180D-F3185115B24E}"/>
              </a:ext>
            </a:extLst>
          </p:cNvPr>
          <p:cNvSpPr txBox="1"/>
          <p:nvPr/>
        </p:nvSpPr>
        <p:spPr>
          <a:xfrm>
            <a:off x="1072806" y="1922691"/>
            <a:ext cx="2842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Risk Neutrality</a:t>
            </a:r>
            <a:br>
              <a:rPr lang="en-CA" dirty="0"/>
            </a:br>
            <a:r>
              <a:rPr lang="en-CA" dirty="0"/>
              <a:t>-Constant Marginal Utility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80EBB3-D718-AB5F-E880-0A6A4E3F4A2B}"/>
              </a:ext>
            </a:extLst>
          </p:cNvPr>
          <p:cNvSpPr txBox="1"/>
          <p:nvPr/>
        </p:nvSpPr>
        <p:spPr>
          <a:xfrm>
            <a:off x="6183762" y="1944111"/>
            <a:ext cx="2940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Risk Loving</a:t>
            </a:r>
            <a:br>
              <a:rPr lang="en-CA" dirty="0"/>
            </a:br>
            <a:r>
              <a:rPr lang="en-CA" dirty="0"/>
              <a:t>-Increasing Marginal Utility</a:t>
            </a:r>
          </a:p>
        </p:txBody>
      </p:sp>
    </p:spTree>
    <p:extLst>
      <p:ext uri="{BB962C8B-B14F-4D97-AF65-F5344CB8AC3E}">
        <p14:creationId xmlns:p14="http://schemas.microsoft.com/office/powerpoint/2010/main" val="38070531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3A19-7251-312A-B09D-8DD09AA0E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c 17">
            <a:extLst>
              <a:ext uri="{FF2B5EF4-FFF2-40B4-BE49-F238E27FC236}">
                <a16:creationId xmlns:a16="http://schemas.microsoft.com/office/drawing/2014/main" id="{7968138A-B98A-30B2-5633-A3C6AC9EA168}"/>
              </a:ext>
            </a:extLst>
          </p:cNvPr>
          <p:cNvSpPr/>
          <p:nvPr/>
        </p:nvSpPr>
        <p:spPr>
          <a:xfrm rot="5598449">
            <a:off x="2385307" y="-2175159"/>
            <a:ext cx="8036940" cy="7859346"/>
          </a:xfrm>
          <a:prstGeom prst="arc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B9A2EF-0308-508B-D00E-44C555DD9931}"/>
              </a:ext>
            </a:extLst>
          </p:cNvPr>
          <p:cNvSpPr/>
          <p:nvPr/>
        </p:nvSpPr>
        <p:spPr>
          <a:xfrm>
            <a:off x="6184899" y="1647825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4991A-E321-BA50-7E67-3E75BAF435BC}"/>
              </a:ext>
            </a:extLst>
          </p:cNvPr>
          <p:cNvSpPr/>
          <p:nvPr/>
        </p:nvSpPr>
        <p:spPr>
          <a:xfrm>
            <a:off x="5782563" y="1401012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FB9DF2C-09B2-0810-B13F-9ED5883C0629}"/>
              </a:ext>
            </a:extLst>
          </p:cNvPr>
          <p:cNvCxnSpPr/>
          <p:nvPr/>
        </p:nvCxnSpPr>
        <p:spPr>
          <a:xfrm flipV="1">
            <a:off x="819150" y="2286000"/>
            <a:ext cx="3724275" cy="3522345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1387869-ED67-2853-E8CB-32BF963BD66E}"/>
              </a:ext>
            </a:extLst>
          </p:cNvPr>
          <p:cNvSpPr/>
          <p:nvPr/>
        </p:nvSpPr>
        <p:spPr>
          <a:xfrm rot="5400000">
            <a:off x="8093137" y="3243294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5E6427-E634-346E-CBE5-95122C699473}"/>
              </a:ext>
            </a:extLst>
          </p:cNvPr>
          <p:cNvSpPr txBox="1"/>
          <p:nvPr/>
        </p:nvSpPr>
        <p:spPr>
          <a:xfrm>
            <a:off x="10068904" y="5808345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9AD124-A7B4-F43A-1FF4-B2534EE99657}"/>
              </a:ext>
            </a:extLst>
          </p:cNvPr>
          <p:cNvSpPr/>
          <p:nvPr/>
        </p:nvSpPr>
        <p:spPr>
          <a:xfrm>
            <a:off x="819150" y="1647825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98604B-CA5E-32EB-7436-9FA77FAAF105}"/>
              </a:ext>
            </a:extLst>
          </p:cNvPr>
          <p:cNvSpPr/>
          <p:nvPr/>
        </p:nvSpPr>
        <p:spPr>
          <a:xfrm>
            <a:off x="416814" y="1401012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F093F-150E-DB96-3208-FD7E8D401176}"/>
              </a:ext>
            </a:extLst>
          </p:cNvPr>
          <p:cNvSpPr/>
          <p:nvPr/>
        </p:nvSpPr>
        <p:spPr>
          <a:xfrm rot="5400000">
            <a:off x="2727388" y="3243294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F392E-5216-8BC8-D8CC-B145477961A8}"/>
              </a:ext>
            </a:extLst>
          </p:cNvPr>
          <p:cNvSpPr txBox="1"/>
          <p:nvPr/>
        </p:nvSpPr>
        <p:spPr>
          <a:xfrm>
            <a:off x="4703155" y="5808345"/>
            <a:ext cx="9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Good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46443-004C-C250-EEFA-0DCF9A8E1F54}"/>
              </a:ext>
            </a:extLst>
          </p:cNvPr>
          <p:cNvSpPr txBox="1"/>
          <p:nvPr/>
        </p:nvSpPr>
        <p:spPr>
          <a:xfrm>
            <a:off x="-549447" y="1928141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0BBFC-E319-DAD2-EADE-F25E8CFE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51" y="520677"/>
            <a:ext cx="8831454" cy="679779"/>
          </a:xfrm>
        </p:spPr>
        <p:txBody>
          <a:bodyPr/>
          <a:lstStyle/>
          <a:p>
            <a:r>
              <a:rPr lang="en-CA" dirty="0"/>
              <a:t>Other Risk Preferences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EA91ED-1541-DB96-7A78-7C9E9D249BAC}"/>
              </a:ext>
            </a:extLst>
          </p:cNvPr>
          <p:cNvSpPr txBox="1"/>
          <p:nvPr/>
        </p:nvSpPr>
        <p:spPr>
          <a:xfrm>
            <a:off x="4816302" y="1928141"/>
            <a:ext cx="192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Utility </a:t>
            </a:r>
            <a:br>
              <a:rPr lang="en-CA" b="1" dirty="0"/>
            </a:br>
            <a:r>
              <a:rPr lang="en-CA" b="1" dirty="0"/>
              <a:t>U(X)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0DA1A4-B99C-69C0-A37F-FD6DAB8A27B8}"/>
              </a:ext>
            </a:extLst>
          </p:cNvPr>
          <p:cNvSpPr txBox="1"/>
          <p:nvPr/>
        </p:nvSpPr>
        <p:spPr>
          <a:xfrm>
            <a:off x="496214" y="1418651"/>
            <a:ext cx="442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Question: What about risky choice here?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A0BC30-7786-E6D8-4260-AE3F5927E900}"/>
              </a:ext>
            </a:extLst>
          </p:cNvPr>
          <p:cNvCxnSpPr>
            <a:cxnSpLocks/>
          </p:cNvCxnSpPr>
          <p:nvPr/>
        </p:nvCxnSpPr>
        <p:spPr>
          <a:xfrm flipV="1">
            <a:off x="2073273" y="2948881"/>
            <a:ext cx="1771650" cy="1685925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2C616AA-D317-4A13-9456-B4C02FB8B0B9}"/>
              </a:ext>
            </a:extLst>
          </p:cNvPr>
          <p:cNvSpPr/>
          <p:nvPr/>
        </p:nvSpPr>
        <p:spPr>
          <a:xfrm>
            <a:off x="1897670" y="4567238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1C5AD8-0147-67E2-20C4-B3B11A4284E9}"/>
              </a:ext>
            </a:extLst>
          </p:cNvPr>
          <p:cNvSpPr/>
          <p:nvPr/>
        </p:nvSpPr>
        <p:spPr>
          <a:xfrm>
            <a:off x="3746410" y="2881312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E597DBB-8ED7-5768-EE84-AD4EAA024BA7}"/>
              </a:ext>
            </a:extLst>
          </p:cNvPr>
          <p:cNvSpPr/>
          <p:nvPr/>
        </p:nvSpPr>
        <p:spPr>
          <a:xfrm>
            <a:off x="7716976" y="5366500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FA20F4-C8AA-4557-E5C3-8B491AF492A2}"/>
              </a:ext>
            </a:extLst>
          </p:cNvPr>
          <p:cNvSpPr/>
          <p:nvPr/>
        </p:nvSpPr>
        <p:spPr>
          <a:xfrm>
            <a:off x="9984523" y="3016448"/>
            <a:ext cx="197026" cy="1809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59EC047-498C-5C21-F749-C3A85C881D58}"/>
              </a:ext>
            </a:extLst>
          </p:cNvPr>
          <p:cNvCxnSpPr>
            <a:cxnSpLocks/>
            <a:stCxn id="21" idx="7"/>
            <a:endCxn id="22" idx="3"/>
          </p:cNvCxnSpPr>
          <p:nvPr/>
        </p:nvCxnSpPr>
        <p:spPr>
          <a:xfrm flipV="1">
            <a:off x="7885148" y="3170920"/>
            <a:ext cx="2128229" cy="2222083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40C1C4B-15D4-1AC1-7E05-BCDBF8847105}"/>
              </a:ext>
            </a:extLst>
          </p:cNvPr>
          <p:cNvCxnSpPr>
            <a:cxnSpLocks/>
          </p:cNvCxnSpPr>
          <p:nvPr/>
        </p:nvCxnSpPr>
        <p:spPr>
          <a:xfrm>
            <a:off x="3848008" y="3103021"/>
            <a:ext cx="0" cy="2705324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F8869B0-8C3E-9831-5075-316C758B490B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1987265" y="4748213"/>
            <a:ext cx="8918" cy="1060132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46EE0EA-98A7-DBB2-0F00-277D0B0F077A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900634" y="4657726"/>
            <a:ext cx="997036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64E47A5-E188-AE9B-1C55-4DC5D31CC617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19150" y="2971800"/>
            <a:ext cx="2927260" cy="4464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C26CCE9-B396-C107-4E52-2BBD9F436848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6183157" y="3106936"/>
            <a:ext cx="3801366" cy="63984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FACD787-2B41-3302-D194-09C101F5059F}"/>
              </a:ext>
            </a:extLst>
          </p:cNvPr>
          <p:cNvCxnSpPr>
            <a:cxnSpLocks/>
          </p:cNvCxnSpPr>
          <p:nvPr/>
        </p:nvCxnSpPr>
        <p:spPr>
          <a:xfrm flipH="1" flipV="1">
            <a:off x="6296017" y="5456987"/>
            <a:ext cx="1420959" cy="1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C6DE716-55A7-2682-E244-EB739384E6F3}"/>
              </a:ext>
            </a:extLst>
          </p:cNvPr>
          <p:cNvCxnSpPr>
            <a:cxnSpLocks/>
            <a:endCxn id="21" idx="4"/>
          </p:cNvCxnSpPr>
          <p:nvPr/>
        </p:nvCxnSpPr>
        <p:spPr>
          <a:xfrm flipV="1">
            <a:off x="7815489" y="5547475"/>
            <a:ext cx="0" cy="243165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38AC9F3-B0FF-D808-7701-C0CB0C5EFF1C}"/>
              </a:ext>
            </a:extLst>
          </p:cNvPr>
          <p:cNvCxnSpPr>
            <a:cxnSpLocks/>
            <a:endCxn id="22" idx="4"/>
          </p:cNvCxnSpPr>
          <p:nvPr/>
        </p:nvCxnSpPr>
        <p:spPr>
          <a:xfrm flipV="1">
            <a:off x="10033204" y="3197423"/>
            <a:ext cx="49832" cy="2610922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09C2890-C424-3715-CF2A-025DAFA3001E}"/>
                  </a:ext>
                </a:extLst>
              </p:cNvPr>
              <p:cNvSpPr txBox="1"/>
              <p:nvPr/>
            </p:nvSpPr>
            <p:spPr>
              <a:xfrm>
                <a:off x="1780368" y="5709799"/>
                <a:ext cx="482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09C2890-C424-3715-CF2A-025DAFA30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68" y="5709799"/>
                <a:ext cx="482440" cy="369332"/>
              </a:xfrm>
              <a:prstGeom prst="rect">
                <a:avLst/>
              </a:prstGeom>
              <a:blipFill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3857FC6-9916-1823-D0BF-5241ADF6526D}"/>
                  </a:ext>
                </a:extLst>
              </p:cNvPr>
              <p:cNvSpPr txBox="1"/>
              <p:nvPr/>
            </p:nvSpPr>
            <p:spPr>
              <a:xfrm>
                <a:off x="7615270" y="5728450"/>
                <a:ext cx="482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3857FC6-9916-1823-D0BF-5241ADF65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270" y="5728450"/>
                <a:ext cx="482440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A9CDDE5-7581-2A7D-0C33-C273CCE749CD}"/>
                  </a:ext>
                </a:extLst>
              </p:cNvPr>
              <p:cNvSpPr txBox="1"/>
              <p:nvPr/>
            </p:nvSpPr>
            <p:spPr>
              <a:xfrm>
                <a:off x="3683429" y="5746138"/>
                <a:ext cx="480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A9CDDE5-7581-2A7D-0C33-C273CCE74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429" y="5746138"/>
                <a:ext cx="480836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B516FEF-B589-4B80-DD13-FF158407980F}"/>
                  </a:ext>
                </a:extLst>
              </p:cNvPr>
              <p:cNvSpPr txBox="1"/>
              <p:nvPr/>
            </p:nvSpPr>
            <p:spPr>
              <a:xfrm>
                <a:off x="9817702" y="5764677"/>
                <a:ext cx="480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B516FEF-B589-4B80-DD13-FF1584079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702" y="5764677"/>
                <a:ext cx="480836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>
            <a:extLst>
              <a:ext uri="{FF2B5EF4-FFF2-40B4-BE49-F238E27FC236}">
                <a16:creationId xmlns:a16="http://schemas.microsoft.com/office/drawing/2014/main" id="{1EDF69DB-EA76-449E-46EB-98191146A218}"/>
              </a:ext>
            </a:extLst>
          </p:cNvPr>
          <p:cNvSpPr/>
          <p:nvPr/>
        </p:nvSpPr>
        <p:spPr>
          <a:xfrm>
            <a:off x="2800858" y="3751065"/>
            <a:ext cx="197026" cy="180975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77786CE-7BC5-F152-5A3C-CFC581960AE2}"/>
              </a:ext>
            </a:extLst>
          </p:cNvPr>
          <p:cNvSpPr/>
          <p:nvPr/>
        </p:nvSpPr>
        <p:spPr>
          <a:xfrm>
            <a:off x="8637506" y="4365195"/>
            <a:ext cx="197026" cy="180975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4EA4A3C-E892-1BED-42AA-27D149C7714C}"/>
                  </a:ext>
                </a:extLst>
              </p:cNvPr>
              <p:cNvSpPr txBox="1"/>
              <p:nvPr/>
            </p:nvSpPr>
            <p:spPr>
              <a:xfrm>
                <a:off x="2352403" y="5759072"/>
                <a:ext cx="992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CE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4EA4A3C-E892-1BED-42AA-27D149C77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403" y="5759072"/>
                <a:ext cx="992195" cy="369332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B248D07-384B-3D9E-F209-D6B6B028A4E0}"/>
              </a:ext>
            </a:extLst>
          </p:cNvPr>
          <p:cNvCxnSpPr>
            <a:cxnSpLocks/>
            <a:endCxn id="60" idx="0"/>
          </p:cNvCxnSpPr>
          <p:nvPr/>
        </p:nvCxnSpPr>
        <p:spPr>
          <a:xfrm flipH="1">
            <a:off x="2848501" y="3972002"/>
            <a:ext cx="46205" cy="178707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F0414F1-6349-7491-EADF-C8F931590E8A}"/>
              </a:ext>
            </a:extLst>
          </p:cNvPr>
          <p:cNvCxnSpPr>
            <a:cxnSpLocks/>
            <a:stCxn id="58" idx="2"/>
          </p:cNvCxnSpPr>
          <p:nvPr/>
        </p:nvCxnSpPr>
        <p:spPr>
          <a:xfrm flipH="1" flipV="1">
            <a:off x="918320" y="3841552"/>
            <a:ext cx="1882538" cy="1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80B5913-B016-47BC-2C82-31055C16E337}"/>
                  </a:ext>
                </a:extLst>
              </p:cNvPr>
              <p:cNvSpPr txBox="1"/>
              <p:nvPr/>
            </p:nvSpPr>
            <p:spPr>
              <a:xfrm>
                <a:off x="8528775" y="5786137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80B5913-B016-47BC-2C82-31055C16E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8775" y="5786137"/>
                <a:ext cx="3513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F88A47F-5143-C6C8-2A72-4267CDFC78E6}"/>
                  </a:ext>
                </a:extLst>
              </p:cNvPr>
              <p:cNvSpPr txBox="1"/>
              <p:nvPr/>
            </p:nvSpPr>
            <p:spPr>
              <a:xfrm>
                <a:off x="9201409" y="5746138"/>
                <a:ext cx="5918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CE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F88A47F-5143-C6C8-2A72-4267CDFC7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409" y="5746138"/>
                <a:ext cx="591871" cy="36933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B7EA558-2116-DA61-977A-C264B024E4D8}"/>
              </a:ext>
            </a:extLst>
          </p:cNvPr>
          <p:cNvCxnSpPr>
            <a:cxnSpLocks/>
            <a:stCxn id="59" idx="4"/>
          </p:cNvCxnSpPr>
          <p:nvPr/>
        </p:nvCxnSpPr>
        <p:spPr>
          <a:xfrm flipH="1">
            <a:off x="8689697" y="4546170"/>
            <a:ext cx="46322" cy="123996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BB4EED5-B172-B9F1-01BF-893FA1394E3F}"/>
              </a:ext>
            </a:extLst>
          </p:cNvPr>
          <p:cNvCxnSpPr>
            <a:cxnSpLocks/>
          </p:cNvCxnSpPr>
          <p:nvPr/>
        </p:nvCxnSpPr>
        <p:spPr>
          <a:xfrm flipH="1">
            <a:off x="9363542" y="4502884"/>
            <a:ext cx="14046" cy="1294748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635C45D-EE67-A694-8C8A-6957717897B5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6251129" y="4455683"/>
            <a:ext cx="2386377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F49A58F-9D12-2EA2-C8A7-5C524906DE50}"/>
              </a:ext>
            </a:extLst>
          </p:cNvPr>
          <p:cNvCxnSpPr>
            <a:cxnSpLocks/>
            <a:stCxn id="84" idx="2"/>
            <a:endCxn id="59" idx="6"/>
          </p:cNvCxnSpPr>
          <p:nvPr/>
        </p:nvCxnSpPr>
        <p:spPr>
          <a:xfrm flipH="1">
            <a:off x="8834532" y="4446767"/>
            <a:ext cx="427140" cy="8916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2ED56F0E-BD8A-7650-901E-EB3FDC4DDD46}"/>
              </a:ext>
            </a:extLst>
          </p:cNvPr>
          <p:cNvSpPr/>
          <p:nvPr/>
        </p:nvSpPr>
        <p:spPr>
          <a:xfrm>
            <a:off x="9261672" y="4356279"/>
            <a:ext cx="197026" cy="180975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A37842E-05B7-0197-7AA3-B66CBC6DCC4E}"/>
                  </a:ext>
                </a:extLst>
              </p:cNvPr>
              <p:cNvSpPr txBox="1"/>
              <p:nvPr/>
            </p:nvSpPr>
            <p:spPr>
              <a:xfrm>
                <a:off x="22850" y="2809458"/>
                <a:ext cx="8222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A37842E-05B7-0197-7AA3-B66CBC6DC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0" y="2809458"/>
                <a:ext cx="822276" cy="369332"/>
              </a:xfrm>
              <a:prstGeom prst="rect">
                <a:avLst/>
              </a:prstGeom>
              <a:blipFill>
                <a:blip r:embed="rId9"/>
                <a:stretch>
                  <a:fillRect r="-2222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EDDB470-9A1D-0BA7-F326-78E1136CEC70}"/>
                  </a:ext>
                </a:extLst>
              </p:cNvPr>
              <p:cNvSpPr txBox="1"/>
              <p:nvPr/>
            </p:nvSpPr>
            <p:spPr>
              <a:xfrm>
                <a:off x="31833" y="4473059"/>
                <a:ext cx="823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EDDB470-9A1D-0BA7-F326-78E1136CE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3" y="4473059"/>
                <a:ext cx="823880" cy="369332"/>
              </a:xfrm>
              <a:prstGeom prst="rect">
                <a:avLst/>
              </a:prstGeom>
              <a:blipFill>
                <a:blip r:embed="rId10"/>
                <a:stretch>
                  <a:fillRect r="-2222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B5111CF-E929-C40D-7C2D-046F41C0CDF9}"/>
                  </a:ext>
                </a:extLst>
              </p:cNvPr>
              <p:cNvSpPr txBox="1"/>
              <p:nvPr/>
            </p:nvSpPr>
            <p:spPr>
              <a:xfrm>
                <a:off x="869479" y="3515166"/>
                <a:ext cx="17716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600" dirty="0"/>
                  <a:t> </a:t>
                </a:r>
                <a14:m>
                  <m:oMath xmlns:m="http://schemas.openxmlformats.org/officeDocument/2006/math">
                    <m:r>
                      <a:rPr lang="en-CA" sz="1600" b="1" i="0" smtClean="0">
                        <a:latin typeface="Cambria Math" panose="02040503050406030204" pitchFamily="18" charset="0"/>
                      </a:rPr>
                      <m:t>𝐔</m:t>
                    </m:r>
                    <m:d>
                      <m:dPr>
                        <m:ctrlPr>
                          <a:rPr lang="en-CA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CA" sz="16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6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</m:e>
                    </m:d>
                    <m:r>
                      <a:rPr lang="en-CA" sz="16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600" b="1" i="0" smtClean="0">
                        <a:latin typeface="Cambria Math" panose="02040503050406030204" pitchFamily="18" charset="0"/>
                      </a:rPr>
                      <m:t>𝐔</m:t>
                    </m:r>
                    <m:d>
                      <m:dPr>
                        <m:ctrlPr>
                          <a:rPr lang="en-CA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CA" sz="1600" b="1" i="0" smtClean="0">
                                <a:latin typeface="Cambria Math" panose="02040503050406030204" pitchFamily="18" charset="0"/>
                              </a:rPr>
                              <m:t>𝐂𝐄</m:t>
                            </m:r>
                          </m:sub>
                        </m:sSub>
                      </m:e>
                    </m:d>
                  </m:oMath>
                </a14:m>
                <a:endParaRPr lang="en-CA" sz="1600" b="1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B5111CF-E929-C40D-7C2D-046F41C0C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479" y="3515166"/>
                <a:ext cx="1771649" cy="338554"/>
              </a:xfrm>
              <a:prstGeom prst="rect">
                <a:avLst/>
              </a:prstGeom>
              <a:blipFill>
                <a:blip r:embed="rId11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8915E13-6DE9-0F60-4B64-BCB7C8D6C98F}"/>
                  </a:ext>
                </a:extLst>
              </p:cNvPr>
              <p:cNvSpPr txBox="1"/>
              <p:nvPr/>
            </p:nvSpPr>
            <p:spPr>
              <a:xfrm>
                <a:off x="729900" y="1857514"/>
                <a:ext cx="4009137" cy="957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𝐔</m:t>
                      </m:r>
                      <m:d>
                        <m:dPr>
                          <m:ctrlPr>
                            <a:rPr lang="en-CA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e>
                      </m:d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𝐩𝐔</m:t>
                      </m:r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</m:sSub>
                        </m:e>
                      </m:d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</m:d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𝐔</m:t>
                      </m:r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CA" dirty="0"/>
                </a:br>
                <a:r>
                  <a:rPr lang="en-CA" dirty="0"/>
                  <a:t>   Individual is indifferent to Risk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𝐂𝐄</m:t>
                          </m:r>
                        </m:sub>
                      </m:sSub>
                    </m:oMath>
                  </m:oMathPara>
                </a14:m>
                <a:br>
                  <a:rPr lang="en-CA" dirty="0"/>
                </a:br>
                <a:endParaRPr lang="en-CA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8915E13-6DE9-0F60-4B64-BCB7C8D6C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00" y="1857514"/>
                <a:ext cx="4009137" cy="95718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1BC7094-15D7-0C2A-1E19-D6EA9B3953B6}"/>
                  </a:ext>
                </a:extLst>
              </p:cNvPr>
              <p:cNvSpPr txBox="1"/>
              <p:nvPr/>
            </p:nvSpPr>
            <p:spPr>
              <a:xfrm>
                <a:off x="6258275" y="1340671"/>
                <a:ext cx="4009137" cy="1477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𝐔</m:t>
                      </m:r>
                      <m:d>
                        <m:dPr>
                          <m:ctrlPr>
                            <a:rPr lang="en-CA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e>
                      </m:d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𝐩𝐔</m:t>
                      </m:r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</m:sSub>
                        </m:e>
                      </m:d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</m:d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𝐔</m:t>
                      </m:r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CA" dirty="0"/>
                </a:br>
                <a:r>
                  <a:rPr lang="en-CA" dirty="0"/>
                  <a:t>Individual likes risk to Risk  and needs a higher certainty equivalent to not take chance: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𝐂𝐄</m:t>
                          </m:r>
                        </m:sub>
                      </m:sSub>
                    </m:oMath>
                  </m:oMathPara>
                </a14:m>
                <a:br>
                  <a:rPr lang="en-CA" dirty="0"/>
                </a:br>
                <a:endParaRPr lang="en-CA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1BC7094-15D7-0C2A-1E19-D6EA9B395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275" y="1340671"/>
                <a:ext cx="4009137" cy="1477392"/>
              </a:xfrm>
              <a:prstGeom prst="rect">
                <a:avLst/>
              </a:prstGeom>
              <a:blipFill>
                <a:blip r:embed="rId13"/>
                <a:stretch>
                  <a:fillRect l="-1370" r="-4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1DE5BD6-A35D-5616-2634-DBDB0436050F}"/>
                  </a:ext>
                </a:extLst>
              </p:cNvPr>
              <p:cNvSpPr txBox="1"/>
              <p:nvPr/>
            </p:nvSpPr>
            <p:spPr>
              <a:xfrm>
                <a:off x="5442774" y="5208337"/>
                <a:ext cx="823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1DE5BD6-A35D-5616-2634-DBDB04360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774" y="5208337"/>
                <a:ext cx="823880" cy="369332"/>
              </a:xfrm>
              <a:prstGeom prst="rect">
                <a:avLst/>
              </a:prstGeom>
              <a:blipFill>
                <a:blip r:embed="rId14"/>
                <a:stretch>
                  <a:fillRect r="-2222"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2E4BD6D-F699-68B8-B3C1-0365FC0E5A5D}"/>
                  </a:ext>
                </a:extLst>
              </p:cNvPr>
              <p:cNvSpPr txBox="1"/>
              <p:nvPr/>
            </p:nvSpPr>
            <p:spPr>
              <a:xfrm>
                <a:off x="5442774" y="2948331"/>
                <a:ext cx="859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2E4BD6D-F699-68B8-B3C1-0365FC0E5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774" y="2948331"/>
                <a:ext cx="859146" cy="369332"/>
              </a:xfrm>
              <a:prstGeom prst="rect">
                <a:avLst/>
              </a:prstGeom>
              <a:blipFill>
                <a:blip r:embed="rId15"/>
                <a:stretch>
                  <a:fillRect r="-2128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9917B93-4CF9-C291-A3F1-9BA2417DF070}"/>
                  </a:ext>
                </a:extLst>
              </p:cNvPr>
              <p:cNvSpPr txBox="1"/>
              <p:nvPr/>
            </p:nvSpPr>
            <p:spPr>
              <a:xfrm>
                <a:off x="4718958" y="4239995"/>
                <a:ext cx="17716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600" dirty="0"/>
                  <a:t> </a:t>
                </a:r>
                <a14:m>
                  <m:oMath xmlns:m="http://schemas.openxmlformats.org/officeDocument/2006/math">
                    <m:r>
                      <a:rPr lang="en-CA" sz="1600" b="1" i="0" smtClean="0">
                        <a:latin typeface="Cambria Math" panose="02040503050406030204" pitchFamily="18" charset="0"/>
                      </a:rPr>
                      <m:t>𝐔</m:t>
                    </m:r>
                    <m:d>
                      <m:dPr>
                        <m:ctrlPr>
                          <a:rPr lang="en-CA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CA" sz="16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6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</m:e>
                    </m:d>
                    <m:r>
                      <a:rPr lang="en-CA" sz="16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600" b="1" i="0" smtClean="0">
                        <a:latin typeface="Cambria Math" panose="02040503050406030204" pitchFamily="18" charset="0"/>
                      </a:rPr>
                      <m:t>𝐔</m:t>
                    </m:r>
                    <m:d>
                      <m:dPr>
                        <m:ctrlPr>
                          <a:rPr lang="en-CA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CA" sz="1600" b="1" i="0" smtClean="0">
                                <a:latin typeface="Cambria Math" panose="02040503050406030204" pitchFamily="18" charset="0"/>
                              </a:rPr>
                              <m:t>𝐂𝐄</m:t>
                            </m:r>
                          </m:sub>
                        </m:sSub>
                      </m:e>
                    </m:d>
                  </m:oMath>
                </a14:m>
                <a:endParaRPr lang="en-CA" sz="1600" b="1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9917B93-4CF9-C291-A3F1-9BA2417DF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958" y="4239995"/>
                <a:ext cx="1771649" cy="338554"/>
              </a:xfrm>
              <a:prstGeom prst="rect">
                <a:avLst/>
              </a:prstGeom>
              <a:blipFill>
                <a:blip r:embed="rId16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4304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83D2-A15D-963A-09DC-E08142E81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6665-FFEB-2BEF-A58A-3DBA830F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9738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F5CFB-3D8D-0F08-827C-BF3E9BF53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27404"/>
            <a:ext cx="10506991" cy="4203191"/>
          </a:xfrm>
        </p:spPr>
        <p:txBody>
          <a:bodyPr>
            <a:normAutofit lnSpcReduction="10000"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Circular Flow of the Economy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Analyzing Markets</a:t>
            </a:r>
            <a:br>
              <a:rPr lang="en-CA" dirty="0"/>
            </a:br>
            <a:r>
              <a:rPr lang="en-CA" dirty="0"/>
              <a:t>-Supply</a:t>
            </a:r>
            <a:br>
              <a:rPr lang="en-CA" dirty="0"/>
            </a:br>
            <a:r>
              <a:rPr lang="en-CA" dirty="0"/>
              <a:t>-Demand</a:t>
            </a:r>
            <a:br>
              <a:rPr lang="en-CA" dirty="0"/>
            </a:br>
            <a:r>
              <a:rPr lang="en-CA" dirty="0"/>
              <a:t>-Market Equilibrium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What causes prices to move? 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Using supply and demand to understand stock market fluctuations.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Demand for Insurance and Some Consumer Theory for Risk</a:t>
            </a:r>
            <a:br>
              <a:rPr lang="en-CA" dirty="0"/>
            </a:br>
            <a:endParaRPr lang="en-CA" dirty="0"/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90CC73-25BC-5132-15EA-CE0491D653D4}"/>
              </a:ext>
            </a:extLst>
          </p:cNvPr>
          <p:cNvSpPr/>
          <p:nvPr/>
        </p:nvSpPr>
        <p:spPr>
          <a:xfrm>
            <a:off x="1588545" y="4924426"/>
            <a:ext cx="9041355" cy="139748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To understand what underlies fluctuations in prices and quantities in competitive markets.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Understand why risk aversion creates a demand for insurance.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CA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609301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5259</TotalTime>
  <Words>2536</Words>
  <Application>Microsoft Office PowerPoint</Application>
  <PresentationFormat>Widescreen</PresentationFormat>
  <Paragraphs>489</Paragraphs>
  <Slides>48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Arial</vt:lpstr>
      <vt:lpstr>Cambria Math</vt:lpstr>
      <vt:lpstr>Seaford</vt:lpstr>
      <vt:lpstr>Wingdings</vt:lpstr>
      <vt:lpstr>LevelVTI</vt:lpstr>
      <vt:lpstr>Health Economics Lecture #2</vt:lpstr>
      <vt:lpstr>Learning Objectives</vt:lpstr>
      <vt:lpstr>Thinking about the Economy as a Whole</vt:lpstr>
      <vt:lpstr>The Economy</vt:lpstr>
      <vt:lpstr>The Big Picture: Circular Flow</vt:lpstr>
      <vt:lpstr>The Big Picture: Circular Flow</vt:lpstr>
      <vt:lpstr>The Big Picture: Circular Flow with Government</vt:lpstr>
      <vt:lpstr>What is a Market?</vt:lpstr>
      <vt:lpstr>The Two Sides of a Market</vt:lpstr>
      <vt:lpstr>A More Realistic Story</vt:lpstr>
      <vt:lpstr>Non Price Bargaining- Wait Time</vt:lpstr>
      <vt:lpstr>Where we are Heading: The Demand and Supply Model</vt:lpstr>
      <vt:lpstr>Analyzing Markets</vt:lpstr>
      <vt:lpstr>Thinking About Supply</vt:lpstr>
      <vt:lpstr>An Individual Supply Schedule</vt:lpstr>
      <vt:lpstr>A Market Supply Schedule</vt:lpstr>
      <vt:lpstr>Market Supply as the Sum of Individual Supply.</vt:lpstr>
      <vt:lpstr>Market Supply as the Sum of Individual Supply.</vt:lpstr>
      <vt:lpstr>Analyzing Markets</vt:lpstr>
      <vt:lpstr>Thinking About Demand</vt:lpstr>
      <vt:lpstr>A Market Demand Schedule</vt:lpstr>
      <vt:lpstr>Market Demand as the Sum of Individual Demands.</vt:lpstr>
      <vt:lpstr>Market Demand as the Sum of Individual Demands.</vt:lpstr>
      <vt:lpstr>Analyzing Markets</vt:lpstr>
      <vt:lpstr>Market Equilibrium</vt:lpstr>
      <vt:lpstr>Markets out of equilibrium: Price Floor</vt:lpstr>
      <vt:lpstr>Markets out of equilibrium: Price Ceiling</vt:lpstr>
      <vt:lpstr>Shifts in Supply and Demand</vt:lpstr>
      <vt:lpstr>Shifts in Demand: Increase in Demand</vt:lpstr>
      <vt:lpstr>Shifts in Demand: Decrease in Demand</vt:lpstr>
      <vt:lpstr>Shifts in Supply: Increase in Supply</vt:lpstr>
      <vt:lpstr>Shifts in Supply: Decrease om Supply</vt:lpstr>
      <vt:lpstr>Applications of the Supply and Demand Model</vt:lpstr>
      <vt:lpstr>Some Stock Market Data</vt:lpstr>
      <vt:lpstr>What is causing markets to move?</vt:lpstr>
      <vt:lpstr>Observing Shifts in Data</vt:lpstr>
      <vt:lpstr>The Demand for Insurance and Some Consumer Theory for Risk</vt:lpstr>
      <vt:lpstr>Why Insurance?</vt:lpstr>
      <vt:lpstr>How Risk Aversion Creates Insurance Demand</vt:lpstr>
      <vt:lpstr>How Risk Aversion Creates Insurance Demand</vt:lpstr>
      <vt:lpstr>How Risk Aversion Creates Insurance Demand</vt:lpstr>
      <vt:lpstr>How Risk Aversion Creates Insurance Demand</vt:lpstr>
      <vt:lpstr>How Risk Aversion Creates Insurance Demand</vt:lpstr>
      <vt:lpstr>How Risk Aversion Creates Insurance Demand</vt:lpstr>
      <vt:lpstr>How Risk Aversion Creates Insurance Demand</vt:lpstr>
      <vt:lpstr>Other Risk Preferences</vt:lpstr>
      <vt:lpstr>Other Risk Preferences</vt:lpstr>
      <vt:lpstr>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46</cp:revision>
  <dcterms:created xsi:type="dcterms:W3CDTF">2025-07-13T05:00:08Z</dcterms:created>
  <dcterms:modified xsi:type="dcterms:W3CDTF">2025-09-17T19:29:56Z</dcterms:modified>
</cp:coreProperties>
</file>