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99" r:id="rId1"/>
  </p:sldMasterIdLst>
  <p:notesMasterIdLst>
    <p:notesMasterId r:id="rId22"/>
  </p:notesMasterIdLst>
  <p:sldIdLst>
    <p:sldId id="256" r:id="rId2"/>
    <p:sldId id="257" r:id="rId3"/>
    <p:sldId id="258" r:id="rId4"/>
    <p:sldId id="274" r:id="rId5"/>
    <p:sldId id="297" r:id="rId6"/>
    <p:sldId id="298" r:id="rId7"/>
    <p:sldId id="300" r:id="rId8"/>
    <p:sldId id="275" r:id="rId9"/>
    <p:sldId id="301" r:id="rId10"/>
    <p:sldId id="276" r:id="rId11"/>
    <p:sldId id="299" r:id="rId12"/>
    <p:sldId id="277" r:id="rId13"/>
    <p:sldId id="303" r:id="rId14"/>
    <p:sldId id="304" r:id="rId15"/>
    <p:sldId id="302" r:id="rId16"/>
    <p:sldId id="278" r:id="rId17"/>
    <p:sldId id="305" r:id="rId18"/>
    <p:sldId id="279" r:id="rId19"/>
    <p:sldId id="280" r:id="rId20"/>
    <p:sldId id="30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284" autoAdjust="0"/>
  </p:normalViewPr>
  <p:slideViewPr>
    <p:cSldViewPr snapToGrid="0">
      <p:cViewPr varScale="1">
        <p:scale>
          <a:sx n="100" d="100"/>
          <a:sy n="100" d="100"/>
        </p:scale>
        <p:origin x="37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69A107-93FC-4C73-A81C-593CBB10CFEF}" type="datetimeFigureOut">
              <a:rPr lang="en-CA" smtClean="0"/>
              <a:t>2025-10-29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3E61FF-07A4-4C6C-B06F-DD1DA8ACF56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73835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E61FF-07A4-4C6C-B06F-DD1DA8ACF568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637648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58774-1CD4-4421-5C5E-6BA7D181F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B36263-1FF2-D83A-A31C-ECB8828F00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B8E645-CC5C-C508-41E4-4ED4F01749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FF313F-69EE-8DE6-200E-70106ED4D9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E61FF-07A4-4C6C-B06F-DD1DA8ACF568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62649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BF6F4-F801-00FE-D8D6-F3DEDDCB4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CE7742-4985-2CC9-690D-16E90FD31B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1C9AC7-04BA-5AB9-DFBC-49649403F4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F43DAE-5443-9BC7-A561-EEAC488F9E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E61FF-07A4-4C6C-B06F-DD1DA8ACF568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48708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342FE-E00B-4FAF-8F73-F722060EB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00" y="978408"/>
            <a:ext cx="10506991" cy="2531555"/>
          </a:xfrm>
          <a:prstGeom prst="rect">
            <a:avLst/>
          </a:prstGeom>
        </p:spPr>
        <p:txBody>
          <a:bodyPr anchor="b"/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C1CCE2-4461-473E-B23C-34C8CCF04B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600" y="3602038"/>
            <a:ext cx="10506991" cy="2277554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A551A-CE2F-4E35-A714-B1F04D4B4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5C907-6594-4DFF-A32B-449C3BA96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76D75-E9DA-4660-AC52-51BA63FCB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2EFA84C-D756-4DC7-AA46-68D776F37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6393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43735-A77F-440D-9448-6AE7C204D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21579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6C6EE-D55E-454B-B28C-EC73D1DB4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A2905-6D2E-4319-9521-61452AB8F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C7550-84E8-49D3-B419-6F5F327DA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D2C6B-EA5D-4D97-BC84-6C860D536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066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1B299E6-11CC-4181-86C3-528A13F1F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3922232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803473-0A64-4F9F-833B-8D64E3901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9"/>
            <a:ext cx="10515600" cy="2716769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873736-B424-40F2-B562-6DC10E5ED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600" y="4171445"/>
            <a:ext cx="10515600" cy="1918205"/>
          </a:xfrm>
        </p:spPr>
        <p:txBody>
          <a:bodyPr>
            <a:normAutofit/>
          </a:bodyPr>
          <a:lstStyle>
            <a:lvl1pPr marL="0" indent="0">
              <a:buNone/>
              <a:defRPr lang="en-US" sz="24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48851-37C0-478D-B722-D76C817DC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E063E-66CE-4C18-91FA-D14AE052D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66D3D-FD62-470C-BC3C-A03771A32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FF0049-0231-4557-A707-569556F0C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3922232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57A0DB1-87C8-4BF4-B2A2-F9CA6ED05A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C29209-8A8F-48A7-8BA2-AFADA37CB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955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166BE9C-AE7C-4C39-9694-C32D6939B9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483577"/>
            <a:ext cx="11147071" cy="2434824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ACC42C-303A-4BDF-990A-2B07967BC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599" y="978408"/>
            <a:ext cx="11147071" cy="17552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55CEF-353E-4E14-83AD-ACADDC08D9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2600" y="3103131"/>
            <a:ext cx="5418551" cy="3073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55ECEF-9654-4AC1-BF77-7BC602BBD4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1120" y="3103131"/>
            <a:ext cx="5418551" cy="3073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922FC8-BC06-407B-A82B-DA62B33A1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15B701-4E1F-48AA-8A3C-ED5DD9151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6BCA31-8AC7-46F5-BCAB-41D54DF83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BA86D8-2A29-4A0E-AEA0-39B41C418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85E13E-918A-4D04-9E84-94148D7C8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1486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5E892-D975-4DD6-8583-A14DDBE85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1" y="978407"/>
            <a:ext cx="11145039" cy="1339584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F7700-CECC-4881-BE5C-A13CD825B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632" y="2500921"/>
            <a:ext cx="5346222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4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50766-520A-44C5-943E-569222B74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632" y="3428999"/>
            <a:ext cx="5346222" cy="2760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2F7E42-976A-4239-8006-D68538D4B7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7120" y="2500921"/>
            <a:ext cx="5372551" cy="823912"/>
          </a:xfrm>
        </p:spPr>
        <p:txBody>
          <a:bodyPr anchor="b"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8CA329-951F-4391-ADC5-7EA320B778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7120" y="3428999"/>
            <a:ext cx="5372551" cy="2760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BEC22A-DA46-460C-B865-D928C20AE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B2D647-42C5-4AB7-BB71-3A4406571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" y="6419088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0B2B67-714C-46DA-85E5-598B4244D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9591" y="-7190"/>
            <a:ext cx="640080" cy="365125"/>
          </a:xfrm>
        </p:spPr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989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D4B6724-AB30-4E7C-BE2B-ECD94FF1B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3933311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D4BAB-2678-4A19-A575-C47CAF144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2591509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47C89E-0ABD-4FD2-924C-894345ADF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3026CE-9CC8-403B-88B1-184D16532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B3D616-3C18-401B-A792-E75149FD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EC6F70-D800-4067-A36A-5BBFC8018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393331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2B66CB6-8988-4FBA-8524-726765A5F2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9036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C73F84-0C6B-4EF4-9405-C38982499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CEC807-744E-4C5C-8B15-09AED3E57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BCB19-9F4B-474C-85C1-4A645A971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333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A88B0-DD6B-449B-AE32-D3192081E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978408"/>
            <a:ext cx="4287393" cy="2450592"/>
          </a:xfrm>
          <a:prstGeom prst="rect">
            <a:avLst/>
          </a:prstGeom>
        </p:spPr>
        <p:txBody>
          <a:bodyPr anchor="b"/>
          <a:lstStyle>
            <a:lvl1pPr>
              <a:defRPr lang="en-US" sz="5400" kern="120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22ED6-5B69-4B3B-BF96-3A75F2107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7" y="987425"/>
            <a:ext cx="6446484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704043-D45F-440A-A15D-2718A913E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632" y="3645074"/>
            <a:ext cx="4287393" cy="2223914"/>
          </a:xfrm>
        </p:spPr>
        <p:txBody>
          <a:bodyPr/>
          <a:lstStyle>
            <a:lvl1pPr marL="0" indent="0">
              <a:buNone/>
              <a:defRPr lang="en-US" sz="24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0072DC-7326-43E7-806C-B690C439E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89A0F-B8C6-4AA6-A9C4-4A454F422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57A616-A4F2-4FC5-88DE-B4E6BA542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114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B773D-D007-4687-BA9C-9F229829B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978407"/>
            <a:ext cx="4287393" cy="2450593"/>
          </a:xfrm>
          <a:prstGeom prst="rect">
            <a:avLst/>
          </a:prstGeom>
        </p:spPr>
        <p:txBody>
          <a:bodyPr anchor="b"/>
          <a:lstStyle>
            <a:lvl1pPr>
              <a:defRPr lang="en-US" sz="5400" kern="120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3A75FC-78D2-4EF5-884F-11B7BACF79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987425"/>
            <a:ext cx="644648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CE0BB-D335-4391-A23F-194C575CA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632" y="3645074"/>
            <a:ext cx="4287393" cy="2223914"/>
          </a:xfrm>
        </p:spPr>
        <p:txBody>
          <a:bodyPr/>
          <a:lstStyle>
            <a:lvl1pPr marL="0" indent="0">
              <a:buNone/>
              <a:defRPr lang="en-US" sz="240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701E1-B97B-4DA5-B9AD-07B7C1247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6D9CF8-F42F-4618-9F26-8BFE56487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CA2023-1ECA-4A96-BDC7-F7FA4368B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7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1999A10-4355-4A13-B008-196B21ABEE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2600" y="483576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36D448-AFEA-4483-B0E4-002840525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506991" cy="17552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16234-4516-4303-8F60-A8127D89A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192" y="3103131"/>
            <a:ext cx="10506991" cy="30929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B5D50-A474-462B-A807-DF186B1C2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F1DAF-2E2D-46ED-AA3E-3D2FE4039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FC771-EB13-4EB5-A0A2-3968C6ABB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B596B8-8230-4695-8D76-F06AFA815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3EBF93-5FD9-4F4E-8485-7B937145C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8233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6B4D06-C7C6-4949-8EB2-F03ED999A2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041710" y="978408"/>
            <a:ext cx="2947881" cy="5124777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921B9D-8C11-4176-AF22-89F972E21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632" y="978408"/>
            <a:ext cx="7256453" cy="51247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A9E1C-8E18-4A35-9BD8-427B1D14B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16CDB-7BB6-4DD2-A626-6DA8E569F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0403B-439E-449F-83B1-799EEC239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932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87A535-3CAC-46BC-B2B2-3AE83EC3A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506991" cy="21530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EBDBD-59EC-46ED-BE79-6D37B531D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600" y="3306870"/>
            <a:ext cx="10506991" cy="2572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21F5C-FD3D-42C7-90F4-5ECE6FFCFE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84632" y="1005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81B8F32D-D8B6-4B9E-9CBF-DCAC30B7B93D}" type="datetimeFigureOut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63D50-6D0B-4963-97B9-A32AE63235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41908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B5E08-CAC3-4C87-B143-5F8956AE90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9591" y="1005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0553ECD-7F6D-420D-93CA-D8D15EB427A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08D74AC-B125-4E11-BA53-E9E38396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C76EBE-FB9D-4054-B5D8-19E3EAFE4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697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7" r:id="rId10"/>
    <p:sldLayoutId id="2147483798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Relationship Id="rId9" Type="http://schemas.openxmlformats.org/officeDocument/2006/relationships/image" Target="../media/image16.sv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ackground Fill">
            <a:extLst>
              <a:ext uri="{FF2B5EF4-FFF2-40B4-BE49-F238E27FC236}">
                <a16:creationId xmlns:a16="http://schemas.microsoft.com/office/drawing/2014/main" id="{B6D694DB-A3FC-4F14-A225-17BEBA441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914C8D-3DB1-C1A7-6E7E-D775B424B8F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7422" r="-1" b="8287"/>
          <a:stretch>
            <a:fillRect/>
          </a:stretch>
        </p:blipFill>
        <p:spPr>
          <a:xfrm>
            <a:off x="3059" y="10"/>
            <a:ext cx="12188941" cy="6857990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6233B4D5-2565-4CC0-A9B1-C9EA9E9DE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D0FB50-B90C-9526-E834-006C790BE7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1122363"/>
            <a:ext cx="5638801" cy="186848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CA" sz="5100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Health Economics</a:t>
            </a:r>
            <a:br>
              <a:rPr lang="en-CA" sz="5100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CA" sz="5100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Lecture #6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F9C7FB-3F59-5796-DCA9-B54919671C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3623356"/>
            <a:ext cx="5638801" cy="1634443"/>
          </a:xfrm>
        </p:spPr>
        <p:txBody>
          <a:bodyPr>
            <a:normAutofit/>
          </a:bodyPr>
          <a:lstStyle/>
          <a:p>
            <a:r>
              <a:rPr lang="en-CA" b="1" dirty="0">
                <a:ln w="6350">
                  <a:noFill/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Topic: The Political Economy of Healthcare Provision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D02D326-F829-4915-A540-3A4D5ADFC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528E080-CC35-4F6C-9D3C-949904DC4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8" name="Picture 4" descr="image">
            <a:extLst>
              <a:ext uri="{FF2B5EF4-FFF2-40B4-BE49-F238E27FC236}">
                <a16:creationId xmlns:a16="http://schemas.microsoft.com/office/drawing/2014/main" id="{07EDE8EE-97B2-4FFC-8019-3B0C8C737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3241" y="5934750"/>
            <a:ext cx="2857500" cy="866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FA484E-AC5D-C709-0DD9-E23DB796CAD2}"/>
              </a:ext>
            </a:extLst>
          </p:cNvPr>
          <p:cNvSpPr txBox="1"/>
          <p:nvPr/>
        </p:nvSpPr>
        <p:spPr>
          <a:xfrm>
            <a:off x="482600" y="6428403"/>
            <a:ext cx="4334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solidFill>
                  <a:schemeClr val="bg1"/>
                </a:solidFill>
              </a:rPr>
              <a:t>Prepared by Jacob Smith, Trent University</a:t>
            </a:r>
          </a:p>
        </p:txBody>
      </p:sp>
    </p:spTree>
    <p:extLst>
      <p:ext uri="{BB962C8B-B14F-4D97-AF65-F5344CB8AC3E}">
        <p14:creationId xmlns:p14="http://schemas.microsoft.com/office/powerpoint/2010/main" val="3267180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A5715-D549-5DFA-82EB-2573E410C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645033"/>
            <a:ext cx="10280650" cy="840867"/>
          </a:xfrm>
        </p:spPr>
        <p:txBody>
          <a:bodyPr/>
          <a:lstStyle/>
          <a:p>
            <a:r>
              <a:rPr lang="en-CA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04CF6-59F3-1BC6-3F09-48554FD0B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647217"/>
            <a:ext cx="10506991" cy="4203191"/>
          </a:xfrm>
        </p:spPr>
        <p:txBody>
          <a:bodyPr>
            <a:normAutofit/>
          </a:bodyPr>
          <a:lstStyle/>
          <a:p>
            <a:r>
              <a:rPr lang="en-CA" dirty="0"/>
              <a:t>In this lecture we will discuss: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How to think about healthcare systems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Physician Payment Models: Fee for Service VS Capitation.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Canadian Healthcare: The Provincial Schedule of Medical Benefits.</a:t>
            </a:r>
          </a:p>
          <a:p>
            <a:pPr marL="457200" indent="-457200">
              <a:buFont typeface="+mj-lt"/>
              <a:buAutoNum type="arabicPeriod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42C93A9-61D0-70D3-75C4-A43F2AB757B8}"/>
              </a:ext>
            </a:extLst>
          </p:cNvPr>
          <p:cNvSpPr/>
          <p:nvPr/>
        </p:nvSpPr>
        <p:spPr>
          <a:xfrm>
            <a:off x="1748341" y="4929780"/>
            <a:ext cx="9014909" cy="114031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b="1" i="1" u="sng" dirty="0">
                <a:solidFill>
                  <a:schemeClr val="tx1"/>
                </a:solidFill>
              </a:rPr>
              <a:t>Goal of this Lecture: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 b="1" i="1" dirty="0">
                <a:solidFill>
                  <a:schemeClr val="tx1"/>
                </a:solidFill>
              </a:rPr>
              <a:t>Understand different models of physician payment and how these payment schemes impact their behaviour.</a:t>
            </a:r>
          </a:p>
        </p:txBody>
      </p:sp>
    </p:spTree>
    <p:extLst>
      <p:ext uri="{BB962C8B-B14F-4D97-AF65-F5344CB8AC3E}">
        <p14:creationId xmlns:p14="http://schemas.microsoft.com/office/powerpoint/2010/main" val="1175725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98056-0EB6-1F9E-7D25-800D155C5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Thinking about healthcare systems</a:t>
            </a:r>
          </a:p>
        </p:txBody>
      </p:sp>
    </p:spTree>
    <p:extLst>
      <p:ext uri="{BB962C8B-B14F-4D97-AF65-F5344CB8AC3E}">
        <p14:creationId xmlns:p14="http://schemas.microsoft.com/office/powerpoint/2010/main" val="3157542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B3AB9-9FB9-8445-5223-913CE9666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E227F-65E0-AEF5-62B6-8DD56D0F1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US" sz="4800" dirty="0"/>
              <a:t>Thinking about healthcare systems</a:t>
            </a:r>
            <a:endParaRPr lang="en-CA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9EAC9-DEEC-065B-393F-46D8889C9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943100"/>
            <a:ext cx="10506991" cy="3936491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In the paper </a:t>
            </a:r>
            <a:r>
              <a:rPr lang="en-US" i="1" dirty="0"/>
              <a:t>Five types of OECD healthcare systems: Empirical results of a deductive classification </a:t>
            </a:r>
            <a:r>
              <a:rPr lang="en-US" b="1" i="1" dirty="0"/>
              <a:t> </a:t>
            </a:r>
            <a:r>
              <a:rPr lang="en-US" dirty="0"/>
              <a:t> by </a:t>
            </a:r>
            <a:r>
              <a:rPr lang="en-CA" dirty="0"/>
              <a:t> Böhm et al 2013 classify 30 different OCED advanced country  healthcare systems according to three main dimensions:</a:t>
            </a:r>
          </a:p>
          <a:p>
            <a:pPr marL="1143000" lvl="1" indent="-457200">
              <a:buFont typeface="+mj-lt"/>
              <a:buAutoNum type="arabicPeriod"/>
            </a:pPr>
            <a:r>
              <a:rPr lang="en-CA" dirty="0"/>
              <a:t>Regulation.</a:t>
            </a:r>
          </a:p>
          <a:p>
            <a:pPr marL="1143000" lvl="1" indent="-457200">
              <a:buFont typeface="+mj-lt"/>
              <a:buAutoNum type="arabicPeriod"/>
            </a:pPr>
            <a:r>
              <a:rPr lang="en-CA" dirty="0"/>
              <a:t>Financing.</a:t>
            </a:r>
          </a:p>
          <a:p>
            <a:pPr marL="1143000" lvl="1" indent="-457200">
              <a:buFont typeface="+mj-lt"/>
              <a:buAutoNum type="arabicPeriod"/>
            </a:pPr>
            <a:r>
              <a:rPr lang="en-CA" dirty="0"/>
              <a:t>Service Provision.</a:t>
            </a:r>
          </a:p>
          <a:p>
            <a:r>
              <a:rPr lang="en-CA" dirty="0"/>
              <a:t>With provision by three different actors:</a:t>
            </a:r>
          </a:p>
          <a:p>
            <a:pPr marL="1143000" lvl="1" indent="-457200">
              <a:buFont typeface="+mj-lt"/>
              <a:buAutoNum type="arabicPeriod"/>
            </a:pPr>
            <a:r>
              <a:rPr lang="en-CA" dirty="0"/>
              <a:t>State based</a:t>
            </a:r>
          </a:p>
          <a:p>
            <a:pPr marL="1143000" lvl="1" indent="-457200">
              <a:buFont typeface="+mj-lt"/>
              <a:buAutoNum type="arabicPeriod"/>
            </a:pPr>
            <a:r>
              <a:rPr lang="en-CA" dirty="0"/>
              <a:t>Societal-private non profit providers</a:t>
            </a:r>
          </a:p>
          <a:p>
            <a:pPr marL="1143000" lvl="1" indent="-457200">
              <a:buFont typeface="+mj-lt"/>
              <a:buAutoNum type="arabicPeriod"/>
            </a:pPr>
            <a:r>
              <a:rPr lang="en-CA" dirty="0"/>
              <a:t>Private- referring to market based actors</a:t>
            </a:r>
          </a:p>
        </p:txBody>
      </p:sp>
    </p:spTree>
    <p:extLst>
      <p:ext uri="{BB962C8B-B14F-4D97-AF65-F5344CB8AC3E}">
        <p14:creationId xmlns:p14="http://schemas.microsoft.com/office/powerpoint/2010/main" val="2157492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BB1A0-89D6-D46B-46AE-9E90E7A69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3532A-023C-448F-1C00-21A83A08A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US" sz="4800" dirty="0"/>
              <a:t>Regulation</a:t>
            </a:r>
            <a:endParaRPr lang="en-CA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BC37F-17E0-7314-D4D4-5572CB0BF4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647825"/>
            <a:ext cx="10506991" cy="3936491"/>
          </a:xfrm>
        </p:spPr>
        <p:txBody>
          <a:bodyPr>
            <a:normAutofit fontScale="85000" lnSpcReduction="20000"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Given that the market for healthcare is one with </a:t>
            </a:r>
            <a:r>
              <a:rPr lang="en-US" dirty="0" err="1"/>
              <a:t>assyemtric</a:t>
            </a:r>
            <a:r>
              <a:rPr lang="en-US" dirty="0"/>
              <a:t> information between patients and providers, regulation in healthcare is important because it ensures </a:t>
            </a:r>
            <a:r>
              <a:rPr lang="en-US" b="1" dirty="0"/>
              <a:t>quality of care</a:t>
            </a:r>
            <a:r>
              <a:rPr lang="en-US" dirty="0"/>
              <a:t>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Examples of regulation through each of the three actors are as follows:</a:t>
            </a:r>
          </a:p>
          <a:p>
            <a:pPr marL="1143000" lvl="1" indent="-457200">
              <a:buFont typeface="+mj-lt"/>
              <a:buAutoNum type="arabicPeriod"/>
            </a:pPr>
            <a:r>
              <a:rPr lang="en-US" b="1" i="1" u="sng" dirty="0"/>
              <a:t>State based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Licensing of healthcare professionals.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Drug approval by govt agencies.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Public health mandates (i.e. infection control laws).</a:t>
            </a:r>
            <a:endParaRPr lang="en-US" b="1" i="1" u="sng" dirty="0"/>
          </a:p>
          <a:p>
            <a:pPr marL="1143000" lvl="1" indent="-457200">
              <a:buFont typeface="+mj-lt"/>
              <a:buAutoNum type="arabicPeriod"/>
            </a:pPr>
            <a:r>
              <a:rPr lang="en-US" b="1" i="1" u="sng" dirty="0"/>
              <a:t>Societal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dirty="0"/>
              <a:t>Medical association regulation (i.e. OMA (doctors), CDHA (dental </a:t>
            </a:r>
            <a:r>
              <a:rPr lang="en-US" dirty="0" err="1"/>
              <a:t>hygenists</a:t>
            </a:r>
            <a:r>
              <a:rPr lang="en-US" dirty="0"/>
              <a:t>))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dirty="0"/>
              <a:t>Non government watchdog groups.</a:t>
            </a:r>
          </a:p>
          <a:p>
            <a:pPr marL="1143000" lvl="1" indent="-457200">
              <a:buFont typeface="+mj-lt"/>
              <a:buAutoNum type="arabicPeriod"/>
            </a:pPr>
            <a:r>
              <a:rPr lang="en-US" b="1" i="1" u="sng" dirty="0"/>
              <a:t>Private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dirty="0"/>
              <a:t>Hospital accreditation bodies.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dirty="0"/>
              <a:t>Insurance company utilization reviews.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dirty="0"/>
              <a:t>Corporate compliance programs.</a:t>
            </a:r>
          </a:p>
        </p:txBody>
      </p:sp>
    </p:spTree>
    <p:extLst>
      <p:ext uri="{BB962C8B-B14F-4D97-AF65-F5344CB8AC3E}">
        <p14:creationId xmlns:p14="http://schemas.microsoft.com/office/powerpoint/2010/main" val="2151194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3AB4C-3E32-26A2-D8E3-A38C019E1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8D720-442B-04CB-DDFE-943DA21CD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US" sz="4800" dirty="0"/>
              <a:t>Financing</a:t>
            </a:r>
            <a:endParaRPr lang="en-CA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708C3-E6FF-0D73-4EE9-60D8935F2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809750"/>
            <a:ext cx="10506991" cy="3936491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When discussing health system financing, there is an interest in how doctors and other healthcare personnel gets paid for their services </a:t>
            </a:r>
          </a:p>
          <a:p>
            <a:r>
              <a:rPr lang="en-US" dirty="0"/>
              <a:t>Examples of Financing through each of the three actors are as follows:</a:t>
            </a:r>
          </a:p>
          <a:p>
            <a:pPr marL="1143000" lvl="1" indent="-457200">
              <a:buFont typeface="+mj-lt"/>
              <a:buAutoNum type="arabicPeriod"/>
            </a:pPr>
            <a:r>
              <a:rPr lang="en-US" b="1" i="1" u="sng" dirty="0"/>
              <a:t>State based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Tax funded healthcare system.</a:t>
            </a:r>
            <a:endParaRPr lang="en-US" b="1" i="1" u="sng" dirty="0"/>
          </a:p>
          <a:p>
            <a:pPr marL="1143000" lvl="1" indent="-457200">
              <a:buFont typeface="+mj-lt"/>
              <a:buAutoNum type="arabicPeriod"/>
            </a:pPr>
            <a:r>
              <a:rPr lang="en-US" b="1" i="1" u="sng" dirty="0"/>
              <a:t>Societal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dirty="0"/>
              <a:t>Community based health insurance (CBHI).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dirty="0"/>
              <a:t>Mutual Aid Programs (i.e. fundraisers or pooled funds).</a:t>
            </a:r>
          </a:p>
          <a:p>
            <a:pPr marL="1143000" lvl="1" indent="-457200">
              <a:buFont typeface="+mj-lt"/>
              <a:buAutoNum type="arabicPeriod"/>
            </a:pPr>
            <a:r>
              <a:rPr lang="en-US" b="1" i="1" u="sng" dirty="0"/>
              <a:t>Private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dirty="0"/>
              <a:t>Out of pocket payment.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dirty="0"/>
              <a:t>Private insurance.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87787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CD56E-C360-A3AF-483A-B8F6D2552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3FCBF-428C-A12A-C591-D0C88FC98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US" sz="4800" dirty="0"/>
              <a:t>Service Provision</a:t>
            </a:r>
            <a:endParaRPr lang="en-CA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A9D9C-46FC-3AB6-A6E4-6E8B99F4A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943100"/>
            <a:ext cx="10506991" cy="3936491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When describing a healthcare system in terms of service provision, this means describing the kind of employment contracts health care providers have  </a:t>
            </a:r>
          </a:p>
          <a:p>
            <a:r>
              <a:rPr lang="en-US" dirty="0"/>
              <a:t>Examples of service provision through each of the three actors are as follows:</a:t>
            </a:r>
          </a:p>
          <a:p>
            <a:pPr marL="1143000" lvl="1" indent="-457200">
              <a:buFont typeface="+mj-lt"/>
              <a:buAutoNum type="arabicPeriod"/>
            </a:pPr>
            <a:r>
              <a:rPr lang="en-US" b="1" i="1" u="sng" dirty="0"/>
              <a:t>State based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Government ownership and operation of hospitals, clinics and public health services.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Healthcare providers are often public employees who are salaried.</a:t>
            </a:r>
          </a:p>
          <a:p>
            <a:pPr marL="1143000" lvl="1" indent="-457200">
              <a:buFont typeface="+mj-lt"/>
              <a:buAutoNum type="arabicPeriod"/>
            </a:pPr>
            <a:r>
              <a:rPr lang="en-US" b="1" i="1" u="sng" dirty="0"/>
              <a:t>Societal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dirty="0"/>
              <a:t>NGOs, faith-based hospitals and community health networks.</a:t>
            </a:r>
          </a:p>
          <a:p>
            <a:pPr marL="1143000" lvl="1" indent="-457200">
              <a:buFont typeface="+mj-lt"/>
              <a:buAutoNum type="arabicPeriod"/>
            </a:pPr>
            <a:r>
              <a:rPr lang="en-US" b="1" i="1" u="sng" dirty="0"/>
              <a:t>Private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dirty="0"/>
              <a:t>Providers can be independent contractors, and hospitals and clinics operate in a private capacity for profit.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44122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F40E5-4BB4-6BEC-829F-BF82A7F53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0C02F-73F7-9F4B-F8B8-0DA3C6424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005" y="502158"/>
            <a:ext cx="10634472" cy="1117092"/>
          </a:xfrm>
        </p:spPr>
        <p:txBody>
          <a:bodyPr/>
          <a:lstStyle/>
          <a:p>
            <a:r>
              <a:rPr lang="en-US" sz="4800" dirty="0"/>
              <a:t>A Short List of HealthCare Systems</a:t>
            </a:r>
            <a:endParaRPr lang="en-CA" sz="48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A554D3E-6FD1-4852-9F4C-82201CE3E0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1153984"/>
              </p:ext>
            </p:extLst>
          </p:nvPr>
        </p:nvGraphicFramePr>
        <p:xfrm>
          <a:off x="546005" y="1500632"/>
          <a:ext cx="10507662" cy="502920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1905188">
                  <a:extLst>
                    <a:ext uri="{9D8B030D-6E8A-4147-A177-3AD203B41FA5}">
                      <a16:colId xmlns:a16="http://schemas.microsoft.com/office/drawing/2014/main" val="350676702"/>
                    </a:ext>
                  </a:extLst>
                </a:gridCol>
                <a:gridCol w="1597366">
                  <a:extLst>
                    <a:ext uri="{9D8B030D-6E8A-4147-A177-3AD203B41FA5}">
                      <a16:colId xmlns:a16="http://schemas.microsoft.com/office/drawing/2014/main" val="980579804"/>
                    </a:ext>
                  </a:extLst>
                </a:gridCol>
                <a:gridCol w="1751277">
                  <a:extLst>
                    <a:ext uri="{9D8B030D-6E8A-4147-A177-3AD203B41FA5}">
                      <a16:colId xmlns:a16="http://schemas.microsoft.com/office/drawing/2014/main" val="4031702534"/>
                    </a:ext>
                  </a:extLst>
                </a:gridCol>
                <a:gridCol w="1751277">
                  <a:extLst>
                    <a:ext uri="{9D8B030D-6E8A-4147-A177-3AD203B41FA5}">
                      <a16:colId xmlns:a16="http://schemas.microsoft.com/office/drawing/2014/main" val="2831542416"/>
                    </a:ext>
                  </a:extLst>
                </a:gridCol>
                <a:gridCol w="3502554">
                  <a:extLst>
                    <a:ext uri="{9D8B030D-6E8A-4147-A177-3AD203B41FA5}">
                      <a16:colId xmlns:a16="http://schemas.microsoft.com/office/drawing/2014/main" val="39827160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Healthcare system type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Regulation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Financing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Provision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Countries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29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National Health Service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Denmark, Finland, Iceland, Norway, Sweden, Portugal, Spain, U.K.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6569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National Health Insurance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Private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Australia, New Zealand, Canada, Italy, Ireland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9963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Social Health Insurance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Societal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Societal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Private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Austria, Luxembourg, Germany, Switzerland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9617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Health System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Private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Private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Private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USA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4214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Etatist</a:t>
                      </a:r>
                      <a:r>
                        <a:rPr lang="en-US" dirty="0"/>
                        <a:t> Social Health Insurance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Societal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Private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Estonia, France, Czech Republic, Hungary, Netherlands, Slovakia, Israel, Japan, Korea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790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Social-based mixed type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Societal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Societal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Slovenia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10547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4113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85951-9C29-2AC5-2060-4A9509716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F3585-4D3E-1FDD-4E84-98760875A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Physician Payment Models</a:t>
            </a:r>
          </a:p>
        </p:txBody>
      </p:sp>
    </p:spTree>
    <p:extLst>
      <p:ext uri="{BB962C8B-B14F-4D97-AF65-F5344CB8AC3E}">
        <p14:creationId xmlns:p14="http://schemas.microsoft.com/office/powerpoint/2010/main" val="892575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B002A-AEC4-2B5D-CBB8-CC9667D35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1DF1A-16DC-2C4D-95CA-5E3DE264A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US" sz="4800" dirty="0"/>
              <a:t>Physician Payment Models</a:t>
            </a:r>
            <a:endParaRPr lang="en-CA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9C85E-0493-1643-C344-9C3088258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943100"/>
            <a:ext cx="10506991" cy="3936491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There are three main reimbursement models by which physicians can be paid by.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They are:</a:t>
            </a:r>
          </a:p>
          <a:p>
            <a:pPr marL="1143000" lvl="1" indent="-457200">
              <a:buFont typeface="+mj-lt"/>
              <a:buAutoNum type="arabicPeriod"/>
            </a:pPr>
            <a:r>
              <a:rPr lang="en-US" dirty="0"/>
              <a:t>Salaried/Fixed Payment.</a:t>
            </a:r>
          </a:p>
          <a:p>
            <a:pPr marL="1143000" lvl="1" indent="-457200">
              <a:buFont typeface="+mj-lt"/>
              <a:buAutoNum type="arabicPeriod"/>
            </a:pPr>
            <a:r>
              <a:rPr lang="en-US" dirty="0"/>
              <a:t>Fee for Service.</a:t>
            </a:r>
          </a:p>
          <a:p>
            <a:pPr marL="1143000" lvl="1" indent="-457200">
              <a:buFont typeface="+mj-lt"/>
              <a:buAutoNum type="arabicPeriod"/>
            </a:pPr>
            <a:r>
              <a:rPr lang="en-US" dirty="0"/>
              <a:t>Capitation/Per Capita.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/>
              <a:t>Each of these payment models provide different incentives for providing care. </a:t>
            </a:r>
          </a:p>
          <a:p>
            <a:pPr lvl="2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4864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8846F-0ACC-0A70-0227-9645C2959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A953E-D993-8C34-AAC4-244EADD85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US" sz="4800" dirty="0"/>
              <a:t>Physician Behavior: Salaried Payment</a:t>
            </a:r>
            <a:endParaRPr lang="en-CA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F79C26-E1F1-706C-570A-5753DC64AC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2600" y="1457326"/>
                <a:ext cx="10506991" cy="4422266"/>
              </a:xfrm>
            </p:spPr>
            <p:txBody>
              <a:bodyPr>
                <a:normAutofit fontScale="77500" lnSpcReduction="20000"/>
              </a:bodyPr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US" dirty="0"/>
                  <a:t>Under Salaried Payment, Physicians are paid a fixed payment for their work regardless of the treatments provided or number of patients seen.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US" dirty="0"/>
                  <a:t>The way physician behavior is modelled in this context is with the following </a:t>
                </a:r>
                <a:r>
                  <a:rPr lang="en-US" b="1" dirty="0"/>
                  <a:t>Utility Maximization </a:t>
                </a:r>
                <a:r>
                  <a:rPr lang="en-US" dirty="0"/>
                  <a:t> problem:</a:t>
                </a:r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endParaRPr lang="en-US" b="0" dirty="0"/>
              </a:p>
              <a:p>
                <a:r>
                  <a:rPr lang="en-CA" dirty="0"/>
                  <a:t>Where:</a:t>
                </a:r>
                <a:br>
                  <a:rPr lang="en-CA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CA" dirty="0"/>
                  <a:t>: Physician Utility.</a:t>
                </a:r>
                <a:br>
                  <a:rPr lang="en-CA" dirty="0"/>
                </a:br>
                <a:br>
                  <a:rPr lang="en-CA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CA" dirty="0"/>
                  <a:t>: A fixed salary paid.</a:t>
                </a:r>
                <a:br>
                  <a:rPr lang="en-CA" dirty="0"/>
                </a:br>
                <a:br>
                  <a:rPr lang="en-CA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CA" dirty="0"/>
                  <a:t>:Effort exerted.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: The psychic cost of effort.</a:t>
                </a:r>
                <a:br>
                  <a:rPr lang="en-CA" dirty="0"/>
                </a:br>
                <a:br>
                  <a:rPr lang="en-CA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CA" dirty="0"/>
                  <a:t>: Altruism weight.</a:t>
                </a:r>
                <a:br>
                  <a:rPr lang="en-CA" dirty="0"/>
                </a:br>
                <a:br>
                  <a:rPr lang="en-CA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: Quality of care provided.</a:t>
                </a:r>
              </a:p>
              <a:p>
                <a:endParaRPr lang="en-CA" dirty="0"/>
              </a:p>
              <a:p>
                <a:endParaRPr lang="en-CA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F79C26-E1F1-706C-570A-5753DC64AC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2600" y="1457326"/>
                <a:ext cx="10506991" cy="4422266"/>
              </a:xfrm>
              <a:blipFill>
                <a:blip r:embed="rId2"/>
                <a:stretch>
                  <a:fillRect l="-522" t="-2066" b="-192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661BC5A4-5ED7-A934-2D6D-041E78DF061D}"/>
                  </a:ext>
                </a:extLst>
              </p:cNvPr>
              <p:cNvSpPr/>
              <p:nvPr/>
            </p:nvSpPr>
            <p:spPr>
              <a:xfrm>
                <a:off x="5476874" y="3320056"/>
                <a:ext cx="5640197" cy="2680694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CA" b="1" i="1" u="sng" dirty="0">
                    <a:solidFill>
                      <a:schemeClr val="tx1"/>
                    </a:solidFill>
                  </a:rPr>
                  <a:t>Physician Behaviour in this Model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CA" b="1" i="1" dirty="0">
                    <a:solidFill>
                      <a:schemeClr val="tx1"/>
                    </a:solidFill>
                  </a:rPr>
                  <a:t>Salary does not impact the quality of care provided.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CA" b="1" i="1" dirty="0">
                    <a:solidFill>
                      <a:schemeClr val="tx1"/>
                    </a:solidFill>
                  </a:rPr>
                  <a:t>The effort exerted by a physician depends entirely on their altruism in providing quality care.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CA" b="1" i="1" dirty="0">
                    <a:solidFill>
                      <a:schemeClr val="tx1"/>
                    </a:solidFill>
                  </a:rPr>
                  <a:t>Extreme result: if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CA" b="1" i="1" dirty="0">
                    <a:solidFill>
                      <a:schemeClr val="tx1"/>
                    </a:solidFill>
                  </a:rPr>
                  <a:t> then the doctor exerts no effort.</a:t>
                </a:r>
              </a:p>
            </p:txBody>
          </p:sp>
        </mc:Choice>
        <mc:Fallback xmlns=""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661BC5A4-5ED7-A934-2D6D-041E78DF06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6874" y="3320056"/>
                <a:ext cx="5640197" cy="268069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87337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94E31-1C39-15FB-7620-11777FCD8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E0CA9-5603-8992-1827-DF8CE496D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US" sz="4800" dirty="0"/>
              <a:t>Physician Behavior: Fee for service</a:t>
            </a:r>
            <a:endParaRPr lang="en-CA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FE3B35-2F4C-3907-2565-9666BA3B75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2600" y="1943100"/>
                <a:ext cx="10506991" cy="3936491"/>
              </a:xfrm>
            </p:spPr>
            <p:txBody>
              <a:bodyPr>
                <a:normAutofit fontScale="92500" lnSpcReduction="10000"/>
              </a:bodyPr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US" dirty="0"/>
                  <a:t>In the fee for service model, physicians are incentivized to act as profit maximizing firms which are price takers since they are paid for each service they provide.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US" dirty="0"/>
                  <a:t>The base model where </a:t>
                </a:r>
                <a:r>
                  <a:rPr lang="en-US" dirty="0" err="1"/>
                  <a:t>theres</a:t>
                </a:r>
                <a:r>
                  <a:rPr lang="en-US" dirty="0"/>
                  <a:t> no altruism is where physicians solve the following problem: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𝑝𝑁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dirty="0"/>
              </a:p>
              <a:p>
                <a:r>
                  <a:rPr lang="en-CA" dirty="0"/>
                  <a:t>Where:</a:t>
                </a:r>
                <a:br>
                  <a:rPr lang="en-CA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CA" dirty="0"/>
                  <a:t>: is physician profits.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CA" dirty="0"/>
                  <a:t>: the fee paid for physician services.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CA" dirty="0"/>
                  <a:t> is the number of services provided (depends on effort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CA" dirty="0"/>
                  <a:t>).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CA" dirty="0"/>
                  <a:t> is the cost for providing services (depends on effort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FE3B35-2F4C-3907-2565-9666BA3B75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2600" y="1943100"/>
                <a:ext cx="10506991" cy="3936491"/>
              </a:xfrm>
              <a:blipFill>
                <a:blip r:embed="rId2"/>
                <a:stretch>
                  <a:fillRect l="-754" t="-2016" r="-127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69608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30986-C9D7-9D6F-9028-D61A70ABB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B94B0-228F-0378-4766-22FF25B6B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75" y="464058"/>
            <a:ext cx="10634472" cy="1117092"/>
          </a:xfrm>
        </p:spPr>
        <p:txBody>
          <a:bodyPr/>
          <a:lstStyle/>
          <a:p>
            <a:r>
              <a:rPr lang="en-US" sz="4800" dirty="0"/>
              <a:t>Physician Behavior: Capitation/per Capita</a:t>
            </a:r>
            <a:endParaRPr lang="en-CA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731994-D7D3-BB31-5F6F-5C7A139726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82575" y="1714500"/>
                <a:ext cx="11226800" cy="4933950"/>
              </a:xfrm>
            </p:spPr>
            <p:txBody>
              <a:bodyPr>
                <a:normAutofit fontScale="85000" lnSpcReduction="20000"/>
              </a:bodyPr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US" dirty="0"/>
                  <a:t>Under capitation, physicians are paid for the number of patients enrolled in their practice regardless of the number of services provided.</a:t>
                </a:r>
                <a:br>
                  <a:rPr lang="en-US" dirty="0"/>
                </a:br>
                <a:endParaRPr lang="en-US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US" dirty="0"/>
                  <a:t>While this model is preferred by physicians who want to smooth their incomes (like salaried workers) there is a problem of </a:t>
                </a:r>
                <a:r>
                  <a:rPr lang="en-US" b="1" dirty="0"/>
                  <a:t>“cream skimming”</a:t>
                </a:r>
                <a:r>
                  <a:rPr lang="en-US" dirty="0"/>
                  <a:t> which means doctors will favor enrolling healthier patients over sicker ones.</a:t>
                </a:r>
                <a:br>
                  <a:rPr lang="en-US" dirty="0"/>
                </a:br>
                <a:endParaRPr lang="en-US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US" dirty="0"/>
                  <a:t>To illustrate consider a physician who is trying to maximize profits in this environment and can only choose healthy or sick patients to enroll in their practice:</a:t>
                </a:r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endParaRPr lang="en-CA" dirty="0"/>
              </a:p>
              <a:p>
                <a:r>
                  <a:rPr lang="en-CA" dirty="0"/>
                  <a:t>Where:</a:t>
                </a:r>
                <a:br>
                  <a:rPr lang="en-CA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CA" dirty="0"/>
                  <a:t>: Is the payment provided for patient enrollment.</a:t>
                </a:r>
                <a:br>
                  <a:rPr lang="en-CA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A" dirty="0"/>
                  <a:t>: is the number of patients of type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CA" dirty="0"/>
                  <a:t> (either Healthy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CA" dirty="0"/>
                  <a:t> or Sick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CA" dirty="0"/>
                  <a:t>).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A" dirty="0"/>
                  <a:t>: is the cost associated with treating patient type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CA" dirty="0"/>
                  <a:t> (either Healthy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CA" dirty="0"/>
                  <a:t> or Sick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CA" dirty="0"/>
                  <a:t>).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A" dirty="0"/>
                  <a:t>: is the number of patients of type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CA" dirty="0"/>
                  <a:t> (either Healthy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CA" dirty="0"/>
                  <a:t> or Sick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CA" dirty="0"/>
                  <a:t>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731994-D7D3-BB31-5F6F-5C7A139726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2575" y="1714500"/>
                <a:ext cx="11226800" cy="4933950"/>
              </a:xfrm>
              <a:blipFill>
                <a:blip r:embed="rId2"/>
                <a:stretch>
                  <a:fillRect l="-543" t="-197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56745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8E053-7A3F-504D-AABC-D975051B8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B274B-592F-5818-A72C-049350ABF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US" sz="4800" dirty="0"/>
              <a:t>Physician Behavior: Capitation/per Capita</a:t>
            </a:r>
            <a:endParaRPr lang="en-CA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EC0D5C-4EBD-786D-58D6-0A050A76BB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2600" y="1943100"/>
                <a:ext cx="10506991" cy="3936491"/>
              </a:xfrm>
            </p:spPr>
            <p:txBody>
              <a:bodyPr/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US" dirty="0"/>
                  <a:t>With this objective problem: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  <a:br>
                  <a:rPr lang="en-US" dirty="0"/>
                </a:br>
                <a:r>
                  <a:rPr lang="en-US" dirty="0"/>
                  <a:t>Physicians choose to treat only one type of patient.</a:t>
                </a:r>
              </a:p>
              <a:p>
                <a:pPr marL="1028700" lvl="1" indent="-342900">
                  <a:buFont typeface="Wingdings" panose="05000000000000000000" pitchFamily="2" charset="2"/>
                  <a:buChar char="Ø"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dirty="0"/>
                  <a:t> then physicians treat only healthy patients.</a:t>
                </a:r>
              </a:p>
              <a:p>
                <a:pPr marL="1028700" lvl="1" indent="-342900">
                  <a:buFont typeface="Wingdings" panose="05000000000000000000" pitchFamily="2" charset="2"/>
                  <a:buChar char="Ø"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US" dirty="0"/>
                  <a:t> then physicians treat only sick patients.</a:t>
                </a:r>
              </a:p>
              <a:p>
                <a:pPr marL="1028700" lvl="1" indent="-342900">
                  <a:buFont typeface="Wingdings" panose="05000000000000000000" pitchFamily="2" charset="2"/>
                  <a:buChar char="Ø"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dirty="0"/>
                  <a:t> then any combination of healthy or sick patients can be treated.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EC0D5C-4EBD-786D-58D6-0A050A76BB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2600" y="1943100"/>
                <a:ext cx="10506991" cy="3936491"/>
              </a:xfrm>
              <a:blipFill>
                <a:blip r:embed="rId2"/>
                <a:stretch>
                  <a:fillRect l="-870" t="-124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88404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50097-1B23-DB1F-2F47-A1776BEF2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FD803-70CB-15B7-FE7A-9B256C3A4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Canadian Healthcare: The Provincial Schedule of Medical Benefits</a:t>
            </a:r>
          </a:p>
        </p:txBody>
      </p:sp>
    </p:spTree>
    <p:extLst>
      <p:ext uri="{BB962C8B-B14F-4D97-AF65-F5344CB8AC3E}">
        <p14:creationId xmlns:p14="http://schemas.microsoft.com/office/powerpoint/2010/main" val="1950674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2DF90-BBA3-1F75-5C23-D96F1F9FE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153E5E9-B3C1-E5B9-D00E-65B80400C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654" y="1870145"/>
            <a:ext cx="4736783" cy="40823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0F574E9-A63C-37DD-825E-DF6F57520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US" sz="4800" dirty="0"/>
              <a:t>What is the schedule of Medical Benefits</a:t>
            </a:r>
            <a:endParaRPr lang="en-CA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0164A-9D22-7F97-6AD4-B53B7B232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1" y="1943100"/>
            <a:ext cx="6327774" cy="3936491"/>
          </a:xfrm>
        </p:spPr>
        <p:txBody>
          <a:bodyPr>
            <a:normAutofit fontScale="85000" lnSpcReduction="10000"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A Schedule of Medical Benefits is a list of medical services, procedures, or treatments that are covered under a health insurance or public health plan.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It specifies what is reimbursable, at what rate, and under what conditions.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Its useful because it standardizes the kind of coverage across the healthcare system and ensures consistent payments to providers.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It acts as a reference for billing and from a government perspective is seen as a tool for controlling costs while allowing doctors to determine how much they want to work.</a:t>
            </a:r>
          </a:p>
        </p:txBody>
      </p:sp>
    </p:spTree>
    <p:extLst>
      <p:ext uri="{BB962C8B-B14F-4D97-AF65-F5344CB8AC3E}">
        <p14:creationId xmlns:p14="http://schemas.microsoft.com/office/powerpoint/2010/main" val="19812210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E0138-781C-AF1F-83C1-EBF0A440F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Ontario-Ministry-of-Health-and-Long-Term-Care – Department of Civil &amp;  Mineral Engineering">
            <a:extLst>
              <a:ext uri="{FF2B5EF4-FFF2-40B4-BE49-F238E27FC236}">
                <a16:creationId xmlns:a16="http://schemas.microsoft.com/office/drawing/2014/main" id="{205F0456-3A24-F20A-DC7A-A3E2138BCF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8333" y="4569928"/>
            <a:ext cx="2483406" cy="1490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517929-A058-5587-EE18-AC65C62E3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US" sz="4800" dirty="0"/>
              <a:t>Who determines the fee?</a:t>
            </a:r>
            <a:endParaRPr lang="en-CA" sz="4800" dirty="0"/>
          </a:p>
        </p:txBody>
      </p:sp>
      <p:pic>
        <p:nvPicPr>
          <p:cNvPr id="7" name="Content Placeholder 6" descr="Doctor female with solid fill">
            <a:extLst>
              <a:ext uri="{FF2B5EF4-FFF2-40B4-BE49-F238E27FC236}">
                <a16:creationId xmlns:a16="http://schemas.microsoft.com/office/drawing/2014/main" id="{2B4DA290-259A-D3E8-D884-69C324C324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539" y="3094481"/>
            <a:ext cx="1943101" cy="1943101"/>
          </a:xfrm>
        </p:spPr>
      </p:pic>
      <p:pic>
        <p:nvPicPr>
          <p:cNvPr id="9" name="Graphic 8" descr="Office worker male with solid fill">
            <a:extLst>
              <a:ext uri="{FF2B5EF4-FFF2-40B4-BE49-F238E27FC236}">
                <a16:creationId xmlns:a16="http://schemas.microsoft.com/office/drawing/2014/main" id="{C7BDF9D8-7A6F-A9B8-B5C7-C14F6C91AA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04045" y="2884932"/>
            <a:ext cx="2152650" cy="2152650"/>
          </a:xfrm>
          <a:prstGeom prst="rect">
            <a:avLst/>
          </a:prstGeom>
        </p:spPr>
      </p:pic>
      <p:pic>
        <p:nvPicPr>
          <p:cNvPr id="1026" name="Picture 2" descr="Ontario Medical Association - Wikipedia">
            <a:extLst>
              <a:ext uri="{FF2B5EF4-FFF2-40B4-BE49-F238E27FC236}">
                <a16:creationId xmlns:a16="http://schemas.microsoft.com/office/drawing/2014/main" id="{441BD016-9F51-254B-DE1C-E2CFA0C91C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261" y="4892041"/>
            <a:ext cx="2174091" cy="845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Graphic 20" descr="Closed book outline">
            <a:extLst>
              <a:ext uri="{FF2B5EF4-FFF2-40B4-BE49-F238E27FC236}">
                <a16:creationId xmlns:a16="http://schemas.microsoft.com/office/drawing/2014/main" id="{893A8483-A572-22F4-FCA3-DC98260DA8D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55147" y="3351655"/>
            <a:ext cx="1933574" cy="1933574"/>
          </a:xfrm>
          <a:prstGeom prst="rect">
            <a:avLst/>
          </a:prstGeom>
        </p:spPr>
      </p:pic>
      <p:sp>
        <p:nvSpPr>
          <p:cNvPr id="22" name="Arrow: Right 21">
            <a:extLst>
              <a:ext uri="{FF2B5EF4-FFF2-40B4-BE49-F238E27FC236}">
                <a16:creationId xmlns:a16="http://schemas.microsoft.com/office/drawing/2014/main" id="{988DDCC9-AF72-EDC1-3360-F0B4E7FE5B6F}"/>
              </a:ext>
            </a:extLst>
          </p:cNvPr>
          <p:cNvSpPr/>
          <p:nvPr/>
        </p:nvSpPr>
        <p:spPr>
          <a:xfrm>
            <a:off x="3004352" y="4180331"/>
            <a:ext cx="2040515" cy="5673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702C01EC-745F-8E43-2AB5-4CFC1118721B}"/>
              </a:ext>
            </a:extLst>
          </p:cNvPr>
          <p:cNvSpPr/>
          <p:nvPr/>
        </p:nvSpPr>
        <p:spPr>
          <a:xfrm rot="10800000">
            <a:off x="6638925" y="4180329"/>
            <a:ext cx="2313696" cy="5673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9847B8B-DCE9-7BFD-E4A1-A795FAEDA60C}"/>
              </a:ext>
            </a:extLst>
          </p:cNvPr>
          <p:cNvSpPr txBox="1"/>
          <p:nvPr/>
        </p:nvSpPr>
        <p:spPr>
          <a:xfrm>
            <a:off x="5568484" y="3696699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OHIP</a:t>
            </a:r>
            <a:endParaRPr lang="en-CA" dirty="0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FF38941C-6EBB-B29E-25BE-ECE0C7ECD79F}"/>
              </a:ext>
            </a:extLst>
          </p:cNvPr>
          <p:cNvSpPr txBox="1">
            <a:spLocks/>
          </p:cNvSpPr>
          <p:nvPr/>
        </p:nvSpPr>
        <p:spPr>
          <a:xfrm>
            <a:off x="449704" y="1664205"/>
            <a:ext cx="10912035" cy="168745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The determination of fees for procedures in canada results from bargaining between the provincial medical association (representing physicians) and the provincial ministry of health (representing the taxpayers and govt).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 This market structure is a </a:t>
            </a:r>
            <a:r>
              <a:rPr lang="en-US" b="1" dirty="0"/>
              <a:t>Bilateral Monopoly </a:t>
            </a:r>
            <a:r>
              <a:rPr lang="en-US" dirty="0"/>
              <a:t> as individual doctors cannot bargain for fees individually.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In the case of Ontario this is between the </a:t>
            </a:r>
            <a:r>
              <a:rPr lang="en-CA" b="1" dirty="0"/>
              <a:t>Ontario Medical Association </a:t>
            </a:r>
            <a:r>
              <a:rPr lang="en-CA" dirty="0"/>
              <a:t> and </a:t>
            </a:r>
            <a:r>
              <a:rPr lang="en-CA" b="1" dirty="0"/>
              <a:t>Ontario Ministry of Health.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02708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394BCC-D9C3-8C12-A445-81709F441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684665-FBE8-5E0C-6D56-5776E529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664212"/>
            <a:ext cx="3964251" cy="22379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 dirty="0"/>
              <a:t>The schedule of medical benefits as a policy device</a:t>
            </a:r>
            <a:endParaRPr lang="en-CA" sz="36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9615127-4E4B-44AE-B157-C50975D419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B0FBF-928C-C796-2FD0-50CA35C8F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2637921"/>
            <a:ext cx="3964250" cy="3324729"/>
          </a:xfrm>
        </p:spPr>
        <p:txBody>
          <a:bodyPr>
            <a:normAutofit fontScale="92500"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Under fee for service, fee change can alter the incentives around what kind of care is provided by physicians.</a:t>
            </a:r>
            <a:endParaRPr lang="en-CA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sz="2000" dirty="0"/>
              <a:t>Uneven fee change can radically alter physician behaviour.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While there are “lone codes” which are targeted for revision often codes are revised in groups.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607C7DF-2703-4D3B-B500-8182840C0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1D524C4-D3C1-360C-4331-FB89DA9217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6227140"/>
              </p:ext>
            </p:extLst>
          </p:nvPr>
        </p:nvGraphicFramePr>
        <p:xfrm>
          <a:off x="4523051" y="2389969"/>
          <a:ext cx="7262548" cy="2965936"/>
        </p:xfrm>
        <a:graphic>
          <a:graphicData uri="http://schemas.openxmlformats.org/drawingml/2006/table">
            <a:tbl>
              <a:tblPr/>
              <a:tblGrid>
                <a:gridCol w="1008276">
                  <a:extLst>
                    <a:ext uri="{9D8B030D-6E8A-4147-A177-3AD203B41FA5}">
                      <a16:colId xmlns:a16="http://schemas.microsoft.com/office/drawing/2014/main" val="3975833692"/>
                    </a:ext>
                  </a:extLst>
                </a:gridCol>
                <a:gridCol w="922363">
                  <a:extLst>
                    <a:ext uri="{9D8B030D-6E8A-4147-A177-3AD203B41FA5}">
                      <a16:colId xmlns:a16="http://schemas.microsoft.com/office/drawing/2014/main" val="3997481504"/>
                    </a:ext>
                  </a:extLst>
                </a:gridCol>
                <a:gridCol w="746639">
                  <a:extLst>
                    <a:ext uri="{9D8B030D-6E8A-4147-A177-3AD203B41FA5}">
                      <a16:colId xmlns:a16="http://schemas.microsoft.com/office/drawing/2014/main" val="946749112"/>
                    </a:ext>
                  </a:extLst>
                </a:gridCol>
                <a:gridCol w="746639">
                  <a:extLst>
                    <a:ext uri="{9D8B030D-6E8A-4147-A177-3AD203B41FA5}">
                      <a16:colId xmlns:a16="http://schemas.microsoft.com/office/drawing/2014/main" val="2028002697"/>
                    </a:ext>
                  </a:extLst>
                </a:gridCol>
                <a:gridCol w="746639">
                  <a:extLst>
                    <a:ext uri="{9D8B030D-6E8A-4147-A177-3AD203B41FA5}">
                      <a16:colId xmlns:a16="http://schemas.microsoft.com/office/drawing/2014/main" val="2617626412"/>
                    </a:ext>
                  </a:extLst>
                </a:gridCol>
                <a:gridCol w="746639">
                  <a:extLst>
                    <a:ext uri="{9D8B030D-6E8A-4147-A177-3AD203B41FA5}">
                      <a16:colId xmlns:a16="http://schemas.microsoft.com/office/drawing/2014/main" val="1796575242"/>
                    </a:ext>
                  </a:extLst>
                </a:gridCol>
                <a:gridCol w="852075">
                  <a:extLst>
                    <a:ext uri="{9D8B030D-6E8A-4147-A177-3AD203B41FA5}">
                      <a16:colId xmlns:a16="http://schemas.microsoft.com/office/drawing/2014/main" val="134503286"/>
                    </a:ext>
                  </a:extLst>
                </a:gridCol>
                <a:gridCol w="746639">
                  <a:extLst>
                    <a:ext uri="{9D8B030D-6E8A-4147-A177-3AD203B41FA5}">
                      <a16:colId xmlns:a16="http://schemas.microsoft.com/office/drawing/2014/main" val="4061024488"/>
                    </a:ext>
                  </a:extLst>
                </a:gridCol>
                <a:gridCol w="746639">
                  <a:extLst>
                    <a:ext uri="{9D8B030D-6E8A-4147-A177-3AD203B41FA5}">
                      <a16:colId xmlns:a16="http://schemas.microsoft.com/office/drawing/2014/main" val="3030862639"/>
                    </a:ext>
                  </a:extLst>
                </a:gridCol>
              </a:tblGrid>
              <a:tr h="3465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Code</a:t>
                      </a:r>
                      <a:endParaRPr lang="en-CA" sz="2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2010-10-01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2011-04-01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2011-06-01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2011-07-01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2011-09-01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2012-04-01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2013-01-01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2013-04-01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3665164"/>
                  </a:ext>
                </a:extLst>
              </a:tr>
              <a:tr h="3465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X174</a:t>
                      </a: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300" b="0" i="0" u="none" strike="noStrike">
                          <a:solidFill>
                            <a:srgbClr val="9C0006"/>
                          </a:solidFill>
                          <a:effectLst/>
                          <a:latin typeface="Aptos Narrow" panose="020B0004020202020204" pitchFamily="34" charset="0"/>
                        </a:rPr>
                        <a:t>-2%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  <a:endParaRPr lang="en-CA" sz="3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  <a:endParaRPr lang="en-CA" sz="3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8805972"/>
                  </a:ext>
                </a:extLst>
              </a:tr>
              <a:tr h="3465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X175</a:t>
                      </a:r>
                      <a:endParaRPr lang="en-CA" sz="3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300" b="0" i="0" u="none" strike="noStrike">
                          <a:solidFill>
                            <a:srgbClr val="9C0006"/>
                          </a:solidFill>
                          <a:effectLst/>
                          <a:latin typeface="Aptos Narrow" panose="020B0004020202020204" pitchFamily="34" charset="0"/>
                        </a:rPr>
                        <a:t>-2%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206908"/>
                  </a:ext>
                </a:extLst>
              </a:tr>
              <a:tr h="3465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X198</a:t>
                      </a:r>
                      <a:endParaRPr lang="en-CA" sz="3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300" b="0" i="0" u="none" strike="noStrike">
                          <a:solidFill>
                            <a:srgbClr val="9C0006"/>
                          </a:solidFill>
                          <a:effectLst/>
                          <a:latin typeface="Aptos Narrow" panose="020B0004020202020204" pitchFamily="34" charset="0"/>
                        </a:rPr>
                        <a:t>-2%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552016"/>
                  </a:ext>
                </a:extLst>
              </a:tr>
              <a:tr h="3465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X199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  <a:endParaRPr lang="en-CA" sz="3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300" b="0" i="0" u="none" strike="noStrike">
                          <a:solidFill>
                            <a:srgbClr val="9C0006"/>
                          </a:solidFill>
                          <a:effectLst/>
                          <a:latin typeface="Aptos Narrow" panose="020B0004020202020204" pitchFamily="34" charset="0"/>
                        </a:rPr>
                        <a:t>-2%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4234231"/>
                  </a:ext>
                </a:extLst>
              </a:tr>
              <a:tr h="3465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X416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300" b="0" i="0" u="none" strike="noStrike">
                          <a:solidFill>
                            <a:srgbClr val="9C0006"/>
                          </a:solidFill>
                          <a:effectLst/>
                          <a:latin typeface="Aptos Narrow" panose="020B0004020202020204" pitchFamily="34" charset="0"/>
                        </a:rPr>
                        <a:t>-5%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4521960"/>
                  </a:ext>
                </a:extLst>
              </a:tr>
              <a:tr h="3465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X128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300" b="0" i="0" u="none" strike="noStrike">
                          <a:solidFill>
                            <a:srgbClr val="9C0006"/>
                          </a:solidFill>
                          <a:effectLst/>
                          <a:latin typeface="Aptos Narrow" panose="020B0004020202020204" pitchFamily="34" charset="0"/>
                        </a:rPr>
                        <a:t>-5%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2815678"/>
                  </a:ext>
                </a:extLst>
              </a:tr>
              <a:tr h="3465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X168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300" b="0" i="0" u="none" strike="noStrike" dirty="0">
                          <a:solidFill>
                            <a:srgbClr val="006100"/>
                          </a:solidFill>
                          <a:effectLst/>
                          <a:latin typeface="Aptos Narrow" panose="020B0004020202020204" pitchFamily="34" charset="0"/>
                        </a:rPr>
                        <a:t>24%</a:t>
                      </a:r>
                      <a:endParaRPr lang="en-CA" sz="3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300" b="0" i="0" u="none" strike="noStrike">
                          <a:solidFill>
                            <a:srgbClr val="9C0006"/>
                          </a:solidFill>
                          <a:effectLst/>
                          <a:latin typeface="Aptos Narrow" panose="020B0004020202020204" pitchFamily="34" charset="0"/>
                        </a:rPr>
                        <a:t>-5%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  <a:endParaRPr lang="en-CA" sz="3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22" marR="20222" marT="2022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59113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38635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7FE9A-AF3C-34C1-FCD8-A3FED5DE9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FC4EA-A092-2060-1D9D-A1521E3B0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US" sz="4800" dirty="0"/>
              <a:t>Concluding remarks on the schedule of medical benefits</a:t>
            </a:r>
            <a:endParaRPr lang="en-CA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55912-0179-98E8-89CF-E25798E1F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943100"/>
            <a:ext cx="10506991" cy="3936491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The schedule of medical benefits can incentivize he kind of care that is provided.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This can impact the services provided by physicians and in turn patient health.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To maintain stability in physician behavior fee codes should be updated uniformly (with the same percentage change).</a:t>
            </a:r>
            <a:endParaRPr lang="en-CA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0889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60213-902A-34EC-18C5-02E28E1BF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2F001-EA17-C904-C30D-46C49C74F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645033"/>
            <a:ext cx="10280650" cy="840867"/>
          </a:xfrm>
        </p:spPr>
        <p:txBody>
          <a:bodyPr/>
          <a:lstStyle/>
          <a:p>
            <a:r>
              <a:rPr lang="en-CA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D4388-732E-1793-90C0-C430F90D8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647217"/>
            <a:ext cx="10506991" cy="4203191"/>
          </a:xfrm>
        </p:spPr>
        <p:txBody>
          <a:bodyPr>
            <a:normAutofit/>
          </a:bodyPr>
          <a:lstStyle/>
          <a:p>
            <a:r>
              <a:rPr lang="en-CA" dirty="0"/>
              <a:t>In this lecture we will discuss: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How to think about healthcare systems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Physician Payment Models: Fee for Service VS Capitation.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Canadian Healthcare: The Provincial Schedule of Medical Benefits.</a:t>
            </a:r>
          </a:p>
          <a:p>
            <a:pPr marL="457200" indent="-457200">
              <a:buFont typeface="+mj-lt"/>
              <a:buAutoNum type="arabicPeriod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AE35E1C-D20F-F34E-4813-CCADD32CD771}"/>
              </a:ext>
            </a:extLst>
          </p:cNvPr>
          <p:cNvSpPr/>
          <p:nvPr/>
        </p:nvSpPr>
        <p:spPr>
          <a:xfrm>
            <a:off x="1748341" y="4929780"/>
            <a:ext cx="9014909" cy="114031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b="1" i="1" u="sng" dirty="0">
                <a:solidFill>
                  <a:schemeClr val="tx1"/>
                </a:solidFill>
              </a:rPr>
              <a:t>Goal of this Lecture: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 b="1" i="1">
                <a:solidFill>
                  <a:schemeClr val="tx1"/>
                </a:solidFill>
              </a:rPr>
              <a:t>Understand different models of physician payment and how these payment schemes impact their behaviour.</a:t>
            </a:r>
            <a:endParaRPr lang="en-CA" b="1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908062"/>
      </p:ext>
    </p:extLst>
  </p:cSld>
  <p:clrMapOvr>
    <a:masterClrMapping/>
  </p:clrMapOvr>
</p:sld>
</file>

<file path=ppt/theme/theme1.xml><?xml version="1.0" encoding="utf-8"?>
<a:theme xmlns:a="http://schemas.openxmlformats.org/drawingml/2006/main" name="LevelVTI">
  <a:themeElements>
    <a:clrScheme name="Custom 88">
      <a:dk1>
        <a:sysClr val="windowText" lastClr="000000"/>
      </a:dk1>
      <a:lt1>
        <a:sysClr val="window" lastClr="FFFFFF"/>
      </a:lt1>
      <a:dk2>
        <a:srgbClr val="182230"/>
      </a:dk2>
      <a:lt2>
        <a:srgbClr val="F2F2F2"/>
      </a:lt2>
      <a:accent1>
        <a:srgbClr val="00BAC8"/>
      </a:accent1>
      <a:accent2>
        <a:srgbClr val="794DFF"/>
      </a:accent2>
      <a:accent3>
        <a:srgbClr val="00D17D"/>
      </a:accent3>
      <a:accent4>
        <a:srgbClr val="E69500"/>
      </a:accent4>
      <a:accent5>
        <a:srgbClr val="FE5D21"/>
      </a:accent5>
      <a:accent6>
        <a:srgbClr val="939393"/>
      </a:accent6>
      <a:hlink>
        <a:srgbClr val="3E8FF1"/>
      </a:hlink>
      <a:folHlink>
        <a:srgbClr val="939393"/>
      </a:folHlink>
    </a:clrScheme>
    <a:fontScheme name="Seaford">
      <a:majorFont>
        <a:latin typeface="Seaford"/>
        <a:ea typeface=""/>
        <a:cs typeface=""/>
      </a:majorFont>
      <a:minorFont>
        <a:latin typeface="Seafor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velVTI" id="{64F43929-0387-4D33-907F-72B939BCAF99}" vid="{D804DF84-3298-4A39-BA0E-21F83D68BC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4946</TotalTime>
  <Words>1590</Words>
  <Application>Microsoft Office PowerPoint</Application>
  <PresentationFormat>Widescreen</PresentationFormat>
  <Paragraphs>233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Aptos Narrow</vt:lpstr>
      <vt:lpstr>Arial</vt:lpstr>
      <vt:lpstr>Cambria Math</vt:lpstr>
      <vt:lpstr>Seaford</vt:lpstr>
      <vt:lpstr>Wingdings</vt:lpstr>
      <vt:lpstr>LevelVTI</vt:lpstr>
      <vt:lpstr>Health Economics Lecture #6</vt:lpstr>
      <vt:lpstr>Learning Objectives</vt:lpstr>
      <vt:lpstr>Thinking about healthcare systems</vt:lpstr>
      <vt:lpstr>Thinking about healthcare systems</vt:lpstr>
      <vt:lpstr>Regulation</vt:lpstr>
      <vt:lpstr>Financing</vt:lpstr>
      <vt:lpstr>Service Provision</vt:lpstr>
      <vt:lpstr>A Short List of HealthCare Systems</vt:lpstr>
      <vt:lpstr>Physician Payment Models</vt:lpstr>
      <vt:lpstr>Physician Payment Models</vt:lpstr>
      <vt:lpstr>Physician Behavior: Salaried Payment</vt:lpstr>
      <vt:lpstr>Physician Behavior: Fee for service</vt:lpstr>
      <vt:lpstr>Physician Behavior: Capitation/per Capita</vt:lpstr>
      <vt:lpstr>Physician Behavior: Capitation/per Capita</vt:lpstr>
      <vt:lpstr>Canadian Healthcare: The Provincial Schedule of Medical Benefits</vt:lpstr>
      <vt:lpstr>What is the schedule of Medical Benefits</vt:lpstr>
      <vt:lpstr>Who determines the fee?</vt:lpstr>
      <vt:lpstr>The schedule of medical benefits as a policy device</vt:lpstr>
      <vt:lpstr>Concluding remarks on the schedule of medical benefits</vt:lpstr>
      <vt:lpstr>Learning Objectives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Smith</dc:creator>
  <cp:lastModifiedBy>Jacob Smith</cp:lastModifiedBy>
  <cp:revision>35</cp:revision>
  <dcterms:created xsi:type="dcterms:W3CDTF">2025-07-13T05:00:08Z</dcterms:created>
  <dcterms:modified xsi:type="dcterms:W3CDTF">2025-10-29T17:37:11Z</dcterms:modified>
</cp:coreProperties>
</file>