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9" r:id="rId1"/>
  </p:sldMasterIdLst>
  <p:notesMasterIdLst>
    <p:notesMasterId r:id="rId21"/>
  </p:notesMasterIdLst>
  <p:sldIdLst>
    <p:sldId id="256" r:id="rId2"/>
    <p:sldId id="257" r:id="rId3"/>
    <p:sldId id="258" r:id="rId4"/>
    <p:sldId id="284" r:id="rId5"/>
    <p:sldId id="274" r:id="rId6"/>
    <p:sldId id="277" r:id="rId7"/>
    <p:sldId id="278" r:id="rId8"/>
    <p:sldId id="290" r:id="rId9"/>
    <p:sldId id="289" r:id="rId10"/>
    <p:sldId id="291" r:id="rId11"/>
    <p:sldId id="292" r:id="rId12"/>
    <p:sldId id="293" r:id="rId13"/>
    <p:sldId id="294" r:id="rId14"/>
    <p:sldId id="276" r:id="rId15"/>
    <p:sldId id="296" r:id="rId16"/>
    <p:sldId id="299" r:id="rId17"/>
    <p:sldId id="282" r:id="rId18"/>
    <p:sldId id="295" r:id="rId19"/>
    <p:sldId id="30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84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9A107-93FC-4C73-A81C-593CBB10CFEF}" type="datetimeFigureOut">
              <a:rPr lang="en-CA" smtClean="0"/>
              <a:t>2025-11-28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E61FF-07A4-4C6C-B06F-DD1DA8ACF5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3835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3764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6CD05-0160-C719-D33D-B97C4EB19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F8C2A-BB73-C613-8F5F-CA5352193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B091B-33E5-A47A-E528-8F2F6521A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0795F-A11C-C09B-5625-C91F08DE2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5966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1F4A3-C8C8-3A4B-A3C9-4C14E3885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B5872-B5D6-D6A6-CE3D-58D6B3B7C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015FA-80DD-2FD1-32B9-535E2FCAC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B65D2-57DD-CE5C-DC2F-311931BE8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9979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39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6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55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48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8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036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3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1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233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3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69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14C8D-3DB1-C1A7-6E7E-D775B424B8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7422" r="-1" b="8287"/>
          <a:stretch>
            <a:fillRect/>
          </a:stretch>
        </p:blipFill>
        <p:spPr>
          <a:xfrm>
            <a:off x="3059" y="10"/>
            <a:ext cx="12188941" cy="685799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233B4D5-2565-4CC0-A9B1-C9EA9E9DE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0FB50-B90C-9526-E834-006C790BE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1122363"/>
            <a:ext cx="5638801" cy="18684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Health Economics</a:t>
            </a:r>
            <a:b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Lecture #10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9C7FB-3F59-5796-DCA9-B54919671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3623356"/>
            <a:ext cx="5638801" cy="1634443"/>
          </a:xfrm>
        </p:spPr>
        <p:txBody>
          <a:bodyPr>
            <a:normAutofit/>
          </a:bodyPr>
          <a:lstStyle/>
          <a:p>
            <a:r>
              <a:rPr lang="en-CA" b="1" dirty="0">
                <a:ln w="6350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Topic: Value of Information Analysis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02D326-F829-4915-A540-3A4D5ADFC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528E080-CC35-4F6C-9D3C-949904DC4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07EDE8EE-97B2-4FFC-8019-3B0C8C737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3241" y="5934750"/>
            <a:ext cx="2857500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FA484E-AC5D-C709-0DD9-E23DB796CAD2}"/>
              </a:ext>
            </a:extLst>
          </p:cNvPr>
          <p:cNvSpPr txBox="1"/>
          <p:nvPr/>
        </p:nvSpPr>
        <p:spPr>
          <a:xfrm>
            <a:off x="482600" y="6428403"/>
            <a:ext cx="433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chemeClr val="bg1"/>
                </a:solidFill>
              </a:rPr>
              <a:t>Prepared by Jacob Smith, Trent University</a:t>
            </a:r>
          </a:p>
        </p:txBody>
      </p:sp>
    </p:spTree>
    <p:extLst>
      <p:ext uri="{BB962C8B-B14F-4D97-AF65-F5344CB8AC3E}">
        <p14:creationId xmlns:p14="http://schemas.microsoft.com/office/powerpoint/2010/main" val="3267180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5715-D549-5DFA-82EB-2573E410C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45033"/>
            <a:ext cx="10280650" cy="840867"/>
          </a:xfrm>
        </p:spPr>
        <p:txBody>
          <a:bodyPr/>
          <a:lstStyle/>
          <a:p>
            <a:r>
              <a:rPr lang="en-CA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04CF6-59F3-1BC6-3F09-48554FD0B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676400"/>
            <a:ext cx="10506991" cy="4203191"/>
          </a:xfrm>
        </p:spPr>
        <p:txBody>
          <a:bodyPr>
            <a:normAutofit/>
          </a:bodyPr>
          <a:lstStyle/>
          <a:p>
            <a:r>
              <a:rPr lang="en-CA" dirty="0"/>
              <a:t>In this lecture we will discuss: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An Introduction to </a:t>
            </a:r>
            <a:r>
              <a:rPr lang="en-CA" dirty="0" err="1"/>
              <a:t>VoI</a:t>
            </a:r>
            <a:r>
              <a:rPr lang="en-CA" dirty="0"/>
              <a:t> Analysis.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The Expected Value of Perfect Information.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EVPI Curves</a:t>
            </a:r>
          </a:p>
          <a:p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2C93A9-61D0-70D3-75C4-A43F2AB757B8}"/>
              </a:ext>
            </a:extLst>
          </p:cNvPr>
          <p:cNvSpPr/>
          <p:nvPr/>
        </p:nvSpPr>
        <p:spPr>
          <a:xfrm>
            <a:off x="1748341" y="4929780"/>
            <a:ext cx="9014909" cy="114031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i="1" u="sng" dirty="0">
                <a:solidFill>
                  <a:schemeClr val="tx1"/>
                </a:solidFill>
              </a:rPr>
              <a:t>Goal of this Lecture: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 err="1">
                <a:solidFill>
                  <a:schemeClr val="tx1"/>
                </a:solidFill>
              </a:rPr>
              <a:t>Introdouce</a:t>
            </a:r>
            <a:r>
              <a:rPr lang="en-CA" b="1" i="1" dirty="0">
                <a:solidFill>
                  <a:schemeClr val="tx1"/>
                </a:solidFill>
              </a:rPr>
              <a:t> the concept of value of information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Understand theoretically the expected value of perfect information</a:t>
            </a:r>
          </a:p>
        </p:txBody>
      </p:sp>
    </p:spTree>
    <p:extLst>
      <p:ext uri="{BB962C8B-B14F-4D97-AF65-F5344CB8AC3E}">
        <p14:creationId xmlns:p14="http://schemas.microsoft.com/office/powerpoint/2010/main" val="117572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8056-0EB6-1F9E-7D25-800D155C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Valuing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3E2BB-99CF-7281-13AC-89D064C1B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5754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79052-73F3-88F4-AA9C-2505E763A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EC2D7-5D29-5E78-47DB-F238770D3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What is Value of Information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EFF4F-CC13-5426-E088-337527492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31670"/>
            <a:ext cx="10844530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Value of Information (</a:t>
            </a:r>
            <a:r>
              <a:rPr lang="en-CA" dirty="0" err="1"/>
              <a:t>VoI</a:t>
            </a:r>
            <a:r>
              <a:rPr lang="en-CA" dirty="0"/>
              <a:t>) Analysis is a set of tools used to inform decision-makers about valuable research programmes.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Its purpose is different from cost effectiveness analysis.</a:t>
            </a:r>
          </a:p>
          <a:p>
            <a:pPr marL="1028700" lvl="1" indent="-342900">
              <a:buFont typeface="Wingdings" panose="05000000000000000000" pitchFamily="2" charset="2"/>
              <a:buChar char="§"/>
            </a:pPr>
            <a:r>
              <a:rPr lang="en-CA" dirty="0"/>
              <a:t>Cost effectiveness analysis is conducted to demonstrate the value for money a treatment or novel drug offers.</a:t>
            </a:r>
          </a:p>
          <a:p>
            <a:pPr marL="1028700" lvl="1" indent="-342900">
              <a:buFont typeface="Wingdings" panose="05000000000000000000" pitchFamily="2" charset="2"/>
              <a:buChar char="§"/>
            </a:pPr>
            <a:r>
              <a:rPr lang="en-CA" dirty="0"/>
              <a:t>Value of Information Analysis conducted to assess the value of reduced model uncertainty.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Value of Information Analysis quantifies the benefit of collecting more evidence (through the conduct of tests).</a:t>
            </a:r>
          </a:p>
        </p:txBody>
      </p:sp>
    </p:spTree>
    <p:extLst>
      <p:ext uri="{BB962C8B-B14F-4D97-AF65-F5344CB8AC3E}">
        <p14:creationId xmlns:p14="http://schemas.microsoft.com/office/powerpoint/2010/main" val="3682873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B3AB9-9FB9-8445-5223-913CE966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227F-65E0-AEF5-62B6-8DD56D0F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When Value of Information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9EAC9-DEEC-065B-393F-46D8889C9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Value of Information Analysis can be used to answer the following questions.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dirty="0"/>
              <a:t>A gene therapy costing $150,000 per patient shows good results but has no long-term durability data. Does it make sense to spend 10 </a:t>
            </a:r>
            <a:r>
              <a:rPr lang="en-US" dirty="0" err="1"/>
              <a:t>millon</a:t>
            </a:r>
            <a:r>
              <a:rPr lang="en-US" dirty="0"/>
              <a:t> dollars in research to acquire more evidence about patient risks.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dirty="0"/>
              <a:t>Several randomized control trials are presented to compete for a limited research budget. </a:t>
            </a:r>
            <a:r>
              <a:rPr lang="en-US" dirty="0" err="1"/>
              <a:t>VoI</a:t>
            </a:r>
            <a:r>
              <a:rPr lang="en-US" dirty="0"/>
              <a:t> analysis can inform decision makers about research priorities.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dirty="0"/>
              <a:t>What is the dollar value of uncertainty which we are willing to pay to reduce and can technologies feasibly reduce that.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CA" dirty="0"/>
              <a:t>While there are several value of information concepts not limited to but including: the expected value of perfect parameter information, expected value of sample information etc. </a:t>
            </a:r>
            <a:r>
              <a:rPr lang="en-CA" b="1" dirty="0"/>
              <a:t>we will only focus on the Expected Value of Perfect Information (EVPI)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57492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810BA-1CF6-3D46-F3E1-C028968CB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B6542-7E79-F6DE-B882-5FE4DC325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Expected Value of Perfect Information.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97F10-E657-E56D-4B5E-7280D2506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68785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96FAA-BFEB-5827-6B98-8B0E5DE78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D0EA0-D0A7-705C-431B-CE30886C3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Expected Value of Perfect Information.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934232-5688-42A2-9E53-D6B899AD1F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</p:spPr>
            <p:txBody>
              <a:bodyPr>
                <a:normAutofit fontScale="925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Expected Value of Perfect Information Is mathematically Defined as follows: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  <m:sup/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CA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𝒥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𝑁𝐵</m:t>
                                </m:r>
                                <m:d>
                                  <m:d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𝒥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m:rPr>
                                    <m:sty m:val="p"/>
                                  </m:rPr>
                                  <a:rPr lang="en-CA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sub>
                              <m:sup/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d>
                              <m:dPr>
                                <m:begChr m:val="["/>
                                <m:endChr m:val="]"/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𝑁𝐵</m:t>
                                </m:r>
                                <m:d>
                                  <m:d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In plain language this is: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Expected</m:t>
                          </m:r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Value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with</m:t>
                          </m:r>
                          <m:r>
                            <a:rPr lang="en-CA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Perfect</m:t>
                          </m:r>
                          <m:r>
                            <a:rPr lang="en-CA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Information</m:t>
                          </m:r>
                        </m:e>
                      </m:mr>
                    </m:m>
                    <m:r>
                      <a:rPr lang="en-CA" b="0" i="0" smtClean="0">
                        <a:latin typeface="Cambria Math" panose="02040503050406030204" pitchFamily="18" charset="0"/>
                      </a:rPr>
                      <m:t>−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Expected</m:t>
                          </m:r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Value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with</m:t>
                          </m:r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out</m:t>
                          </m:r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Perfect</m:t>
                          </m:r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Information</m:t>
                          </m:r>
                        </m:e>
                      </m:mr>
                    </m:m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b="1" dirty="0"/>
                  <a:t>WE WONT GET INTO THE DEFINTION OF THE ABOVE COMPLEX EQUATION BUT WILL ILLUSTRATE THE COMPUTATION WITH A EXAMPLE.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934232-5688-42A2-9E53-D6B899AD1F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  <a:blipFill>
                <a:blip r:embed="rId2"/>
                <a:stretch>
                  <a:fillRect l="-638" t="-1085" b="-46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232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847C4-4D59-065E-4791-EFA2CD206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82C5B-87B3-DD05-110B-9D623C421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Example from a Data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A9ED2-F359-97F7-296D-3D416A1DDE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340" y="1714499"/>
                <a:ext cx="10506991" cy="4333875"/>
              </a:xfrm>
            </p:spPr>
            <p:txBody>
              <a:bodyPr>
                <a:normAutofit lnSpcReduction="100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Suppose we collect the following data on the costs and effects of two  treatments over equally likely two possible true states of the world.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Where Net benefit of treatment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CA" dirty="0"/>
                  <a:t> is: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b="1" dirty="0"/>
                  <a:t>NOTE: This is different from how we defined net monetary benefit last lecture as we are not evaluating incremental change.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A9ED2-F359-97F7-296D-3D416A1DDE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340" y="1714499"/>
                <a:ext cx="10506991" cy="4333875"/>
              </a:xfrm>
              <a:blipFill>
                <a:blip r:embed="rId2"/>
                <a:stretch>
                  <a:fillRect l="-813" t="-196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657ABD8-3CE1-FA1A-E24A-7FACC53DFE0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2600" y="2617849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361316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A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B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657ABD8-3CE1-FA1A-E24A-7FACC53DFE0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2600" y="2617849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521907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7795" t="-1163" r="-307985" b="-159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4688" t="-1163" r="-1302" b="-159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142623" r="-71395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242623" r="-71395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63451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6AAD2-AC6D-06D2-C18D-1A31EFA9A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AEB0B-E3AA-E2C9-C741-2BF005216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Example from a Data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BBC5DA-92BD-01A1-7DFD-931C7115FF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340" y="3228975"/>
                <a:ext cx="10506991" cy="2819399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To compute the expected value of perfect information we need: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𝐸𝑉𝑃𝐼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Expected</m:t>
                          </m:r>
                          <m:r>
                            <a:rPr lang="en-CA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Value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with</m:t>
                          </m:r>
                          <m:r>
                            <a:rPr lang="en-CA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Perfect</m:t>
                          </m:r>
                          <m:r>
                            <a:rPr lang="en-CA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Information</m:t>
                          </m:r>
                        </m:e>
                      </m:mr>
                    </m:m>
                    <m:r>
                      <a:rPr lang="en-CA">
                        <a:latin typeface="Cambria Math" panose="02040503050406030204" pitchFamily="18" charset="0"/>
                      </a:rPr>
                      <m:t>−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Expected</m:t>
                          </m:r>
                          <m:r>
                            <a:rPr lang="en-CA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Value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without</m:t>
                          </m:r>
                          <m:r>
                            <a:rPr lang="en-CA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Perfect</m:t>
                          </m:r>
                          <m:r>
                            <a:rPr lang="en-CA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Information</m:t>
                          </m:r>
                        </m:e>
                      </m:mr>
                    </m:m>
                  </m:oMath>
                </a14:m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𝐸𝑉𝑃𝐼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𝐸𝑉𝑤𝑃𝐼</m:t>
                    </m:r>
                    <m:r>
                      <a:rPr lang="en-CA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𝐸𝑉𝑤𝑜𝑃𝐼</m:t>
                    </m:r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BBC5DA-92BD-01A1-7DFD-931C7115FF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340" y="3228975"/>
                <a:ext cx="10506991" cy="2819399"/>
              </a:xfrm>
              <a:blipFill>
                <a:blip r:embed="rId2"/>
                <a:stretch>
                  <a:fillRect l="-813" t="-173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A18A2B3-9FE8-CC0C-3121-3F2B20FAAC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7712939"/>
                  </p:ext>
                </p:extLst>
              </p:nvPr>
            </p:nvGraphicFramePr>
            <p:xfrm>
              <a:off x="417188" y="1714500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361316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A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B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A18A2B3-9FE8-CC0C-3121-3F2B20FAAC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7712939"/>
                  </p:ext>
                </p:extLst>
              </p:nvPr>
            </p:nvGraphicFramePr>
            <p:xfrm>
              <a:off x="417188" y="1714500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521907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6818" t="-1163" r="-306439" b="-159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4948" t="-1163" r="-1042" b="-159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142623" r="-71395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242623" r="-71395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21875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90721-29ED-48E1-0031-7DF9319D7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75DAF-0DCB-520A-FBF3-792FE38AC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Example from a Data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459A51-E35C-B26A-958E-9B4B672947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340" y="3228975"/>
                <a:ext cx="10712210" cy="2619375"/>
              </a:xfrm>
            </p:spPr>
            <p:txBody>
              <a:bodyPr>
                <a:normAutofit fontScale="77500" lnSpcReduction="200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To compute expected value with perfect information we use the following formula: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𝐸𝑉𝑤𝑃𝐼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endParaRPr lang="en-CA" dirty="0"/>
              </a:p>
              <a:p>
                <a:pPr/>
                <a:r>
                  <a:rPr lang="en-CA" dirty="0"/>
                  <a:t>Note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CA" dirty="0"/>
                  <a:t>: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𝐸𝑉𝑤𝑃𝐼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20,000,15,000</m:t>
                              </m:r>
                            </m:e>
                          </m:d>
                        </m:e>
                      </m:func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10,000,15,000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br>
                  <a:rPr lang="en-CA" dirty="0"/>
                </a:br>
                <a:endParaRPr lang="en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𝐸𝑉𝑤𝑃𝐼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20,000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15,000</m:t>
                      </m:r>
                    </m:oMath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𝐸𝑉𝑤𝑃𝐼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=17,500</m:t>
                      </m:r>
                    </m:oMath>
                  </m:oMathPara>
                </a14:m>
                <a:endParaRPr lang="en-CA" dirty="0"/>
              </a:p>
              <a:p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459A51-E35C-B26A-958E-9B4B672947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340" y="3228975"/>
                <a:ext cx="10712210" cy="2619375"/>
              </a:xfrm>
              <a:blipFill>
                <a:blip r:embed="rId2"/>
                <a:stretch>
                  <a:fillRect l="-569" t="-349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D861CFC-A8F8-128F-C300-2DF3ED725AC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7188" y="1714500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361316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A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B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D861CFC-A8F8-128F-C300-2DF3ED725AC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7188" y="1714500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521907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6818" t="-1163" r="-306439" b="-159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4948" t="-1163" r="-1042" b="-159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142623" r="-71395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242623" r="-71395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87051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DCD2F-F616-C372-DF83-03359B18A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A4DD-6FF4-04C4-CC0C-21A21E9F9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Example from a Data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FCCCEF-2F01-E854-2B51-5DD544E9A3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340" y="3228975"/>
                <a:ext cx="10712210" cy="2619375"/>
              </a:xfrm>
            </p:spPr>
            <p:txBody>
              <a:bodyPr>
                <a:normAutofit fontScale="85000" lnSpcReduction="100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To compute expected value </a:t>
                </a:r>
                <a:r>
                  <a:rPr lang="en-CA" b="1" dirty="0"/>
                  <a:t>without</a:t>
                </a:r>
                <a:r>
                  <a:rPr lang="en-CA" dirty="0"/>
                  <a:t> perfect information we use the following formula: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𝐸𝑉𝑤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𝑃𝐼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CA" dirty="0"/>
              </a:p>
              <a:p>
                <a:pPr/>
                <a:r>
                  <a:rPr lang="en-CA" dirty="0"/>
                  <a:t>Note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CA" dirty="0"/>
                  <a:t>: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𝐸𝑉𝑤𝑜𝑃𝐼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20000+</m:t>
                              </m:r>
                              <m:f>
                                <m:f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10000,</m:t>
                              </m:r>
                              <m:f>
                                <m:f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15000+</m:t>
                              </m:r>
                              <m:f>
                                <m:f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15000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br>
                  <a:rPr lang="en-CA" dirty="0"/>
                </a:br>
                <a:endParaRPr lang="en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𝐸𝑉𝑤𝑜𝑃𝐼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15000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15000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𝐸𝑉𝑤𝑜𝑃𝐼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=15000</m:t>
                      </m:r>
                    </m:oMath>
                  </m:oMathPara>
                </a14:m>
                <a:endParaRPr lang="en-CA" dirty="0"/>
              </a:p>
              <a:p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FCCCEF-2F01-E854-2B51-5DD544E9A3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340" y="3228975"/>
                <a:ext cx="10712210" cy="2619375"/>
              </a:xfrm>
              <a:blipFill>
                <a:blip r:embed="rId2"/>
                <a:stretch>
                  <a:fillRect l="-626" t="-279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49C2BD8-9D9C-8056-1134-32CDE0BEC4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7188" y="1714500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361316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A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B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49C2BD8-9D9C-8056-1134-32CDE0BEC4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7188" y="1714500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521907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6818" t="-1163" r="-306439" b="-159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4948" t="-1163" r="-1042" b="-159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142623" r="-71395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242623" r="-71395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80371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76F8D-539B-A59A-CB83-92A2AABA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4D14A-09C3-F1FB-16D0-BC04C4584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Example from a Data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BDF2D9-3008-66FE-5008-CCE2E4DFBE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340" y="3228975"/>
                <a:ext cx="10712210" cy="2619375"/>
              </a:xfrm>
            </p:spPr>
            <p:txBody>
              <a:bodyPr>
                <a:normAutofit fontScale="92500" lnSpcReduction="200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Using </a:t>
                </a:r>
                <a:r>
                  <a:rPr lang="en-CA" dirty="0" err="1"/>
                  <a:t>EVwPI</a:t>
                </a:r>
                <a:r>
                  <a:rPr lang="en-CA" dirty="0"/>
                  <a:t> and </a:t>
                </a:r>
                <a:r>
                  <a:rPr lang="en-CA" dirty="0" err="1"/>
                  <a:t>EVwoPI</a:t>
                </a:r>
                <a:r>
                  <a:rPr lang="en-CA" dirty="0"/>
                  <a:t> we can compute the Expected Value of Perfect Information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=50000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CA" b="0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𝐸𝑉𝑤𝑃𝐼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𝐸𝑉𝑤𝑜𝑃𝐼</m:t>
                    </m:r>
                  </m:oMath>
                </a14:m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=17,500−15,000</m:t>
                    </m:r>
                  </m:oMath>
                </a14:m>
                <a:br>
                  <a:rPr lang="en-CA" b="0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𝐸𝑉𝑃𝐼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=2500</m:t>
                    </m:r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What does this tell us? At a WTP of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50000</m:t>
                    </m:r>
                  </m:oMath>
                </a14:m>
                <a:r>
                  <a:rPr lang="en-CA" dirty="0"/>
                  <a:t> $/QALY the expected value of perfect information is 2500. This means, any test or research which costs more than this price should be rejected.</a:t>
                </a:r>
              </a:p>
              <a:p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BDF2D9-3008-66FE-5008-CCE2E4DFBE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340" y="3228975"/>
                <a:ext cx="10712210" cy="2619375"/>
              </a:xfrm>
              <a:blipFill>
                <a:blip r:embed="rId2"/>
                <a:stretch>
                  <a:fillRect l="-626" t="-419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E1C7B16-3FB8-D966-B2C3-D011EB828C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7188" y="1714500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361316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A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Net Benefit of B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CA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=$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𝟎𝟎𝟎</m:t>
                              </m:r>
                              <m:r>
                                <a:rPr lang="en-CA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A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E1C7B16-3FB8-D966-B2C3-D011EB828C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7188" y="1714500"/>
              <a:ext cx="10636143" cy="126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1406">
                      <a:extLst>
                        <a:ext uri="{9D8B030D-6E8A-4147-A177-3AD203B41FA5}">
                          <a16:colId xmlns:a16="http://schemas.microsoft.com/office/drawing/2014/main" val="3952234104"/>
                        </a:ext>
                      </a:extLst>
                    </a:gridCol>
                    <a:gridCol w="1501902">
                      <a:extLst>
                        <a:ext uri="{9D8B030D-6E8A-4147-A177-3AD203B41FA5}">
                          <a16:colId xmlns:a16="http://schemas.microsoft.com/office/drawing/2014/main" val="3335537457"/>
                        </a:ext>
                      </a:extLst>
                    </a:gridCol>
                    <a:gridCol w="1311406">
                      <a:extLst>
                        <a:ext uri="{9D8B030D-6E8A-4147-A177-3AD203B41FA5}">
                          <a16:colId xmlns:a16="http://schemas.microsoft.com/office/drawing/2014/main" val="2231303964"/>
                        </a:ext>
                      </a:extLst>
                    </a:gridCol>
                    <a:gridCol w="1607077">
                      <a:extLst>
                        <a:ext uri="{9D8B030D-6E8A-4147-A177-3AD203B41FA5}">
                          <a16:colId xmlns:a16="http://schemas.microsoft.com/office/drawing/2014/main" val="235644194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016797212"/>
                        </a:ext>
                      </a:extLst>
                    </a:gridCol>
                    <a:gridCol w="1304925">
                      <a:extLst>
                        <a:ext uri="{9D8B030D-6E8A-4147-A177-3AD203B41FA5}">
                          <a16:colId xmlns:a16="http://schemas.microsoft.com/office/drawing/2014/main" val="1968013198"/>
                        </a:ext>
                      </a:extLst>
                    </a:gridCol>
                    <a:gridCol w="2342127">
                      <a:extLst>
                        <a:ext uri="{9D8B030D-6E8A-4147-A177-3AD203B41FA5}">
                          <a16:colId xmlns:a16="http://schemas.microsoft.com/office/drawing/2014/main" val="99930435"/>
                        </a:ext>
                      </a:extLst>
                    </a:gridCol>
                  </a:tblGrid>
                  <a:tr h="521907"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State of the World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</a:t>
                          </a:r>
                          <a:br>
                            <a:rPr lang="en-CA" sz="1400" dirty="0"/>
                          </a:br>
                          <a:r>
                            <a:rPr lang="en-CA" sz="1400" dirty="0"/>
                            <a:t>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QALYs from Treatment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6818" t="-1163" r="-306439" b="-159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400" dirty="0"/>
                            <a:t>Costs of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sz="1400" dirty="0"/>
                            <a:t>QALYs from Treatment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4948" t="-1163" r="-1042" b="-159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0095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142623" r="-71395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$12,000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$20,000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5413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" t="-242623" r="-71395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$15,000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54092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5673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97ECE-5F2D-28D5-7A53-DB103FFB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B06E-989A-C65E-F67E-B26A7F15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What EVPI is really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1D7B5B-E6D5-F8CA-B53A-1DA2EE294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expected value of perfect information is the difference between two terms.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𝐸𝑉𝑃𝐼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𝐸𝑉𝑤𝑃𝐼</m:t>
                      </m:r>
                      <m:r>
                        <a:rPr lang="en-CA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𝐸𝑉𝑤𝑜𝑃𝐼</m:t>
                      </m:r>
                    </m:oMath>
                  </m:oMathPara>
                </a14:m>
                <a:br>
                  <a:rPr lang="en-CA" dirty="0"/>
                </a:br>
                <a:endParaRPr lang="en-CA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The expected value with perfect information assumes we observe the true state of the world first and then make a decision.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The expected value without perfect information is just the standard optimal decision where we are making a choice between treatments with uncertainty.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1D7B5B-E6D5-F8CA-B53A-1DA2EE294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  <a:blipFill>
                <a:blip r:embed="rId2"/>
                <a:stretch>
                  <a:fillRect l="-754" t="-1240" r="-23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4179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3700D-2372-F525-A04C-C2AC54705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806FD-0970-1F2C-F55B-4D5D9CC34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EVPI CURVES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CB517-512B-41F7-1B5F-D04538E56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93102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DAD89-3457-1F01-57C3-5EB5B82E9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54713-9FEB-587F-C4BA-965E65D26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75" y="597408"/>
            <a:ext cx="10634472" cy="1117092"/>
          </a:xfrm>
        </p:spPr>
        <p:txBody>
          <a:bodyPr/>
          <a:lstStyle/>
          <a:p>
            <a:r>
              <a:rPr lang="en-CA" sz="4800" dirty="0"/>
              <a:t>Graphically Representing EVPI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D86DE4-9393-7B17-5FC8-627F702E0B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943100"/>
                <a:ext cx="5680075" cy="3936491"/>
              </a:xfrm>
            </p:spPr>
            <p:txBody>
              <a:bodyPr>
                <a:normAutofit fontScale="92500" lnSpcReduction="100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Note that the EVPI which was calculated in the previous example depended on a predefined threshold 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Just like the CEAC, we want to vary the threshold value to see how our expected value of perfect information changes.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This curve looks stranger than other curves.</a:t>
                </a:r>
                <a:br>
                  <a:rPr lang="en-CA" dirty="0"/>
                </a:br>
                <a:r>
                  <a:rPr lang="en-CA" dirty="0"/>
                  <a:t>- Theres a kink in the curve.</a:t>
                </a:r>
                <a:br>
                  <a:rPr lang="en-CA" dirty="0"/>
                </a:br>
                <a:r>
                  <a:rPr lang="en-CA" dirty="0"/>
                  <a:t>- There seems to be a decline in the value of information over a small range.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D86DE4-9393-7B17-5FC8-627F702E0B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943100"/>
                <a:ext cx="5680075" cy="3936491"/>
              </a:xfrm>
              <a:blipFill>
                <a:blip r:embed="rId2"/>
                <a:stretch>
                  <a:fillRect l="-1180" t="-2016" r="-32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Fig. 3">
            <a:extLst>
              <a:ext uri="{FF2B5EF4-FFF2-40B4-BE49-F238E27FC236}">
                <a16:creationId xmlns:a16="http://schemas.microsoft.com/office/drawing/2014/main" id="{BB4C335B-7A34-9F66-08A6-CEB5B6895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309" y="1876424"/>
            <a:ext cx="5325573" cy="375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B4093A-2327-C716-5FF3-EE2CAF49D7B5}"/>
              </a:ext>
            </a:extLst>
          </p:cNvPr>
          <p:cNvSpPr txBox="1"/>
          <p:nvPr/>
        </p:nvSpPr>
        <p:spPr>
          <a:xfrm>
            <a:off x="6480809" y="5631939"/>
            <a:ext cx="52640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b="1" dirty="0"/>
              <a:t>Source: </a:t>
            </a:r>
            <a:r>
              <a:rPr lang="en-CA" sz="1000" b="1" dirty="0" err="1"/>
              <a:t>Nurchis</a:t>
            </a:r>
            <a:r>
              <a:rPr lang="en-CA" sz="1000" b="1" dirty="0"/>
              <a:t>, M. C., Radio, F. C., </a:t>
            </a:r>
            <a:r>
              <a:rPr lang="en-CA" sz="1000" b="1" dirty="0" err="1"/>
              <a:t>Salmasi</a:t>
            </a:r>
            <a:r>
              <a:rPr lang="en-CA" sz="1000" b="1" dirty="0"/>
              <a:t>, L., Heidar Alizadeh, A., </a:t>
            </a:r>
            <a:r>
              <a:rPr lang="en-CA" sz="1000" b="1" dirty="0" err="1"/>
              <a:t>Raspolini</a:t>
            </a:r>
            <a:r>
              <a:rPr lang="en-CA" sz="1000" b="1" dirty="0"/>
              <a:t>, G. M., Altamura, G., ... &amp; Damiani, G. (2024). Bayesian cost-effectiveness analysis of Whole genome sequencing versus Whole exome sequencing in a pediatric population with suspected genetic disorders. </a:t>
            </a:r>
            <a:r>
              <a:rPr lang="en-CA" sz="1000" b="1" i="1" dirty="0"/>
              <a:t>The European Journal of Health Economics</a:t>
            </a:r>
            <a:r>
              <a:rPr lang="en-CA" sz="1000" b="1" dirty="0"/>
              <a:t>, </a:t>
            </a:r>
            <a:r>
              <a:rPr lang="en-CA" sz="1000" b="1" i="1" dirty="0"/>
              <a:t>25</a:t>
            </a:r>
            <a:r>
              <a:rPr lang="en-CA" sz="1000" b="1" dirty="0"/>
              <a:t>(6), 999-1011.</a:t>
            </a:r>
          </a:p>
        </p:txBody>
      </p:sp>
    </p:spTree>
    <p:extLst>
      <p:ext uri="{BB962C8B-B14F-4D97-AF65-F5344CB8AC3E}">
        <p14:creationId xmlns:p14="http://schemas.microsoft.com/office/powerpoint/2010/main" val="1709182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46650-B649-DF2B-DCB9-490309F22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66E99-75E5-44C6-2E52-CF21CF8DF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75" y="597408"/>
            <a:ext cx="10634472" cy="1117092"/>
          </a:xfrm>
        </p:spPr>
        <p:txBody>
          <a:bodyPr/>
          <a:lstStyle/>
          <a:p>
            <a:r>
              <a:rPr lang="en-CA" sz="4800" dirty="0"/>
              <a:t>Graphically Representing EVPI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098CB-FBDB-40CF-E1F9-16429C686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5680075" cy="393649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To address each of these issues:</a:t>
            </a:r>
            <a:br>
              <a:rPr lang="en-CA" dirty="0"/>
            </a:br>
            <a:r>
              <a:rPr lang="en-CA" dirty="0"/>
              <a:t>1. The kink in the curve occurs when there is a change in optimal treatment strategy (from treatment B to treatment A) in the </a:t>
            </a:r>
            <a:r>
              <a:rPr lang="en-CA" dirty="0" err="1"/>
              <a:t>EVwoPI</a:t>
            </a:r>
            <a:r>
              <a:rPr lang="en-CA" dirty="0"/>
              <a:t> part of the EVPI calculation.</a:t>
            </a:r>
            <a:br>
              <a:rPr lang="en-CA" dirty="0"/>
            </a:br>
            <a:br>
              <a:rPr lang="en-CA" dirty="0"/>
            </a:br>
            <a:r>
              <a:rPr lang="en-CA" dirty="0"/>
              <a:t>2. The curvature in the EVPI curve is due to combining the EVPI results with our probability of cost effectiveness.</a:t>
            </a:r>
          </a:p>
        </p:txBody>
      </p:sp>
      <p:pic>
        <p:nvPicPr>
          <p:cNvPr id="1026" name="Picture 2" descr="Fig. 3">
            <a:extLst>
              <a:ext uri="{FF2B5EF4-FFF2-40B4-BE49-F238E27FC236}">
                <a16:creationId xmlns:a16="http://schemas.microsoft.com/office/drawing/2014/main" id="{3F165028-644F-F4CB-6672-5D4C33A62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309" y="1876424"/>
            <a:ext cx="5325573" cy="375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211F76-4B05-6B41-326B-F1AC6019A832}"/>
              </a:ext>
            </a:extLst>
          </p:cNvPr>
          <p:cNvSpPr txBox="1"/>
          <p:nvPr/>
        </p:nvSpPr>
        <p:spPr>
          <a:xfrm>
            <a:off x="6480809" y="5631939"/>
            <a:ext cx="52640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b="1" dirty="0"/>
              <a:t>Source: </a:t>
            </a:r>
            <a:r>
              <a:rPr lang="en-CA" sz="1000" b="1" dirty="0" err="1"/>
              <a:t>Nurchis</a:t>
            </a:r>
            <a:r>
              <a:rPr lang="en-CA" sz="1000" b="1" dirty="0"/>
              <a:t>, M. C., Radio, F. C., </a:t>
            </a:r>
            <a:r>
              <a:rPr lang="en-CA" sz="1000" b="1" dirty="0" err="1"/>
              <a:t>Salmasi</a:t>
            </a:r>
            <a:r>
              <a:rPr lang="en-CA" sz="1000" b="1" dirty="0"/>
              <a:t>, L., Heidar Alizadeh, A., </a:t>
            </a:r>
            <a:r>
              <a:rPr lang="en-CA" sz="1000" b="1" dirty="0" err="1"/>
              <a:t>Raspolini</a:t>
            </a:r>
            <a:r>
              <a:rPr lang="en-CA" sz="1000" b="1" dirty="0"/>
              <a:t>, G. M., Altamura, G., ... &amp; Damiani, G. (2024). Bayesian cost-effectiveness analysis of Whole genome sequencing versus Whole exome sequencing in a pediatric population with suspected genetic disorders. </a:t>
            </a:r>
            <a:r>
              <a:rPr lang="en-CA" sz="1000" b="1" i="1" dirty="0"/>
              <a:t>The European Journal of Health Economics</a:t>
            </a:r>
            <a:r>
              <a:rPr lang="en-CA" sz="1000" b="1" dirty="0"/>
              <a:t>, </a:t>
            </a:r>
            <a:r>
              <a:rPr lang="en-CA" sz="1000" b="1" i="1" dirty="0"/>
              <a:t>25</a:t>
            </a:r>
            <a:r>
              <a:rPr lang="en-CA" sz="1000" b="1" dirty="0"/>
              <a:t>(6), 999-1011.</a:t>
            </a:r>
          </a:p>
        </p:txBody>
      </p:sp>
    </p:spTree>
    <p:extLst>
      <p:ext uri="{BB962C8B-B14F-4D97-AF65-F5344CB8AC3E}">
        <p14:creationId xmlns:p14="http://schemas.microsoft.com/office/powerpoint/2010/main" val="3342721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0A779-8332-6921-2145-4F6796151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9128-E474-1861-2EAA-17EA14E79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Combining EVPI and the Probability of cost effectiveness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09A907-5599-C8E3-F8A2-E26A2C6AE3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943100"/>
                <a:ext cx="10506991" cy="402907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CA" dirty="0"/>
                  <a:t>There is one detail that is often added when plotting EVPI curves that is the probability of making a wrong decision.</a:t>
                </a:r>
              </a:p>
              <a:p>
                <a:pPr/>
                <a:r>
                  <a:rPr lang="en-CA" dirty="0"/>
                  <a:t> Definition of EVPI is often modified as :</a:t>
                </a:r>
                <a:br>
                  <a:rPr lang="en-CA" dirty="0"/>
                </a:b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𝐸𝑉𝑃𝐼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𝐶𝐸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p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𝐸𝑉𝑤𝑃𝐼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𝐸𝑉𝑤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𝑃𝐼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br>
                  <a:rPr lang="en-CA" dirty="0"/>
                </a:b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Where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1−</m:t>
                        </m:r>
                        <m:func>
                          <m:func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𝐶𝐸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CA" dirty="0"/>
                  <a:t>is the probability of a treatment being not cost effective at threshold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  <a:br>
                  <a:rPr lang="en-CA" dirty="0"/>
                </a:b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logic for doing this is because when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𝐶𝐸</m:t>
                            </m:r>
                          </m:e>
                          <m:e>
                            <m:sSup>
                              <m:sSup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CA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CA" dirty="0"/>
                  <a:t>, the probability of making a “wrong decision” is zero and the value of information is therefore zero.</a:t>
                </a:r>
                <a:br>
                  <a:rPr lang="en-CA" dirty="0"/>
                </a:b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 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𝐶𝐸</m:t>
                            </m:r>
                          </m:e>
                          <m:e>
                            <m:sSup>
                              <m:sSup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CA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CA" dirty="0"/>
                  <a:t> the value of information is measured directly.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09A907-5599-C8E3-F8A2-E26A2C6AE3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943100"/>
                <a:ext cx="10506991" cy="4029075"/>
              </a:xfrm>
              <a:blipFill>
                <a:blip r:embed="rId2"/>
                <a:stretch>
                  <a:fillRect l="-754" t="-2723" r="-34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3163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4CBF2-D1FC-126D-A23A-2A8DC98E3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BFA9-ECFD-AF3E-3276-B9272FC80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Some concluding remarks on EVPI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43CE8E-E487-8345-5F8B-5BFCA05D66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Value of information analysis is conducted to tell us if it makes sense to conduct more research or acquire more information.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computation of EVPI requires computing the expected value with perfect information (</a:t>
                </a:r>
                <a:r>
                  <a:rPr lang="en-CA" dirty="0" err="1"/>
                  <a:t>EVwPI</a:t>
                </a:r>
                <a:r>
                  <a:rPr lang="en-CA" dirty="0"/>
                  <a:t>) and expected value without information.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Often a modified EVPI formula will be used when plotting the EVPI curve so we need to hold two formulas in mind.</a:t>
                </a:r>
                <a:br>
                  <a:rPr lang="en-CA" dirty="0"/>
                </a:br>
                <a:r>
                  <a:rPr lang="en-CA" dirty="0"/>
                  <a:t>1.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𝐸𝑉𝑃𝐼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</m:t>
                    </m:r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wPI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CA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𝐸𝑉𝑤𝑜𝑃𝐼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br>
                  <a:rPr lang="en-CA" b="0" dirty="0"/>
                </a:br>
                <a:br>
                  <a:rPr lang="en-CA" dirty="0"/>
                </a:br>
                <a:r>
                  <a:rPr lang="en-CA" dirty="0"/>
                  <a:t>2.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𝐸𝑉𝑃𝐼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1−</m:t>
                        </m:r>
                        <m:func>
                          <m:func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𝐶𝐸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𝐸𝑉𝑤𝑃𝐼</m:t>
                        </m:r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  <m:r>
                          <a:rPr lang="en-CA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𝐸𝑉𝑤𝑜𝑃𝐼</m:t>
                        </m:r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43CE8E-E487-8345-5F8B-5BFCA05D66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  <a:blipFill>
                <a:blip r:embed="rId2"/>
                <a:stretch>
                  <a:fillRect l="-754" t="-124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8850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675E6-7CD2-9355-7465-48F404E39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FD4C5-F5FB-4173-2C4B-FE175A375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45033"/>
            <a:ext cx="10280650" cy="840867"/>
          </a:xfrm>
        </p:spPr>
        <p:txBody>
          <a:bodyPr/>
          <a:lstStyle/>
          <a:p>
            <a:r>
              <a:rPr lang="en-CA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0F7BE-F20E-FB5D-4EC4-3406F6350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676400"/>
            <a:ext cx="10506991" cy="4203191"/>
          </a:xfrm>
        </p:spPr>
        <p:txBody>
          <a:bodyPr>
            <a:normAutofit/>
          </a:bodyPr>
          <a:lstStyle/>
          <a:p>
            <a:r>
              <a:rPr lang="en-CA" dirty="0"/>
              <a:t>In this lecture we will discuss: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An Introduction to </a:t>
            </a:r>
            <a:r>
              <a:rPr lang="en-CA" dirty="0" err="1"/>
              <a:t>VoI</a:t>
            </a:r>
            <a:r>
              <a:rPr lang="en-CA" dirty="0"/>
              <a:t> Analysis.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The Expected Value of Perfect Information.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EVPI Curves</a:t>
            </a:r>
          </a:p>
          <a:p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1BA2B9-A2A6-4F04-F70D-7E9613E0D366}"/>
              </a:ext>
            </a:extLst>
          </p:cNvPr>
          <p:cNvSpPr/>
          <p:nvPr/>
        </p:nvSpPr>
        <p:spPr>
          <a:xfrm>
            <a:off x="1748341" y="4929780"/>
            <a:ext cx="9014909" cy="114031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i="1" u="sng" dirty="0">
                <a:solidFill>
                  <a:schemeClr val="tx1"/>
                </a:solidFill>
              </a:rPr>
              <a:t>Goal of this Lecture: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 err="1">
                <a:solidFill>
                  <a:schemeClr val="tx1"/>
                </a:solidFill>
              </a:rPr>
              <a:t>Introdouce</a:t>
            </a:r>
            <a:r>
              <a:rPr lang="en-CA" b="1" i="1" dirty="0">
                <a:solidFill>
                  <a:schemeClr val="tx1"/>
                </a:solidFill>
              </a:rPr>
              <a:t> the concept of value of information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Understand theoretically the expected value of perfect information</a:t>
            </a:r>
          </a:p>
        </p:txBody>
      </p:sp>
    </p:spTree>
    <p:extLst>
      <p:ext uri="{BB962C8B-B14F-4D97-AF65-F5344CB8AC3E}">
        <p14:creationId xmlns:p14="http://schemas.microsoft.com/office/powerpoint/2010/main" val="3293989330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4797</TotalTime>
  <Words>1616</Words>
  <Application>Microsoft Office PowerPoint</Application>
  <PresentationFormat>Widescreen</PresentationFormat>
  <Paragraphs>203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Cambria Math</vt:lpstr>
      <vt:lpstr>Seaford</vt:lpstr>
      <vt:lpstr>Wingdings</vt:lpstr>
      <vt:lpstr>LevelVTI</vt:lpstr>
      <vt:lpstr>Health Economics Lecture #10</vt:lpstr>
      <vt:lpstr>Learning Objectives</vt:lpstr>
      <vt:lpstr>Valuing Information</vt:lpstr>
      <vt:lpstr>What is Value of Information Analysis</vt:lpstr>
      <vt:lpstr>When Value of Information Analysis</vt:lpstr>
      <vt:lpstr>The Expected Value of Perfect Information.</vt:lpstr>
      <vt:lpstr>The Expected Value of Perfect Information.</vt:lpstr>
      <vt:lpstr>An Example from a Data Table</vt:lpstr>
      <vt:lpstr>An Example from a Data Table</vt:lpstr>
      <vt:lpstr>An Example from a Data Table</vt:lpstr>
      <vt:lpstr>An Example from a Data Table</vt:lpstr>
      <vt:lpstr>An Example from a Data Table</vt:lpstr>
      <vt:lpstr>What EVPI is really</vt:lpstr>
      <vt:lpstr>EVPI CURVES</vt:lpstr>
      <vt:lpstr>Graphically Representing EVPI</vt:lpstr>
      <vt:lpstr>Graphically Representing EVPI</vt:lpstr>
      <vt:lpstr>Combining EVPI and the Probability of cost effectiveness</vt:lpstr>
      <vt:lpstr>Some concluding remarks on EVPI</vt:lpstr>
      <vt:lpstr>Learning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Smith</dc:creator>
  <cp:lastModifiedBy>Yakov Smith</cp:lastModifiedBy>
  <cp:revision>35</cp:revision>
  <dcterms:created xsi:type="dcterms:W3CDTF">2025-07-13T05:00:08Z</dcterms:created>
  <dcterms:modified xsi:type="dcterms:W3CDTF">2025-11-28T15:14:12Z</dcterms:modified>
</cp:coreProperties>
</file>