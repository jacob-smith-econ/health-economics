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9" r:id="rId1"/>
  </p:sldMasterIdLst>
  <p:notesMasterIdLst>
    <p:notesMasterId r:id="rId37"/>
  </p:notesMasterIdLst>
  <p:sldIdLst>
    <p:sldId id="256" r:id="rId2"/>
    <p:sldId id="257" r:id="rId3"/>
    <p:sldId id="258" r:id="rId4"/>
    <p:sldId id="274" r:id="rId5"/>
    <p:sldId id="289" r:id="rId6"/>
    <p:sldId id="290" r:id="rId7"/>
    <p:sldId id="275" r:id="rId8"/>
    <p:sldId id="278" r:id="rId9"/>
    <p:sldId id="280" r:id="rId10"/>
    <p:sldId id="281" r:id="rId11"/>
    <p:sldId id="276" r:id="rId12"/>
    <p:sldId id="279" r:id="rId13"/>
    <p:sldId id="282" r:id="rId14"/>
    <p:sldId id="277" r:id="rId15"/>
    <p:sldId id="296" r:id="rId16"/>
    <p:sldId id="293" r:id="rId17"/>
    <p:sldId id="294" r:id="rId18"/>
    <p:sldId id="297" r:id="rId19"/>
    <p:sldId id="298" r:id="rId20"/>
    <p:sldId id="299" r:id="rId21"/>
    <p:sldId id="300" r:id="rId22"/>
    <p:sldId id="316" r:id="rId23"/>
    <p:sldId id="292" r:id="rId24"/>
    <p:sldId id="295" r:id="rId25"/>
    <p:sldId id="313" r:id="rId26"/>
    <p:sldId id="315" r:id="rId27"/>
    <p:sldId id="301" r:id="rId28"/>
    <p:sldId id="302" r:id="rId29"/>
    <p:sldId id="304" r:id="rId30"/>
    <p:sldId id="305" r:id="rId31"/>
    <p:sldId id="306" r:id="rId32"/>
    <p:sldId id="307" r:id="rId33"/>
    <p:sldId id="311" r:id="rId34"/>
    <p:sldId id="312" r:id="rId35"/>
    <p:sldId id="31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52" autoAdjust="0"/>
    <p:restoredTop sz="93284" autoAdjust="0"/>
  </p:normalViewPr>
  <p:slideViewPr>
    <p:cSldViewPr snapToGrid="0">
      <p:cViewPr varScale="1">
        <p:scale>
          <a:sx n="100" d="100"/>
          <a:sy n="100" d="100"/>
        </p:scale>
        <p:origin x="36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9A107-93FC-4C73-A81C-593CBB10CFEF}" type="datetimeFigureOut">
              <a:rPr lang="en-CA" smtClean="0"/>
              <a:t>2025-11-19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E61FF-07A4-4C6C-B06F-DD1DA8ACF568}" type="slidenum">
              <a:rPr lang="en-CA" smtClean="0"/>
              <a:t>‹#›</a:t>
            </a:fld>
            <a:endParaRPr lang="en-CA"/>
          </a:p>
        </p:txBody>
      </p:sp>
    </p:spTree>
    <p:extLst>
      <p:ext uri="{BB962C8B-B14F-4D97-AF65-F5344CB8AC3E}">
        <p14:creationId xmlns:p14="http://schemas.microsoft.com/office/powerpoint/2010/main" val="873835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3E61FF-07A4-4C6C-B06F-DD1DA8ACF568}" type="slidenum">
              <a:rPr lang="en-CA" smtClean="0"/>
              <a:t>3</a:t>
            </a:fld>
            <a:endParaRPr lang="en-CA"/>
          </a:p>
        </p:txBody>
      </p:sp>
    </p:spTree>
    <p:extLst>
      <p:ext uri="{BB962C8B-B14F-4D97-AF65-F5344CB8AC3E}">
        <p14:creationId xmlns:p14="http://schemas.microsoft.com/office/powerpoint/2010/main" val="386376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360A-A832-D165-23C4-0A6A8AC6A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DDCFB-E936-FFE8-8520-86BBB9537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A9DE3-AD60-DBDE-8FF4-AFB3E28725B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8F7E42A-3824-6BB7-B2B9-8509FE4C0981}"/>
              </a:ext>
            </a:extLst>
          </p:cNvPr>
          <p:cNvSpPr>
            <a:spLocks noGrp="1"/>
          </p:cNvSpPr>
          <p:nvPr>
            <p:ph type="sldNum" sz="quarter" idx="5"/>
          </p:nvPr>
        </p:nvSpPr>
        <p:spPr/>
        <p:txBody>
          <a:bodyPr/>
          <a:lstStyle/>
          <a:p>
            <a:fld id="{CE3E61FF-07A4-4C6C-B06F-DD1DA8ACF568}" type="slidenum">
              <a:rPr lang="en-CA" smtClean="0"/>
              <a:t>7</a:t>
            </a:fld>
            <a:endParaRPr lang="en-CA"/>
          </a:p>
        </p:txBody>
      </p:sp>
    </p:spTree>
    <p:extLst>
      <p:ext uri="{BB962C8B-B14F-4D97-AF65-F5344CB8AC3E}">
        <p14:creationId xmlns:p14="http://schemas.microsoft.com/office/powerpoint/2010/main" val="2710772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3E61FF-07A4-4C6C-B06F-DD1DA8ACF568}" type="slidenum">
              <a:rPr lang="en-CA" smtClean="0"/>
              <a:t>9</a:t>
            </a:fld>
            <a:endParaRPr lang="en-CA"/>
          </a:p>
        </p:txBody>
      </p:sp>
    </p:spTree>
    <p:extLst>
      <p:ext uri="{BB962C8B-B14F-4D97-AF65-F5344CB8AC3E}">
        <p14:creationId xmlns:p14="http://schemas.microsoft.com/office/powerpoint/2010/main" val="2039345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EA495-9A5A-33D1-E391-31DE60CB1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C6256-F0E5-9E8E-B434-00032010E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EE400-BE40-AEB3-B6B0-7180FC7B542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2386417-D9F6-3DF7-3A38-5FB963299F1D}"/>
              </a:ext>
            </a:extLst>
          </p:cNvPr>
          <p:cNvSpPr>
            <a:spLocks noGrp="1"/>
          </p:cNvSpPr>
          <p:nvPr>
            <p:ph type="sldNum" sz="quarter" idx="5"/>
          </p:nvPr>
        </p:nvSpPr>
        <p:spPr/>
        <p:txBody>
          <a:bodyPr/>
          <a:lstStyle/>
          <a:p>
            <a:fld id="{CE3E61FF-07A4-4C6C-B06F-DD1DA8ACF568}" type="slidenum">
              <a:rPr lang="en-CA" smtClean="0"/>
              <a:t>11</a:t>
            </a:fld>
            <a:endParaRPr lang="en-CA"/>
          </a:p>
        </p:txBody>
      </p:sp>
    </p:spTree>
    <p:extLst>
      <p:ext uri="{BB962C8B-B14F-4D97-AF65-F5344CB8AC3E}">
        <p14:creationId xmlns:p14="http://schemas.microsoft.com/office/powerpoint/2010/main" val="1012198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97CC-AB8F-498B-F6C4-CDCCD785F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C7F9A-46BB-8315-C3D6-DE53F5E7A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A8D3B-F236-CD7C-ED64-3EBF8233254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6DF9A23-FD7B-6885-136E-B472444B8EB1}"/>
              </a:ext>
            </a:extLst>
          </p:cNvPr>
          <p:cNvSpPr>
            <a:spLocks noGrp="1"/>
          </p:cNvSpPr>
          <p:nvPr>
            <p:ph type="sldNum" sz="quarter" idx="5"/>
          </p:nvPr>
        </p:nvSpPr>
        <p:spPr/>
        <p:txBody>
          <a:bodyPr/>
          <a:lstStyle/>
          <a:p>
            <a:fld id="{CE3E61FF-07A4-4C6C-B06F-DD1DA8ACF568}" type="slidenum">
              <a:rPr lang="en-CA" smtClean="0"/>
              <a:t>14</a:t>
            </a:fld>
            <a:endParaRPr lang="en-CA"/>
          </a:p>
        </p:txBody>
      </p:sp>
    </p:spTree>
    <p:extLst>
      <p:ext uri="{BB962C8B-B14F-4D97-AF65-F5344CB8AC3E}">
        <p14:creationId xmlns:p14="http://schemas.microsoft.com/office/powerpoint/2010/main" val="452717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639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89006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3495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148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87989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903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53933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6811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4332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823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11/19/2025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94693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11/19/2025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4697651"/>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2.png"/><Relationship Id="rId9" Type="http://schemas.openxmlformats.org/officeDocument/2006/relationships/image" Target="../media/image28.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30.png"/><Relationship Id="rId12" Type="http://schemas.openxmlformats.org/officeDocument/2006/relationships/image" Target="../media/image3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3.png"/><Relationship Id="rId5" Type="http://schemas.openxmlformats.org/officeDocument/2006/relationships/image" Target="../media/image25.png"/><Relationship Id="rId10" Type="http://schemas.openxmlformats.org/officeDocument/2006/relationships/image" Target="../media/image32.png"/><Relationship Id="rId4" Type="http://schemas.openxmlformats.org/officeDocument/2006/relationships/image" Target="../media/image22.png"/><Relationship Id="rId9" Type="http://schemas.openxmlformats.org/officeDocument/2006/relationships/image" Target="../media/image28.png"/></Relationships>
</file>

<file path=ppt/slides/_rels/slide3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3.png"/><Relationship Id="rId5" Type="http://schemas.openxmlformats.org/officeDocument/2006/relationships/image" Target="../media/image25.png"/><Relationship Id="rId10" Type="http://schemas.openxmlformats.org/officeDocument/2006/relationships/image" Target="../media/image32.png"/><Relationship Id="rId4" Type="http://schemas.openxmlformats.org/officeDocument/2006/relationships/image" Target="../media/image22.png"/><Relationship Id="rId9" Type="http://schemas.openxmlformats.org/officeDocument/2006/relationships/image" Target="../media/image28.png"/></Relationships>
</file>

<file path=ppt/slides/_rels/slide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image" Target="../media/image34.png"/><Relationship Id="rId4" Type="http://schemas.openxmlformats.org/officeDocument/2006/relationships/image" Target="../media/image22.png"/><Relationship Id="rId9"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Background Fill">
            <a:extLst>
              <a:ext uri="{FF2B5EF4-FFF2-40B4-BE49-F238E27FC236}">
                <a16:creationId xmlns:a16="http://schemas.microsoft.com/office/drawing/2014/main" id="{B6D694DB-A3FC-4F14-A225-17BEBA44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9525" cap="flat">
            <a:noFill/>
            <a:prstDash val="solid"/>
            <a:miter/>
          </a:ln>
        </p:spPr>
        <p:txBody>
          <a:bodyPr rtlCol="0" anchor="ctr"/>
          <a:lstStyle/>
          <a:p>
            <a:endParaRPr lang="en-US">
              <a:solidFill>
                <a:schemeClr val="tx1"/>
              </a:solidFill>
            </a:endParaRPr>
          </a:p>
        </p:txBody>
      </p:sp>
      <p:pic>
        <p:nvPicPr>
          <p:cNvPr id="4" name="Picture 3">
            <a:extLst>
              <a:ext uri="{FF2B5EF4-FFF2-40B4-BE49-F238E27FC236}">
                <a16:creationId xmlns:a16="http://schemas.microsoft.com/office/drawing/2014/main" id="{FD914C8D-3DB1-C1A7-6E7E-D775B424B8F7}"/>
              </a:ext>
            </a:extLst>
          </p:cNvPr>
          <p:cNvPicPr>
            <a:picLocks noChangeAspect="1"/>
          </p:cNvPicPr>
          <p:nvPr/>
        </p:nvPicPr>
        <p:blipFill>
          <a:blip r:embed="rId2">
            <a:alphaModFix/>
          </a:blip>
          <a:srcRect t="7422" r="-1" b="8287"/>
          <a:stretch>
            <a:fillRect/>
          </a:stretch>
        </p:blipFill>
        <p:spPr>
          <a:xfrm>
            <a:off x="3059" y="10"/>
            <a:ext cx="12188941" cy="6857990"/>
          </a:xfrm>
          <a:prstGeom prst="rect">
            <a:avLst/>
          </a:prstGeom>
          <a:solidFill>
            <a:schemeClr val="accent1"/>
          </a:solidFill>
        </p:spPr>
      </p:pic>
      <p:sp>
        <p:nvSpPr>
          <p:cNvPr id="33" name="Rectangle 32">
            <a:extLst>
              <a:ext uri="{FF2B5EF4-FFF2-40B4-BE49-F238E27FC236}">
                <a16:creationId xmlns:a16="http://schemas.microsoft.com/office/drawing/2014/main" id="{6233B4D5-2565-4CC0-A9B1-C9EA9E9DE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0FB50-B90C-9526-E834-006C790BE732}"/>
              </a:ext>
            </a:extLst>
          </p:cNvPr>
          <p:cNvSpPr>
            <a:spLocks noGrp="1"/>
          </p:cNvSpPr>
          <p:nvPr>
            <p:ph type="ctrTitle"/>
          </p:nvPr>
        </p:nvSpPr>
        <p:spPr>
          <a:xfrm>
            <a:off x="457199" y="1122363"/>
            <a:ext cx="5638801" cy="1868487"/>
          </a:xfrm>
        </p:spPr>
        <p:txBody>
          <a:bodyPr>
            <a:normAutofit/>
          </a:bodyPr>
          <a:lstStyle/>
          <a:p>
            <a:pPr>
              <a:lnSpc>
                <a:spcPct val="90000"/>
              </a:lnSpc>
            </a:pPr>
            <a:r>
              <a:rPr lang="en-CA" sz="5100" dirty="0">
                <a:solidFill>
                  <a:srgbClr val="FFFFFF"/>
                </a:solidFill>
                <a:effectLst>
                  <a:outerShdw blurRad="50800" dist="38100" dir="2700000" algn="tl" rotWithShape="0">
                    <a:prstClr val="black">
                      <a:alpha val="40000"/>
                    </a:prstClr>
                  </a:outerShdw>
                </a:effectLst>
              </a:rPr>
              <a:t>Health Economics</a:t>
            </a:r>
            <a:br>
              <a:rPr lang="en-CA" sz="5100" dirty="0">
                <a:solidFill>
                  <a:srgbClr val="FFFFFF"/>
                </a:solidFill>
                <a:effectLst>
                  <a:outerShdw blurRad="50800" dist="38100" dir="2700000" algn="tl" rotWithShape="0">
                    <a:prstClr val="black">
                      <a:alpha val="40000"/>
                    </a:prstClr>
                  </a:outerShdw>
                </a:effectLst>
              </a:rPr>
            </a:br>
            <a:r>
              <a:rPr lang="en-CA" sz="5100" dirty="0">
                <a:solidFill>
                  <a:srgbClr val="FFFFFF"/>
                </a:solidFill>
                <a:effectLst>
                  <a:outerShdw blurRad="50800" dist="38100" dir="2700000" algn="tl" rotWithShape="0">
                    <a:prstClr val="black">
                      <a:alpha val="40000"/>
                    </a:prstClr>
                  </a:outerShdw>
                </a:effectLst>
              </a:rPr>
              <a:t>Lecture #9</a:t>
            </a:r>
          </a:p>
        </p:txBody>
      </p:sp>
      <p:sp>
        <p:nvSpPr>
          <p:cNvPr id="3" name="Subtitle 2">
            <a:extLst>
              <a:ext uri="{FF2B5EF4-FFF2-40B4-BE49-F238E27FC236}">
                <a16:creationId xmlns:a16="http://schemas.microsoft.com/office/drawing/2014/main" id="{74F9C7FB-3F59-5796-DCA9-B54919671C78}"/>
              </a:ext>
            </a:extLst>
          </p:cNvPr>
          <p:cNvSpPr>
            <a:spLocks noGrp="1"/>
          </p:cNvSpPr>
          <p:nvPr>
            <p:ph type="subTitle" idx="1"/>
          </p:nvPr>
        </p:nvSpPr>
        <p:spPr>
          <a:xfrm>
            <a:off x="457199" y="3623356"/>
            <a:ext cx="5638801" cy="1634443"/>
          </a:xfrm>
        </p:spPr>
        <p:txBody>
          <a:bodyPr>
            <a:normAutofit/>
          </a:bodyPr>
          <a:lstStyle/>
          <a:p>
            <a:r>
              <a:rPr lang="en-CA" b="1" dirty="0">
                <a:ln w="6350">
                  <a:noFill/>
                  <a:prstDash val="solid"/>
                </a:ln>
                <a:solidFill>
                  <a:schemeClr val="bg1"/>
                </a:solidFill>
                <a:effectLst>
                  <a:outerShdw blurRad="50800" dist="38100" dir="5400000" algn="t" rotWithShape="0">
                    <a:prstClr val="black">
                      <a:alpha val="40000"/>
                    </a:prstClr>
                  </a:outerShdw>
                </a:effectLst>
              </a:rPr>
              <a:t>Topic: Sensitivity Analysis </a:t>
            </a:r>
          </a:p>
        </p:txBody>
      </p:sp>
      <p:cxnSp>
        <p:nvCxnSpPr>
          <p:cNvPr id="34" name="Straight Connector 33">
            <a:extLst>
              <a:ext uri="{FF2B5EF4-FFF2-40B4-BE49-F238E27FC236}">
                <a16:creationId xmlns:a16="http://schemas.microsoft.com/office/drawing/2014/main" id="{6D02D326-F829-4915-A540-3A4D5ADFC3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D528E080-CC35-4F6C-9D3C-949904DC4D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pic>
        <p:nvPicPr>
          <p:cNvPr id="1028" name="Picture 4" descr="image">
            <a:extLst>
              <a:ext uri="{FF2B5EF4-FFF2-40B4-BE49-F238E27FC236}">
                <a16:creationId xmlns:a16="http://schemas.microsoft.com/office/drawing/2014/main" id="{07EDE8EE-97B2-4FFC-8019-3B0C8C737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3241" y="5934750"/>
            <a:ext cx="2857500" cy="866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FA484E-AC5D-C709-0DD9-E23DB796CAD2}"/>
              </a:ext>
            </a:extLst>
          </p:cNvPr>
          <p:cNvSpPr txBox="1"/>
          <p:nvPr/>
        </p:nvSpPr>
        <p:spPr>
          <a:xfrm>
            <a:off x="482600" y="6428403"/>
            <a:ext cx="4334072" cy="369332"/>
          </a:xfrm>
          <a:prstGeom prst="rect">
            <a:avLst/>
          </a:prstGeom>
          <a:noFill/>
        </p:spPr>
        <p:txBody>
          <a:bodyPr wrap="none" rtlCol="0">
            <a:spAutoFit/>
          </a:bodyPr>
          <a:lstStyle/>
          <a:p>
            <a:r>
              <a:rPr lang="en-CA" i="1" dirty="0">
                <a:solidFill>
                  <a:schemeClr val="bg1"/>
                </a:solidFill>
              </a:rPr>
              <a:t>Prepared by Jacob Smith, Trent University</a:t>
            </a:r>
          </a:p>
        </p:txBody>
      </p:sp>
    </p:spTree>
    <p:extLst>
      <p:ext uri="{BB962C8B-B14F-4D97-AF65-F5344CB8AC3E}">
        <p14:creationId xmlns:p14="http://schemas.microsoft.com/office/powerpoint/2010/main" val="3267180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5715-D549-5DFA-82EB-2573E410C0DA}"/>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EA804CF6-59F3-1BC6-3F09-48554FD0B0E7}"/>
              </a:ext>
            </a:extLst>
          </p:cNvPr>
          <p:cNvSpPr>
            <a:spLocks noGrp="1"/>
          </p:cNvSpPr>
          <p:nvPr>
            <p:ph idx="1"/>
          </p:nvPr>
        </p:nvSpPr>
        <p:spPr>
          <a:xfrm>
            <a:off x="482600" y="1485900"/>
            <a:ext cx="10747375" cy="3829050"/>
          </a:xfrm>
        </p:spPr>
        <p:txBody>
          <a:bodyPr>
            <a:normAutofit/>
          </a:bodyPr>
          <a:lstStyle/>
          <a:p>
            <a:r>
              <a:rPr lang="en-CA" dirty="0"/>
              <a:t>In this lecture, we will discuss:</a:t>
            </a:r>
          </a:p>
          <a:p>
            <a:pPr marL="457200" indent="-457200">
              <a:buFont typeface="+mj-lt"/>
              <a:buAutoNum type="arabicPeriod"/>
            </a:pPr>
            <a:r>
              <a:rPr lang="en-CA" dirty="0"/>
              <a:t>What is sensitivity analysis?</a:t>
            </a:r>
          </a:p>
          <a:p>
            <a:pPr marL="457200" indent="-457200">
              <a:buFont typeface="+mj-lt"/>
              <a:buAutoNum type="arabicPeriod"/>
            </a:pPr>
            <a:r>
              <a:rPr lang="en-CA" dirty="0"/>
              <a:t>One-way sensitivity analysis.</a:t>
            </a:r>
          </a:p>
          <a:p>
            <a:pPr marL="457200" indent="-457200">
              <a:buFont typeface="+mj-lt"/>
              <a:buAutoNum type="arabicPeriod"/>
            </a:pPr>
            <a:r>
              <a:rPr lang="en-CA" dirty="0"/>
              <a:t>Two-way sensitivity analysis.</a:t>
            </a:r>
          </a:p>
          <a:p>
            <a:pPr marL="457200" indent="-457200">
              <a:buFont typeface="+mj-lt"/>
              <a:buAutoNum type="arabicPeriod"/>
            </a:pPr>
            <a:r>
              <a:rPr lang="en-CA" dirty="0"/>
              <a:t>Probabilistic Sensitivity Analysis and the CEAC</a:t>
            </a:r>
          </a:p>
          <a:p>
            <a:pPr marL="457200" indent="-457200">
              <a:buFont typeface="+mj-lt"/>
              <a:buAutoNum type="arabicPeriod"/>
            </a:pPr>
            <a:r>
              <a:rPr lang="en-CA" dirty="0"/>
              <a:t>Net Monetary Benefits and Net Health Benefits</a:t>
            </a:r>
          </a:p>
          <a:p>
            <a:pPr marL="457200" indent="-457200">
              <a:buFont typeface="+mj-lt"/>
              <a:buAutoNum type="arabicPeriod"/>
            </a:pPr>
            <a:r>
              <a:rPr lang="en-CA" dirty="0"/>
              <a:t>Sketching the CEAC by hand.</a:t>
            </a:r>
          </a:p>
          <a:p>
            <a:pPr marL="457200" indent="-457200">
              <a:buFont typeface="+mj-lt"/>
              <a:buAutoNum type="arabicPeriod"/>
            </a:pPr>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842C93A9-61D0-70D3-75C4-A43F2AB757B8}"/>
              </a:ext>
            </a:extLst>
          </p:cNvPr>
          <p:cNvSpPr/>
          <p:nvPr/>
        </p:nvSpPr>
        <p:spPr>
          <a:xfrm>
            <a:off x="1748341" y="49297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the idea of sensitivity analysis</a:t>
            </a:r>
          </a:p>
          <a:p>
            <a:pPr marL="285750" indent="-285750">
              <a:buFont typeface="Wingdings" panose="05000000000000000000" pitchFamily="2" charset="2"/>
              <a:buChar char="Ø"/>
            </a:pPr>
            <a:r>
              <a:rPr lang="en-CA" b="1" i="1" dirty="0">
                <a:solidFill>
                  <a:schemeClr val="tx1"/>
                </a:solidFill>
              </a:rPr>
              <a:t>Understand how sensitivity analysis supports the robustness of model results</a:t>
            </a:r>
          </a:p>
        </p:txBody>
      </p:sp>
    </p:spTree>
    <p:extLst>
      <p:ext uri="{BB962C8B-B14F-4D97-AF65-F5344CB8AC3E}">
        <p14:creationId xmlns:p14="http://schemas.microsoft.com/office/powerpoint/2010/main" val="117572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98056-0EB6-1F9E-7D25-800D155C5359}"/>
              </a:ext>
            </a:extLst>
          </p:cNvPr>
          <p:cNvSpPr>
            <a:spLocks noGrp="1"/>
          </p:cNvSpPr>
          <p:nvPr>
            <p:ph type="title"/>
          </p:nvPr>
        </p:nvSpPr>
        <p:spPr/>
        <p:txBody>
          <a:bodyPr/>
          <a:lstStyle/>
          <a:p>
            <a:r>
              <a:rPr lang="en-CA" dirty="0"/>
              <a:t>What is sensitivity analysis?</a:t>
            </a:r>
          </a:p>
        </p:txBody>
      </p:sp>
      <p:sp>
        <p:nvSpPr>
          <p:cNvPr id="3" name="Text Placeholder 2">
            <a:extLst>
              <a:ext uri="{FF2B5EF4-FFF2-40B4-BE49-F238E27FC236}">
                <a16:creationId xmlns:a16="http://schemas.microsoft.com/office/drawing/2014/main" id="{50B3E2BB-99CF-7281-13AC-89D064C1BBDD}"/>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157542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3AB9-9FB9-8445-5223-913CE966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E227F-65E0-AEF5-62B6-8DD56D0F146F}"/>
              </a:ext>
            </a:extLst>
          </p:cNvPr>
          <p:cNvSpPr>
            <a:spLocks noGrp="1"/>
          </p:cNvSpPr>
          <p:nvPr>
            <p:ph type="title"/>
          </p:nvPr>
        </p:nvSpPr>
        <p:spPr>
          <a:xfrm>
            <a:off x="482600" y="597408"/>
            <a:ext cx="10634472" cy="1117092"/>
          </a:xfrm>
        </p:spPr>
        <p:txBody>
          <a:bodyPr/>
          <a:lstStyle/>
          <a:p>
            <a:r>
              <a:rPr lang="en-CA" sz="4800" dirty="0"/>
              <a:t>Sensitivity Analysis</a:t>
            </a:r>
          </a:p>
        </p:txBody>
      </p:sp>
      <p:sp>
        <p:nvSpPr>
          <p:cNvPr id="3" name="Content Placeholder 2">
            <a:extLst>
              <a:ext uri="{FF2B5EF4-FFF2-40B4-BE49-F238E27FC236}">
                <a16:creationId xmlns:a16="http://schemas.microsoft.com/office/drawing/2014/main" id="{9129EAC9-DEEC-065B-393F-46D8889C9554}"/>
              </a:ext>
            </a:extLst>
          </p:cNvPr>
          <p:cNvSpPr>
            <a:spLocks noGrp="1"/>
          </p:cNvSpPr>
          <p:nvPr>
            <p:ph idx="1"/>
          </p:nvPr>
        </p:nvSpPr>
        <p:spPr>
          <a:xfrm>
            <a:off x="482600" y="1943100"/>
            <a:ext cx="10506991" cy="3936491"/>
          </a:xfrm>
        </p:spPr>
        <p:txBody>
          <a:bodyPr>
            <a:normAutofit/>
          </a:bodyPr>
          <a:lstStyle/>
          <a:p>
            <a:pPr marL="342900" indent="-342900">
              <a:buFont typeface="Wingdings" panose="05000000000000000000" pitchFamily="2" charset="2"/>
              <a:buChar char="§"/>
            </a:pPr>
            <a:r>
              <a:rPr lang="en-CA" dirty="0"/>
              <a:t>Recall, the purpose of a model in the context of a cost effectiveness analysis is to compute expected costs, expected effects/utilities/benefits, and the corresponding Incremental Cost-Effectiveness Ratio (ICER). </a:t>
            </a:r>
          </a:p>
          <a:p>
            <a:pPr marL="342900" indent="-342900">
              <a:buFont typeface="Wingdings" panose="05000000000000000000" pitchFamily="2" charset="2"/>
              <a:buChar char="§"/>
            </a:pPr>
            <a:r>
              <a:rPr lang="en-CA" dirty="0"/>
              <a:t>One concern regarding a model’s output is that the results reported are entirely dependent on the model’s parameters.</a:t>
            </a:r>
          </a:p>
          <a:p>
            <a:pPr marL="342900" indent="-342900">
              <a:buFont typeface="Wingdings" panose="05000000000000000000" pitchFamily="2" charset="2"/>
              <a:buChar char="§"/>
            </a:pPr>
            <a:r>
              <a:rPr lang="en-CA" dirty="0"/>
              <a:t>In order for research to be useful, there needs to be some generalizability. To do so, there needs to be a demonstration of how the results presented are “robust” to other parameter values.</a:t>
            </a:r>
          </a:p>
        </p:txBody>
      </p:sp>
    </p:spTree>
    <p:extLst>
      <p:ext uri="{BB962C8B-B14F-4D97-AF65-F5344CB8AC3E}">
        <p14:creationId xmlns:p14="http://schemas.microsoft.com/office/powerpoint/2010/main" val="2157492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9CB2-D6AD-7C8F-87D7-02F506088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58930-8297-5DC7-2E50-EB8A5A94407B}"/>
              </a:ext>
            </a:extLst>
          </p:cNvPr>
          <p:cNvSpPr>
            <a:spLocks noGrp="1"/>
          </p:cNvSpPr>
          <p:nvPr>
            <p:ph type="title"/>
          </p:nvPr>
        </p:nvSpPr>
        <p:spPr>
          <a:xfrm>
            <a:off x="482600" y="597408"/>
            <a:ext cx="10634472" cy="1117092"/>
          </a:xfrm>
        </p:spPr>
        <p:txBody>
          <a:bodyPr/>
          <a:lstStyle/>
          <a:p>
            <a:r>
              <a:rPr lang="en-CA" sz="4800" dirty="0"/>
              <a:t>Types of Sensitivity Analysis</a:t>
            </a:r>
          </a:p>
        </p:txBody>
      </p:sp>
      <p:sp>
        <p:nvSpPr>
          <p:cNvPr id="3" name="Content Placeholder 2">
            <a:extLst>
              <a:ext uri="{FF2B5EF4-FFF2-40B4-BE49-F238E27FC236}">
                <a16:creationId xmlns:a16="http://schemas.microsoft.com/office/drawing/2014/main" id="{409308B7-172A-1C1F-8D2C-E02832B6E9ED}"/>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There are three type of sensitivity analysis:</a:t>
            </a:r>
          </a:p>
          <a:p>
            <a:pPr marL="1143000" lvl="1" indent="-457200">
              <a:buFont typeface="+mj-lt"/>
              <a:buAutoNum type="arabicPeriod"/>
            </a:pPr>
            <a:r>
              <a:rPr lang="en-CA" dirty="0"/>
              <a:t>One-way sensitivity analysis.</a:t>
            </a:r>
          </a:p>
          <a:p>
            <a:pPr marL="1143000" lvl="1" indent="-457200">
              <a:buFont typeface="+mj-lt"/>
              <a:buAutoNum type="arabicPeriod"/>
            </a:pPr>
            <a:r>
              <a:rPr lang="en-CA" dirty="0"/>
              <a:t>Two-way sensitivity analysis.</a:t>
            </a:r>
          </a:p>
          <a:p>
            <a:pPr marL="1143000" lvl="1" indent="-457200">
              <a:buFont typeface="+mj-lt"/>
              <a:buAutoNum type="arabicPeriod"/>
            </a:pPr>
            <a:r>
              <a:rPr lang="en-CA" dirty="0"/>
              <a:t>Probabilistic sensitivity analysis.</a:t>
            </a:r>
          </a:p>
          <a:p>
            <a:pPr marL="457200" indent="-457200">
              <a:buFont typeface="Wingdings" panose="05000000000000000000" pitchFamily="2" charset="2"/>
              <a:buChar char="§"/>
            </a:pPr>
            <a:r>
              <a:rPr lang="en-CA" dirty="0"/>
              <a:t>The first two on this list are often grouped together and called </a:t>
            </a:r>
            <a:r>
              <a:rPr lang="en-CA" b="1" dirty="0"/>
              <a:t>Deterministic Sensitivity Analysis</a:t>
            </a:r>
            <a:r>
              <a:rPr lang="en-CA" dirty="0"/>
              <a:t>.</a:t>
            </a:r>
          </a:p>
          <a:p>
            <a:pPr marL="457200" indent="-457200">
              <a:buFont typeface="Wingdings" panose="05000000000000000000" pitchFamily="2" charset="2"/>
              <a:buChar char="§"/>
            </a:pPr>
            <a:r>
              <a:rPr lang="en-CA" dirty="0"/>
              <a:t>This lecture will distinguish between the two in order that their methods are well defined.</a:t>
            </a:r>
          </a:p>
        </p:txBody>
      </p:sp>
    </p:spTree>
    <p:extLst>
      <p:ext uri="{BB962C8B-B14F-4D97-AF65-F5344CB8AC3E}">
        <p14:creationId xmlns:p14="http://schemas.microsoft.com/office/powerpoint/2010/main" val="3801465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074F-DB21-2EA7-0663-CB17DEC50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B08C4-70CF-F0F7-78BC-993982647721}"/>
              </a:ext>
            </a:extLst>
          </p:cNvPr>
          <p:cNvSpPr>
            <a:spLocks noGrp="1"/>
          </p:cNvSpPr>
          <p:nvPr>
            <p:ph type="title"/>
          </p:nvPr>
        </p:nvSpPr>
        <p:spPr>
          <a:xfrm>
            <a:off x="482600" y="597408"/>
            <a:ext cx="10634472" cy="1117092"/>
          </a:xfrm>
        </p:spPr>
        <p:txBody>
          <a:bodyPr/>
          <a:lstStyle/>
          <a:p>
            <a:r>
              <a:rPr lang="en-CA" sz="4800" dirty="0"/>
              <a:t>What do we apply sensitivity analysis to?</a:t>
            </a:r>
          </a:p>
        </p:txBody>
      </p:sp>
      <p:sp>
        <p:nvSpPr>
          <p:cNvPr id="3" name="Content Placeholder 2">
            <a:extLst>
              <a:ext uri="{FF2B5EF4-FFF2-40B4-BE49-F238E27FC236}">
                <a16:creationId xmlns:a16="http://schemas.microsoft.com/office/drawing/2014/main" id="{AF6F4C45-C69A-374A-4C1F-6CDDEC398717}"/>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There may be uncertainty about different parts of a model not limited to but including:</a:t>
            </a:r>
          </a:p>
          <a:p>
            <a:pPr marL="342900" indent="-342900">
              <a:buFontTx/>
              <a:buChar char="-"/>
            </a:pPr>
            <a:r>
              <a:rPr lang="en-CA" dirty="0"/>
              <a:t>Probability of events.</a:t>
            </a:r>
          </a:p>
          <a:p>
            <a:pPr marL="342900" indent="-342900">
              <a:buFontTx/>
              <a:buChar char="-"/>
            </a:pPr>
            <a:r>
              <a:rPr lang="en-CA" dirty="0"/>
              <a:t>Costs in each state of the model.</a:t>
            </a:r>
          </a:p>
          <a:p>
            <a:pPr marL="342900" indent="-342900">
              <a:buFontTx/>
              <a:buChar char="-"/>
            </a:pPr>
            <a:r>
              <a:rPr lang="en-CA" dirty="0"/>
              <a:t>Utilities in each state of a model.</a:t>
            </a:r>
          </a:p>
          <a:p>
            <a:pPr marL="342900" indent="-342900">
              <a:buFont typeface="Wingdings" panose="05000000000000000000" pitchFamily="2" charset="2"/>
              <a:buChar char="§"/>
            </a:pPr>
            <a:r>
              <a:rPr lang="en-CA" dirty="0"/>
              <a:t>Ultimately we are interested in seeing how the variation in model impacts the computed ICER which defines the cost-effectiveness the drug or technology in question.</a:t>
            </a:r>
          </a:p>
        </p:txBody>
      </p:sp>
    </p:spTree>
    <p:extLst>
      <p:ext uri="{BB962C8B-B14F-4D97-AF65-F5344CB8AC3E}">
        <p14:creationId xmlns:p14="http://schemas.microsoft.com/office/powerpoint/2010/main" val="1799032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A33D1-3E8F-F059-EEAB-0E4BE7C9F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D3949-B79B-9B5D-215A-B98D09A23D25}"/>
              </a:ext>
            </a:extLst>
          </p:cNvPr>
          <p:cNvSpPr>
            <a:spLocks noGrp="1"/>
          </p:cNvSpPr>
          <p:nvPr>
            <p:ph type="title"/>
          </p:nvPr>
        </p:nvSpPr>
        <p:spPr/>
        <p:txBody>
          <a:bodyPr/>
          <a:lstStyle/>
          <a:p>
            <a:r>
              <a:rPr lang="en-CA" dirty="0"/>
              <a:t>One Way Sensitivity Analysis</a:t>
            </a:r>
          </a:p>
        </p:txBody>
      </p:sp>
      <p:sp>
        <p:nvSpPr>
          <p:cNvPr id="3" name="Text Placeholder 2">
            <a:extLst>
              <a:ext uri="{FF2B5EF4-FFF2-40B4-BE49-F238E27FC236}">
                <a16:creationId xmlns:a16="http://schemas.microsoft.com/office/drawing/2014/main" id="{B708734B-09ED-DC8F-06F7-BF34A6759BF6}"/>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4014150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DB73-8D75-24E2-3EE8-7E0D5467B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8F031-E30E-F0CF-9DB5-E51B7ACD6E95}"/>
              </a:ext>
            </a:extLst>
          </p:cNvPr>
          <p:cNvSpPr>
            <a:spLocks noGrp="1"/>
          </p:cNvSpPr>
          <p:nvPr>
            <p:ph type="title"/>
          </p:nvPr>
        </p:nvSpPr>
        <p:spPr>
          <a:xfrm>
            <a:off x="482600" y="597408"/>
            <a:ext cx="10634472" cy="1117092"/>
          </a:xfrm>
        </p:spPr>
        <p:txBody>
          <a:bodyPr/>
          <a:lstStyle/>
          <a:p>
            <a:r>
              <a:rPr lang="en-CA" sz="4800" dirty="0"/>
              <a:t>One-way Sensitivity Analysis</a:t>
            </a:r>
          </a:p>
        </p:txBody>
      </p:sp>
      <p:sp>
        <p:nvSpPr>
          <p:cNvPr id="3" name="Content Placeholder 2">
            <a:extLst>
              <a:ext uri="{FF2B5EF4-FFF2-40B4-BE49-F238E27FC236}">
                <a16:creationId xmlns:a16="http://schemas.microsoft.com/office/drawing/2014/main" id="{AEFEB813-9CD3-B093-4F5F-52DA45DD8947}"/>
              </a:ext>
            </a:extLst>
          </p:cNvPr>
          <p:cNvSpPr>
            <a:spLocks noGrp="1"/>
          </p:cNvSpPr>
          <p:nvPr>
            <p:ph idx="1"/>
          </p:nvPr>
        </p:nvSpPr>
        <p:spPr>
          <a:xfrm>
            <a:off x="482600" y="1943100"/>
            <a:ext cx="10506992" cy="3936491"/>
          </a:xfrm>
        </p:spPr>
        <p:txBody>
          <a:bodyPr/>
          <a:lstStyle/>
          <a:p>
            <a:pPr marL="342900" indent="-342900">
              <a:buFont typeface="Wingdings" panose="05000000000000000000" pitchFamily="2" charset="2"/>
              <a:buChar char="§"/>
            </a:pPr>
            <a:r>
              <a:rPr lang="en-CA" dirty="0"/>
              <a:t>In one-way sensitivity analysis is when we vary a single model parameter at a time to determine its effect on the computed ICER.</a:t>
            </a:r>
          </a:p>
          <a:p>
            <a:pPr marL="342900" indent="-342900">
              <a:buFont typeface="Wingdings" panose="05000000000000000000" pitchFamily="2" charset="2"/>
              <a:buChar char="§"/>
            </a:pPr>
            <a:r>
              <a:rPr lang="en-CA" dirty="0"/>
              <a:t>The simplest way to do this, a “High” case where the parameter value is 50% larger than the base specification and a “Low” case when the parameter value is 50% lower from the base specification.</a:t>
            </a:r>
          </a:p>
          <a:p>
            <a:pPr marL="342900" indent="-342900">
              <a:buFont typeface="Wingdings" panose="05000000000000000000" pitchFamily="2" charset="2"/>
              <a:buChar char="§"/>
            </a:pPr>
            <a:r>
              <a:rPr lang="en-CA" b="1" dirty="0"/>
              <a:t>Note</a:t>
            </a:r>
            <a:r>
              <a:rPr lang="en-CA" dirty="0"/>
              <a:t>: in a one-way sensitivity analysis all other parameter values are held constant. This is done to determine the role each parameter plays.</a:t>
            </a:r>
          </a:p>
        </p:txBody>
      </p:sp>
    </p:spTree>
    <p:extLst>
      <p:ext uri="{BB962C8B-B14F-4D97-AF65-F5344CB8AC3E}">
        <p14:creationId xmlns:p14="http://schemas.microsoft.com/office/powerpoint/2010/main" val="160530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5619D-BF85-9316-C225-85B26F33D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9D07B-CFD8-543F-0805-681FAA29595F}"/>
              </a:ext>
            </a:extLst>
          </p:cNvPr>
          <p:cNvSpPr>
            <a:spLocks noGrp="1"/>
          </p:cNvSpPr>
          <p:nvPr>
            <p:ph type="title"/>
          </p:nvPr>
        </p:nvSpPr>
        <p:spPr>
          <a:xfrm>
            <a:off x="482600" y="597408"/>
            <a:ext cx="10634472" cy="1117092"/>
          </a:xfrm>
        </p:spPr>
        <p:txBody>
          <a:bodyPr/>
          <a:lstStyle/>
          <a:p>
            <a:r>
              <a:rPr lang="en-CA" sz="4800" dirty="0"/>
              <a:t>Tornado Diagrams</a:t>
            </a:r>
          </a:p>
        </p:txBody>
      </p:sp>
      <p:sp>
        <p:nvSpPr>
          <p:cNvPr id="3" name="Content Placeholder 2">
            <a:extLst>
              <a:ext uri="{FF2B5EF4-FFF2-40B4-BE49-F238E27FC236}">
                <a16:creationId xmlns:a16="http://schemas.microsoft.com/office/drawing/2014/main" id="{E4017887-69C4-8E04-8E56-14F491E25307}"/>
              </a:ext>
            </a:extLst>
          </p:cNvPr>
          <p:cNvSpPr>
            <a:spLocks noGrp="1"/>
          </p:cNvSpPr>
          <p:nvPr>
            <p:ph idx="1"/>
          </p:nvPr>
        </p:nvSpPr>
        <p:spPr>
          <a:xfrm>
            <a:off x="482601" y="1943100"/>
            <a:ext cx="4663332" cy="3936491"/>
          </a:xfrm>
        </p:spPr>
        <p:txBody>
          <a:bodyPr>
            <a:normAutofit fontScale="85000" lnSpcReduction="10000"/>
          </a:bodyPr>
          <a:lstStyle/>
          <a:p>
            <a:pPr marL="342900" indent="-342900">
              <a:buFont typeface="Wingdings" panose="05000000000000000000" pitchFamily="2" charset="2"/>
              <a:buChar char="§"/>
            </a:pPr>
            <a:r>
              <a:rPr lang="en-CA" dirty="0"/>
              <a:t>One of the two ways of presenting deterministic sensitivity analysis.</a:t>
            </a:r>
          </a:p>
          <a:p>
            <a:pPr marL="342900" indent="-342900">
              <a:buFont typeface="Wingdings" panose="05000000000000000000" pitchFamily="2" charset="2"/>
              <a:buChar char="§"/>
            </a:pPr>
            <a:r>
              <a:rPr lang="en-CA" dirty="0"/>
              <a:t>It displays the responsiveness each input has to variation in value for high and low cases with the more responsive parameters typically at the top with less responsive parameters closer to the bottom.</a:t>
            </a:r>
          </a:p>
          <a:p>
            <a:pPr marL="342900" indent="-342900">
              <a:buFont typeface="Wingdings" panose="05000000000000000000" pitchFamily="2" charset="2"/>
              <a:buChar char="§"/>
            </a:pPr>
            <a:r>
              <a:rPr lang="en-CA" dirty="0"/>
              <a:t>Researchers may want to display separate charts for costs and effects respectively in order to provide a comprehensive insight in the model’s sensitivity.</a:t>
            </a:r>
          </a:p>
        </p:txBody>
      </p:sp>
      <p:pic>
        <p:nvPicPr>
          <p:cNvPr id="2050" name="Picture 2">
            <a:extLst>
              <a:ext uri="{FF2B5EF4-FFF2-40B4-BE49-F238E27FC236}">
                <a16:creationId xmlns:a16="http://schemas.microsoft.com/office/drawing/2014/main" id="{82D3F69C-8900-AC16-9E0F-06CB18143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3399" y="1370348"/>
            <a:ext cx="6096000" cy="4333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C26865-9B71-0FD8-BA57-A8B635F781D7}"/>
              </a:ext>
            </a:extLst>
          </p:cNvPr>
          <p:cNvSpPr txBox="1"/>
          <p:nvPr/>
        </p:nvSpPr>
        <p:spPr>
          <a:xfrm>
            <a:off x="5739637" y="5670586"/>
            <a:ext cx="6258814" cy="707886"/>
          </a:xfrm>
          <a:prstGeom prst="rect">
            <a:avLst/>
          </a:prstGeom>
          <a:noFill/>
        </p:spPr>
        <p:txBody>
          <a:bodyPr wrap="square" rtlCol="0">
            <a:spAutoFit/>
          </a:bodyPr>
          <a:lstStyle/>
          <a:p>
            <a:r>
              <a:rPr lang="en-CA" sz="1000" dirty="0"/>
              <a:t>Figure from: </a:t>
            </a:r>
            <a:r>
              <a:rPr lang="en-CA" sz="1000" dirty="0" err="1"/>
              <a:t>Boonsirikamchai</a:t>
            </a:r>
            <a:r>
              <a:rPr lang="en-CA" sz="1000" dirty="0"/>
              <a:t>, W., </a:t>
            </a:r>
            <a:r>
              <a:rPr lang="en-CA" sz="1000" dirty="0" err="1"/>
              <a:t>Phisalpapra</a:t>
            </a:r>
            <a:r>
              <a:rPr lang="en-CA" sz="1000" dirty="0"/>
              <a:t>, P., </a:t>
            </a:r>
            <a:r>
              <a:rPr lang="en-CA" sz="1000" dirty="0" err="1"/>
              <a:t>Kositamongkol</a:t>
            </a:r>
            <a:r>
              <a:rPr lang="en-CA" sz="1000" dirty="0"/>
              <a:t>, C., </a:t>
            </a:r>
            <a:r>
              <a:rPr lang="en-CA" sz="1000" dirty="0" err="1"/>
              <a:t>Korwutthikulrangsri</a:t>
            </a:r>
            <a:r>
              <a:rPr lang="en-CA" sz="1000" dirty="0"/>
              <a:t>, E., </a:t>
            </a:r>
            <a:r>
              <a:rPr lang="en-CA" sz="1000" dirty="0" err="1"/>
              <a:t>Ruangchainikom</a:t>
            </a:r>
            <a:r>
              <a:rPr lang="en-CA" sz="1000" dirty="0"/>
              <a:t>, M., &amp; </a:t>
            </a:r>
            <a:r>
              <a:rPr lang="en-CA" sz="1000" dirty="0" err="1"/>
              <a:t>Sutipornpalangkul</a:t>
            </a:r>
            <a:r>
              <a:rPr lang="en-CA" sz="1000" dirty="0"/>
              <a:t>, W. (2023). Lateral lumbar interbody fusion (LLIF) reduces total lifetime cost compared with posterior lumbar interbody fusion (PLIF) for single-level lumbar spinal fusion surgery: a cost-utility analysis in Thailand. </a:t>
            </a:r>
            <a:r>
              <a:rPr lang="en-CA" sz="1000" i="1" dirty="0"/>
              <a:t>Journal of orthopaedic surgery and research</a:t>
            </a:r>
            <a:r>
              <a:rPr lang="en-CA" sz="1000" dirty="0"/>
              <a:t>, </a:t>
            </a:r>
            <a:r>
              <a:rPr lang="en-CA" sz="1000" i="1" dirty="0"/>
              <a:t>18</a:t>
            </a:r>
            <a:r>
              <a:rPr lang="en-CA" sz="1000" dirty="0"/>
              <a:t>(1), 115.</a:t>
            </a:r>
          </a:p>
        </p:txBody>
      </p:sp>
    </p:spTree>
    <p:extLst>
      <p:ext uri="{BB962C8B-B14F-4D97-AF65-F5344CB8AC3E}">
        <p14:creationId xmlns:p14="http://schemas.microsoft.com/office/powerpoint/2010/main" val="3209566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4F54-AE5F-0540-EA9A-1DA832139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4E606-2066-F079-1C71-FC0F4AB91EF4}"/>
              </a:ext>
            </a:extLst>
          </p:cNvPr>
          <p:cNvSpPr>
            <a:spLocks noGrp="1"/>
          </p:cNvSpPr>
          <p:nvPr>
            <p:ph type="title"/>
          </p:nvPr>
        </p:nvSpPr>
        <p:spPr>
          <a:xfrm>
            <a:off x="482600" y="597408"/>
            <a:ext cx="10634472" cy="1117092"/>
          </a:xfrm>
        </p:spPr>
        <p:txBody>
          <a:bodyPr/>
          <a:lstStyle/>
          <a:p>
            <a:r>
              <a:rPr lang="en-CA" sz="4800" dirty="0"/>
              <a:t>Spider Plots</a:t>
            </a:r>
          </a:p>
        </p:txBody>
      </p:sp>
      <p:sp>
        <p:nvSpPr>
          <p:cNvPr id="3" name="Content Placeholder 2">
            <a:extLst>
              <a:ext uri="{FF2B5EF4-FFF2-40B4-BE49-F238E27FC236}">
                <a16:creationId xmlns:a16="http://schemas.microsoft.com/office/drawing/2014/main" id="{D0F16298-FE41-1EA8-C439-A8F29AEE1D33}"/>
              </a:ext>
            </a:extLst>
          </p:cNvPr>
          <p:cNvSpPr>
            <a:spLocks noGrp="1"/>
          </p:cNvSpPr>
          <p:nvPr>
            <p:ph idx="1"/>
          </p:nvPr>
        </p:nvSpPr>
        <p:spPr>
          <a:xfrm>
            <a:off x="482599" y="1714500"/>
            <a:ext cx="4810761" cy="4314825"/>
          </a:xfrm>
        </p:spPr>
        <p:txBody>
          <a:bodyPr>
            <a:normAutofit fontScale="92500" lnSpcReduction="20000"/>
          </a:bodyPr>
          <a:lstStyle/>
          <a:p>
            <a:pPr marL="342900" indent="-342900">
              <a:buFont typeface="Wingdings" panose="05000000000000000000" pitchFamily="2" charset="2"/>
              <a:buChar char="§"/>
            </a:pPr>
            <a:r>
              <a:rPr lang="en-CA" dirty="0"/>
              <a:t>Spider plots are ideal when we wish to continuously vary parameter values in a cost effectiveness model.</a:t>
            </a:r>
          </a:p>
          <a:p>
            <a:pPr marL="342900" indent="-342900">
              <a:buFont typeface="Wingdings" panose="05000000000000000000" pitchFamily="2" charset="2"/>
              <a:buChar char="§"/>
            </a:pPr>
            <a:r>
              <a:rPr lang="en-CA" dirty="0"/>
              <a:t>This means we don’t just consider a High and low case, but change parameters in other increments.</a:t>
            </a:r>
          </a:p>
          <a:p>
            <a:pPr marL="342900" indent="-342900">
              <a:buFont typeface="Wingdings" panose="05000000000000000000" pitchFamily="2" charset="2"/>
              <a:buChar char="§"/>
            </a:pPr>
            <a:r>
              <a:rPr lang="en-CA" dirty="0"/>
              <a:t>Computationally, these figures can be complex but the nature of model sensitivity can be much more clearly observed.</a:t>
            </a:r>
          </a:p>
          <a:p>
            <a:pPr marL="342900" indent="-342900">
              <a:buFont typeface="Wingdings" panose="05000000000000000000" pitchFamily="2" charset="2"/>
              <a:buChar char="§"/>
            </a:pPr>
            <a:r>
              <a:rPr lang="en-CA" dirty="0"/>
              <a:t>This is a less common figure seen among reported one-way sensitivity analysis.</a:t>
            </a:r>
          </a:p>
        </p:txBody>
      </p:sp>
      <p:pic>
        <p:nvPicPr>
          <p:cNvPr id="1028" name="Picture 4">
            <a:extLst>
              <a:ext uri="{FF2B5EF4-FFF2-40B4-BE49-F238E27FC236}">
                <a16:creationId xmlns:a16="http://schemas.microsoft.com/office/drawing/2014/main" id="{11E4F1AA-5C23-2DA6-B146-2BA1090F2572}"/>
              </a:ext>
            </a:extLst>
          </p:cNvPr>
          <p:cNvPicPr>
            <a:picLocks noChangeAspect="1" noChangeArrowheads="1"/>
          </p:cNvPicPr>
          <p:nvPr/>
        </p:nvPicPr>
        <p:blipFill>
          <a:blip r:embed="rId2"/>
          <a:srcRect/>
          <a:stretch/>
        </p:blipFill>
        <p:spPr bwMode="auto">
          <a:xfrm>
            <a:off x="5447792" y="1600200"/>
            <a:ext cx="6261608" cy="3925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251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C07F2-A98A-37B1-6427-159FE63FC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48C51-BBD0-FCA4-7B02-1AE91C8E5612}"/>
              </a:ext>
            </a:extLst>
          </p:cNvPr>
          <p:cNvSpPr>
            <a:spLocks noGrp="1"/>
          </p:cNvSpPr>
          <p:nvPr>
            <p:ph type="title"/>
          </p:nvPr>
        </p:nvSpPr>
        <p:spPr/>
        <p:txBody>
          <a:bodyPr/>
          <a:lstStyle/>
          <a:p>
            <a:r>
              <a:rPr lang="en-CA" dirty="0"/>
              <a:t>Two-Way Sensitivity Analysis</a:t>
            </a:r>
          </a:p>
        </p:txBody>
      </p:sp>
      <p:sp>
        <p:nvSpPr>
          <p:cNvPr id="3" name="Text Placeholder 2">
            <a:extLst>
              <a:ext uri="{FF2B5EF4-FFF2-40B4-BE49-F238E27FC236}">
                <a16:creationId xmlns:a16="http://schemas.microsoft.com/office/drawing/2014/main" id="{5F4E1BCA-A22B-04FE-8EC6-2B6BED13FF16}"/>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455697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EF3F-8573-1384-2CDE-6AB6D8471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C93E4-E58C-67E7-35F7-745F7A7A9A14}"/>
              </a:ext>
            </a:extLst>
          </p:cNvPr>
          <p:cNvSpPr>
            <a:spLocks noGrp="1"/>
          </p:cNvSpPr>
          <p:nvPr>
            <p:ph type="title"/>
          </p:nvPr>
        </p:nvSpPr>
        <p:spPr>
          <a:xfrm>
            <a:off x="482600" y="597408"/>
            <a:ext cx="10634472" cy="1117092"/>
          </a:xfrm>
        </p:spPr>
        <p:txBody>
          <a:bodyPr/>
          <a:lstStyle/>
          <a:p>
            <a:r>
              <a:rPr lang="en-CA" sz="4800" dirty="0"/>
              <a:t>Two Way Sensitivity Analysis</a:t>
            </a:r>
          </a:p>
        </p:txBody>
      </p:sp>
      <p:sp>
        <p:nvSpPr>
          <p:cNvPr id="3" name="Content Placeholder 2">
            <a:extLst>
              <a:ext uri="{FF2B5EF4-FFF2-40B4-BE49-F238E27FC236}">
                <a16:creationId xmlns:a16="http://schemas.microsoft.com/office/drawing/2014/main" id="{2BBCCB32-81EA-BAF5-C4F5-068B0F1E7167}"/>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 Two-way sensitivity analysis is conducted when we are interested in how two parameters impact the output of a model together.</a:t>
            </a:r>
          </a:p>
          <a:p>
            <a:pPr marL="342900" indent="-342900">
              <a:buFont typeface="Wingdings" panose="05000000000000000000" pitchFamily="2" charset="2"/>
              <a:buChar char="§"/>
            </a:pPr>
            <a:r>
              <a:rPr lang="en-CA" dirty="0"/>
              <a:t> This analysis is often justified when we suspect that model parameters are correlated with each other (</a:t>
            </a:r>
            <a:r>
              <a:rPr lang="en-CA" dirty="0" err="1"/>
              <a:t>i.e</a:t>
            </a:r>
            <a:r>
              <a:rPr lang="en-CA" dirty="0"/>
              <a:t>, the varying of one parameter will necessarily impact the value of another). </a:t>
            </a:r>
          </a:p>
        </p:txBody>
      </p:sp>
    </p:spTree>
    <p:extLst>
      <p:ext uri="{BB962C8B-B14F-4D97-AF65-F5344CB8AC3E}">
        <p14:creationId xmlns:p14="http://schemas.microsoft.com/office/powerpoint/2010/main" val="125477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B6D1C0-3F8B-E383-2B40-F106A654456D}"/>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38CA7B-17B1-7F59-28A0-1A917FFC7D13}"/>
              </a:ext>
            </a:extLst>
          </p:cNvPr>
          <p:cNvSpPr>
            <a:spLocks noGrp="1"/>
          </p:cNvSpPr>
          <p:nvPr>
            <p:ph type="title"/>
          </p:nvPr>
        </p:nvSpPr>
        <p:spPr>
          <a:xfrm>
            <a:off x="482601" y="976161"/>
            <a:ext cx="5189964" cy="995514"/>
          </a:xfrm>
        </p:spPr>
        <p:txBody>
          <a:bodyPr>
            <a:normAutofit fontScale="90000"/>
          </a:bodyPr>
          <a:lstStyle/>
          <a:p>
            <a:pPr>
              <a:lnSpc>
                <a:spcPct val="90000"/>
              </a:lnSpc>
            </a:pPr>
            <a:r>
              <a:rPr lang="en-CA" sz="4000" dirty="0"/>
              <a:t>Two way sensitivity analysis plot</a:t>
            </a:r>
          </a:p>
        </p:txBody>
      </p:sp>
      <p:cxnSp>
        <p:nvCxnSpPr>
          <p:cNvPr id="3081" name="Straight Connector 3080">
            <a:extLst>
              <a:ext uri="{FF2B5EF4-FFF2-40B4-BE49-F238E27FC236}">
                <a16:creationId xmlns:a16="http://schemas.microsoft.com/office/drawing/2014/main" id="{6F9D4A57-BD34-46D7-A145-EA1AE70461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1A9E458E-C988-8E0E-0B2D-AE456FC48241}"/>
              </a:ext>
            </a:extLst>
          </p:cNvPr>
          <p:cNvSpPr>
            <a:spLocks noGrp="1"/>
          </p:cNvSpPr>
          <p:nvPr>
            <p:ph idx="1"/>
          </p:nvPr>
        </p:nvSpPr>
        <p:spPr>
          <a:xfrm>
            <a:off x="406400" y="2055704"/>
            <a:ext cx="5689600" cy="3515537"/>
          </a:xfrm>
        </p:spPr>
        <p:txBody>
          <a:bodyPr>
            <a:normAutofit fontScale="92500" lnSpcReduction="20000"/>
          </a:bodyPr>
          <a:lstStyle/>
          <a:p>
            <a:pPr marL="342900" indent="-342900">
              <a:buFont typeface="Wingdings" panose="05000000000000000000" pitchFamily="2" charset="2"/>
              <a:buChar char="§"/>
            </a:pPr>
            <a:r>
              <a:rPr lang="en-CA" sz="2000" dirty="0"/>
              <a:t>In a two way sensitivity analysis we create a </a:t>
            </a:r>
            <a:r>
              <a:rPr lang="en-CA" sz="2000" b="1" dirty="0"/>
              <a:t>strategy selection map.</a:t>
            </a:r>
            <a:r>
              <a:rPr lang="en-CA" sz="2000" dirty="0"/>
              <a:t> </a:t>
            </a:r>
          </a:p>
          <a:p>
            <a:pPr marL="342900" indent="-342900">
              <a:buFont typeface="Wingdings" panose="05000000000000000000" pitchFamily="2" charset="2"/>
              <a:buChar char="§"/>
            </a:pPr>
            <a:r>
              <a:rPr lang="en-CA" sz="2000" dirty="0"/>
              <a:t>With this plot we can identify which treatments are cost effective conditional on pairs of parameter values.</a:t>
            </a:r>
          </a:p>
          <a:p>
            <a:pPr marL="342900" indent="-342900">
              <a:buFont typeface="Wingdings" panose="05000000000000000000" pitchFamily="2" charset="2"/>
              <a:buChar char="§"/>
            </a:pPr>
            <a:r>
              <a:rPr lang="en-CA" sz="2000" dirty="0"/>
              <a:t>The plot’s advantage is that it shows directly how changing the models parameters over a range of values can impact the main results.</a:t>
            </a:r>
          </a:p>
          <a:p>
            <a:pPr marL="342900" indent="-342900">
              <a:buFont typeface="Wingdings" panose="05000000000000000000" pitchFamily="2" charset="2"/>
              <a:buChar char="§"/>
            </a:pPr>
            <a:r>
              <a:rPr lang="en-CA" sz="2000" dirty="0"/>
              <a:t>A disadvantage is that it can only consider two parameters at a time, while in the one-way analysis we can add every parameter on the same plot.</a:t>
            </a:r>
          </a:p>
        </p:txBody>
      </p:sp>
      <p:pic>
        <p:nvPicPr>
          <p:cNvPr id="3074" name="Picture 2">
            <a:extLst>
              <a:ext uri="{FF2B5EF4-FFF2-40B4-BE49-F238E27FC236}">
                <a16:creationId xmlns:a16="http://schemas.microsoft.com/office/drawing/2014/main" id="{1BE0EF0E-F310-8FDE-B6A9-80378E76BCEF}"/>
              </a:ext>
            </a:extLst>
          </p:cNvPr>
          <p:cNvPicPr>
            <a:picLocks noChangeAspect="1" noChangeArrowheads="1"/>
          </p:cNvPicPr>
          <p:nvPr/>
        </p:nvPicPr>
        <p:blipFill>
          <a:blip r:embed="rId2">
            <a:alphaModFix/>
          </a:blip>
          <a:stretch/>
        </p:blipFill>
        <p:spPr bwMode="auto">
          <a:xfrm>
            <a:off x="6649972" y="606180"/>
            <a:ext cx="4410116" cy="5361845"/>
          </a:xfrm>
          <a:prstGeom prst="rect">
            <a:avLst/>
          </a:prstGeom>
          <a:noFill/>
          <a:extLst>
            <a:ext uri="{909E8E84-426E-40DD-AFC4-6F175D3DCCD1}">
              <a14:hiddenFill xmlns:a14="http://schemas.microsoft.com/office/drawing/2010/main">
                <a:solidFill>
                  <a:srgbClr val="FFFFFF"/>
                </a:solidFill>
              </a14:hiddenFill>
            </a:ext>
          </a:extLst>
        </p:spPr>
      </p:pic>
      <p:cxnSp>
        <p:nvCxnSpPr>
          <p:cNvPr id="3083" name="Straight Connector 3082">
            <a:extLst>
              <a:ext uri="{FF2B5EF4-FFF2-40B4-BE49-F238E27FC236}">
                <a16:creationId xmlns:a16="http://schemas.microsoft.com/office/drawing/2014/main" id="{8ADA513F-B70D-4972-B24A-65F26C0AE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1FD2673-4CA1-0ACA-A154-DADC7BF6C298}"/>
              </a:ext>
            </a:extLst>
          </p:cNvPr>
          <p:cNvSpPr txBox="1"/>
          <p:nvPr/>
        </p:nvSpPr>
        <p:spPr>
          <a:xfrm>
            <a:off x="6557815" y="5968028"/>
            <a:ext cx="2980303" cy="400110"/>
          </a:xfrm>
          <a:prstGeom prst="rect">
            <a:avLst/>
          </a:prstGeom>
          <a:noFill/>
        </p:spPr>
        <p:txBody>
          <a:bodyPr wrap="none" rtlCol="0">
            <a:spAutoFit/>
          </a:bodyPr>
          <a:lstStyle/>
          <a:p>
            <a:r>
              <a:rPr lang="en-CA" sz="1000" b="1" dirty="0"/>
              <a:t>Source: Radiological Society of North America</a:t>
            </a:r>
            <a:br>
              <a:rPr lang="en-CA" sz="1000" b="1" dirty="0"/>
            </a:br>
            <a:r>
              <a:rPr lang="en-CA" sz="1000" b="1" dirty="0"/>
              <a:t>https://www.eurekalert.org/multimedia/920184</a:t>
            </a:r>
          </a:p>
        </p:txBody>
      </p:sp>
    </p:spTree>
    <p:extLst>
      <p:ext uri="{BB962C8B-B14F-4D97-AF65-F5344CB8AC3E}">
        <p14:creationId xmlns:p14="http://schemas.microsoft.com/office/powerpoint/2010/main" val="3039802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EE5FB-9F4C-DC2E-3B62-9BB2D0666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0476F-AD5D-5B2B-C2BB-01E4069BD3D9}"/>
              </a:ext>
            </a:extLst>
          </p:cNvPr>
          <p:cNvSpPr>
            <a:spLocks noGrp="1"/>
          </p:cNvSpPr>
          <p:nvPr>
            <p:ph type="title"/>
          </p:nvPr>
        </p:nvSpPr>
        <p:spPr/>
        <p:txBody>
          <a:bodyPr/>
          <a:lstStyle/>
          <a:p>
            <a:r>
              <a:rPr lang="en-CA" dirty="0"/>
              <a:t>Probabilistic Sensitivity Analysis</a:t>
            </a:r>
          </a:p>
        </p:txBody>
      </p:sp>
      <p:sp>
        <p:nvSpPr>
          <p:cNvPr id="3" name="Text Placeholder 2">
            <a:extLst>
              <a:ext uri="{FF2B5EF4-FFF2-40B4-BE49-F238E27FC236}">
                <a16:creationId xmlns:a16="http://schemas.microsoft.com/office/drawing/2014/main" id="{A7AE585E-0095-90C3-B04A-88A739C9A210}"/>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388964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95BC-73B0-AB51-A264-60E3B0664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DCF17-9116-B024-049B-8EF70F169E39}"/>
              </a:ext>
            </a:extLst>
          </p:cNvPr>
          <p:cNvSpPr>
            <a:spLocks noGrp="1"/>
          </p:cNvSpPr>
          <p:nvPr>
            <p:ph type="title"/>
          </p:nvPr>
        </p:nvSpPr>
        <p:spPr>
          <a:xfrm>
            <a:off x="482600" y="597408"/>
            <a:ext cx="10634472" cy="1117092"/>
          </a:xfrm>
        </p:spPr>
        <p:txBody>
          <a:bodyPr/>
          <a:lstStyle/>
          <a:p>
            <a:r>
              <a:rPr lang="en-CA" sz="4800" dirty="0"/>
              <a:t>Probabilistic Sensitivity Analysis</a:t>
            </a:r>
          </a:p>
        </p:txBody>
      </p:sp>
      <p:sp>
        <p:nvSpPr>
          <p:cNvPr id="3" name="Content Placeholder 2">
            <a:extLst>
              <a:ext uri="{FF2B5EF4-FFF2-40B4-BE49-F238E27FC236}">
                <a16:creationId xmlns:a16="http://schemas.microsoft.com/office/drawing/2014/main" id="{79AF19C1-C8E1-CEAB-0B1F-19FF91D54F1D}"/>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In </a:t>
            </a:r>
            <a:r>
              <a:rPr lang="en-CA" b="1" dirty="0" err="1"/>
              <a:t>Probabalistic</a:t>
            </a:r>
            <a:r>
              <a:rPr lang="en-CA" b="1" dirty="0"/>
              <a:t> Sensitivity Analysis</a:t>
            </a:r>
            <a:r>
              <a:rPr lang="en-CA" dirty="0"/>
              <a:t>, we vary all the parameters at the same time. </a:t>
            </a:r>
          </a:p>
          <a:p>
            <a:pPr marL="342900" indent="-342900">
              <a:buFont typeface="Wingdings" panose="05000000000000000000" pitchFamily="2" charset="2"/>
              <a:buChar char="§"/>
            </a:pPr>
            <a:r>
              <a:rPr lang="en-CA" dirty="0"/>
              <a:t>This is done by drawing model parameters from predefined distributions and computing the model many times.</a:t>
            </a:r>
          </a:p>
          <a:p>
            <a:pPr marL="342900" indent="-342900">
              <a:buFont typeface="Wingdings" panose="05000000000000000000" pitchFamily="2" charset="2"/>
              <a:buChar char="§"/>
            </a:pPr>
            <a:r>
              <a:rPr lang="en-CA" dirty="0"/>
              <a:t>In each draw a new valuation of costs, effects and the ICER is computed.</a:t>
            </a:r>
          </a:p>
          <a:p>
            <a:pPr marL="342900" indent="-342900">
              <a:buFont typeface="Wingdings" panose="05000000000000000000" pitchFamily="2" charset="2"/>
              <a:buChar char="§"/>
            </a:pPr>
            <a:r>
              <a:rPr lang="en-CA" dirty="0"/>
              <a:t>The idea behind PSA is that it wants to consider all possible outcomes which may be simulated from a model.</a:t>
            </a:r>
          </a:p>
        </p:txBody>
      </p:sp>
    </p:spTree>
    <p:extLst>
      <p:ext uri="{BB962C8B-B14F-4D97-AF65-F5344CB8AC3E}">
        <p14:creationId xmlns:p14="http://schemas.microsoft.com/office/powerpoint/2010/main" val="1548266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813AE-4829-2A80-8DED-68F16C155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09B4F-CCA2-6852-4AF9-2D22C2FDB751}"/>
              </a:ext>
            </a:extLst>
          </p:cNvPr>
          <p:cNvSpPr>
            <a:spLocks noGrp="1"/>
          </p:cNvSpPr>
          <p:nvPr>
            <p:ph type="title"/>
          </p:nvPr>
        </p:nvSpPr>
        <p:spPr>
          <a:xfrm>
            <a:off x="482600" y="597408"/>
            <a:ext cx="10634472" cy="1117092"/>
          </a:xfrm>
        </p:spPr>
        <p:txBody>
          <a:bodyPr/>
          <a:lstStyle/>
          <a:p>
            <a:r>
              <a:rPr lang="en-CA" sz="4800" dirty="0"/>
              <a:t>The cost effectiveness plane and the ICER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3476E-D96D-B9C9-DB29-1D0D900F0147}"/>
                  </a:ext>
                </a:extLst>
              </p:cNvPr>
              <p:cNvSpPr>
                <a:spLocks noGrp="1"/>
              </p:cNvSpPr>
              <p:nvPr>
                <p:ph idx="1"/>
              </p:nvPr>
            </p:nvSpPr>
            <p:spPr>
              <a:xfrm>
                <a:off x="482600" y="1943100"/>
                <a:ext cx="4634345" cy="3936491"/>
              </a:xfrm>
            </p:spPr>
            <p:txBody>
              <a:bodyPr/>
              <a:lstStyle/>
              <a:p>
                <a:pPr marL="342900" indent="-342900">
                  <a:buFont typeface="Wingdings" panose="05000000000000000000" pitchFamily="2" charset="2"/>
                  <a:buChar char="§"/>
                </a:pPr>
                <a:r>
                  <a:rPr lang="en-CA" dirty="0"/>
                  <a:t>Note: its possible to graphically display where the ICER </a:t>
                </a:r>
                <a14:m>
                  <m:oMath xmlns:m="http://schemas.openxmlformats.org/officeDocument/2006/math">
                    <m:r>
                      <a:rPr lang="en-CA" b="0" i="1" smtClean="0">
                        <a:latin typeface="Cambria Math" panose="02040503050406030204" pitchFamily="18" charset="0"/>
                      </a:rPr>
                      <m:t>𝜆</m:t>
                    </m:r>
                  </m:oMath>
                </a14:m>
                <a:r>
                  <a:rPr lang="en-CA" dirty="0"/>
                  <a:t> for some treatment in (incremental) </a:t>
                </a:r>
                <a:r>
                  <a:rPr lang="en-CA" b="1" dirty="0"/>
                  <a:t>Cost Effectiveness Plane.</a:t>
                </a:r>
              </a:p>
              <a:p>
                <a:pPr marL="342900" indent="-342900">
                  <a:buFont typeface="Wingdings" panose="05000000000000000000" pitchFamily="2" charset="2"/>
                  <a:buChar char="§"/>
                </a:pPr>
                <a:r>
                  <a:rPr lang="en-CA" dirty="0"/>
                  <a:t>Any point plotted in this space has a corresponding ICER.</a:t>
                </a:r>
              </a:p>
            </p:txBody>
          </p:sp>
        </mc:Choice>
        <mc:Fallback xmlns="">
          <p:sp>
            <p:nvSpPr>
              <p:cNvPr id="3" name="Content Placeholder 2">
                <a:extLst>
                  <a:ext uri="{FF2B5EF4-FFF2-40B4-BE49-F238E27FC236}">
                    <a16:creationId xmlns:a16="http://schemas.microsoft.com/office/drawing/2014/main" id="{54B3476E-D96D-B9C9-DB29-1D0D900F0147}"/>
                  </a:ext>
                </a:extLst>
              </p:cNvPr>
              <p:cNvSpPr>
                <a:spLocks noGrp="1" noRot="1" noChangeAspect="1" noMove="1" noResize="1" noEditPoints="1" noAdjustHandles="1" noChangeArrowheads="1" noChangeShapeType="1" noTextEdit="1"/>
              </p:cNvSpPr>
              <p:nvPr>
                <p:ph idx="1"/>
              </p:nvPr>
            </p:nvSpPr>
            <p:spPr>
              <a:xfrm>
                <a:off x="482600" y="1943100"/>
                <a:ext cx="4634345" cy="3936491"/>
              </a:xfrm>
              <a:blipFill>
                <a:blip r:embed="rId2"/>
                <a:stretch>
                  <a:fillRect l="-1711" t="-1240" r="-526"/>
                </a:stretch>
              </a:blipFill>
            </p:spPr>
            <p:txBody>
              <a:bodyPr/>
              <a:lstStyle/>
              <a:p>
                <a:r>
                  <a:rPr lang="en-CA">
                    <a:noFill/>
                  </a:rPr>
                  <a:t> </a:t>
                </a:r>
              </a:p>
            </p:txBody>
          </p:sp>
        </mc:Fallback>
      </mc:AlternateContent>
      <p:cxnSp>
        <p:nvCxnSpPr>
          <p:cNvPr id="5" name="Straight Connector 4">
            <a:extLst>
              <a:ext uri="{FF2B5EF4-FFF2-40B4-BE49-F238E27FC236}">
                <a16:creationId xmlns:a16="http://schemas.microsoft.com/office/drawing/2014/main" id="{CDE5B548-6544-302E-9352-DFA82153FBEE}"/>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A04B25-2D50-B3C7-336C-977C612EB417}"/>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34FD184-8CB0-E6B5-A30C-5EC5B19EB60C}"/>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134FD184-8CB0-E6B5-A30C-5EC5B19EB60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62B32B-5863-5C04-D7DD-9144F00EFA98}"/>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1D62B32B-5863-5C04-D7DD-9144F00EFA98}"/>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9F8EF671-AF70-62EC-09C2-120F6609F2B6}"/>
              </a:ext>
            </a:extLst>
          </p:cNvPr>
          <p:cNvSpPr txBox="1"/>
          <p:nvPr/>
        </p:nvSpPr>
        <p:spPr>
          <a:xfrm>
            <a:off x="8114032" y="3726679"/>
            <a:ext cx="306494" cy="369332"/>
          </a:xfrm>
          <a:prstGeom prst="rect">
            <a:avLst/>
          </a:prstGeom>
          <a:noFill/>
        </p:spPr>
        <p:txBody>
          <a:bodyPr wrap="none" rtlCol="0">
            <a:spAutoFit/>
          </a:bodyPr>
          <a:lstStyle/>
          <a:p>
            <a:r>
              <a:rPr lang="en-CA" dirty="0"/>
              <a:t>0</a:t>
            </a:r>
          </a:p>
        </p:txBody>
      </p:sp>
      <p:sp>
        <p:nvSpPr>
          <p:cNvPr id="9" name="TextBox 8">
            <a:extLst>
              <a:ext uri="{FF2B5EF4-FFF2-40B4-BE49-F238E27FC236}">
                <a16:creationId xmlns:a16="http://schemas.microsoft.com/office/drawing/2014/main" id="{B6CF1259-618B-7A9D-7F47-079A9E03EB6D}"/>
              </a:ext>
            </a:extLst>
          </p:cNvPr>
          <p:cNvSpPr txBox="1"/>
          <p:nvPr/>
        </p:nvSpPr>
        <p:spPr>
          <a:xfrm>
            <a:off x="7878505" y="3427713"/>
            <a:ext cx="306494" cy="369332"/>
          </a:xfrm>
          <a:prstGeom prst="rect">
            <a:avLst/>
          </a:prstGeom>
          <a:noFill/>
        </p:spPr>
        <p:txBody>
          <a:bodyPr wrap="none" rtlCol="0">
            <a:spAutoFit/>
          </a:bodyPr>
          <a:lstStyle/>
          <a:p>
            <a:r>
              <a:rPr lang="en-CA" dirty="0"/>
              <a:t>0</a:t>
            </a:r>
          </a:p>
        </p:txBody>
      </p:sp>
      <p:sp>
        <p:nvSpPr>
          <p:cNvPr id="12" name="Oval 11">
            <a:extLst>
              <a:ext uri="{FF2B5EF4-FFF2-40B4-BE49-F238E27FC236}">
                <a16:creationId xmlns:a16="http://schemas.microsoft.com/office/drawing/2014/main" id="{AA031778-F3ED-E37D-05E5-D2494B7E420D}"/>
              </a:ext>
            </a:extLst>
          </p:cNvPr>
          <p:cNvSpPr/>
          <p:nvPr/>
        </p:nvSpPr>
        <p:spPr>
          <a:xfrm>
            <a:off x="8766161" y="3008842"/>
            <a:ext cx="146930" cy="103807"/>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EBE203F-1E96-735A-BD84-46F6ACF04A85}"/>
                  </a:ext>
                </a:extLst>
              </p:cNvPr>
              <p:cNvSpPr txBox="1"/>
              <p:nvPr/>
            </p:nvSpPr>
            <p:spPr>
              <a:xfrm>
                <a:off x="8951129" y="2824176"/>
                <a:ext cx="1741566" cy="3700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dirty="0" smtClean="0">
                              <a:latin typeface="Cambria Math" panose="02040503050406030204" pitchFamily="18" charset="0"/>
                            </a:rPr>
                          </m:ctrlPr>
                        </m:sSupPr>
                        <m:e>
                          <m:r>
                            <a:rPr lang="en-CA" i="1" dirty="0" smtClean="0">
                              <a:latin typeface="Cambria Math" panose="02040503050406030204" pitchFamily="18" charset="0"/>
                            </a:rPr>
                            <m:t>𝜆</m:t>
                          </m:r>
                        </m:e>
                        <m:sup>
                          <m:r>
                            <a:rPr lang="en-CA" b="0" i="1" dirty="0" smtClean="0">
                              <a:latin typeface="Cambria Math" panose="02040503050406030204" pitchFamily="18" charset="0"/>
                            </a:rPr>
                            <m:t>𝐴</m:t>
                          </m:r>
                        </m:sup>
                      </m:sSup>
                      <m:r>
                        <a:rPr lang="en-CA" b="0" i="1" dirty="0" smtClean="0">
                          <a:latin typeface="Cambria Math" panose="02040503050406030204" pitchFamily="18" charset="0"/>
                        </a:rPr>
                        <m:t>=</m:t>
                      </m:r>
                      <m:r>
                        <m:rPr>
                          <m:sty m:val="p"/>
                        </m:rPr>
                        <a:rPr lang="en-CA" b="0" i="0" dirty="0" smtClean="0">
                          <a:latin typeface="Cambria Math" panose="02040503050406030204" pitchFamily="18" charset="0"/>
                        </a:rPr>
                        <m:t>Δ</m:t>
                      </m:r>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𝐶</m:t>
                          </m:r>
                        </m:e>
                        <m:sup>
                          <m:r>
                            <a:rPr lang="en-CA" b="0" i="1" dirty="0" smtClean="0">
                              <a:latin typeface="Cambria Math" panose="02040503050406030204" pitchFamily="18" charset="0"/>
                            </a:rPr>
                            <m:t>𝐴</m:t>
                          </m:r>
                        </m:sup>
                      </m:sSup>
                      <m:r>
                        <a:rPr lang="en-CA" b="0" i="1" dirty="0" smtClean="0">
                          <a:latin typeface="Cambria Math" panose="02040503050406030204" pitchFamily="18" charset="0"/>
                        </a:rPr>
                        <m:t>/</m:t>
                      </m:r>
                      <m:r>
                        <m:rPr>
                          <m:sty m:val="p"/>
                        </m:rPr>
                        <a:rPr lang="en-CA" b="0" i="0" dirty="0" smtClean="0">
                          <a:latin typeface="Cambria Math" panose="02040503050406030204" pitchFamily="18" charset="0"/>
                        </a:rPr>
                        <m:t>Δ</m:t>
                      </m:r>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𝐸</m:t>
                          </m:r>
                        </m:e>
                        <m:sup>
                          <m:r>
                            <a:rPr lang="en-CA" b="0" i="1" dirty="0" smtClean="0">
                              <a:latin typeface="Cambria Math" panose="02040503050406030204" pitchFamily="18" charset="0"/>
                            </a:rPr>
                            <m:t>𝐴</m:t>
                          </m:r>
                        </m:sup>
                      </m:sSup>
                    </m:oMath>
                  </m:oMathPara>
                </a14:m>
                <a:endParaRPr lang="en-CA" dirty="0"/>
              </a:p>
            </p:txBody>
          </p:sp>
        </mc:Choice>
        <mc:Fallback xmlns="">
          <p:sp>
            <p:nvSpPr>
              <p:cNvPr id="13" name="TextBox 12">
                <a:extLst>
                  <a:ext uri="{FF2B5EF4-FFF2-40B4-BE49-F238E27FC236}">
                    <a16:creationId xmlns:a16="http://schemas.microsoft.com/office/drawing/2014/main" id="{2EBE203F-1E96-735A-BD84-46F6ACF04A85}"/>
                  </a:ext>
                </a:extLst>
              </p:cNvPr>
              <p:cNvSpPr txBox="1">
                <a:spLocks noRot="1" noChangeAspect="1" noMove="1" noResize="1" noEditPoints="1" noAdjustHandles="1" noChangeArrowheads="1" noChangeShapeType="1" noTextEdit="1"/>
              </p:cNvSpPr>
              <p:nvPr/>
            </p:nvSpPr>
            <p:spPr>
              <a:xfrm>
                <a:off x="8951129" y="2824176"/>
                <a:ext cx="1741566" cy="370038"/>
              </a:xfrm>
              <a:prstGeom prst="rect">
                <a:avLst/>
              </a:prstGeom>
              <a:blipFill>
                <a:blip r:embed="rId5"/>
                <a:stretch>
                  <a:fillRect b="-16393"/>
                </a:stretch>
              </a:blipFill>
            </p:spPr>
            <p:txBody>
              <a:bodyPr/>
              <a:lstStyle/>
              <a:p>
                <a:r>
                  <a:rPr lang="en-CA">
                    <a:noFill/>
                  </a:rPr>
                  <a:t> </a:t>
                </a:r>
              </a:p>
            </p:txBody>
          </p:sp>
        </mc:Fallback>
      </mc:AlternateContent>
      <p:cxnSp>
        <p:nvCxnSpPr>
          <p:cNvPr id="15" name="Straight Connector 14">
            <a:extLst>
              <a:ext uri="{FF2B5EF4-FFF2-40B4-BE49-F238E27FC236}">
                <a16:creationId xmlns:a16="http://schemas.microsoft.com/office/drawing/2014/main" id="{73DB07CA-96E5-811D-3BE4-1F2C5F8D0787}"/>
              </a:ext>
            </a:extLst>
          </p:cNvPr>
          <p:cNvCxnSpPr>
            <a:cxnSpLocks/>
            <a:endCxn id="12" idx="2"/>
          </p:cNvCxnSpPr>
          <p:nvPr/>
        </p:nvCxnSpPr>
        <p:spPr>
          <a:xfrm>
            <a:off x="8178800" y="3058382"/>
            <a:ext cx="587361" cy="2364"/>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242F7D-B717-9FF2-71D4-4D951DEDD2FD}"/>
              </a:ext>
            </a:extLst>
          </p:cNvPr>
          <p:cNvCxnSpPr>
            <a:cxnSpLocks/>
            <a:endCxn id="12" idx="4"/>
          </p:cNvCxnSpPr>
          <p:nvPr/>
        </p:nvCxnSpPr>
        <p:spPr>
          <a:xfrm flipV="1">
            <a:off x="8839626" y="3112649"/>
            <a:ext cx="0" cy="61403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8960A72-EFF0-68BF-76DB-434F8A0F7F94}"/>
                  </a:ext>
                </a:extLst>
              </p:cNvPr>
              <p:cNvSpPr txBox="1"/>
              <p:nvPr/>
            </p:nvSpPr>
            <p:spPr>
              <a:xfrm>
                <a:off x="7536557" y="2914723"/>
                <a:ext cx="658385" cy="3700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dirty="0">
                          <a:latin typeface="Cambria Math" panose="02040503050406030204" pitchFamily="18" charset="0"/>
                        </a:rPr>
                        <m:t>Δ</m:t>
                      </m:r>
                      <m:sSup>
                        <m:sSupPr>
                          <m:ctrlPr>
                            <a:rPr lang="en-CA" i="1" dirty="0">
                              <a:latin typeface="Cambria Math" panose="02040503050406030204" pitchFamily="18" charset="0"/>
                            </a:rPr>
                          </m:ctrlPr>
                        </m:sSupPr>
                        <m:e>
                          <m:r>
                            <a:rPr lang="en-CA" i="1" dirty="0">
                              <a:latin typeface="Cambria Math" panose="02040503050406030204" pitchFamily="18" charset="0"/>
                            </a:rPr>
                            <m:t>𝐶</m:t>
                          </m:r>
                        </m:e>
                        <m:sup>
                          <m:r>
                            <a:rPr lang="en-CA" i="1" dirty="0">
                              <a:latin typeface="Cambria Math" panose="02040503050406030204" pitchFamily="18" charset="0"/>
                            </a:rPr>
                            <m:t>𝐴</m:t>
                          </m:r>
                        </m:sup>
                      </m:sSup>
                    </m:oMath>
                  </m:oMathPara>
                </a14:m>
                <a:endParaRPr lang="en-CA" dirty="0"/>
              </a:p>
            </p:txBody>
          </p:sp>
        </mc:Choice>
        <mc:Fallback xmlns="">
          <p:sp>
            <p:nvSpPr>
              <p:cNvPr id="24" name="TextBox 23">
                <a:extLst>
                  <a:ext uri="{FF2B5EF4-FFF2-40B4-BE49-F238E27FC236}">
                    <a16:creationId xmlns:a16="http://schemas.microsoft.com/office/drawing/2014/main" id="{68960A72-EFF0-68BF-76DB-434F8A0F7F94}"/>
                  </a:ext>
                </a:extLst>
              </p:cNvPr>
              <p:cNvSpPr txBox="1">
                <a:spLocks noRot="1" noChangeAspect="1" noMove="1" noResize="1" noEditPoints="1" noAdjustHandles="1" noChangeArrowheads="1" noChangeShapeType="1" noTextEdit="1"/>
              </p:cNvSpPr>
              <p:nvPr/>
            </p:nvSpPr>
            <p:spPr>
              <a:xfrm>
                <a:off x="7536557" y="2914723"/>
                <a:ext cx="658385" cy="370038"/>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80C8201-04DB-2FA2-17C3-5CF3659DE8B6}"/>
                  </a:ext>
                </a:extLst>
              </p:cNvPr>
              <p:cNvSpPr txBox="1"/>
              <p:nvPr/>
            </p:nvSpPr>
            <p:spPr>
              <a:xfrm>
                <a:off x="8555251" y="3764014"/>
                <a:ext cx="660309" cy="3700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dirty="0" smtClean="0">
                          <a:latin typeface="Cambria Math" panose="02040503050406030204" pitchFamily="18" charset="0"/>
                        </a:rPr>
                        <m:t>Δ</m:t>
                      </m:r>
                      <m:sSup>
                        <m:sSupPr>
                          <m:ctrlPr>
                            <a:rPr lang="en-CA" i="1" dirty="0">
                              <a:latin typeface="Cambria Math" panose="02040503050406030204" pitchFamily="18" charset="0"/>
                            </a:rPr>
                          </m:ctrlPr>
                        </m:sSupPr>
                        <m:e>
                          <m:r>
                            <a:rPr lang="en-CA" b="0" i="1" dirty="0" smtClean="0">
                              <a:latin typeface="Cambria Math" panose="02040503050406030204" pitchFamily="18" charset="0"/>
                            </a:rPr>
                            <m:t>𝐸</m:t>
                          </m:r>
                        </m:e>
                        <m:sup>
                          <m:r>
                            <a:rPr lang="en-CA" i="1" dirty="0">
                              <a:latin typeface="Cambria Math" panose="02040503050406030204" pitchFamily="18" charset="0"/>
                            </a:rPr>
                            <m:t>𝐴</m:t>
                          </m:r>
                        </m:sup>
                      </m:sSup>
                    </m:oMath>
                  </m:oMathPara>
                </a14:m>
                <a:endParaRPr lang="en-CA" dirty="0"/>
              </a:p>
            </p:txBody>
          </p:sp>
        </mc:Choice>
        <mc:Fallback xmlns="">
          <p:sp>
            <p:nvSpPr>
              <p:cNvPr id="25" name="TextBox 24">
                <a:extLst>
                  <a:ext uri="{FF2B5EF4-FFF2-40B4-BE49-F238E27FC236}">
                    <a16:creationId xmlns:a16="http://schemas.microsoft.com/office/drawing/2014/main" id="{780C8201-04DB-2FA2-17C3-5CF3659DE8B6}"/>
                  </a:ext>
                </a:extLst>
              </p:cNvPr>
              <p:cNvSpPr txBox="1">
                <a:spLocks noRot="1" noChangeAspect="1" noMove="1" noResize="1" noEditPoints="1" noAdjustHandles="1" noChangeArrowheads="1" noChangeShapeType="1" noTextEdit="1"/>
              </p:cNvSpPr>
              <p:nvPr/>
            </p:nvSpPr>
            <p:spPr>
              <a:xfrm>
                <a:off x="8555251" y="3764014"/>
                <a:ext cx="660309" cy="370038"/>
              </a:xfrm>
              <a:prstGeom prst="rect">
                <a:avLst/>
              </a:prstGeom>
              <a:blipFill>
                <a:blip r:embed="rId7"/>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295237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14FB3-BE49-E45B-2A6E-948A1A8B2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5ABBB-3260-B3AD-C501-B775E6EF15A7}"/>
              </a:ext>
            </a:extLst>
          </p:cNvPr>
          <p:cNvSpPr>
            <a:spLocks noGrp="1"/>
          </p:cNvSpPr>
          <p:nvPr>
            <p:ph type="title"/>
          </p:nvPr>
        </p:nvSpPr>
        <p:spPr>
          <a:xfrm>
            <a:off x="482600" y="597408"/>
            <a:ext cx="10634472" cy="1117092"/>
          </a:xfrm>
        </p:spPr>
        <p:txBody>
          <a:bodyPr/>
          <a:lstStyle/>
          <a:p>
            <a:r>
              <a:rPr lang="en-CA" sz="4800" dirty="0"/>
              <a:t>PSA and the CE Plane</a:t>
            </a:r>
          </a:p>
        </p:txBody>
      </p:sp>
      <p:sp>
        <p:nvSpPr>
          <p:cNvPr id="3" name="Content Placeholder 2">
            <a:extLst>
              <a:ext uri="{FF2B5EF4-FFF2-40B4-BE49-F238E27FC236}">
                <a16:creationId xmlns:a16="http://schemas.microsoft.com/office/drawing/2014/main" id="{EC1FC1F1-0F0A-960D-785C-99D4B28968F1}"/>
              </a:ext>
            </a:extLst>
          </p:cNvPr>
          <p:cNvSpPr>
            <a:spLocks noGrp="1"/>
          </p:cNvSpPr>
          <p:nvPr>
            <p:ph idx="1"/>
          </p:nvPr>
        </p:nvSpPr>
        <p:spPr>
          <a:xfrm>
            <a:off x="482600" y="1943100"/>
            <a:ext cx="4634345" cy="3936491"/>
          </a:xfrm>
        </p:spPr>
        <p:txBody>
          <a:bodyPr/>
          <a:lstStyle/>
          <a:p>
            <a:pPr marL="342900" indent="-342900">
              <a:buFont typeface="Wingdings" panose="05000000000000000000" pitchFamily="2" charset="2"/>
              <a:buChar char="§"/>
            </a:pPr>
            <a:r>
              <a:rPr lang="en-CA" dirty="0"/>
              <a:t>When a probabilistic sensitivity analysis is conducted, we compute many different ICERs.</a:t>
            </a:r>
          </a:p>
          <a:p>
            <a:pPr marL="342900" indent="-342900">
              <a:buFont typeface="Wingdings" panose="05000000000000000000" pitchFamily="2" charset="2"/>
              <a:buChar char="§"/>
            </a:pPr>
            <a:r>
              <a:rPr lang="en-CA" dirty="0"/>
              <a:t>Typically, analysts run 10,000 simulations to get a rough sense of all possible outcomes.</a:t>
            </a:r>
          </a:p>
        </p:txBody>
      </p:sp>
      <p:cxnSp>
        <p:nvCxnSpPr>
          <p:cNvPr id="5" name="Straight Connector 4">
            <a:extLst>
              <a:ext uri="{FF2B5EF4-FFF2-40B4-BE49-F238E27FC236}">
                <a16:creationId xmlns:a16="http://schemas.microsoft.com/office/drawing/2014/main" id="{AFBDE6F1-F35E-815A-BFED-9ACC1C8950EB}"/>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7308503-C0C7-E4AC-2584-B6272A104544}"/>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4695504-9A43-DECF-92BA-261AA1BC6AFC}"/>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34695504-9A43-DECF-92BA-261AA1BC6AF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0796FDC-FFBE-3B5B-07A8-D6848CC318DE}"/>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F0796FDC-FFBE-3B5B-07A8-D6848CC318DE}"/>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3"/>
                <a:stretch>
                  <a:fillRect/>
                </a:stretch>
              </a:blipFill>
            </p:spPr>
            <p:txBody>
              <a:bodyPr/>
              <a:lstStyle/>
              <a:p>
                <a:r>
                  <a:rPr lang="en-CA">
                    <a:noFill/>
                  </a:rPr>
                  <a:t> </a:t>
                </a:r>
              </a:p>
            </p:txBody>
          </p:sp>
        </mc:Fallback>
      </mc:AlternateContent>
      <p:sp>
        <p:nvSpPr>
          <p:cNvPr id="4" name="Oval 3">
            <a:extLst>
              <a:ext uri="{FF2B5EF4-FFF2-40B4-BE49-F238E27FC236}">
                <a16:creationId xmlns:a16="http://schemas.microsoft.com/office/drawing/2014/main" id="{7669C297-5A74-446F-F733-8B9DFE0D60E6}"/>
              </a:ext>
            </a:extLst>
          </p:cNvPr>
          <p:cNvSpPr/>
          <p:nvPr/>
        </p:nvSpPr>
        <p:spPr>
          <a:xfrm>
            <a:off x="8766161" y="3008842"/>
            <a:ext cx="146930" cy="103807"/>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04A7A317-426D-35D4-95D9-BDB71E3DF707}"/>
              </a:ext>
            </a:extLst>
          </p:cNvPr>
          <p:cNvSpPr/>
          <p:nvPr/>
        </p:nvSpPr>
        <p:spPr>
          <a:xfrm>
            <a:off x="8692696" y="32722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303CAF38-F5D5-A5CB-FC8E-52A10FD992C2}"/>
              </a:ext>
            </a:extLst>
          </p:cNvPr>
          <p:cNvSpPr/>
          <p:nvPr/>
        </p:nvSpPr>
        <p:spPr>
          <a:xfrm>
            <a:off x="8845096" y="34246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92257774-2617-AFE9-A6FD-1D1F555D893C}"/>
              </a:ext>
            </a:extLst>
          </p:cNvPr>
          <p:cNvSpPr/>
          <p:nvPr/>
        </p:nvSpPr>
        <p:spPr>
          <a:xfrm>
            <a:off x="8918561" y="326372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AE9C8E55-2C16-C4B5-0347-7647BC0644CF}"/>
              </a:ext>
            </a:extLst>
          </p:cNvPr>
          <p:cNvSpPr/>
          <p:nvPr/>
        </p:nvSpPr>
        <p:spPr>
          <a:xfrm>
            <a:off x="8609569" y="345687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39E005D6-D67B-BA59-BFEF-23FE0D903308}"/>
              </a:ext>
            </a:extLst>
          </p:cNvPr>
          <p:cNvSpPr/>
          <p:nvPr/>
        </p:nvSpPr>
        <p:spPr>
          <a:xfrm>
            <a:off x="8281403" y="325256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98EFD037-5FE4-D027-F73D-4F889A116172}"/>
              </a:ext>
            </a:extLst>
          </p:cNvPr>
          <p:cNvSpPr/>
          <p:nvPr/>
        </p:nvSpPr>
        <p:spPr>
          <a:xfrm>
            <a:off x="8433803" y="340496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2E11BFCA-9F58-048F-FA53-83DBDBA7AA25}"/>
              </a:ext>
            </a:extLst>
          </p:cNvPr>
          <p:cNvSpPr/>
          <p:nvPr/>
        </p:nvSpPr>
        <p:spPr>
          <a:xfrm>
            <a:off x="8507268" y="324409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FA4C8476-BC1D-D759-71C2-FEC3F4E68889}"/>
              </a:ext>
            </a:extLst>
          </p:cNvPr>
          <p:cNvSpPr/>
          <p:nvPr/>
        </p:nvSpPr>
        <p:spPr>
          <a:xfrm>
            <a:off x="8198276" y="34372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47089060-C56A-AC52-5605-3943B99FB903}"/>
              </a:ext>
            </a:extLst>
          </p:cNvPr>
          <p:cNvSpPr/>
          <p:nvPr/>
        </p:nvSpPr>
        <p:spPr>
          <a:xfrm>
            <a:off x="8402163" y="38969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5CC44F43-6093-607B-4201-B6FD35F53643}"/>
              </a:ext>
            </a:extLst>
          </p:cNvPr>
          <p:cNvSpPr/>
          <p:nvPr/>
        </p:nvSpPr>
        <p:spPr>
          <a:xfrm>
            <a:off x="8554563" y="40493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F7B68EAC-69FA-1E28-CED9-12BBCC2E484B}"/>
              </a:ext>
            </a:extLst>
          </p:cNvPr>
          <p:cNvSpPr/>
          <p:nvPr/>
        </p:nvSpPr>
        <p:spPr>
          <a:xfrm>
            <a:off x="8628028" y="388848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3670DCE6-E8EC-4A2E-5254-EDA71255B567}"/>
              </a:ext>
            </a:extLst>
          </p:cNvPr>
          <p:cNvSpPr/>
          <p:nvPr/>
        </p:nvSpPr>
        <p:spPr>
          <a:xfrm>
            <a:off x="8319036" y="408162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6DB4EF64-D7E4-8C6F-9138-A4D837DAF15D}"/>
              </a:ext>
            </a:extLst>
          </p:cNvPr>
          <p:cNvSpPr/>
          <p:nvPr/>
        </p:nvSpPr>
        <p:spPr>
          <a:xfrm>
            <a:off x="8079818" y="36042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EA2F7DE0-BED7-CEBA-C83F-D3BEC809349B}"/>
              </a:ext>
            </a:extLst>
          </p:cNvPr>
          <p:cNvSpPr/>
          <p:nvPr/>
        </p:nvSpPr>
        <p:spPr>
          <a:xfrm>
            <a:off x="8232218" y="37566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2E8E383F-B2EA-5B02-FE5C-F05552212DD9}"/>
              </a:ext>
            </a:extLst>
          </p:cNvPr>
          <p:cNvSpPr/>
          <p:nvPr/>
        </p:nvSpPr>
        <p:spPr>
          <a:xfrm>
            <a:off x="8305683" y="359577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87033004-B8EF-8908-FF01-5B440CC816C5}"/>
              </a:ext>
            </a:extLst>
          </p:cNvPr>
          <p:cNvSpPr/>
          <p:nvPr/>
        </p:nvSpPr>
        <p:spPr>
          <a:xfrm>
            <a:off x="7996691" y="378891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A3023BA7-4696-6BDA-45CA-16A3AA4B2C6D}"/>
              </a:ext>
            </a:extLst>
          </p:cNvPr>
          <p:cNvSpPr/>
          <p:nvPr/>
        </p:nvSpPr>
        <p:spPr>
          <a:xfrm>
            <a:off x="8772834" y="357520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9C0AC076-A4BD-2C87-A4BF-B6D73190BC8B}"/>
              </a:ext>
            </a:extLst>
          </p:cNvPr>
          <p:cNvSpPr/>
          <p:nvPr/>
        </p:nvSpPr>
        <p:spPr>
          <a:xfrm>
            <a:off x="8925234" y="372760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CF7D0D32-FD0B-FA8F-A369-74FA252977E7}"/>
              </a:ext>
            </a:extLst>
          </p:cNvPr>
          <p:cNvSpPr/>
          <p:nvPr/>
        </p:nvSpPr>
        <p:spPr>
          <a:xfrm>
            <a:off x="8998699" y="356672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BD3D88E1-0A48-230E-A646-AB81556556E5}"/>
              </a:ext>
            </a:extLst>
          </p:cNvPr>
          <p:cNvSpPr/>
          <p:nvPr/>
        </p:nvSpPr>
        <p:spPr>
          <a:xfrm>
            <a:off x="8689707" y="37598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AF0D0CD5-28BE-3300-1078-F7F69EBA568A}"/>
              </a:ext>
            </a:extLst>
          </p:cNvPr>
          <p:cNvSpPr/>
          <p:nvPr/>
        </p:nvSpPr>
        <p:spPr>
          <a:xfrm>
            <a:off x="7887263" y="31094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66A0AD57-74C1-2F3E-012A-36BDB7C11A98}"/>
              </a:ext>
            </a:extLst>
          </p:cNvPr>
          <p:cNvSpPr/>
          <p:nvPr/>
        </p:nvSpPr>
        <p:spPr>
          <a:xfrm>
            <a:off x="8039663" y="32618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03D475C4-1A53-9700-0126-53672D4CE890}"/>
              </a:ext>
            </a:extLst>
          </p:cNvPr>
          <p:cNvSpPr/>
          <p:nvPr/>
        </p:nvSpPr>
        <p:spPr>
          <a:xfrm>
            <a:off x="8113128" y="310095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3801EB75-CEEE-8FB9-C602-368622E3F89E}"/>
              </a:ext>
            </a:extLst>
          </p:cNvPr>
          <p:cNvSpPr/>
          <p:nvPr/>
        </p:nvSpPr>
        <p:spPr>
          <a:xfrm>
            <a:off x="7804136" y="329409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54786810-57F7-3039-C26D-C98FB41996E6}"/>
              </a:ext>
            </a:extLst>
          </p:cNvPr>
          <p:cNvSpPr/>
          <p:nvPr/>
        </p:nvSpPr>
        <p:spPr>
          <a:xfrm>
            <a:off x="8249351" y="26827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3E7AA5C0-6179-D4E1-EB2C-7E16C4B6EE37}"/>
              </a:ext>
            </a:extLst>
          </p:cNvPr>
          <p:cNvSpPr/>
          <p:nvPr/>
        </p:nvSpPr>
        <p:spPr>
          <a:xfrm>
            <a:off x="8401751" y="28351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BA82602B-9223-599D-D4C4-F80AC3506F68}"/>
              </a:ext>
            </a:extLst>
          </p:cNvPr>
          <p:cNvSpPr/>
          <p:nvPr/>
        </p:nvSpPr>
        <p:spPr>
          <a:xfrm>
            <a:off x="8475216" y="267426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72740F7A-BA48-6860-BF52-3AB13DFDAA07}"/>
              </a:ext>
            </a:extLst>
          </p:cNvPr>
          <p:cNvSpPr/>
          <p:nvPr/>
        </p:nvSpPr>
        <p:spPr>
          <a:xfrm>
            <a:off x="8166224" y="28674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14B7ED55-7BEF-11AD-BE30-77E0CFEAE38C}"/>
              </a:ext>
            </a:extLst>
          </p:cNvPr>
          <p:cNvSpPr/>
          <p:nvPr/>
        </p:nvSpPr>
        <p:spPr>
          <a:xfrm>
            <a:off x="8637278" y="27309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E42C90BC-0D4A-207C-1451-5F617C843BD1}"/>
              </a:ext>
            </a:extLst>
          </p:cNvPr>
          <p:cNvSpPr/>
          <p:nvPr/>
        </p:nvSpPr>
        <p:spPr>
          <a:xfrm>
            <a:off x="8789678" y="28833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E762BEF9-4FF6-3E62-BAA4-4C2A74689573}"/>
              </a:ext>
            </a:extLst>
          </p:cNvPr>
          <p:cNvSpPr/>
          <p:nvPr/>
        </p:nvSpPr>
        <p:spPr>
          <a:xfrm>
            <a:off x="8863143" y="272243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F72C2384-70BB-B4C4-408D-DA877301BCA1}"/>
              </a:ext>
            </a:extLst>
          </p:cNvPr>
          <p:cNvSpPr/>
          <p:nvPr/>
        </p:nvSpPr>
        <p:spPr>
          <a:xfrm>
            <a:off x="8554151" y="291558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4D97911E-D0D7-B04B-C9AC-C7D3335DC6BA}"/>
              </a:ext>
            </a:extLst>
          </p:cNvPr>
          <p:cNvSpPr/>
          <p:nvPr/>
        </p:nvSpPr>
        <p:spPr>
          <a:xfrm>
            <a:off x="9187267" y="290892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CF56A26E-5C71-847A-464E-98298E125AEC}"/>
              </a:ext>
            </a:extLst>
          </p:cNvPr>
          <p:cNvSpPr/>
          <p:nvPr/>
        </p:nvSpPr>
        <p:spPr>
          <a:xfrm>
            <a:off x="9339667" y="306132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624A18E7-7D19-B74B-00B5-710E9403993A}"/>
              </a:ext>
            </a:extLst>
          </p:cNvPr>
          <p:cNvSpPr/>
          <p:nvPr/>
        </p:nvSpPr>
        <p:spPr>
          <a:xfrm>
            <a:off x="9413132" y="290044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03FF6913-89CA-6B1D-9968-E5F53DA684A1}"/>
              </a:ext>
            </a:extLst>
          </p:cNvPr>
          <p:cNvSpPr/>
          <p:nvPr/>
        </p:nvSpPr>
        <p:spPr>
          <a:xfrm>
            <a:off x="9104140" y="309358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AEB9F895-E7A3-3826-894B-27BB7A8DE2EC}"/>
              </a:ext>
            </a:extLst>
          </p:cNvPr>
          <p:cNvSpPr/>
          <p:nvPr/>
        </p:nvSpPr>
        <p:spPr>
          <a:xfrm>
            <a:off x="9291876" y="325183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4E2F907A-7977-0F85-AE5A-6D7C928F7455}"/>
              </a:ext>
            </a:extLst>
          </p:cNvPr>
          <p:cNvSpPr/>
          <p:nvPr/>
        </p:nvSpPr>
        <p:spPr>
          <a:xfrm>
            <a:off x="9444276" y="340423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930EF21D-9D0D-8750-AB22-5C86B9907264}"/>
              </a:ext>
            </a:extLst>
          </p:cNvPr>
          <p:cNvSpPr/>
          <p:nvPr/>
        </p:nvSpPr>
        <p:spPr>
          <a:xfrm>
            <a:off x="9517741" y="32433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E4EDAA49-9ECF-C32B-3ABE-7584E5E675DD}"/>
              </a:ext>
            </a:extLst>
          </p:cNvPr>
          <p:cNvSpPr/>
          <p:nvPr/>
        </p:nvSpPr>
        <p:spPr>
          <a:xfrm>
            <a:off x="9208749" y="343650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CBE9A2FA-3C56-619C-CCD3-7FC7D5848627}"/>
              </a:ext>
            </a:extLst>
          </p:cNvPr>
          <p:cNvSpPr/>
          <p:nvPr/>
        </p:nvSpPr>
        <p:spPr>
          <a:xfrm>
            <a:off x="9187267" y="248052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41763092-245B-C320-A0A7-B249818E84D6}"/>
              </a:ext>
            </a:extLst>
          </p:cNvPr>
          <p:cNvSpPr/>
          <p:nvPr/>
        </p:nvSpPr>
        <p:spPr>
          <a:xfrm>
            <a:off x="9339667" y="263292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73E00F1F-2CB3-4ED2-9A07-53C6F8FCAA2A}"/>
              </a:ext>
            </a:extLst>
          </p:cNvPr>
          <p:cNvSpPr/>
          <p:nvPr/>
        </p:nvSpPr>
        <p:spPr>
          <a:xfrm>
            <a:off x="9413132" y="247204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53AEB69A-E915-57D1-BB25-1B98B2E63CD2}"/>
              </a:ext>
            </a:extLst>
          </p:cNvPr>
          <p:cNvSpPr/>
          <p:nvPr/>
        </p:nvSpPr>
        <p:spPr>
          <a:xfrm>
            <a:off x="9104140" y="266518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1B201DA0-CA16-DCA1-4445-18F652C13C4F}"/>
              </a:ext>
            </a:extLst>
          </p:cNvPr>
          <p:cNvSpPr/>
          <p:nvPr/>
        </p:nvSpPr>
        <p:spPr>
          <a:xfrm>
            <a:off x="8776812" y="23745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D3F50C5F-ACC3-714B-0F1A-FD935253070B}"/>
              </a:ext>
            </a:extLst>
          </p:cNvPr>
          <p:cNvSpPr/>
          <p:nvPr/>
        </p:nvSpPr>
        <p:spPr>
          <a:xfrm>
            <a:off x="8929212" y="25269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F95A4BB9-DE4D-EEFB-A423-DC87C82F2EBD}"/>
              </a:ext>
            </a:extLst>
          </p:cNvPr>
          <p:cNvSpPr/>
          <p:nvPr/>
        </p:nvSpPr>
        <p:spPr>
          <a:xfrm>
            <a:off x="9002677" y="236607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27CFBB86-B2F5-3B7A-164E-DA5C5AC39315}"/>
              </a:ext>
            </a:extLst>
          </p:cNvPr>
          <p:cNvSpPr/>
          <p:nvPr/>
        </p:nvSpPr>
        <p:spPr>
          <a:xfrm>
            <a:off x="8693685" y="255922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8FE60E63-E402-61EB-C19A-BA432EE7C8ED}"/>
              </a:ext>
            </a:extLst>
          </p:cNvPr>
          <p:cNvSpPr/>
          <p:nvPr/>
        </p:nvSpPr>
        <p:spPr>
          <a:xfrm>
            <a:off x="9638831" y="282090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12D9B177-DD99-DC8D-4139-19142BF3A6ED}"/>
              </a:ext>
            </a:extLst>
          </p:cNvPr>
          <p:cNvSpPr/>
          <p:nvPr/>
        </p:nvSpPr>
        <p:spPr>
          <a:xfrm>
            <a:off x="9791231" y="297330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986A7FED-CEE7-C1C2-18B6-179D93F7E14E}"/>
              </a:ext>
            </a:extLst>
          </p:cNvPr>
          <p:cNvSpPr/>
          <p:nvPr/>
        </p:nvSpPr>
        <p:spPr>
          <a:xfrm>
            <a:off x="9864696" y="281242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9A4D4367-FB33-DB7E-47CE-63A3DFF0B0F9}"/>
              </a:ext>
            </a:extLst>
          </p:cNvPr>
          <p:cNvSpPr/>
          <p:nvPr/>
        </p:nvSpPr>
        <p:spPr>
          <a:xfrm>
            <a:off x="9555704" y="300556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B6D1AE1A-E776-275B-B6FD-7FA8575F5391}"/>
              </a:ext>
            </a:extLst>
          </p:cNvPr>
          <p:cNvSpPr/>
          <p:nvPr/>
        </p:nvSpPr>
        <p:spPr>
          <a:xfrm>
            <a:off x="9021472" y="28012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BD749B11-A3B1-3403-A6DA-2BA6EAA5963D}"/>
              </a:ext>
            </a:extLst>
          </p:cNvPr>
          <p:cNvSpPr/>
          <p:nvPr/>
        </p:nvSpPr>
        <p:spPr>
          <a:xfrm>
            <a:off x="9173872" y="29536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3C761EB2-E31E-B0FA-3D4B-704B21A145B4}"/>
              </a:ext>
            </a:extLst>
          </p:cNvPr>
          <p:cNvSpPr/>
          <p:nvPr/>
        </p:nvSpPr>
        <p:spPr>
          <a:xfrm>
            <a:off x="9247337" y="279278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1154A979-6C86-E411-B8FA-BF3F6A002BBE}"/>
              </a:ext>
            </a:extLst>
          </p:cNvPr>
          <p:cNvSpPr/>
          <p:nvPr/>
        </p:nvSpPr>
        <p:spPr>
          <a:xfrm>
            <a:off x="8938345" y="298592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A43DABD1-4ABF-515C-5003-52D8E0314EAC}"/>
              </a:ext>
            </a:extLst>
          </p:cNvPr>
          <p:cNvSpPr/>
          <p:nvPr/>
        </p:nvSpPr>
        <p:spPr>
          <a:xfrm>
            <a:off x="8526598" y="33918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5CB7E5D0-E531-3276-DDE5-D256F38E2577}"/>
              </a:ext>
            </a:extLst>
          </p:cNvPr>
          <p:cNvSpPr/>
          <p:nvPr/>
        </p:nvSpPr>
        <p:spPr>
          <a:xfrm>
            <a:off x="8678998" y="35442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FD9027C3-76A6-E243-6C01-2AC59CE4C937}"/>
              </a:ext>
            </a:extLst>
          </p:cNvPr>
          <p:cNvSpPr/>
          <p:nvPr/>
        </p:nvSpPr>
        <p:spPr>
          <a:xfrm>
            <a:off x="8752463" y="338333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2658DB66-E717-C740-3764-CF5849F5D6EA}"/>
              </a:ext>
            </a:extLst>
          </p:cNvPr>
          <p:cNvSpPr/>
          <p:nvPr/>
        </p:nvSpPr>
        <p:spPr>
          <a:xfrm>
            <a:off x="8443471" y="357647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EBA94B97-281F-CEE8-5E1A-6B41E5BFF01F}"/>
              </a:ext>
            </a:extLst>
          </p:cNvPr>
          <p:cNvSpPr/>
          <p:nvPr/>
        </p:nvSpPr>
        <p:spPr>
          <a:xfrm>
            <a:off x="8268902" y="30196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1958A93D-EB5F-22F9-DA9D-394491968958}"/>
              </a:ext>
            </a:extLst>
          </p:cNvPr>
          <p:cNvSpPr/>
          <p:nvPr/>
        </p:nvSpPr>
        <p:spPr>
          <a:xfrm>
            <a:off x="8421302" y="31720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F23AA7C5-E6EB-659C-D5C3-F9EE80E57494}"/>
              </a:ext>
            </a:extLst>
          </p:cNvPr>
          <p:cNvSpPr/>
          <p:nvPr/>
        </p:nvSpPr>
        <p:spPr>
          <a:xfrm>
            <a:off x="8494767" y="301118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E5ABD056-2756-1D5E-D118-F7A3FB44FA4B}"/>
              </a:ext>
            </a:extLst>
          </p:cNvPr>
          <p:cNvSpPr/>
          <p:nvPr/>
        </p:nvSpPr>
        <p:spPr>
          <a:xfrm>
            <a:off x="8185775" y="320432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B4A4EF60-9804-150E-65BA-E85C9FE8EFE8}"/>
              </a:ext>
            </a:extLst>
          </p:cNvPr>
          <p:cNvSpPr/>
          <p:nvPr/>
        </p:nvSpPr>
        <p:spPr>
          <a:xfrm>
            <a:off x="8498959" y="25427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4FFBDAC0-B386-C044-5392-6F144324AAB4}"/>
              </a:ext>
            </a:extLst>
          </p:cNvPr>
          <p:cNvSpPr/>
          <p:nvPr/>
        </p:nvSpPr>
        <p:spPr>
          <a:xfrm>
            <a:off x="8651359" y="269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F475C3B8-C5D0-FDAB-D488-BE8DA59CCEE3}"/>
              </a:ext>
            </a:extLst>
          </p:cNvPr>
          <p:cNvSpPr/>
          <p:nvPr/>
        </p:nvSpPr>
        <p:spPr>
          <a:xfrm>
            <a:off x="8724824" y="253428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5C507C82-F4C6-5780-A9D3-FD225415CBF8}"/>
              </a:ext>
            </a:extLst>
          </p:cNvPr>
          <p:cNvSpPr/>
          <p:nvPr/>
        </p:nvSpPr>
        <p:spPr>
          <a:xfrm>
            <a:off x="8415832" y="272743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94782472-6DCE-4B34-18BE-682D4F07A300}"/>
              </a:ext>
            </a:extLst>
          </p:cNvPr>
          <p:cNvSpPr/>
          <p:nvPr/>
        </p:nvSpPr>
        <p:spPr>
          <a:xfrm>
            <a:off x="9144946" y="23236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CFD2CF3B-E8FE-BF47-3FB4-21BD306B0165}"/>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EC1DDAF8-3464-6ADD-9E95-261D1E233CAE}"/>
              </a:ext>
            </a:extLst>
          </p:cNvPr>
          <p:cNvSpPr/>
          <p:nvPr/>
        </p:nvSpPr>
        <p:spPr>
          <a:xfrm>
            <a:off x="9370811" y="231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B01F570C-468D-90EB-1065-98588CE60322}"/>
              </a:ext>
            </a:extLst>
          </p:cNvPr>
          <p:cNvSpPr/>
          <p:nvPr/>
        </p:nvSpPr>
        <p:spPr>
          <a:xfrm>
            <a:off x="9061819" y="25083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8A79AF54-45B5-E3B7-CB52-6A22EFB7E7EF}"/>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8583A5C1-07BE-6967-370B-15BDC281A9A9}"/>
              </a:ext>
            </a:extLst>
          </p:cNvPr>
          <p:cNvSpPr/>
          <p:nvPr/>
        </p:nvSpPr>
        <p:spPr>
          <a:xfrm>
            <a:off x="9449746" y="26284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F60BCBCD-31FC-9790-B2F1-ADF66D4BA516}"/>
              </a:ext>
            </a:extLst>
          </p:cNvPr>
          <p:cNvSpPr/>
          <p:nvPr/>
        </p:nvSpPr>
        <p:spPr>
          <a:xfrm>
            <a:off x="9523211" y="24675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3AA481BE-3CEC-DC28-AC83-2F4A576AD77A}"/>
              </a:ext>
            </a:extLst>
          </p:cNvPr>
          <p:cNvSpPr/>
          <p:nvPr/>
        </p:nvSpPr>
        <p:spPr>
          <a:xfrm>
            <a:off x="9214219" y="26607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53500213-9CD0-E283-CDBC-2EFE668E41B9}"/>
              </a:ext>
            </a:extLst>
          </p:cNvPr>
          <p:cNvSpPr/>
          <p:nvPr/>
        </p:nvSpPr>
        <p:spPr>
          <a:xfrm>
            <a:off x="9497764" y="255178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70AD9F6E-048D-1EE0-417A-BFBB5C0A44BE}"/>
              </a:ext>
            </a:extLst>
          </p:cNvPr>
          <p:cNvSpPr/>
          <p:nvPr/>
        </p:nvSpPr>
        <p:spPr>
          <a:xfrm>
            <a:off x="9650164" y="270418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B375D59B-989B-7E9A-FC4B-E234127AA7CB}"/>
              </a:ext>
            </a:extLst>
          </p:cNvPr>
          <p:cNvSpPr/>
          <p:nvPr/>
        </p:nvSpPr>
        <p:spPr>
          <a:xfrm>
            <a:off x="9723629" y="25433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39DC8D7F-2C94-FA1D-FD91-8D5C004A0F1C}"/>
              </a:ext>
            </a:extLst>
          </p:cNvPr>
          <p:cNvSpPr/>
          <p:nvPr/>
        </p:nvSpPr>
        <p:spPr>
          <a:xfrm>
            <a:off x="9414637" y="273645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B64F29EA-14F9-A64D-E8FA-BA363A6D898B}"/>
              </a:ext>
            </a:extLst>
          </p:cNvPr>
          <p:cNvSpPr/>
          <p:nvPr/>
        </p:nvSpPr>
        <p:spPr>
          <a:xfrm>
            <a:off x="9584785" y="22189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F547DD6B-DE69-C63C-2848-421B68DEC84B}"/>
              </a:ext>
            </a:extLst>
          </p:cNvPr>
          <p:cNvSpPr/>
          <p:nvPr/>
        </p:nvSpPr>
        <p:spPr>
          <a:xfrm>
            <a:off x="9737185" y="23713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98CCF188-620D-D8D1-EE61-A5AD89187A3A}"/>
              </a:ext>
            </a:extLst>
          </p:cNvPr>
          <p:cNvSpPr/>
          <p:nvPr/>
        </p:nvSpPr>
        <p:spPr>
          <a:xfrm>
            <a:off x="9810650" y="221047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E0F7242A-72E8-294E-41A0-28A87B0990E9}"/>
              </a:ext>
            </a:extLst>
          </p:cNvPr>
          <p:cNvSpPr/>
          <p:nvPr/>
        </p:nvSpPr>
        <p:spPr>
          <a:xfrm>
            <a:off x="9501658" y="240361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71B920C6-00F7-6E82-64EA-60B260DE3B75}"/>
              </a:ext>
            </a:extLst>
          </p:cNvPr>
          <p:cNvSpPr/>
          <p:nvPr/>
        </p:nvSpPr>
        <p:spPr>
          <a:xfrm>
            <a:off x="9802110" y="247628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6D39A4DC-7D63-4830-73E1-74AF9D4FE17F}"/>
              </a:ext>
            </a:extLst>
          </p:cNvPr>
          <p:cNvSpPr/>
          <p:nvPr/>
        </p:nvSpPr>
        <p:spPr>
          <a:xfrm>
            <a:off x="9954510" y="262868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AA83E2A7-F384-3B10-41A9-F5ED2A6221E2}"/>
              </a:ext>
            </a:extLst>
          </p:cNvPr>
          <p:cNvSpPr/>
          <p:nvPr/>
        </p:nvSpPr>
        <p:spPr>
          <a:xfrm>
            <a:off x="10027975" y="24678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1E3EED86-AD46-2AAB-A38B-D19EA159C0EB}"/>
              </a:ext>
            </a:extLst>
          </p:cNvPr>
          <p:cNvSpPr/>
          <p:nvPr/>
        </p:nvSpPr>
        <p:spPr>
          <a:xfrm>
            <a:off x="9718983" y="266095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4A2D16CC-729B-6265-F3A0-E9DE47AA5024}"/>
              </a:ext>
            </a:extLst>
          </p:cNvPr>
          <p:cNvSpPr/>
          <p:nvPr/>
        </p:nvSpPr>
        <p:spPr>
          <a:xfrm>
            <a:off x="7765356" y="33836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8102888C-CC58-0E97-BE31-8CE32E7698A7}"/>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AF760AAD-547C-60BF-1E73-5276565C1E41}"/>
              </a:ext>
            </a:extLst>
          </p:cNvPr>
          <p:cNvSpPr/>
          <p:nvPr/>
        </p:nvSpPr>
        <p:spPr>
          <a:xfrm>
            <a:off x="7991221" y="33752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4650F091-54B2-4B40-A9A1-0BBF2DC1CB13}"/>
              </a:ext>
            </a:extLst>
          </p:cNvPr>
          <p:cNvSpPr/>
          <p:nvPr/>
        </p:nvSpPr>
        <p:spPr>
          <a:xfrm>
            <a:off x="7682229" y="35683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6128BCDD-F97B-FD75-394A-7A5202F73002}"/>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E013E9BF-3C3E-8127-D04F-C6D4A6BBC640}"/>
              </a:ext>
            </a:extLst>
          </p:cNvPr>
          <p:cNvSpPr/>
          <p:nvPr/>
        </p:nvSpPr>
        <p:spPr>
          <a:xfrm>
            <a:off x="8070156" y="36884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1EC0310D-A103-39CC-FC25-531080314F8B}"/>
              </a:ext>
            </a:extLst>
          </p:cNvPr>
          <p:cNvSpPr/>
          <p:nvPr/>
        </p:nvSpPr>
        <p:spPr>
          <a:xfrm>
            <a:off x="8143621" y="35276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0D63363A-8A92-831D-EA04-F5747F07106F}"/>
              </a:ext>
            </a:extLst>
          </p:cNvPr>
          <p:cNvSpPr/>
          <p:nvPr/>
        </p:nvSpPr>
        <p:spPr>
          <a:xfrm>
            <a:off x="7834629" y="37207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FA10B02F-0954-5F5C-1C07-BB46E36FCF1F}"/>
              </a:ext>
            </a:extLst>
          </p:cNvPr>
          <p:cNvSpPr/>
          <p:nvPr/>
        </p:nvSpPr>
        <p:spPr>
          <a:xfrm>
            <a:off x="7726253" y="36924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2997996F-E374-A8C1-8189-189EF22B49BC}"/>
              </a:ext>
            </a:extLst>
          </p:cNvPr>
          <p:cNvSpPr/>
          <p:nvPr/>
        </p:nvSpPr>
        <p:spPr>
          <a:xfrm>
            <a:off x="7878653" y="38448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A6E94C89-FCB3-BE6F-7CF2-D7CAF9C488A7}"/>
              </a:ext>
            </a:extLst>
          </p:cNvPr>
          <p:cNvSpPr/>
          <p:nvPr/>
        </p:nvSpPr>
        <p:spPr>
          <a:xfrm>
            <a:off x="7952118" y="368401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26FD9B32-8B5C-D0C3-4729-9697C0098B78}"/>
              </a:ext>
            </a:extLst>
          </p:cNvPr>
          <p:cNvSpPr/>
          <p:nvPr/>
        </p:nvSpPr>
        <p:spPr>
          <a:xfrm>
            <a:off x="7643126" y="387715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A509FD5D-4CE1-126F-3D8B-723B4E3CDDE7}"/>
              </a:ext>
            </a:extLst>
          </p:cNvPr>
          <p:cNvSpPr/>
          <p:nvPr/>
        </p:nvSpPr>
        <p:spPr>
          <a:xfrm>
            <a:off x="7878653" y="38448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5562B3D4-6B22-BB6B-7906-34F4C380B115}"/>
              </a:ext>
            </a:extLst>
          </p:cNvPr>
          <p:cNvSpPr/>
          <p:nvPr/>
        </p:nvSpPr>
        <p:spPr>
          <a:xfrm>
            <a:off x="8031053" y="39972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3C3411D4-2C44-75A1-18E4-E2646B46F4CE}"/>
              </a:ext>
            </a:extLst>
          </p:cNvPr>
          <p:cNvSpPr/>
          <p:nvPr/>
        </p:nvSpPr>
        <p:spPr>
          <a:xfrm>
            <a:off x="8104518" y="383641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9D310509-2E2C-B880-20BE-34341061AD74}"/>
              </a:ext>
            </a:extLst>
          </p:cNvPr>
          <p:cNvSpPr/>
          <p:nvPr/>
        </p:nvSpPr>
        <p:spPr>
          <a:xfrm>
            <a:off x="7795526" y="402955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35718A5E-15CD-9B97-B95F-6188792151F9}"/>
              </a:ext>
            </a:extLst>
          </p:cNvPr>
          <p:cNvSpPr/>
          <p:nvPr/>
        </p:nvSpPr>
        <p:spPr>
          <a:xfrm>
            <a:off x="7925965" y="387403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4DEDE9C3-7C38-FB5B-7F1D-F07C6252094C}"/>
              </a:ext>
            </a:extLst>
          </p:cNvPr>
          <p:cNvSpPr/>
          <p:nvPr/>
        </p:nvSpPr>
        <p:spPr>
          <a:xfrm>
            <a:off x="8078365" y="402643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7C68FD38-2835-E697-F116-F1219C43CB58}"/>
              </a:ext>
            </a:extLst>
          </p:cNvPr>
          <p:cNvSpPr/>
          <p:nvPr/>
        </p:nvSpPr>
        <p:spPr>
          <a:xfrm>
            <a:off x="8151830" y="38655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B8B130C3-2F98-E4AA-CE7C-03BA0C5EC580}"/>
              </a:ext>
            </a:extLst>
          </p:cNvPr>
          <p:cNvSpPr/>
          <p:nvPr/>
        </p:nvSpPr>
        <p:spPr>
          <a:xfrm>
            <a:off x="7842838" y="405870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5830394E-7BB4-3894-0C31-435DF5158B75}"/>
              </a:ext>
            </a:extLst>
          </p:cNvPr>
          <p:cNvSpPr/>
          <p:nvPr/>
        </p:nvSpPr>
        <p:spPr>
          <a:xfrm>
            <a:off x="8411413" y="358882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5F273FA3-480C-7E1C-E2A3-AFA55A9C3E1F}"/>
              </a:ext>
            </a:extLst>
          </p:cNvPr>
          <p:cNvSpPr/>
          <p:nvPr/>
        </p:nvSpPr>
        <p:spPr>
          <a:xfrm>
            <a:off x="8563813" y="374122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5D1AE479-B138-1EE8-B92C-0276BE8286E3}"/>
              </a:ext>
            </a:extLst>
          </p:cNvPr>
          <p:cNvSpPr/>
          <p:nvPr/>
        </p:nvSpPr>
        <p:spPr>
          <a:xfrm>
            <a:off x="8637278" y="358034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5E0BD415-FA28-32FA-4715-8CA368408A3A}"/>
              </a:ext>
            </a:extLst>
          </p:cNvPr>
          <p:cNvSpPr/>
          <p:nvPr/>
        </p:nvSpPr>
        <p:spPr>
          <a:xfrm>
            <a:off x="8328286" y="377349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DA2AAEA0-4A8A-D5C3-9A80-B1A2362F2EC7}"/>
              </a:ext>
            </a:extLst>
          </p:cNvPr>
          <p:cNvSpPr/>
          <p:nvPr/>
        </p:nvSpPr>
        <p:spPr>
          <a:xfrm>
            <a:off x="8013824" y="41616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96FB69BA-6E71-282E-04B0-C7A05322819C}"/>
              </a:ext>
            </a:extLst>
          </p:cNvPr>
          <p:cNvSpPr/>
          <p:nvPr/>
        </p:nvSpPr>
        <p:spPr>
          <a:xfrm>
            <a:off x="8166224" y="4314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DCB2C0CB-79CF-0481-1A81-470988FB9778}"/>
              </a:ext>
            </a:extLst>
          </p:cNvPr>
          <p:cNvSpPr/>
          <p:nvPr/>
        </p:nvSpPr>
        <p:spPr>
          <a:xfrm>
            <a:off x="8239689" y="4153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73375780-A126-2204-EEAA-87D730F2DEDC}"/>
              </a:ext>
            </a:extLst>
          </p:cNvPr>
          <p:cNvSpPr/>
          <p:nvPr/>
        </p:nvSpPr>
        <p:spPr>
          <a:xfrm>
            <a:off x="7930697" y="43463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AF63A3D3-A400-AD61-F694-A80EA4BCC7A4}"/>
              </a:ext>
            </a:extLst>
          </p:cNvPr>
          <p:cNvSpPr/>
          <p:nvPr/>
        </p:nvSpPr>
        <p:spPr>
          <a:xfrm>
            <a:off x="8813785" y="317134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99F8B82C-0BEC-952D-4EC2-97B62BE8951A}"/>
              </a:ext>
            </a:extLst>
          </p:cNvPr>
          <p:cNvSpPr/>
          <p:nvPr/>
        </p:nvSpPr>
        <p:spPr>
          <a:xfrm>
            <a:off x="8966185" y="332374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122A0CA4-D224-A8AF-CE44-BC3D1909AFED}"/>
              </a:ext>
            </a:extLst>
          </p:cNvPr>
          <p:cNvSpPr/>
          <p:nvPr/>
        </p:nvSpPr>
        <p:spPr>
          <a:xfrm>
            <a:off x="9039650" y="316286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71D54038-C7BA-F073-1E52-7AA2F3E304D4}"/>
              </a:ext>
            </a:extLst>
          </p:cNvPr>
          <p:cNvSpPr/>
          <p:nvPr/>
        </p:nvSpPr>
        <p:spPr>
          <a:xfrm>
            <a:off x="8730658" y="335601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C555730B-2156-7CA5-98F3-1AA8159518ED}"/>
              </a:ext>
            </a:extLst>
          </p:cNvPr>
          <p:cNvSpPr/>
          <p:nvPr/>
        </p:nvSpPr>
        <p:spPr>
          <a:xfrm>
            <a:off x="9973015" y="219807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1A988850-6B89-BA75-691F-94F00BC8ADC5}"/>
              </a:ext>
            </a:extLst>
          </p:cNvPr>
          <p:cNvSpPr/>
          <p:nvPr/>
        </p:nvSpPr>
        <p:spPr>
          <a:xfrm>
            <a:off x="10125415" y="235047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2D6B6923-BA3C-E1A0-4050-EDFAF9E2FD1A}"/>
              </a:ext>
            </a:extLst>
          </p:cNvPr>
          <p:cNvSpPr/>
          <p:nvPr/>
        </p:nvSpPr>
        <p:spPr>
          <a:xfrm>
            <a:off x="10148743" y="221984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1439148E-DFE6-EE5B-E35B-E9518B313C28}"/>
              </a:ext>
            </a:extLst>
          </p:cNvPr>
          <p:cNvSpPr/>
          <p:nvPr/>
        </p:nvSpPr>
        <p:spPr>
          <a:xfrm>
            <a:off x="9889888" y="238273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B035A77B-94EE-6944-D80A-3D315E55D767}"/>
              </a:ext>
            </a:extLst>
          </p:cNvPr>
          <p:cNvSpPr/>
          <p:nvPr/>
        </p:nvSpPr>
        <p:spPr>
          <a:xfrm>
            <a:off x="10125415" y="235047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19E86F54-6B38-FF9E-8AD1-6D5880A73E62}"/>
              </a:ext>
            </a:extLst>
          </p:cNvPr>
          <p:cNvSpPr/>
          <p:nvPr/>
        </p:nvSpPr>
        <p:spPr>
          <a:xfrm>
            <a:off x="9638831" y="218912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BE99ACA9-1035-2444-4BC8-739C0CB2B5ED}"/>
              </a:ext>
            </a:extLst>
          </p:cNvPr>
          <p:cNvSpPr/>
          <p:nvPr/>
        </p:nvSpPr>
        <p:spPr>
          <a:xfrm>
            <a:off x="10248474" y="20849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BE8FEB3A-F123-3D19-3AF1-D0FF42EF4F8E}"/>
              </a:ext>
            </a:extLst>
          </p:cNvPr>
          <p:cNvSpPr/>
          <p:nvPr/>
        </p:nvSpPr>
        <p:spPr>
          <a:xfrm>
            <a:off x="9403304" y="22213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91A2509B-50DD-36E1-68D9-14BE1EC8F8E4}"/>
              </a:ext>
            </a:extLst>
          </p:cNvPr>
          <p:cNvSpPr/>
          <p:nvPr/>
        </p:nvSpPr>
        <p:spPr>
          <a:xfrm>
            <a:off x="7671356" y="41616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4BFFA072-D01E-C206-9D4A-7BC79D09CB72}"/>
              </a:ext>
            </a:extLst>
          </p:cNvPr>
          <p:cNvSpPr/>
          <p:nvPr/>
        </p:nvSpPr>
        <p:spPr>
          <a:xfrm>
            <a:off x="7823756" y="4314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F3B33986-5511-7C73-D2E5-577F0952226E}"/>
              </a:ext>
            </a:extLst>
          </p:cNvPr>
          <p:cNvSpPr/>
          <p:nvPr/>
        </p:nvSpPr>
        <p:spPr>
          <a:xfrm>
            <a:off x="7897221" y="4153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CE965CF7-D3CA-F98B-2E7B-B7D738571789}"/>
              </a:ext>
            </a:extLst>
          </p:cNvPr>
          <p:cNvSpPr/>
          <p:nvPr/>
        </p:nvSpPr>
        <p:spPr>
          <a:xfrm>
            <a:off x="7588229" y="43463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B74EF909-7CAF-4C14-F426-4B184DAC671E}"/>
              </a:ext>
            </a:extLst>
          </p:cNvPr>
          <p:cNvSpPr/>
          <p:nvPr/>
        </p:nvSpPr>
        <p:spPr>
          <a:xfrm>
            <a:off x="7823756" y="4314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EE780D64-5AC8-3BA6-87B5-406525EC2394}"/>
              </a:ext>
            </a:extLst>
          </p:cNvPr>
          <p:cNvSpPr/>
          <p:nvPr/>
        </p:nvSpPr>
        <p:spPr>
          <a:xfrm>
            <a:off x="7976156" y="44664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07423E34-780D-AD7E-D255-B29344490115}"/>
              </a:ext>
            </a:extLst>
          </p:cNvPr>
          <p:cNvSpPr/>
          <p:nvPr/>
        </p:nvSpPr>
        <p:spPr>
          <a:xfrm>
            <a:off x="8049621" y="43055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334A553E-8413-E9C9-829B-334A0D34863A}"/>
              </a:ext>
            </a:extLst>
          </p:cNvPr>
          <p:cNvSpPr/>
          <p:nvPr/>
        </p:nvSpPr>
        <p:spPr>
          <a:xfrm>
            <a:off x="7740629" y="44987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CD4A7493-3A51-CF80-B909-E7E1B2F3E720}"/>
              </a:ext>
            </a:extLst>
          </p:cNvPr>
          <p:cNvSpPr/>
          <p:nvPr/>
        </p:nvSpPr>
        <p:spPr>
          <a:xfrm>
            <a:off x="7422064" y="398629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76EAC103-4E63-05C0-FCDF-9F34DC252573}"/>
              </a:ext>
            </a:extLst>
          </p:cNvPr>
          <p:cNvSpPr/>
          <p:nvPr/>
        </p:nvSpPr>
        <p:spPr>
          <a:xfrm>
            <a:off x="7574464" y="413869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E638BB89-292A-C97A-31F3-6A56503EA7F7}"/>
              </a:ext>
            </a:extLst>
          </p:cNvPr>
          <p:cNvSpPr/>
          <p:nvPr/>
        </p:nvSpPr>
        <p:spPr>
          <a:xfrm>
            <a:off x="7647929" y="39778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F247782A-1A41-B811-B852-129F0AF26C06}"/>
              </a:ext>
            </a:extLst>
          </p:cNvPr>
          <p:cNvSpPr/>
          <p:nvPr/>
        </p:nvSpPr>
        <p:spPr>
          <a:xfrm>
            <a:off x="7338937" y="417096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8CA3445E-1937-5EAD-E92E-28B4ABBE3722}"/>
              </a:ext>
            </a:extLst>
          </p:cNvPr>
          <p:cNvSpPr/>
          <p:nvPr/>
        </p:nvSpPr>
        <p:spPr>
          <a:xfrm>
            <a:off x="7439117" y="36407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8DD37228-900D-AE99-0405-34599F739E89}"/>
              </a:ext>
            </a:extLst>
          </p:cNvPr>
          <p:cNvSpPr/>
          <p:nvPr/>
        </p:nvSpPr>
        <p:spPr>
          <a:xfrm>
            <a:off x="7591517" y="37931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91616ED0-38A3-9692-F21F-1CDF48A6E5EF}"/>
              </a:ext>
            </a:extLst>
          </p:cNvPr>
          <p:cNvSpPr/>
          <p:nvPr/>
        </p:nvSpPr>
        <p:spPr>
          <a:xfrm>
            <a:off x="7664982" y="36322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59653E50-0872-AA59-C490-DDD17FE43338}"/>
              </a:ext>
            </a:extLst>
          </p:cNvPr>
          <p:cNvSpPr/>
          <p:nvPr/>
        </p:nvSpPr>
        <p:spPr>
          <a:xfrm>
            <a:off x="7355990" y="38254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B022FE94-3F53-A9AD-5CB0-99606319F4E5}"/>
              </a:ext>
            </a:extLst>
          </p:cNvPr>
          <p:cNvSpPr/>
          <p:nvPr/>
        </p:nvSpPr>
        <p:spPr>
          <a:xfrm>
            <a:off x="7591517" y="37931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0F931A84-C9A3-64B1-55C7-DF5DC95BC621}"/>
              </a:ext>
            </a:extLst>
          </p:cNvPr>
          <p:cNvSpPr/>
          <p:nvPr/>
        </p:nvSpPr>
        <p:spPr>
          <a:xfrm>
            <a:off x="7743917" y="39455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A15DDB66-A57C-C409-B2ED-5454965C08AE}"/>
              </a:ext>
            </a:extLst>
          </p:cNvPr>
          <p:cNvSpPr/>
          <p:nvPr/>
        </p:nvSpPr>
        <p:spPr>
          <a:xfrm>
            <a:off x="7817382" y="37846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3AE2207D-DFB5-DCC4-CD96-9C1EA073932F}"/>
              </a:ext>
            </a:extLst>
          </p:cNvPr>
          <p:cNvSpPr/>
          <p:nvPr/>
        </p:nvSpPr>
        <p:spPr>
          <a:xfrm>
            <a:off x="7508390" y="39778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84856B65-F409-D182-82BE-0069ECB25195}"/>
              </a:ext>
            </a:extLst>
          </p:cNvPr>
          <p:cNvSpPr/>
          <p:nvPr/>
        </p:nvSpPr>
        <p:spPr>
          <a:xfrm>
            <a:off x="7377691" y="433789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5F9B1797-F4F1-8E25-7DF3-BBBEC6F485FF}"/>
              </a:ext>
            </a:extLst>
          </p:cNvPr>
          <p:cNvSpPr/>
          <p:nvPr/>
        </p:nvSpPr>
        <p:spPr>
          <a:xfrm>
            <a:off x="7530091" y="449029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DE3E77EB-60BB-381A-579B-B078D2BA569E}"/>
              </a:ext>
            </a:extLst>
          </p:cNvPr>
          <p:cNvSpPr/>
          <p:nvPr/>
        </p:nvSpPr>
        <p:spPr>
          <a:xfrm>
            <a:off x="7603556" y="432941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034B1A01-8943-ABAA-C671-3CC0C67DF3A1}"/>
              </a:ext>
            </a:extLst>
          </p:cNvPr>
          <p:cNvSpPr/>
          <p:nvPr/>
        </p:nvSpPr>
        <p:spPr>
          <a:xfrm>
            <a:off x="7294564" y="45225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CBED1B2F-6A83-0359-79F2-8C47F86AD85C}"/>
              </a:ext>
            </a:extLst>
          </p:cNvPr>
          <p:cNvSpPr/>
          <p:nvPr/>
        </p:nvSpPr>
        <p:spPr>
          <a:xfrm>
            <a:off x="7530091" y="449029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1F86C635-7AC2-DBA2-2A5A-2CD07B50890B}"/>
              </a:ext>
            </a:extLst>
          </p:cNvPr>
          <p:cNvSpPr/>
          <p:nvPr/>
        </p:nvSpPr>
        <p:spPr>
          <a:xfrm>
            <a:off x="7682491" y="464269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846163F0-D2A5-A778-295B-D7875FC047BA}"/>
              </a:ext>
            </a:extLst>
          </p:cNvPr>
          <p:cNvSpPr/>
          <p:nvPr/>
        </p:nvSpPr>
        <p:spPr>
          <a:xfrm>
            <a:off x="7755956" y="448181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B03E3DAD-9F1F-ACC9-79A9-B891E89D8B42}"/>
              </a:ext>
            </a:extLst>
          </p:cNvPr>
          <p:cNvSpPr/>
          <p:nvPr/>
        </p:nvSpPr>
        <p:spPr>
          <a:xfrm>
            <a:off x="7446964" y="46749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C6F9F249-3ACC-AAD4-A5BD-98D88420C56B}"/>
              </a:ext>
            </a:extLst>
          </p:cNvPr>
          <p:cNvSpPr/>
          <p:nvPr/>
        </p:nvSpPr>
        <p:spPr>
          <a:xfrm>
            <a:off x="7211896" y="472829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35575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D70C-2A24-4A55-D476-345F4436D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15862-EC21-1F52-20FC-30BFC904EA3A}"/>
              </a:ext>
            </a:extLst>
          </p:cNvPr>
          <p:cNvSpPr>
            <a:spLocks noGrp="1"/>
          </p:cNvSpPr>
          <p:nvPr>
            <p:ph type="title"/>
          </p:nvPr>
        </p:nvSpPr>
        <p:spPr>
          <a:xfrm>
            <a:off x="482600" y="597408"/>
            <a:ext cx="10634472" cy="1117092"/>
          </a:xfrm>
          <a:noFill/>
        </p:spPr>
        <p:txBody>
          <a:bodyPr/>
          <a:lstStyle/>
          <a:p>
            <a:r>
              <a:rPr lang="en-CA" sz="4800" dirty="0"/>
              <a:t>PSA and the CE Plane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B4B9DF-B081-939E-7AF6-18E14586DCB0}"/>
                  </a:ext>
                </a:extLst>
              </p:cNvPr>
              <p:cNvSpPr>
                <a:spLocks noGrp="1"/>
              </p:cNvSpPr>
              <p:nvPr>
                <p:ph idx="1"/>
              </p:nvPr>
            </p:nvSpPr>
            <p:spPr>
              <a:xfrm>
                <a:off x="482601" y="1943100"/>
                <a:ext cx="4481000" cy="3936491"/>
              </a:xfrm>
            </p:spPr>
            <p:txBody>
              <a:bodyPr>
                <a:normAutofit lnSpcReduction="10000"/>
              </a:bodyPr>
              <a:lstStyle/>
              <a:p>
                <a:pPr marL="342900" indent="-342900">
                  <a:buFont typeface="Wingdings" panose="05000000000000000000" pitchFamily="2" charset="2"/>
                  <a:buChar char="§"/>
                </a:pPr>
                <a:r>
                  <a:rPr lang="en-CA" dirty="0"/>
                  <a:t>After these ICERs are computed, they are evaluated against a </a:t>
                </a:r>
                <a:r>
                  <a:rPr lang="en-CA" b="1" dirty="0"/>
                  <a:t>Cost-Effectiveness Threshold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oMath>
                </a14:m>
                <a:r>
                  <a:rPr lang="en-CA" dirty="0"/>
                  <a:t>.</a:t>
                </a:r>
              </a:p>
              <a:p>
                <a:pPr marL="342900" indent="-342900">
                  <a:buFont typeface="Wingdings" panose="05000000000000000000" pitchFamily="2" charset="2"/>
                  <a:buChar char="§"/>
                </a:pPr>
                <a:r>
                  <a:rPr lang="en-CA" dirty="0"/>
                  <a:t>This is often (but not always) 50,000 dollars per QALY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r>
                      <a:rPr lang="en-CA" b="0" i="1" smtClean="0">
                        <a:latin typeface="Cambria Math" panose="02040503050406030204" pitchFamily="18" charset="0"/>
                      </a:rPr>
                      <m:t>=50,000</m:t>
                    </m:r>
                  </m:oMath>
                </a14:m>
                <a:r>
                  <a:rPr lang="en-CA" dirty="0"/>
                  <a:t>).</a:t>
                </a:r>
              </a:p>
              <a:p>
                <a:pPr marL="342900" indent="-342900">
                  <a:buFont typeface="Wingdings" panose="05000000000000000000" pitchFamily="2" charset="2"/>
                  <a:buChar char="§"/>
                </a:pPr>
                <a:r>
                  <a:rPr lang="en-CA" dirty="0"/>
                  <a:t>All the ICERS that are below the threshold are called cost effective at the threshold.</a:t>
                </a:r>
              </a:p>
            </p:txBody>
          </p:sp>
        </mc:Choice>
        <mc:Fallback xmlns="">
          <p:sp>
            <p:nvSpPr>
              <p:cNvPr id="3" name="Content Placeholder 2">
                <a:extLst>
                  <a:ext uri="{FF2B5EF4-FFF2-40B4-BE49-F238E27FC236}">
                    <a16:creationId xmlns:a16="http://schemas.microsoft.com/office/drawing/2014/main" id="{B3B4B9DF-B081-939E-7AF6-18E14586DCB0}"/>
                  </a:ext>
                </a:extLst>
              </p:cNvPr>
              <p:cNvSpPr>
                <a:spLocks noGrp="1" noRot="1" noChangeAspect="1" noMove="1" noResize="1" noEditPoints="1" noAdjustHandles="1" noChangeArrowheads="1" noChangeShapeType="1" noTextEdit="1"/>
              </p:cNvSpPr>
              <p:nvPr>
                <p:ph idx="1"/>
              </p:nvPr>
            </p:nvSpPr>
            <p:spPr>
              <a:xfrm>
                <a:off x="482601" y="1943100"/>
                <a:ext cx="4481000" cy="3936491"/>
              </a:xfrm>
              <a:blipFill>
                <a:blip r:embed="rId2"/>
                <a:stretch>
                  <a:fillRect l="-1769" t="-2171" r="-3129"/>
                </a:stretch>
              </a:blipFill>
            </p:spPr>
            <p:txBody>
              <a:bodyPr/>
              <a:lstStyle/>
              <a:p>
                <a:r>
                  <a:rPr lang="en-CA">
                    <a:noFill/>
                  </a:rPr>
                  <a:t> </a:t>
                </a:r>
              </a:p>
            </p:txBody>
          </p:sp>
        </mc:Fallback>
      </mc:AlternateContent>
      <p:cxnSp>
        <p:nvCxnSpPr>
          <p:cNvPr id="5" name="Straight Connector 4">
            <a:extLst>
              <a:ext uri="{FF2B5EF4-FFF2-40B4-BE49-F238E27FC236}">
                <a16:creationId xmlns:a16="http://schemas.microsoft.com/office/drawing/2014/main" id="{BB39B2D6-1AAC-D944-FDAF-E4BB8CC38F13}"/>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01AD866-4F60-9136-7251-1CE446673489}"/>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8120A5D-94E8-FDEA-C972-72A076B186CC}"/>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34695504-9A43-DECF-92BA-261AA1BC6AF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3999C5-DDF9-B85E-7437-02F33DCC2CBE}"/>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F0796FDC-FFBE-3B5B-07A8-D6848CC318DE}"/>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sp>
        <p:nvSpPr>
          <p:cNvPr id="4" name="Oval 3">
            <a:extLst>
              <a:ext uri="{FF2B5EF4-FFF2-40B4-BE49-F238E27FC236}">
                <a16:creationId xmlns:a16="http://schemas.microsoft.com/office/drawing/2014/main" id="{7898687B-856F-F56B-B23A-835C36E7D348}"/>
              </a:ext>
            </a:extLst>
          </p:cNvPr>
          <p:cNvSpPr/>
          <p:nvPr/>
        </p:nvSpPr>
        <p:spPr>
          <a:xfrm>
            <a:off x="8766161" y="3008842"/>
            <a:ext cx="146930" cy="10380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8504368B-86A9-E0BE-9B9E-3E9B80918E36}"/>
              </a:ext>
            </a:extLst>
          </p:cNvPr>
          <p:cNvSpPr/>
          <p:nvPr/>
        </p:nvSpPr>
        <p:spPr>
          <a:xfrm>
            <a:off x="8692696" y="32722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90EE2478-0C1C-C5A3-1051-E3F2094A21BB}"/>
              </a:ext>
            </a:extLst>
          </p:cNvPr>
          <p:cNvSpPr/>
          <p:nvPr/>
        </p:nvSpPr>
        <p:spPr>
          <a:xfrm>
            <a:off x="8845096" y="34246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FC8D26DF-9974-5B55-D73A-3A443289C725}"/>
              </a:ext>
            </a:extLst>
          </p:cNvPr>
          <p:cNvSpPr/>
          <p:nvPr/>
        </p:nvSpPr>
        <p:spPr>
          <a:xfrm>
            <a:off x="8918561" y="326372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7BE13167-E9AB-510E-887F-8809F801524B}"/>
              </a:ext>
            </a:extLst>
          </p:cNvPr>
          <p:cNvSpPr/>
          <p:nvPr/>
        </p:nvSpPr>
        <p:spPr>
          <a:xfrm>
            <a:off x="8609569" y="345687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6ACCA610-75F6-0709-F0C8-033DDED19B4A}"/>
              </a:ext>
            </a:extLst>
          </p:cNvPr>
          <p:cNvSpPr/>
          <p:nvPr/>
        </p:nvSpPr>
        <p:spPr>
          <a:xfrm>
            <a:off x="8281403" y="325256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4A739B38-E031-0EB7-E99D-EC43C31A2DC0}"/>
              </a:ext>
            </a:extLst>
          </p:cNvPr>
          <p:cNvSpPr/>
          <p:nvPr/>
        </p:nvSpPr>
        <p:spPr>
          <a:xfrm>
            <a:off x="8433803" y="340496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82CFDFB0-8DE0-23F8-618C-452856F32D19}"/>
              </a:ext>
            </a:extLst>
          </p:cNvPr>
          <p:cNvSpPr/>
          <p:nvPr/>
        </p:nvSpPr>
        <p:spPr>
          <a:xfrm>
            <a:off x="8507268" y="324409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B322EB9E-0A43-2843-9B69-9A2CC8F5C72D}"/>
              </a:ext>
            </a:extLst>
          </p:cNvPr>
          <p:cNvSpPr/>
          <p:nvPr/>
        </p:nvSpPr>
        <p:spPr>
          <a:xfrm>
            <a:off x="8198276" y="34372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0A479F72-4BBC-A688-0E8F-AAF17B36A5EB}"/>
              </a:ext>
            </a:extLst>
          </p:cNvPr>
          <p:cNvSpPr/>
          <p:nvPr/>
        </p:nvSpPr>
        <p:spPr>
          <a:xfrm>
            <a:off x="8402163" y="38969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487FF620-47A7-D935-C043-B2D93EA8ACC3}"/>
              </a:ext>
            </a:extLst>
          </p:cNvPr>
          <p:cNvSpPr/>
          <p:nvPr/>
        </p:nvSpPr>
        <p:spPr>
          <a:xfrm>
            <a:off x="8554563" y="40493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709401E8-CC60-3862-859A-6EC486A7AE6B}"/>
              </a:ext>
            </a:extLst>
          </p:cNvPr>
          <p:cNvSpPr/>
          <p:nvPr/>
        </p:nvSpPr>
        <p:spPr>
          <a:xfrm>
            <a:off x="8628028" y="388848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6FD61C7B-B5E5-3C1C-03CD-DD71195ED557}"/>
              </a:ext>
            </a:extLst>
          </p:cNvPr>
          <p:cNvSpPr/>
          <p:nvPr/>
        </p:nvSpPr>
        <p:spPr>
          <a:xfrm>
            <a:off x="8319036" y="408162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5568BA2B-0D88-67E4-581F-C83C87D51B5E}"/>
              </a:ext>
            </a:extLst>
          </p:cNvPr>
          <p:cNvSpPr/>
          <p:nvPr/>
        </p:nvSpPr>
        <p:spPr>
          <a:xfrm>
            <a:off x="8079818" y="36042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D9CA194A-777F-6781-AB3A-203CC55EA944}"/>
              </a:ext>
            </a:extLst>
          </p:cNvPr>
          <p:cNvSpPr/>
          <p:nvPr/>
        </p:nvSpPr>
        <p:spPr>
          <a:xfrm>
            <a:off x="8232218" y="37566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2746A62A-4A2D-4371-077B-3335046E91FC}"/>
              </a:ext>
            </a:extLst>
          </p:cNvPr>
          <p:cNvSpPr/>
          <p:nvPr/>
        </p:nvSpPr>
        <p:spPr>
          <a:xfrm>
            <a:off x="8305683" y="359577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60FA1C19-8E14-825E-F630-BD82BDD9B103}"/>
              </a:ext>
            </a:extLst>
          </p:cNvPr>
          <p:cNvSpPr/>
          <p:nvPr/>
        </p:nvSpPr>
        <p:spPr>
          <a:xfrm>
            <a:off x="7996691" y="378891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F557BE5C-0A32-C38A-E537-5F3A32B58382}"/>
              </a:ext>
            </a:extLst>
          </p:cNvPr>
          <p:cNvSpPr/>
          <p:nvPr/>
        </p:nvSpPr>
        <p:spPr>
          <a:xfrm>
            <a:off x="8772834" y="357520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8523B984-8AD3-CAA3-226D-7101A5B7D7D5}"/>
              </a:ext>
            </a:extLst>
          </p:cNvPr>
          <p:cNvSpPr/>
          <p:nvPr/>
        </p:nvSpPr>
        <p:spPr>
          <a:xfrm>
            <a:off x="8925234" y="372760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1D77BB03-F417-5E4D-92F7-E81F5CEAB6C0}"/>
              </a:ext>
            </a:extLst>
          </p:cNvPr>
          <p:cNvSpPr/>
          <p:nvPr/>
        </p:nvSpPr>
        <p:spPr>
          <a:xfrm>
            <a:off x="8998699" y="356672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CE3306D7-368C-0BAD-FA96-C9D9398C4E8B}"/>
              </a:ext>
            </a:extLst>
          </p:cNvPr>
          <p:cNvSpPr/>
          <p:nvPr/>
        </p:nvSpPr>
        <p:spPr>
          <a:xfrm>
            <a:off x="8689707" y="37598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AC605895-007F-42C3-87B2-D20F4E560970}"/>
              </a:ext>
            </a:extLst>
          </p:cNvPr>
          <p:cNvSpPr/>
          <p:nvPr/>
        </p:nvSpPr>
        <p:spPr>
          <a:xfrm>
            <a:off x="7887263" y="31094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56975D2E-A788-E84A-C788-2EB68B3D5CA6}"/>
              </a:ext>
            </a:extLst>
          </p:cNvPr>
          <p:cNvSpPr/>
          <p:nvPr/>
        </p:nvSpPr>
        <p:spPr>
          <a:xfrm>
            <a:off x="8039663" y="32618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DBDCCE50-DDCA-1741-D8C3-A631E72AA081}"/>
              </a:ext>
            </a:extLst>
          </p:cNvPr>
          <p:cNvSpPr/>
          <p:nvPr/>
        </p:nvSpPr>
        <p:spPr>
          <a:xfrm>
            <a:off x="8113128" y="310095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670FD225-DCAE-9E33-503B-BF990AEC486E}"/>
              </a:ext>
            </a:extLst>
          </p:cNvPr>
          <p:cNvSpPr/>
          <p:nvPr/>
        </p:nvSpPr>
        <p:spPr>
          <a:xfrm>
            <a:off x="7804136" y="329409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B82E5F64-6FD0-901B-7711-820C60C92319}"/>
              </a:ext>
            </a:extLst>
          </p:cNvPr>
          <p:cNvSpPr/>
          <p:nvPr/>
        </p:nvSpPr>
        <p:spPr>
          <a:xfrm>
            <a:off x="8249351" y="26827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5E7A58FD-88FF-10F4-CF57-82EC7310B6B4}"/>
              </a:ext>
            </a:extLst>
          </p:cNvPr>
          <p:cNvSpPr/>
          <p:nvPr/>
        </p:nvSpPr>
        <p:spPr>
          <a:xfrm>
            <a:off x="8401751" y="28351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DC07B49F-D531-C056-743C-A818DFBD4B6F}"/>
              </a:ext>
            </a:extLst>
          </p:cNvPr>
          <p:cNvSpPr/>
          <p:nvPr/>
        </p:nvSpPr>
        <p:spPr>
          <a:xfrm>
            <a:off x="8475216" y="267426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C0B7C0C4-D21A-7055-6FD4-05E4B1745037}"/>
              </a:ext>
            </a:extLst>
          </p:cNvPr>
          <p:cNvSpPr/>
          <p:nvPr/>
        </p:nvSpPr>
        <p:spPr>
          <a:xfrm>
            <a:off x="8166224" y="28674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A1E5A513-74EC-FE3E-EE98-1D69C5998004}"/>
              </a:ext>
            </a:extLst>
          </p:cNvPr>
          <p:cNvSpPr/>
          <p:nvPr/>
        </p:nvSpPr>
        <p:spPr>
          <a:xfrm>
            <a:off x="8637278" y="27309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39498424-80F1-C517-F2DB-8BB657EFE4B3}"/>
              </a:ext>
            </a:extLst>
          </p:cNvPr>
          <p:cNvSpPr/>
          <p:nvPr/>
        </p:nvSpPr>
        <p:spPr>
          <a:xfrm>
            <a:off x="8789678" y="28833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EAF8320E-BD19-9FBA-404C-8020D634F8F7}"/>
              </a:ext>
            </a:extLst>
          </p:cNvPr>
          <p:cNvSpPr/>
          <p:nvPr/>
        </p:nvSpPr>
        <p:spPr>
          <a:xfrm>
            <a:off x="8863143" y="272243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3E4A6E6C-FE98-7782-513D-B2D8C4938144}"/>
              </a:ext>
            </a:extLst>
          </p:cNvPr>
          <p:cNvSpPr/>
          <p:nvPr/>
        </p:nvSpPr>
        <p:spPr>
          <a:xfrm>
            <a:off x="8554151" y="291558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A7060EB7-CAE6-BF6F-23E6-CAB62C4FF703}"/>
              </a:ext>
            </a:extLst>
          </p:cNvPr>
          <p:cNvSpPr/>
          <p:nvPr/>
        </p:nvSpPr>
        <p:spPr>
          <a:xfrm>
            <a:off x="9187267" y="29089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02EE7DD7-08F6-7402-C0BD-950F1F718A6E}"/>
              </a:ext>
            </a:extLst>
          </p:cNvPr>
          <p:cNvSpPr/>
          <p:nvPr/>
        </p:nvSpPr>
        <p:spPr>
          <a:xfrm>
            <a:off x="9339667" y="30613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04DC42E4-33A7-A937-3D76-1C576B4192EF}"/>
              </a:ext>
            </a:extLst>
          </p:cNvPr>
          <p:cNvSpPr/>
          <p:nvPr/>
        </p:nvSpPr>
        <p:spPr>
          <a:xfrm>
            <a:off x="9413132" y="290044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A5774D05-F40C-96FB-0950-2F1DACD3EFB2}"/>
              </a:ext>
            </a:extLst>
          </p:cNvPr>
          <p:cNvSpPr/>
          <p:nvPr/>
        </p:nvSpPr>
        <p:spPr>
          <a:xfrm>
            <a:off x="9104140" y="309358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F2E507B9-7BFA-9DC7-B403-FA95C991FA84}"/>
              </a:ext>
            </a:extLst>
          </p:cNvPr>
          <p:cNvSpPr/>
          <p:nvPr/>
        </p:nvSpPr>
        <p:spPr>
          <a:xfrm>
            <a:off x="9291876" y="325183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EA1C4E9B-53D7-082C-16B0-15A38378EF97}"/>
              </a:ext>
            </a:extLst>
          </p:cNvPr>
          <p:cNvSpPr/>
          <p:nvPr/>
        </p:nvSpPr>
        <p:spPr>
          <a:xfrm>
            <a:off x="9444276" y="340423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4E0C3E99-64DB-33DE-0C17-16EAB53C1467}"/>
              </a:ext>
            </a:extLst>
          </p:cNvPr>
          <p:cNvSpPr/>
          <p:nvPr/>
        </p:nvSpPr>
        <p:spPr>
          <a:xfrm>
            <a:off x="9517741" y="324335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F87D0164-E41C-84ED-5DC5-59F5348897F5}"/>
              </a:ext>
            </a:extLst>
          </p:cNvPr>
          <p:cNvSpPr/>
          <p:nvPr/>
        </p:nvSpPr>
        <p:spPr>
          <a:xfrm>
            <a:off x="9208749" y="343650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378DC127-DC2E-BE10-3AEA-B8BA3D62FBE1}"/>
              </a:ext>
            </a:extLst>
          </p:cNvPr>
          <p:cNvSpPr/>
          <p:nvPr/>
        </p:nvSpPr>
        <p:spPr>
          <a:xfrm>
            <a:off x="9187267" y="248052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53A8E6A1-C279-6678-47D1-BFC3C0152B8E}"/>
              </a:ext>
            </a:extLst>
          </p:cNvPr>
          <p:cNvSpPr/>
          <p:nvPr/>
        </p:nvSpPr>
        <p:spPr>
          <a:xfrm>
            <a:off x="9339667" y="263292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641D1313-B8C7-FA6B-66F5-6BAD211DD3E5}"/>
              </a:ext>
            </a:extLst>
          </p:cNvPr>
          <p:cNvSpPr/>
          <p:nvPr/>
        </p:nvSpPr>
        <p:spPr>
          <a:xfrm>
            <a:off x="9413132" y="247204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C9071EC8-B7BE-6BDA-C4B2-60C82DE504CA}"/>
              </a:ext>
            </a:extLst>
          </p:cNvPr>
          <p:cNvSpPr/>
          <p:nvPr/>
        </p:nvSpPr>
        <p:spPr>
          <a:xfrm>
            <a:off x="9104140" y="266518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3D298FD9-5ABA-D0BE-3866-7A05526C72AE}"/>
              </a:ext>
            </a:extLst>
          </p:cNvPr>
          <p:cNvSpPr/>
          <p:nvPr/>
        </p:nvSpPr>
        <p:spPr>
          <a:xfrm>
            <a:off x="8776812" y="23745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85F2681A-A68C-E59B-E839-01B904D83FFE}"/>
              </a:ext>
            </a:extLst>
          </p:cNvPr>
          <p:cNvSpPr/>
          <p:nvPr/>
        </p:nvSpPr>
        <p:spPr>
          <a:xfrm>
            <a:off x="8929212" y="25269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3828D7DE-85A9-B866-4037-9DFAD03BC817}"/>
              </a:ext>
            </a:extLst>
          </p:cNvPr>
          <p:cNvSpPr/>
          <p:nvPr/>
        </p:nvSpPr>
        <p:spPr>
          <a:xfrm>
            <a:off x="9002677" y="236607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2288637E-3F15-34E7-C0FD-195AE71D877C}"/>
              </a:ext>
            </a:extLst>
          </p:cNvPr>
          <p:cNvSpPr/>
          <p:nvPr/>
        </p:nvSpPr>
        <p:spPr>
          <a:xfrm>
            <a:off x="8693685" y="255922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B0E7800C-B177-1CE6-34AB-851DFF093466}"/>
              </a:ext>
            </a:extLst>
          </p:cNvPr>
          <p:cNvSpPr/>
          <p:nvPr/>
        </p:nvSpPr>
        <p:spPr>
          <a:xfrm>
            <a:off x="9638831" y="282090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F066A596-8A6E-7E2C-53C1-7D8FDA83ACA9}"/>
              </a:ext>
            </a:extLst>
          </p:cNvPr>
          <p:cNvSpPr/>
          <p:nvPr/>
        </p:nvSpPr>
        <p:spPr>
          <a:xfrm>
            <a:off x="9791231" y="297330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1C2E2F3E-DD6A-0F3D-B666-3058B9027943}"/>
              </a:ext>
            </a:extLst>
          </p:cNvPr>
          <p:cNvSpPr/>
          <p:nvPr/>
        </p:nvSpPr>
        <p:spPr>
          <a:xfrm>
            <a:off x="9864696" y="28124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10A78657-59DB-E6F7-D13B-FE8A72CC07A9}"/>
              </a:ext>
            </a:extLst>
          </p:cNvPr>
          <p:cNvSpPr/>
          <p:nvPr/>
        </p:nvSpPr>
        <p:spPr>
          <a:xfrm>
            <a:off x="9555704" y="300556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CC1D51DF-0320-EEAC-17BE-88FBC748A928}"/>
              </a:ext>
            </a:extLst>
          </p:cNvPr>
          <p:cNvSpPr/>
          <p:nvPr/>
        </p:nvSpPr>
        <p:spPr>
          <a:xfrm>
            <a:off x="9021472" y="28012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063C2327-3FA8-74C4-7045-AB5279F2DE02}"/>
              </a:ext>
            </a:extLst>
          </p:cNvPr>
          <p:cNvSpPr/>
          <p:nvPr/>
        </p:nvSpPr>
        <p:spPr>
          <a:xfrm>
            <a:off x="9173872" y="29536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B5908F12-0B45-AA19-E955-BEBEA6B7325D}"/>
              </a:ext>
            </a:extLst>
          </p:cNvPr>
          <p:cNvSpPr/>
          <p:nvPr/>
        </p:nvSpPr>
        <p:spPr>
          <a:xfrm>
            <a:off x="9247337" y="279278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95756AB9-C6FA-E73F-90A7-97C0724936A1}"/>
              </a:ext>
            </a:extLst>
          </p:cNvPr>
          <p:cNvSpPr/>
          <p:nvPr/>
        </p:nvSpPr>
        <p:spPr>
          <a:xfrm>
            <a:off x="8938345" y="298592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D324032F-1FEB-1CEC-761C-FF3293AFD4D4}"/>
              </a:ext>
            </a:extLst>
          </p:cNvPr>
          <p:cNvSpPr/>
          <p:nvPr/>
        </p:nvSpPr>
        <p:spPr>
          <a:xfrm>
            <a:off x="8526598" y="33918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3B344F78-66DC-3800-9C01-BA29084F576F}"/>
              </a:ext>
            </a:extLst>
          </p:cNvPr>
          <p:cNvSpPr/>
          <p:nvPr/>
        </p:nvSpPr>
        <p:spPr>
          <a:xfrm>
            <a:off x="8678998" y="35442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7D001487-2887-F9F3-24F0-6F47025A888F}"/>
              </a:ext>
            </a:extLst>
          </p:cNvPr>
          <p:cNvSpPr/>
          <p:nvPr/>
        </p:nvSpPr>
        <p:spPr>
          <a:xfrm>
            <a:off x="8752463" y="338333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57AC8385-1DE0-93DB-30D5-A2F8622E4584}"/>
              </a:ext>
            </a:extLst>
          </p:cNvPr>
          <p:cNvSpPr/>
          <p:nvPr/>
        </p:nvSpPr>
        <p:spPr>
          <a:xfrm>
            <a:off x="8443471" y="357647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7229D7FC-9E51-12E8-F972-2BFE9FFCC5EA}"/>
              </a:ext>
            </a:extLst>
          </p:cNvPr>
          <p:cNvSpPr/>
          <p:nvPr/>
        </p:nvSpPr>
        <p:spPr>
          <a:xfrm>
            <a:off x="8268902" y="30196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2C295EE7-3A5F-1849-3DF3-B95321D7F8F0}"/>
              </a:ext>
            </a:extLst>
          </p:cNvPr>
          <p:cNvSpPr/>
          <p:nvPr/>
        </p:nvSpPr>
        <p:spPr>
          <a:xfrm>
            <a:off x="8421302" y="31720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20EA299D-084F-B727-3CDE-E962AE1FA5EB}"/>
              </a:ext>
            </a:extLst>
          </p:cNvPr>
          <p:cNvSpPr/>
          <p:nvPr/>
        </p:nvSpPr>
        <p:spPr>
          <a:xfrm>
            <a:off x="8494767" y="301118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806F332E-E8F0-B93E-50DF-BE12B8A0DBAF}"/>
              </a:ext>
            </a:extLst>
          </p:cNvPr>
          <p:cNvSpPr/>
          <p:nvPr/>
        </p:nvSpPr>
        <p:spPr>
          <a:xfrm>
            <a:off x="8185775" y="320432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73FDAAE8-4D3B-D8C8-AA20-51F6595EDD8B}"/>
              </a:ext>
            </a:extLst>
          </p:cNvPr>
          <p:cNvSpPr/>
          <p:nvPr/>
        </p:nvSpPr>
        <p:spPr>
          <a:xfrm>
            <a:off x="8498959" y="25427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3F5A12D2-6051-955D-60B3-1A59E17D87C6}"/>
              </a:ext>
            </a:extLst>
          </p:cNvPr>
          <p:cNvSpPr/>
          <p:nvPr/>
        </p:nvSpPr>
        <p:spPr>
          <a:xfrm>
            <a:off x="8651359" y="269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9CDC10B4-9B7F-D7A3-05A9-07A662936BFB}"/>
              </a:ext>
            </a:extLst>
          </p:cNvPr>
          <p:cNvSpPr/>
          <p:nvPr/>
        </p:nvSpPr>
        <p:spPr>
          <a:xfrm>
            <a:off x="8724824" y="253428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29FEE7D4-D194-5725-8A9A-8FD7473B5E89}"/>
              </a:ext>
            </a:extLst>
          </p:cNvPr>
          <p:cNvSpPr/>
          <p:nvPr/>
        </p:nvSpPr>
        <p:spPr>
          <a:xfrm>
            <a:off x="8415832" y="272743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E87502EC-5EC6-BE96-5F1E-9A11CF714DD0}"/>
              </a:ext>
            </a:extLst>
          </p:cNvPr>
          <p:cNvSpPr/>
          <p:nvPr/>
        </p:nvSpPr>
        <p:spPr>
          <a:xfrm>
            <a:off x="9144946" y="23236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C530F82B-75D6-7A56-D602-A07E8E005C6B}"/>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8E814EC2-886B-B757-1D50-F887E0671D88}"/>
              </a:ext>
            </a:extLst>
          </p:cNvPr>
          <p:cNvSpPr/>
          <p:nvPr/>
        </p:nvSpPr>
        <p:spPr>
          <a:xfrm>
            <a:off x="9370811" y="231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10918533-64BD-E940-A416-A865AB31A91B}"/>
              </a:ext>
            </a:extLst>
          </p:cNvPr>
          <p:cNvSpPr/>
          <p:nvPr/>
        </p:nvSpPr>
        <p:spPr>
          <a:xfrm>
            <a:off x="9061819" y="25083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596BF7A5-CB61-8D1A-E93A-981D26AAF079}"/>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D1E4EDC4-844E-E88D-851D-CC8135BA3152}"/>
              </a:ext>
            </a:extLst>
          </p:cNvPr>
          <p:cNvSpPr/>
          <p:nvPr/>
        </p:nvSpPr>
        <p:spPr>
          <a:xfrm>
            <a:off x="9449746" y="26284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3D546F6D-43B0-936C-92C1-1D75939C1CB4}"/>
              </a:ext>
            </a:extLst>
          </p:cNvPr>
          <p:cNvSpPr/>
          <p:nvPr/>
        </p:nvSpPr>
        <p:spPr>
          <a:xfrm>
            <a:off x="9523211" y="24675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4E58D509-7965-B2A8-420F-8D1F09B578FC}"/>
              </a:ext>
            </a:extLst>
          </p:cNvPr>
          <p:cNvSpPr/>
          <p:nvPr/>
        </p:nvSpPr>
        <p:spPr>
          <a:xfrm>
            <a:off x="9214219" y="26607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69DD845C-06B3-1CA8-8161-A6C0C29DD5DE}"/>
              </a:ext>
            </a:extLst>
          </p:cNvPr>
          <p:cNvSpPr/>
          <p:nvPr/>
        </p:nvSpPr>
        <p:spPr>
          <a:xfrm>
            <a:off x="9497764" y="25517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82C98BE0-55C9-312C-3BD1-FCEE7C708D72}"/>
              </a:ext>
            </a:extLst>
          </p:cNvPr>
          <p:cNvSpPr/>
          <p:nvPr/>
        </p:nvSpPr>
        <p:spPr>
          <a:xfrm>
            <a:off x="9650164" y="27041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A282BDB9-3E2D-F1D9-AFD6-58F648768864}"/>
              </a:ext>
            </a:extLst>
          </p:cNvPr>
          <p:cNvSpPr/>
          <p:nvPr/>
        </p:nvSpPr>
        <p:spPr>
          <a:xfrm>
            <a:off x="9723629" y="25433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4A1C384D-33B9-19FC-3E91-5B3DAE46B4A3}"/>
              </a:ext>
            </a:extLst>
          </p:cNvPr>
          <p:cNvSpPr/>
          <p:nvPr/>
        </p:nvSpPr>
        <p:spPr>
          <a:xfrm>
            <a:off x="9414637" y="273645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2B7F0E42-CFD7-EF60-47E8-931AE32294CA}"/>
              </a:ext>
            </a:extLst>
          </p:cNvPr>
          <p:cNvSpPr/>
          <p:nvPr/>
        </p:nvSpPr>
        <p:spPr>
          <a:xfrm>
            <a:off x="9584785" y="22189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D404AD84-FD3B-0232-783C-A440BDBECE7C}"/>
              </a:ext>
            </a:extLst>
          </p:cNvPr>
          <p:cNvSpPr/>
          <p:nvPr/>
        </p:nvSpPr>
        <p:spPr>
          <a:xfrm>
            <a:off x="9737185" y="23713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887FC37C-4732-DC97-48B1-564A05AE38FF}"/>
              </a:ext>
            </a:extLst>
          </p:cNvPr>
          <p:cNvSpPr/>
          <p:nvPr/>
        </p:nvSpPr>
        <p:spPr>
          <a:xfrm>
            <a:off x="9810650" y="221047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6661ECE0-DA2E-AB65-6DC4-76F76A7BD57B}"/>
              </a:ext>
            </a:extLst>
          </p:cNvPr>
          <p:cNvSpPr/>
          <p:nvPr/>
        </p:nvSpPr>
        <p:spPr>
          <a:xfrm>
            <a:off x="9501658" y="240361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70A53F58-2111-8C87-3FBC-A6DAB097DC52}"/>
              </a:ext>
            </a:extLst>
          </p:cNvPr>
          <p:cNvSpPr/>
          <p:nvPr/>
        </p:nvSpPr>
        <p:spPr>
          <a:xfrm>
            <a:off x="9802110" y="24762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602413B6-A9A8-B707-258E-30C9D44B0F44}"/>
              </a:ext>
            </a:extLst>
          </p:cNvPr>
          <p:cNvSpPr/>
          <p:nvPr/>
        </p:nvSpPr>
        <p:spPr>
          <a:xfrm>
            <a:off x="9954510" y="26286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8F0BB570-07C8-211E-6760-2BC885185DC7}"/>
              </a:ext>
            </a:extLst>
          </p:cNvPr>
          <p:cNvSpPr/>
          <p:nvPr/>
        </p:nvSpPr>
        <p:spPr>
          <a:xfrm>
            <a:off x="10027975" y="24678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45AE33CC-3BBF-B3D1-184A-EC7F081B6AE3}"/>
              </a:ext>
            </a:extLst>
          </p:cNvPr>
          <p:cNvSpPr/>
          <p:nvPr/>
        </p:nvSpPr>
        <p:spPr>
          <a:xfrm>
            <a:off x="9718983" y="266095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47CB0B37-7907-27E0-316A-0D5FC77DE40C}"/>
              </a:ext>
            </a:extLst>
          </p:cNvPr>
          <p:cNvSpPr/>
          <p:nvPr/>
        </p:nvSpPr>
        <p:spPr>
          <a:xfrm>
            <a:off x="7765356" y="33836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34C86AA0-D366-F3B1-62CD-92B035F1F562}"/>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0B16D045-9281-A90F-A42D-7AB79F6F7BF5}"/>
              </a:ext>
            </a:extLst>
          </p:cNvPr>
          <p:cNvSpPr/>
          <p:nvPr/>
        </p:nvSpPr>
        <p:spPr>
          <a:xfrm>
            <a:off x="7991221" y="33752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0590851C-F262-B474-140D-DA093FE83797}"/>
              </a:ext>
            </a:extLst>
          </p:cNvPr>
          <p:cNvSpPr/>
          <p:nvPr/>
        </p:nvSpPr>
        <p:spPr>
          <a:xfrm>
            <a:off x="7682229" y="35683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49522BE0-E78F-CFC9-5193-F4AF488D4C2E}"/>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80EC2AC7-F708-25AF-7506-AAFC25320669}"/>
              </a:ext>
            </a:extLst>
          </p:cNvPr>
          <p:cNvSpPr/>
          <p:nvPr/>
        </p:nvSpPr>
        <p:spPr>
          <a:xfrm>
            <a:off x="8070156" y="368849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F2652772-2B33-FC00-D24A-1BBA4E42115A}"/>
              </a:ext>
            </a:extLst>
          </p:cNvPr>
          <p:cNvSpPr/>
          <p:nvPr/>
        </p:nvSpPr>
        <p:spPr>
          <a:xfrm>
            <a:off x="8143621" y="35276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BFAE3419-BC40-F311-8A8F-DEF4C0CAF2AD}"/>
              </a:ext>
            </a:extLst>
          </p:cNvPr>
          <p:cNvSpPr/>
          <p:nvPr/>
        </p:nvSpPr>
        <p:spPr>
          <a:xfrm>
            <a:off x="7834629" y="37207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735A68EA-1B04-B746-4349-A7C1C634E805}"/>
              </a:ext>
            </a:extLst>
          </p:cNvPr>
          <p:cNvSpPr/>
          <p:nvPr/>
        </p:nvSpPr>
        <p:spPr>
          <a:xfrm>
            <a:off x="7726253" y="36924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63901E5F-7CD5-ACA5-B1D0-F6A15330A409}"/>
              </a:ext>
            </a:extLst>
          </p:cNvPr>
          <p:cNvSpPr/>
          <p:nvPr/>
        </p:nvSpPr>
        <p:spPr>
          <a:xfrm>
            <a:off x="7878653" y="38448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AAF115F2-47B8-C489-3FE1-A491AE771803}"/>
              </a:ext>
            </a:extLst>
          </p:cNvPr>
          <p:cNvSpPr/>
          <p:nvPr/>
        </p:nvSpPr>
        <p:spPr>
          <a:xfrm>
            <a:off x="7952118" y="368401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2F8628F7-99E4-C330-9167-0A7AB66EB7B7}"/>
              </a:ext>
            </a:extLst>
          </p:cNvPr>
          <p:cNvSpPr/>
          <p:nvPr/>
        </p:nvSpPr>
        <p:spPr>
          <a:xfrm>
            <a:off x="7643126" y="387715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45BB7D75-3485-C252-8223-D0E3B9ED6BF2}"/>
              </a:ext>
            </a:extLst>
          </p:cNvPr>
          <p:cNvSpPr/>
          <p:nvPr/>
        </p:nvSpPr>
        <p:spPr>
          <a:xfrm>
            <a:off x="7878653" y="38448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C0EB8898-35BE-EA98-878F-934DD2A29A18}"/>
              </a:ext>
            </a:extLst>
          </p:cNvPr>
          <p:cNvSpPr/>
          <p:nvPr/>
        </p:nvSpPr>
        <p:spPr>
          <a:xfrm>
            <a:off x="8031053" y="39972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C143C60B-8A4D-5082-29F6-88E92C4090C7}"/>
              </a:ext>
            </a:extLst>
          </p:cNvPr>
          <p:cNvSpPr/>
          <p:nvPr/>
        </p:nvSpPr>
        <p:spPr>
          <a:xfrm>
            <a:off x="8104518" y="383641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33022F08-CABE-94FC-B864-127D8BD850B6}"/>
              </a:ext>
            </a:extLst>
          </p:cNvPr>
          <p:cNvSpPr/>
          <p:nvPr/>
        </p:nvSpPr>
        <p:spPr>
          <a:xfrm>
            <a:off x="7795526" y="402955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D8BE105B-11CB-0DA2-4B9B-312FAAF9E6F4}"/>
              </a:ext>
            </a:extLst>
          </p:cNvPr>
          <p:cNvSpPr/>
          <p:nvPr/>
        </p:nvSpPr>
        <p:spPr>
          <a:xfrm>
            <a:off x="7925965" y="38740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C77ACE4A-D201-9EAD-CFF1-0416C30FA284}"/>
              </a:ext>
            </a:extLst>
          </p:cNvPr>
          <p:cNvSpPr/>
          <p:nvPr/>
        </p:nvSpPr>
        <p:spPr>
          <a:xfrm>
            <a:off x="8078365" y="40264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F2078926-D3D8-6D84-7668-05B621B3D2C6}"/>
              </a:ext>
            </a:extLst>
          </p:cNvPr>
          <p:cNvSpPr/>
          <p:nvPr/>
        </p:nvSpPr>
        <p:spPr>
          <a:xfrm>
            <a:off x="8151830" y="386556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180DAB29-8396-4FA9-D681-B3853658F3A6}"/>
              </a:ext>
            </a:extLst>
          </p:cNvPr>
          <p:cNvSpPr/>
          <p:nvPr/>
        </p:nvSpPr>
        <p:spPr>
          <a:xfrm>
            <a:off x="7842838" y="405870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A2919831-E804-6641-6D21-29620C9739C8}"/>
              </a:ext>
            </a:extLst>
          </p:cNvPr>
          <p:cNvSpPr/>
          <p:nvPr/>
        </p:nvSpPr>
        <p:spPr>
          <a:xfrm>
            <a:off x="8411413" y="358882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5486CD40-CA79-97D1-873A-70BA290B4920}"/>
              </a:ext>
            </a:extLst>
          </p:cNvPr>
          <p:cNvSpPr/>
          <p:nvPr/>
        </p:nvSpPr>
        <p:spPr>
          <a:xfrm>
            <a:off x="8563813" y="374122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A6DE4379-C833-F1C8-910E-86B1687B9D24}"/>
              </a:ext>
            </a:extLst>
          </p:cNvPr>
          <p:cNvSpPr/>
          <p:nvPr/>
        </p:nvSpPr>
        <p:spPr>
          <a:xfrm>
            <a:off x="8637278" y="358034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0D8C0B56-B19A-4086-47AE-F2EB757274BE}"/>
              </a:ext>
            </a:extLst>
          </p:cNvPr>
          <p:cNvSpPr/>
          <p:nvPr/>
        </p:nvSpPr>
        <p:spPr>
          <a:xfrm>
            <a:off x="8328286" y="377349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0418F9D7-8E18-D70D-29A1-F8C093FEFE5D}"/>
              </a:ext>
            </a:extLst>
          </p:cNvPr>
          <p:cNvSpPr/>
          <p:nvPr/>
        </p:nvSpPr>
        <p:spPr>
          <a:xfrm>
            <a:off x="8013824" y="41616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E7D99287-2E78-B98A-BDC6-2C3DEDF7D495}"/>
              </a:ext>
            </a:extLst>
          </p:cNvPr>
          <p:cNvSpPr/>
          <p:nvPr/>
        </p:nvSpPr>
        <p:spPr>
          <a:xfrm>
            <a:off x="8166224"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AF3B6A66-4BEF-FCF8-8135-3C1E1B54AC22}"/>
              </a:ext>
            </a:extLst>
          </p:cNvPr>
          <p:cNvSpPr/>
          <p:nvPr/>
        </p:nvSpPr>
        <p:spPr>
          <a:xfrm>
            <a:off x="8239689" y="41531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717E0E92-C295-8A77-9CF6-8ED984CAB9AF}"/>
              </a:ext>
            </a:extLst>
          </p:cNvPr>
          <p:cNvSpPr/>
          <p:nvPr/>
        </p:nvSpPr>
        <p:spPr>
          <a:xfrm>
            <a:off x="7930697" y="43463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099D0866-536E-22E5-FB50-6702A0B4B1A5}"/>
              </a:ext>
            </a:extLst>
          </p:cNvPr>
          <p:cNvSpPr/>
          <p:nvPr/>
        </p:nvSpPr>
        <p:spPr>
          <a:xfrm>
            <a:off x="8813785" y="317134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C18CF428-71E8-3846-1D87-7A7FC8A516AF}"/>
              </a:ext>
            </a:extLst>
          </p:cNvPr>
          <p:cNvSpPr/>
          <p:nvPr/>
        </p:nvSpPr>
        <p:spPr>
          <a:xfrm>
            <a:off x="8966185" y="332374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C41516A1-880A-94E8-E0A7-5A5DEF993996}"/>
              </a:ext>
            </a:extLst>
          </p:cNvPr>
          <p:cNvSpPr/>
          <p:nvPr/>
        </p:nvSpPr>
        <p:spPr>
          <a:xfrm>
            <a:off x="9039650" y="316286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9C20DFC4-54DE-FEC6-09F0-F9798A3F50A0}"/>
              </a:ext>
            </a:extLst>
          </p:cNvPr>
          <p:cNvSpPr/>
          <p:nvPr/>
        </p:nvSpPr>
        <p:spPr>
          <a:xfrm>
            <a:off x="8730658" y="335601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DDCD6D8F-79F9-E9AA-9DFB-23CA5D2CB469}"/>
              </a:ext>
            </a:extLst>
          </p:cNvPr>
          <p:cNvSpPr/>
          <p:nvPr/>
        </p:nvSpPr>
        <p:spPr>
          <a:xfrm>
            <a:off x="9973015" y="21980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696916EC-09BE-2F12-AF1D-B7B43DADEAFB}"/>
              </a:ext>
            </a:extLst>
          </p:cNvPr>
          <p:cNvSpPr/>
          <p:nvPr/>
        </p:nvSpPr>
        <p:spPr>
          <a:xfrm>
            <a:off x="10125415" y="23504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6BA34E1E-0EF4-A5E3-6073-C1B1E94C56E5}"/>
              </a:ext>
            </a:extLst>
          </p:cNvPr>
          <p:cNvSpPr/>
          <p:nvPr/>
        </p:nvSpPr>
        <p:spPr>
          <a:xfrm>
            <a:off x="10148743" y="221984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77446DB4-56EC-F394-C7B1-DE11A5AA7C89}"/>
              </a:ext>
            </a:extLst>
          </p:cNvPr>
          <p:cNvSpPr/>
          <p:nvPr/>
        </p:nvSpPr>
        <p:spPr>
          <a:xfrm>
            <a:off x="9889888" y="23827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ACAB171F-1DA0-00B8-CDAC-AD3E58550713}"/>
              </a:ext>
            </a:extLst>
          </p:cNvPr>
          <p:cNvSpPr/>
          <p:nvPr/>
        </p:nvSpPr>
        <p:spPr>
          <a:xfrm>
            <a:off x="10125415" y="23504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1B617CD9-9E97-9617-9245-D312634CEC27}"/>
              </a:ext>
            </a:extLst>
          </p:cNvPr>
          <p:cNvSpPr/>
          <p:nvPr/>
        </p:nvSpPr>
        <p:spPr>
          <a:xfrm>
            <a:off x="9638831" y="218912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531EC0E4-656A-0ED7-634C-9429C306008F}"/>
              </a:ext>
            </a:extLst>
          </p:cNvPr>
          <p:cNvSpPr/>
          <p:nvPr/>
        </p:nvSpPr>
        <p:spPr>
          <a:xfrm>
            <a:off x="10248474" y="208495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97CF4309-2B08-1D5F-9DFA-0EBCE3CE8110}"/>
              </a:ext>
            </a:extLst>
          </p:cNvPr>
          <p:cNvSpPr/>
          <p:nvPr/>
        </p:nvSpPr>
        <p:spPr>
          <a:xfrm>
            <a:off x="9403304" y="22213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C56B4114-63A3-F3C7-1287-36223492EAA3}"/>
              </a:ext>
            </a:extLst>
          </p:cNvPr>
          <p:cNvSpPr/>
          <p:nvPr/>
        </p:nvSpPr>
        <p:spPr>
          <a:xfrm>
            <a:off x="7671356" y="41616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DA22E7B5-0318-107C-CDAE-D120386709E7}"/>
              </a:ext>
            </a:extLst>
          </p:cNvPr>
          <p:cNvSpPr/>
          <p:nvPr/>
        </p:nvSpPr>
        <p:spPr>
          <a:xfrm>
            <a:off x="7823756"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FB644C2A-ED54-70BD-BC1E-82172A9C24A7}"/>
              </a:ext>
            </a:extLst>
          </p:cNvPr>
          <p:cNvSpPr/>
          <p:nvPr/>
        </p:nvSpPr>
        <p:spPr>
          <a:xfrm>
            <a:off x="7897221" y="41531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F6DD63FD-9117-2378-0AD6-6E5BF0874304}"/>
              </a:ext>
            </a:extLst>
          </p:cNvPr>
          <p:cNvSpPr/>
          <p:nvPr/>
        </p:nvSpPr>
        <p:spPr>
          <a:xfrm>
            <a:off x="7588229" y="43463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DDD963A0-EF1D-A9AE-2EA1-620ABB129885}"/>
              </a:ext>
            </a:extLst>
          </p:cNvPr>
          <p:cNvSpPr/>
          <p:nvPr/>
        </p:nvSpPr>
        <p:spPr>
          <a:xfrm>
            <a:off x="7823756"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62DC9E99-5E59-1687-2FCA-68C4D3C137DB}"/>
              </a:ext>
            </a:extLst>
          </p:cNvPr>
          <p:cNvSpPr/>
          <p:nvPr/>
        </p:nvSpPr>
        <p:spPr>
          <a:xfrm>
            <a:off x="7976156" y="44664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1CB465E5-1157-B53A-D10F-55A3C2974DD9}"/>
              </a:ext>
            </a:extLst>
          </p:cNvPr>
          <p:cNvSpPr/>
          <p:nvPr/>
        </p:nvSpPr>
        <p:spPr>
          <a:xfrm>
            <a:off x="8049621" y="43055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9B2DDE1A-82C8-578F-1BB6-658B492AEB8A}"/>
              </a:ext>
            </a:extLst>
          </p:cNvPr>
          <p:cNvSpPr/>
          <p:nvPr/>
        </p:nvSpPr>
        <p:spPr>
          <a:xfrm>
            <a:off x="7740629" y="44987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F416D16B-93B8-38EF-8797-966CE231CFD6}"/>
              </a:ext>
            </a:extLst>
          </p:cNvPr>
          <p:cNvSpPr/>
          <p:nvPr/>
        </p:nvSpPr>
        <p:spPr>
          <a:xfrm>
            <a:off x="7422064" y="398629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3A970998-F017-2CA4-E192-738526B2848D}"/>
              </a:ext>
            </a:extLst>
          </p:cNvPr>
          <p:cNvSpPr/>
          <p:nvPr/>
        </p:nvSpPr>
        <p:spPr>
          <a:xfrm>
            <a:off x="7574464" y="413869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DE5419D0-52E3-4782-DAE3-41E33D28AE1E}"/>
              </a:ext>
            </a:extLst>
          </p:cNvPr>
          <p:cNvSpPr/>
          <p:nvPr/>
        </p:nvSpPr>
        <p:spPr>
          <a:xfrm>
            <a:off x="7647929" y="397781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4F76A59A-C95C-2B3A-E94C-CAB4A71479E0}"/>
              </a:ext>
            </a:extLst>
          </p:cNvPr>
          <p:cNvSpPr/>
          <p:nvPr/>
        </p:nvSpPr>
        <p:spPr>
          <a:xfrm>
            <a:off x="7338937" y="417096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760E3FD2-DB79-BAF1-8622-7D56A1F65F09}"/>
              </a:ext>
            </a:extLst>
          </p:cNvPr>
          <p:cNvSpPr/>
          <p:nvPr/>
        </p:nvSpPr>
        <p:spPr>
          <a:xfrm>
            <a:off x="7439117" y="36407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78D8CA31-E793-13BD-DB1B-992859DF01E7}"/>
              </a:ext>
            </a:extLst>
          </p:cNvPr>
          <p:cNvSpPr/>
          <p:nvPr/>
        </p:nvSpPr>
        <p:spPr>
          <a:xfrm>
            <a:off x="7591517" y="379315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1ED5BF53-6819-732C-01EA-FF103D87C0D2}"/>
              </a:ext>
            </a:extLst>
          </p:cNvPr>
          <p:cNvSpPr/>
          <p:nvPr/>
        </p:nvSpPr>
        <p:spPr>
          <a:xfrm>
            <a:off x="7664982" y="36322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09101775-9F06-B806-34C1-5E1276D2982F}"/>
              </a:ext>
            </a:extLst>
          </p:cNvPr>
          <p:cNvSpPr/>
          <p:nvPr/>
        </p:nvSpPr>
        <p:spPr>
          <a:xfrm>
            <a:off x="7355990" y="38254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8BEF0399-3450-29EA-C793-50AA4F4D7FD8}"/>
              </a:ext>
            </a:extLst>
          </p:cNvPr>
          <p:cNvSpPr/>
          <p:nvPr/>
        </p:nvSpPr>
        <p:spPr>
          <a:xfrm>
            <a:off x="7591517" y="37931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76C35935-32EA-D0C5-C87C-8E3933A90B1B}"/>
              </a:ext>
            </a:extLst>
          </p:cNvPr>
          <p:cNvSpPr/>
          <p:nvPr/>
        </p:nvSpPr>
        <p:spPr>
          <a:xfrm>
            <a:off x="7743917" y="394555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F3D580DF-A0A2-E625-B2A7-0F7F979E751A}"/>
              </a:ext>
            </a:extLst>
          </p:cNvPr>
          <p:cNvSpPr/>
          <p:nvPr/>
        </p:nvSpPr>
        <p:spPr>
          <a:xfrm>
            <a:off x="7817382" y="37846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2CB18F6A-9F75-46F9-8520-E79967BD46AD}"/>
              </a:ext>
            </a:extLst>
          </p:cNvPr>
          <p:cNvSpPr/>
          <p:nvPr/>
        </p:nvSpPr>
        <p:spPr>
          <a:xfrm>
            <a:off x="7508390" y="39778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14832989-A8BA-B6E3-31E4-F4A6ED0610A4}"/>
              </a:ext>
            </a:extLst>
          </p:cNvPr>
          <p:cNvSpPr/>
          <p:nvPr/>
        </p:nvSpPr>
        <p:spPr>
          <a:xfrm>
            <a:off x="7377691" y="43378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19DE7818-FD0C-5129-3745-CFD21E0BD359}"/>
              </a:ext>
            </a:extLst>
          </p:cNvPr>
          <p:cNvSpPr/>
          <p:nvPr/>
        </p:nvSpPr>
        <p:spPr>
          <a:xfrm>
            <a:off x="7530091" y="44902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06859647-3886-D2D4-A56C-3731CC87E3C4}"/>
              </a:ext>
            </a:extLst>
          </p:cNvPr>
          <p:cNvSpPr/>
          <p:nvPr/>
        </p:nvSpPr>
        <p:spPr>
          <a:xfrm>
            <a:off x="7603556" y="432941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4672E4A4-A76C-8626-E85D-2AC77CEF4149}"/>
              </a:ext>
            </a:extLst>
          </p:cNvPr>
          <p:cNvSpPr/>
          <p:nvPr/>
        </p:nvSpPr>
        <p:spPr>
          <a:xfrm>
            <a:off x="7294564" y="45225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E7537081-238C-A79A-6A82-A3849A186EBD}"/>
              </a:ext>
            </a:extLst>
          </p:cNvPr>
          <p:cNvSpPr/>
          <p:nvPr/>
        </p:nvSpPr>
        <p:spPr>
          <a:xfrm>
            <a:off x="7530091" y="44902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5413633E-F405-B393-E0F4-4EEE41AF95B3}"/>
              </a:ext>
            </a:extLst>
          </p:cNvPr>
          <p:cNvSpPr/>
          <p:nvPr/>
        </p:nvSpPr>
        <p:spPr>
          <a:xfrm>
            <a:off x="7682491" y="46426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4913BC76-16D5-01F0-AC40-0A26B8D61DCD}"/>
              </a:ext>
            </a:extLst>
          </p:cNvPr>
          <p:cNvSpPr/>
          <p:nvPr/>
        </p:nvSpPr>
        <p:spPr>
          <a:xfrm>
            <a:off x="7755956" y="448181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BDF86955-AEBD-3176-6A23-7BD2984AC2CA}"/>
              </a:ext>
            </a:extLst>
          </p:cNvPr>
          <p:cNvSpPr/>
          <p:nvPr/>
        </p:nvSpPr>
        <p:spPr>
          <a:xfrm>
            <a:off x="7446964" y="46749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22711A3A-43E5-20E2-A136-367F6CF0BE79}"/>
              </a:ext>
            </a:extLst>
          </p:cNvPr>
          <p:cNvSpPr/>
          <p:nvPr/>
        </p:nvSpPr>
        <p:spPr>
          <a:xfrm>
            <a:off x="7211896" y="472829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7AFCA2AD-22AD-AEA8-349B-6BD32A11CA73}"/>
              </a:ext>
            </a:extLst>
          </p:cNvPr>
          <p:cNvCxnSpPr>
            <a:cxnSpLocks/>
          </p:cNvCxnSpPr>
          <p:nvPr/>
        </p:nvCxnSpPr>
        <p:spPr>
          <a:xfrm flipV="1">
            <a:off x="6266520" y="1687571"/>
            <a:ext cx="4353901" cy="3474073"/>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71823E1F-B241-0825-A56E-80CC58FE6902}"/>
                  </a:ext>
                </a:extLst>
              </p:cNvPr>
              <p:cNvSpPr txBox="1"/>
              <p:nvPr/>
            </p:nvSpPr>
            <p:spPr>
              <a:xfrm>
                <a:off x="10677474" y="1582863"/>
                <a:ext cx="4748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oMath>
                  </m:oMathPara>
                </a14:m>
                <a:endParaRPr lang="en-CA" dirty="0"/>
              </a:p>
            </p:txBody>
          </p:sp>
        </mc:Choice>
        <mc:Fallback xmlns="">
          <p:sp>
            <p:nvSpPr>
              <p:cNvPr id="174" name="TextBox 173">
                <a:extLst>
                  <a:ext uri="{FF2B5EF4-FFF2-40B4-BE49-F238E27FC236}">
                    <a16:creationId xmlns:a16="http://schemas.microsoft.com/office/drawing/2014/main" id="{71823E1F-B241-0825-A56E-80CC58FE6902}"/>
                  </a:ext>
                </a:extLst>
              </p:cNvPr>
              <p:cNvSpPr txBox="1">
                <a:spLocks noRot="1" noChangeAspect="1" noMove="1" noResize="1" noEditPoints="1" noAdjustHandles="1" noChangeArrowheads="1" noChangeShapeType="1" noTextEdit="1"/>
              </p:cNvSpPr>
              <p:nvPr/>
            </p:nvSpPr>
            <p:spPr>
              <a:xfrm>
                <a:off x="10677474" y="1582863"/>
                <a:ext cx="474874" cy="369332"/>
              </a:xfrm>
              <a:prstGeom prst="rect">
                <a:avLst/>
              </a:prstGeom>
              <a:blipFill>
                <a:blip r:embed="rId5"/>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757063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FFAA7-DBDF-6B33-4ACA-644974FA3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1AB35-8D30-8D27-96C6-94496D71A8BA}"/>
              </a:ext>
            </a:extLst>
          </p:cNvPr>
          <p:cNvSpPr>
            <a:spLocks noGrp="1"/>
          </p:cNvSpPr>
          <p:nvPr>
            <p:ph type="title"/>
          </p:nvPr>
        </p:nvSpPr>
        <p:spPr>
          <a:xfrm>
            <a:off x="482600" y="597408"/>
            <a:ext cx="10634472" cy="1117092"/>
          </a:xfrm>
          <a:noFill/>
        </p:spPr>
        <p:txBody>
          <a:bodyPr/>
          <a:lstStyle/>
          <a:p>
            <a:r>
              <a:rPr lang="en-CA" sz="4800" dirty="0"/>
              <a:t>PSA and the CE Plane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5998D5-DAB9-67EE-C575-361E86FE9519}"/>
                  </a:ext>
                </a:extLst>
              </p:cNvPr>
              <p:cNvSpPr>
                <a:spLocks noGrp="1"/>
              </p:cNvSpPr>
              <p:nvPr>
                <p:ph idx="1"/>
              </p:nvPr>
            </p:nvSpPr>
            <p:spPr>
              <a:xfrm>
                <a:off x="273628" y="1943100"/>
                <a:ext cx="5793934" cy="3936491"/>
              </a:xfrm>
            </p:spPr>
            <p:txBody>
              <a:bodyPr>
                <a:normAutofit/>
              </a:bodyPr>
              <a:lstStyle/>
              <a:p>
                <a:pPr marL="342900" indent="-342900">
                  <a:buFont typeface="Wingdings" panose="05000000000000000000" pitchFamily="2" charset="2"/>
                  <a:buChar char="§"/>
                </a:pPr>
                <a:r>
                  <a:rPr lang="en-CA" dirty="0"/>
                  <a:t>We can say that the </a:t>
                </a:r>
                <a:r>
                  <a:rPr lang="en-CA" b="1" dirty="0"/>
                  <a:t>Probability of Cost Effectiveness  </a:t>
                </a:r>
                <a:r>
                  <a:rPr lang="en-CA" dirty="0"/>
                  <a:t>is defined as the fraction of simulated ICERs which are found to be cost effective at threshold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oMath>
                </a14:m>
                <a:r>
                  <a:rPr lang="en-CA" dirty="0"/>
                  <a:t>.</a:t>
                </a:r>
                <a:br>
                  <a:rPr lang="en-CA" dirty="0"/>
                </a:br>
                <a:br>
                  <a:rPr lang="en-CA" dirty="0"/>
                </a:br>
                <a14:m>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0" smtClean="0">
                            <a:latin typeface="Cambria Math" panose="02040503050406030204" pitchFamily="18" charset="0"/>
                          </a:rPr>
                          <m:t># </m:t>
                        </m:r>
                        <m:r>
                          <m:rPr>
                            <m:sty m:val="p"/>
                          </m:rPr>
                          <a:rPr lang="en-CA" b="0" i="0" smtClean="0">
                            <a:latin typeface="Cambria Math" panose="02040503050406030204" pitchFamily="18" charset="0"/>
                          </a:rPr>
                          <m:t>of</m:t>
                        </m:r>
                        <m:r>
                          <a:rPr lang="en-CA" b="0" i="0" smtClean="0">
                            <a:latin typeface="Cambria Math" panose="02040503050406030204" pitchFamily="18" charset="0"/>
                          </a:rPr>
                          <m:t> </m:t>
                        </m:r>
                        <m:r>
                          <m:rPr>
                            <m:sty m:val="p"/>
                          </m:rPr>
                          <a:rPr lang="en-CA" b="0" i="0" smtClean="0">
                            <a:latin typeface="Cambria Math" panose="02040503050406030204" pitchFamily="18" charset="0"/>
                          </a:rPr>
                          <m:t>CE</m:t>
                        </m:r>
                        <m:r>
                          <a:rPr lang="en-CA" b="0" i="0" smtClean="0">
                            <a:latin typeface="Cambria Math" panose="02040503050406030204" pitchFamily="18" charset="0"/>
                          </a:rPr>
                          <m:t> </m:t>
                        </m:r>
                        <m:r>
                          <m:rPr>
                            <m:sty m:val="p"/>
                          </m:rPr>
                          <a:rPr lang="en-CA" b="0" i="0" smtClean="0">
                            <a:latin typeface="Cambria Math" panose="02040503050406030204" pitchFamily="18" charset="0"/>
                          </a:rPr>
                          <m:t>ICERs</m:t>
                        </m:r>
                        <m:r>
                          <a:rPr lang="en-CA" b="0" i="0" smtClean="0">
                            <a:latin typeface="Cambria Math" panose="02040503050406030204" pitchFamily="18" charset="0"/>
                          </a:rPr>
                          <m:t> </m:t>
                        </m:r>
                        <m:r>
                          <m:rPr>
                            <m:sty m:val="p"/>
                          </m:rPr>
                          <a:rPr lang="en-CA" b="0" i="0" smtClean="0">
                            <a:latin typeface="Cambria Math" panose="02040503050406030204" pitchFamily="18" charset="0"/>
                          </a:rPr>
                          <m:t>at</m:t>
                        </m:r>
                        <m:r>
                          <a:rPr lang="en-CA" b="0" i="0" smtClean="0">
                            <a:latin typeface="Cambria Math" panose="02040503050406030204" pitchFamily="18" charset="0"/>
                          </a:rPr>
                          <m:t> </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num>
                      <m:den>
                        <m:r>
                          <a:rPr lang="en-CA" b="0" i="0" smtClean="0">
                            <a:latin typeface="Cambria Math" panose="02040503050406030204" pitchFamily="18" charset="0"/>
                          </a:rPr>
                          <m:t># </m:t>
                        </m:r>
                        <m:r>
                          <m:rPr>
                            <m:sty m:val="p"/>
                          </m:rPr>
                          <a:rPr lang="en-CA" b="0" i="0" smtClean="0">
                            <a:latin typeface="Cambria Math" panose="02040503050406030204" pitchFamily="18" charset="0"/>
                          </a:rPr>
                          <m:t>of</m:t>
                        </m:r>
                        <m:r>
                          <a:rPr lang="en-CA" b="0" i="0" smtClean="0">
                            <a:latin typeface="Cambria Math" panose="02040503050406030204" pitchFamily="18" charset="0"/>
                          </a:rPr>
                          <m:t> </m:t>
                        </m:r>
                        <m:r>
                          <m:rPr>
                            <m:sty m:val="p"/>
                          </m:rPr>
                          <a:rPr lang="en-CA" b="0" i="0" smtClean="0">
                            <a:latin typeface="Cambria Math" panose="02040503050406030204" pitchFamily="18" charset="0"/>
                          </a:rPr>
                          <m:t>all</m:t>
                        </m:r>
                        <m:r>
                          <a:rPr lang="en-CA" b="0" i="0" smtClean="0">
                            <a:latin typeface="Cambria Math" panose="02040503050406030204" pitchFamily="18" charset="0"/>
                          </a:rPr>
                          <m:t> </m:t>
                        </m:r>
                        <m:r>
                          <m:rPr>
                            <m:sty m:val="p"/>
                          </m:rPr>
                          <a:rPr lang="en-CA" b="0" i="0" smtClean="0">
                            <a:latin typeface="Cambria Math" panose="02040503050406030204" pitchFamily="18" charset="0"/>
                          </a:rPr>
                          <m:t>simulated</m:t>
                        </m:r>
                        <m:r>
                          <a:rPr lang="en-CA" b="0" i="0" smtClean="0">
                            <a:latin typeface="Cambria Math" panose="02040503050406030204" pitchFamily="18" charset="0"/>
                          </a:rPr>
                          <m:t> </m:t>
                        </m:r>
                        <m:r>
                          <m:rPr>
                            <m:sty m:val="p"/>
                          </m:rPr>
                          <a:rPr lang="en-CA" b="0" i="0" smtClean="0">
                            <a:latin typeface="Cambria Math" panose="02040503050406030204" pitchFamily="18" charset="0"/>
                          </a:rPr>
                          <m:t>ICERS</m:t>
                        </m:r>
                      </m:den>
                    </m:f>
                  </m:oMath>
                </a14:m>
                <a:endParaRPr lang="en-CA" dirty="0"/>
              </a:p>
              <a:p>
                <a:pPr marL="342900" indent="-342900">
                  <a:buFont typeface="Wingdings" panose="05000000000000000000" pitchFamily="2" charset="2"/>
                  <a:buChar char="§"/>
                </a:pPr>
                <a:r>
                  <a:rPr lang="en-CA" dirty="0"/>
                  <a:t>Another way to define the above is as a </a:t>
                </a:r>
                <a:r>
                  <a:rPr lang="en-CA" b="1" dirty="0"/>
                  <a:t>belief of cost effectiveness</a:t>
                </a:r>
                <a:r>
                  <a:rPr lang="en-CA" dirty="0"/>
                  <a:t>.</a:t>
                </a:r>
              </a:p>
            </p:txBody>
          </p:sp>
        </mc:Choice>
        <mc:Fallback xmlns="">
          <p:sp>
            <p:nvSpPr>
              <p:cNvPr id="3" name="Content Placeholder 2">
                <a:extLst>
                  <a:ext uri="{FF2B5EF4-FFF2-40B4-BE49-F238E27FC236}">
                    <a16:creationId xmlns:a16="http://schemas.microsoft.com/office/drawing/2014/main" id="{7B5998D5-DAB9-67EE-C575-361E86FE9519}"/>
                  </a:ext>
                </a:extLst>
              </p:cNvPr>
              <p:cNvSpPr>
                <a:spLocks noGrp="1" noRot="1" noChangeAspect="1" noMove="1" noResize="1" noEditPoints="1" noAdjustHandles="1" noChangeArrowheads="1" noChangeShapeType="1" noTextEdit="1"/>
              </p:cNvSpPr>
              <p:nvPr>
                <p:ph idx="1"/>
              </p:nvPr>
            </p:nvSpPr>
            <p:spPr>
              <a:xfrm>
                <a:off x="273628" y="1943100"/>
                <a:ext cx="5793934" cy="3936491"/>
              </a:xfrm>
              <a:blipFill>
                <a:blip r:embed="rId2"/>
                <a:stretch>
                  <a:fillRect l="-1474" t="-1240" r="-1684" b="-2171"/>
                </a:stretch>
              </a:blipFill>
            </p:spPr>
            <p:txBody>
              <a:bodyPr/>
              <a:lstStyle/>
              <a:p>
                <a:r>
                  <a:rPr lang="en-CA">
                    <a:noFill/>
                  </a:rPr>
                  <a:t> </a:t>
                </a:r>
              </a:p>
            </p:txBody>
          </p:sp>
        </mc:Fallback>
      </mc:AlternateContent>
      <p:cxnSp>
        <p:nvCxnSpPr>
          <p:cNvPr id="5" name="Straight Connector 4">
            <a:extLst>
              <a:ext uri="{FF2B5EF4-FFF2-40B4-BE49-F238E27FC236}">
                <a16:creationId xmlns:a16="http://schemas.microsoft.com/office/drawing/2014/main" id="{8E65FF49-9655-C923-E35A-570E880F0D8D}"/>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B2975E1-ED7D-9715-36AA-178DCF530E73}"/>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F4BA42A-9311-D87E-1E55-1F996695B9F1}"/>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34695504-9A43-DECF-92BA-261AA1BC6AFC}"/>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405F5F4-9DBA-FEEC-365C-A2B101C9308A}"/>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F0796FDC-FFBE-3B5B-07A8-D6848CC318DE}"/>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sp>
        <p:nvSpPr>
          <p:cNvPr id="4" name="Oval 3">
            <a:extLst>
              <a:ext uri="{FF2B5EF4-FFF2-40B4-BE49-F238E27FC236}">
                <a16:creationId xmlns:a16="http://schemas.microsoft.com/office/drawing/2014/main" id="{67874164-AA4E-024C-B5E1-41ACA266FE00}"/>
              </a:ext>
            </a:extLst>
          </p:cNvPr>
          <p:cNvSpPr/>
          <p:nvPr/>
        </p:nvSpPr>
        <p:spPr>
          <a:xfrm>
            <a:off x="8766161" y="3008842"/>
            <a:ext cx="146930" cy="103807"/>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86A6B76C-C915-ED11-243A-AA6E24FCD6A3}"/>
              </a:ext>
            </a:extLst>
          </p:cNvPr>
          <p:cNvSpPr/>
          <p:nvPr/>
        </p:nvSpPr>
        <p:spPr>
          <a:xfrm>
            <a:off x="8692696" y="32722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CCF0DB3F-5172-F976-3F44-DED781C74C52}"/>
              </a:ext>
            </a:extLst>
          </p:cNvPr>
          <p:cNvSpPr/>
          <p:nvPr/>
        </p:nvSpPr>
        <p:spPr>
          <a:xfrm>
            <a:off x="8845096" y="34246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103E0A45-5514-8BB7-82C8-50E6C6F35819}"/>
              </a:ext>
            </a:extLst>
          </p:cNvPr>
          <p:cNvSpPr/>
          <p:nvPr/>
        </p:nvSpPr>
        <p:spPr>
          <a:xfrm>
            <a:off x="8918561" y="326372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08C080BE-E62A-62B5-E64A-362897BA0C53}"/>
              </a:ext>
            </a:extLst>
          </p:cNvPr>
          <p:cNvSpPr/>
          <p:nvPr/>
        </p:nvSpPr>
        <p:spPr>
          <a:xfrm>
            <a:off x="8609569" y="345687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AC26DE01-731A-EB36-42D6-8057A59E75C2}"/>
              </a:ext>
            </a:extLst>
          </p:cNvPr>
          <p:cNvSpPr/>
          <p:nvPr/>
        </p:nvSpPr>
        <p:spPr>
          <a:xfrm>
            <a:off x="8281403" y="325256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56C9F207-AEE1-3660-3BC3-3AA567D0A96F}"/>
              </a:ext>
            </a:extLst>
          </p:cNvPr>
          <p:cNvSpPr/>
          <p:nvPr/>
        </p:nvSpPr>
        <p:spPr>
          <a:xfrm>
            <a:off x="8433803" y="340496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F049CD24-836B-15B6-207E-516993085E5C}"/>
              </a:ext>
            </a:extLst>
          </p:cNvPr>
          <p:cNvSpPr/>
          <p:nvPr/>
        </p:nvSpPr>
        <p:spPr>
          <a:xfrm>
            <a:off x="8507268" y="324409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A4D8F5DA-DCAB-9819-E16D-550C950FB9AB}"/>
              </a:ext>
            </a:extLst>
          </p:cNvPr>
          <p:cNvSpPr/>
          <p:nvPr/>
        </p:nvSpPr>
        <p:spPr>
          <a:xfrm>
            <a:off x="8198276" y="34372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B5CF0CEC-B4BC-2E86-B6FC-991ABDF8ABCE}"/>
              </a:ext>
            </a:extLst>
          </p:cNvPr>
          <p:cNvSpPr/>
          <p:nvPr/>
        </p:nvSpPr>
        <p:spPr>
          <a:xfrm>
            <a:off x="8402163" y="38969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DFF8B137-7C3F-B1C8-2B45-7E1E0037CA63}"/>
              </a:ext>
            </a:extLst>
          </p:cNvPr>
          <p:cNvSpPr/>
          <p:nvPr/>
        </p:nvSpPr>
        <p:spPr>
          <a:xfrm>
            <a:off x="8554563" y="40493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08221B60-9ACE-1921-35F3-D942515EBECE}"/>
              </a:ext>
            </a:extLst>
          </p:cNvPr>
          <p:cNvSpPr/>
          <p:nvPr/>
        </p:nvSpPr>
        <p:spPr>
          <a:xfrm>
            <a:off x="8628028" y="388848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2F830944-BC6A-F217-26F0-89C44575F54A}"/>
              </a:ext>
            </a:extLst>
          </p:cNvPr>
          <p:cNvSpPr/>
          <p:nvPr/>
        </p:nvSpPr>
        <p:spPr>
          <a:xfrm>
            <a:off x="8319036" y="408162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45AE3D28-98F2-6307-254A-67B69CA08EBF}"/>
              </a:ext>
            </a:extLst>
          </p:cNvPr>
          <p:cNvSpPr/>
          <p:nvPr/>
        </p:nvSpPr>
        <p:spPr>
          <a:xfrm>
            <a:off x="8079818" y="36042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D48C8DA4-7947-7B19-0A0A-D098F2249FF2}"/>
              </a:ext>
            </a:extLst>
          </p:cNvPr>
          <p:cNvSpPr/>
          <p:nvPr/>
        </p:nvSpPr>
        <p:spPr>
          <a:xfrm>
            <a:off x="8232218" y="37566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CC7CDEDB-CAA3-6E3E-7996-04F3D6B92A8B}"/>
              </a:ext>
            </a:extLst>
          </p:cNvPr>
          <p:cNvSpPr/>
          <p:nvPr/>
        </p:nvSpPr>
        <p:spPr>
          <a:xfrm>
            <a:off x="8305683" y="359577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A70725AE-8375-CD0D-2D33-06A97FFD4BFB}"/>
              </a:ext>
            </a:extLst>
          </p:cNvPr>
          <p:cNvSpPr/>
          <p:nvPr/>
        </p:nvSpPr>
        <p:spPr>
          <a:xfrm>
            <a:off x="7996691" y="378891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0F9E2B60-F975-D483-3B00-61C83E2F98B3}"/>
              </a:ext>
            </a:extLst>
          </p:cNvPr>
          <p:cNvSpPr/>
          <p:nvPr/>
        </p:nvSpPr>
        <p:spPr>
          <a:xfrm>
            <a:off x="8772834" y="357520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72062142-0AE5-F9EA-F8CF-BF60C1E46A95}"/>
              </a:ext>
            </a:extLst>
          </p:cNvPr>
          <p:cNvSpPr/>
          <p:nvPr/>
        </p:nvSpPr>
        <p:spPr>
          <a:xfrm>
            <a:off x="8925234" y="372760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8CC9A2EE-3C03-9888-8F2E-71D1EEA99E4E}"/>
              </a:ext>
            </a:extLst>
          </p:cNvPr>
          <p:cNvSpPr/>
          <p:nvPr/>
        </p:nvSpPr>
        <p:spPr>
          <a:xfrm>
            <a:off x="8998699" y="356672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E05862FD-D3C2-7D0B-D48D-1E5B0AE5F5E3}"/>
              </a:ext>
            </a:extLst>
          </p:cNvPr>
          <p:cNvSpPr/>
          <p:nvPr/>
        </p:nvSpPr>
        <p:spPr>
          <a:xfrm>
            <a:off x="8689707" y="37598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4EED2217-C289-2688-DA49-BDF6F2B78D68}"/>
              </a:ext>
            </a:extLst>
          </p:cNvPr>
          <p:cNvSpPr/>
          <p:nvPr/>
        </p:nvSpPr>
        <p:spPr>
          <a:xfrm>
            <a:off x="7887263" y="31094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1D5FC35A-74B3-CE7D-6E2A-59DC8AFC3AE3}"/>
              </a:ext>
            </a:extLst>
          </p:cNvPr>
          <p:cNvSpPr/>
          <p:nvPr/>
        </p:nvSpPr>
        <p:spPr>
          <a:xfrm>
            <a:off x="8039663" y="326183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9B3B6C62-46A2-BFF5-4630-8A2C104CE620}"/>
              </a:ext>
            </a:extLst>
          </p:cNvPr>
          <p:cNvSpPr/>
          <p:nvPr/>
        </p:nvSpPr>
        <p:spPr>
          <a:xfrm>
            <a:off x="8113128" y="310095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7959C78D-624A-C774-3874-C041938C649D}"/>
              </a:ext>
            </a:extLst>
          </p:cNvPr>
          <p:cNvSpPr/>
          <p:nvPr/>
        </p:nvSpPr>
        <p:spPr>
          <a:xfrm>
            <a:off x="7804136" y="329409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9795721B-BF4D-B725-F1B6-CA5E2305B671}"/>
              </a:ext>
            </a:extLst>
          </p:cNvPr>
          <p:cNvSpPr/>
          <p:nvPr/>
        </p:nvSpPr>
        <p:spPr>
          <a:xfrm>
            <a:off x="8249351" y="26827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5F13C81F-03A6-20BD-1EBC-3A81EC7F48EC}"/>
              </a:ext>
            </a:extLst>
          </p:cNvPr>
          <p:cNvSpPr/>
          <p:nvPr/>
        </p:nvSpPr>
        <p:spPr>
          <a:xfrm>
            <a:off x="8401751" y="283514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0EE0E844-BAA3-6395-2C48-C4817E09D598}"/>
              </a:ext>
            </a:extLst>
          </p:cNvPr>
          <p:cNvSpPr/>
          <p:nvPr/>
        </p:nvSpPr>
        <p:spPr>
          <a:xfrm>
            <a:off x="8475216" y="267426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EB4FD66B-BBEE-9AAA-3388-1ED3D08611ED}"/>
              </a:ext>
            </a:extLst>
          </p:cNvPr>
          <p:cNvSpPr/>
          <p:nvPr/>
        </p:nvSpPr>
        <p:spPr>
          <a:xfrm>
            <a:off x="8166224" y="286740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B0F02ABC-52F1-A7E8-501D-26F7E3DAE650}"/>
              </a:ext>
            </a:extLst>
          </p:cNvPr>
          <p:cNvSpPr/>
          <p:nvPr/>
        </p:nvSpPr>
        <p:spPr>
          <a:xfrm>
            <a:off x="8637278" y="27309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CA486BE6-BAEC-9068-8C52-DC31A8B253A9}"/>
              </a:ext>
            </a:extLst>
          </p:cNvPr>
          <p:cNvSpPr/>
          <p:nvPr/>
        </p:nvSpPr>
        <p:spPr>
          <a:xfrm>
            <a:off x="8789678" y="28833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E3294E61-627F-47E2-8E3D-8657DE2CA9F6}"/>
              </a:ext>
            </a:extLst>
          </p:cNvPr>
          <p:cNvSpPr/>
          <p:nvPr/>
        </p:nvSpPr>
        <p:spPr>
          <a:xfrm>
            <a:off x="8863143" y="272243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3694952D-73D1-DD90-D06A-BED471B22AD1}"/>
              </a:ext>
            </a:extLst>
          </p:cNvPr>
          <p:cNvSpPr/>
          <p:nvPr/>
        </p:nvSpPr>
        <p:spPr>
          <a:xfrm>
            <a:off x="8554151" y="291558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C2408F88-ABF2-7E05-256D-44F9C1F8DF95}"/>
              </a:ext>
            </a:extLst>
          </p:cNvPr>
          <p:cNvSpPr/>
          <p:nvPr/>
        </p:nvSpPr>
        <p:spPr>
          <a:xfrm>
            <a:off x="9187267" y="29089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4F703915-2728-F05A-0BC7-56166B2E7841}"/>
              </a:ext>
            </a:extLst>
          </p:cNvPr>
          <p:cNvSpPr/>
          <p:nvPr/>
        </p:nvSpPr>
        <p:spPr>
          <a:xfrm>
            <a:off x="9339667" y="30613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DC0305AF-FB45-A20B-2BF6-CF9CB565749B}"/>
              </a:ext>
            </a:extLst>
          </p:cNvPr>
          <p:cNvSpPr/>
          <p:nvPr/>
        </p:nvSpPr>
        <p:spPr>
          <a:xfrm>
            <a:off x="9413132" y="290044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6E8CC0F9-D3E3-320A-63D1-D8369FD2E9EC}"/>
              </a:ext>
            </a:extLst>
          </p:cNvPr>
          <p:cNvSpPr/>
          <p:nvPr/>
        </p:nvSpPr>
        <p:spPr>
          <a:xfrm>
            <a:off x="9104140" y="309358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EC59A6DC-13EA-4080-67EB-B4A2B5730748}"/>
              </a:ext>
            </a:extLst>
          </p:cNvPr>
          <p:cNvSpPr/>
          <p:nvPr/>
        </p:nvSpPr>
        <p:spPr>
          <a:xfrm>
            <a:off x="9291876" y="325183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89F2097F-2575-4A76-1DCB-B5A0901FE8E7}"/>
              </a:ext>
            </a:extLst>
          </p:cNvPr>
          <p:cNvSpPr/>
          <p:nvPr/>
        </p:nvSpPr>
        <p:spPr>
          <a:xfrm>
            <a:off x="9444276" y="340423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026A85C4-A405-8ECF-1E4C-5621C9A6B8FB}"/>
              </a:ext>
            </a:extLst>
          </p:cNvPr>
          <p:cNvSpPr/>
          <p:nvPr/>
        </p:nvSpPr>
        <p:spPr>
          <a:xfrm>
            <a:off x="9517741" y="324335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5AF2FDCC-66AD-84DB-35C3-CF9919253C66}"/>
              </a:ext>
            </a:extLst>
          </p:cNvPr>
          <p:cNvSpPr/>
          <p:nvPr/>
        </p:nvSpPr>
        <p:spPr>
          <a:xfrm>
            <a:off x="9208749" y="343650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EE19ED8A-33A3-D1DB-9456-7FB96AB5EB50}"/>
              </a:ext>
            </a:extLst>
          </p:cNvPr>
          <p:cNvSpPr/>
          <p:nvPr/>
        </p:nvSpPr>
        <p:spPr>
          <a:xfrm>
            <a:off x="9187267" y="248052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E2540CDF-DA82-8C87-53B0-B0B3B602A5BF}"/>
              </a:ext>
            </a:extLst>
          </p:cNvPr>
          <p:cNvSpPr/>
          <p:nvPr/>
        </p:nvSpPr>
        <p:spPr>
          <a:xfrm>
            <a:off x="9339667" y="263292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5549ABAA-83DC-0659-9BA0-DE43496D82E4}"/>
              </a:ext>
            </a:extLst>
          </p:cNvPr>
          <p:cNvSpPr/>
          <p:nvPr/>
        </p:nvSpPr>
        <p:spPr>
          <a:xfrm>
            <a:off x="9413132" y="247204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3E18D8C3-D1D4-789A-F486-2175AD4A415B}"/>
              </a:ext>
            </a:extLst>
          </p:cNvPr>
          <p:cNvSpPr/>
          <p:nvPr/>
        </p:nvSpPr>
        <p:spPr>
          <a:xfrm>
            <a:off x="9104140" y="266518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97FFD96E-E05D-065A-5D3B-A96E59A1F2E5}"/>
              </a:ext>
            </a:extLst>
          </p:cNvPr>
          <p:cNvSpPr/>
          <p:nvPr/>
        </p:nvSpPr>
        <p:spPr>
          <a:xfrm>
            <a:off x="8776812" y="23745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C2CD3E39-2316-33E4-43E5-3039123BDD57}"/>
              </a:ext>
            </a:extLst>
          </p:cNvPr>
          <p:cNvSpPr/>
          <p:nvPr/>
        </p:nvSpPr>
        <p:spPr>
          <a:xfrm>
            <a:off x="8929212" y="252695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1E830B73-7AD0-CEB5-EE6D-7982D9B6FC16}"/>
              </a:ext>
            </a:extLst>
          </p:cNvPr>
          <p:cNvSpPr/>
          <p:nvPr/>
        </p:nvSpPr>
        <p:spPr>
          <a:xfrm>
            <a:off x="9002677" y="236607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EA1C5D7A-8B22-B9C0-D599-6968CF4C6098}"/>
              </a:ext>
            </a:extLst>
          </p:cNvPr>
          <p:cNvSpPr/>
          <p:nvPr/>
        </p:nvSpPr>
        <p:spPr>
          <a:xfrm>
            <a:off x="8693685" y="255922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2DD80D27-54B5-9D5B-4CEF-DC3F07336194}"/>
              </a:ext>
            </a:extLst>
          </p:cNvPr>
          <p:cNvSpPr/>
          <p:nvPr/>
        </p:nvSpPr>
        <p:spPr>
          <a:xfrm>
            <a:off x="9638831" y="282090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A82A77CD-E533-2797-67EB-04696939D7BC}"/>
              </a:ext>
            </a:extLst>
          </p:cNvPr>
          <p:cNvSpPr/>
          <p:nvPr/>
        </p:nvSpPr>
        <p:spPr>
          <a:xfrm>
            <a:off x="9791231" y="297330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56D93120-09AC-06C8-CD55-6333FF6D95A7}"/>
              </a:ext>
            </a:extLst>
          </p:cNvPr>
          <p:cNvSpPr/>
          <p:nvPr/>
        </p:nvSpPr>
        <p:spPr>
          <a:xfrm>
            <a:off x="9864696" y="281242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9192C436-A9E3-F8A9-2B2E-FD85C1493574}"/>
              </a:ext>
            </a:extLst>
          </p:cNvPr>
          <p:cNvSpPr/>
          <p:nvPr/>
        </p:nvSpPr>
        <p:spPr>
          <a:xfrm>
            <a:off x="9555704" y="300556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C040C9E1-3E3A-9715-2CE4-4787211A678E}"/>
              </a:ext>
            </a:extLst>
          </p:cNvPr>
          <p:cNvSpPr/>
          <p:nvPr/>
        </p:nvSpPr>
        <p:spPr>
          <a:xfrm>
            <a:off x="9021472" y="280126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5F6E2886-5E09-1FD9-4418-4153E64A2AFE}"/>
              </a:ext>
            </a:extLst>
          </p:cNvPr>
          <p:cNvSpPr/>
          <p:nvPr/>
        </p:nvSpPr>
        <p:spPr>
          <a:xfrm>
            <a:off x="9173872" y="29536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ED062CA4-E922-D2C6-D44A-E56487683DB9}"/>
              </a:ext>
            </a:extLst>
          </p:cNvPr>
          <p:cNvSpPr/>
          <p:nvPr/>
        </p:nvSpPr>
        <p:spPr>
          <a:xfrm>
            <a:off x="9247337" y="279278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915A49E5-E932-D57B-78BA-C757885E54E0}"/>
              </a:ext>
            </a:extLst>
          </p:cNvPr>
          <p:cNvSpPr/>
          <p:nvPr/>
        </p:nvSpPr>
        <p:spPr>
          <a:xfrm>
            <a:off x="8938345" y="298592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56C9BAE0-E741-7EF8-327A-95B426BFAD86}"/>
              </a:ext>
            </a:extLst>
          </p:cNvPr>
          <p:cNvSpPr/>
          <p:nvPr/>
        </p:nvSpPr>
        <p:spPr>
          <a:xfrm>
            <a:off x="8526598" y="33918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2B7D4F9F-E452-51B5-16FB-07BD53B3B7E7}"/>
              </a:ext>
            </a:extLst>
          </p:cNvPr>
          <p:cNvSpPr/>
          <p:nvPr/>
        </p:nvSpPr>
        <p:spPr>
          <a:xfrm>
            <a:off x="8678998" y="35442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9CA90036-BABB-58F2-99E0-882FB6FABD59}"/>
              </a:ext>
            </a:extLst>
          </p:cNvPr>
          <p:cNvSpPr/>
          <p:nvPr/>
        </p:nvSpPr>
        <p:spPr>
          <a:xfrm>
            <a:off x="8752463" y="338333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837A0C27-6BE7-E5F2-A859-5CA429BCA2D9}"/>
              </a:ext>
            </a:extLst>
          </p:cNvPr>
          <p:cNvSpPr/>
          <p:nvPr/>
        </p:nvSpPr>
        <p:spPr>
          <a:xfrm>
            <a:off x="8443471" y="357647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B12E77FB-FD46-B18E-A231-7D4D7ED715EE}"/>
              </a:ext>
            </a:extLst>
          </p:cNvPr>
          <p:cNvSpPr/>
          <p:nvPr/>
        </p:nvSpPr>
        <p:spPr>
          <a:xfrm>
            <a:off x="8268902" y="30196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04946027-94F7-9DB0-1D56-B0A6EEB36167}"/>
              </a:ext>
            </a:extLst>
          </p:cNvPr>
          <p:cNvSpPr/>
          <p:nvPr/>
        </p:nvSpPr>
        <p:spPr>
          <a:xfrm>
            <a:off x="8421302" y="317205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766CAECC-ACB2-08F3-7C6E-6F6DDD8CE6F3}"/>
              </a:ext>
            </a:extLst>
          </p:cNvPr>
          <p:cNvSpPr/>
          <p:nvPr/>
        </p:nvSpPr>
        <p:spPr>
          <a:xfrm>
            <a:off x="8494767" y="301118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28699705-E8BB-3793-78F5-7C97AD9EE444}"/>
              </a:ext>
            </a:extLst>
          </p:cNvPr>
          <p:cNvSpPr/>
          <p:nvPr/>
        </p:nvSpPr>
        <p:spPr>
          <a:xfrm>
            <a:off x="8185775" y="320432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5B79985F-E05A-76E7-747A-ED59B4D47B75}"/>
              </a:ext>
            </a:extLst>
          </p:cNvPr>
          <p:cNvSpPr/>
          <p:nvPr/>
        </p:nvSpPr>
        <p:spPr>
          <a:xfrm>
            <a:off x="8498959" y="25427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4DC4C274-C677-A2A2-4421-463756FF0D44}"/>
              </a:ext>
            </a:extLst>
          </p:cNvPr>
          <p:cNvSpPr/>
          <p:nvPr/>
        </p:nvSpPr>
        <p:spPr>
          <a:xfrm>
            <a:off x="8651359" y="269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62AA3FD7-2493-121A-BAC8-08DE3B5D4198}"/>
              </a:ext>
            </a:extLst>
          </p:cNvPr>
          <p:cNvSpPr/>
          <p:nvPr/>
        </p:nvSpPr>
        <p:spPr>
          <a:xfrm>
            <a:off x="8724824" y="253428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432C4C09-6DBE-9A16-02D3-0E433C9403E0}"/>
              </a:ext>
            </a:extLst>
          </p:cNvPr>
          <p:cNvSpPr/>
          <p:nvPr/>
        </p:nvSpPr>
        <p:spPr>
          <a:xfrm>
            <a:off x="8415832" y="272743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DAB0A090-F4CC-A4C5-AB58-309E6FB81AC5}"/>
              </a:ext>
            </a:extLst>
          </p:cNvPr>
          <p:cNvSpPr/>
          <p:nvPr/>
        </p:nvSpPr>
        <p:spPr>
          <a:xfrm>
            <a:off x="9144946" y="23236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8A0CBBB6-8610-9C85-61FB-6C38C9362BA5}"/>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E24870E9-65EE-61F1-CDB5-10F5576AF589}"/>
              </a:ext>
            </a:extLst>
          </p:cNvPr>
          <p:cNvSpPr/>
          <p:nvPr/>
        </p:nvSpPr>
        <p:spPr>
          <a:xfrm>
            <a:off x="9370811" y="231516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EE351E1D-1671-44E1-9FBD-342465A2C6A9}"/>
              </a:ext>
            </a:extLst>
          </p:cNvPr>
          <p:cNvSpPr/>
          <p:nvPr/>
        </p:nvSpPr>
        <p:spPr>
          <a:xfrm>
            <a:off x="9061819" y="25083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A649ED6F-5E79-C372-0572-385DABBDBA4B}"/>
              </a:ext>
            </a:extLst>
          </p:cNvPr>
          <p:cNvSpPr/>
          <p:nvPr/>
        </p:nvSpPr>
        <p:spPr>
          <a:xfrm>
            <a:off x="9297346" y="2476047"/>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1EB420A7-8753-6FD3-C7E8-6FC67C15F56B}"/>
              </a:ext>
            </a:extLst>
          </p:cNvPr>
          <p:cNvSpPr/>
          <p:nvPr/>
        </p:nvSpPr>
        <p:spPr>
          <a:xfrm>
            <a:off x="9449746" y="26284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963EECA9-7227-B79E-23BE-BF8350F4A591}"/>
              </a:ext>
            </a:extLst>
          </p:cNvPr>
          <p:cNvSpPr/>
          <p:nvPr/>
        </p:nvSpPr>
        <p:spPr>
          <a:xfrm>
            <a:off x="9523211" y="24675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D0D6F008-272D-3A6E-7D4D-63EC7C054383}"/>
              </a:ext>
            </a:extLst>
          </p:cNvPr>
          <p:cNvSpPr/>
          <p:nvPr/>
        </p:nvSpPr>
        <p:spPr>
          <a:xfrm>
            <a:off x="9214219" y="2660712"/>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FE08EB6F-20BE-30CA-8548-AE9DCCFD885D}"/>
              </a:ext>
            </a:extLst>
          </p:cNvPr>
          <p:cNvSpPr/>
          <p:nvPr/>
        </p:nvSpPr>
        <p:spPr>
          <a:xfrm>
            <a:off x="9497764" y="25517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3F1BA59C-B95B-B21B-19BD-AEC29DE18659}"/>
              </a:ext>
            </a:extLst>
          </p:cNvPr>
          <p:cNvSpPr/>
          <p:nvPr/>
        </p:nvSpPr>
        <p:spPr>
          <a:xfrm>
            <a:off x="9650164" y="27041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2CBC911A-C4B6-DC8F-C9C4-1E87EBD2BE07}"/>
              </a:ext>
            </a:extLst>
          </p:cNvPr>
          <p:cNvSpPr/>
          <p:nvPr/>
        </p:nvSpPr>
        <p:spPr>
          <a:xfrm>
            <a:off x="9723629" y="25433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23727A67-9DC8-68A3-6B08-244FDC951516}"/>
              </a:ext>
            </a:extLst>
          </p:cNvPr>
          <p:cNvSpPr/>
          <p:nvPr/>
        </p:nvSpPr>
        <p:spPr>
          <a:xfrm>
            <a:off x="9414637" y="273645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718EE251-E336-0083-5881-74179A49331F}"/>
              </a:ext>
            </a:extLst>
          </p:cNvPr>
          <p:cNvSpPr/>
          <p:nvPr/>
        </p:nvSpPr>
        <p:spPr>
          <a:xfrm>
            <a:off x="9584785" y="221895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412922D7-3777-DBA9-98AB-0B0CA5BBD996}"/>
              </a:ext>
            </a:extLst>
          </p:cNvPr>
          <p:cNvSpPr/>
          <p:nvPr/>
        </p:nvSpPr>
        <p:spPr>
          <a:xfrm>
            <a:off x="9737185" y="237135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80A1F35A-8348-08A4-31B1-40A750611824}"/>
              </a:ext>
            </a:extLst>
          </p:cNvPr>
          <p:cNvSpPr/>
          <p:nvPr/>
        </p:nvSpPr>
        <p:spPr>
          <a:xfrm>
            <a:off x="9810650" y="2210471"/>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24835E1D-E0E7-92B8-4D13-0ED838E92ACF}"/>
              </a:ext>
            </a:extLst>
          </p:cNvPr>
          <p:cNvSpPr/>
          <p:nvPr/>
        </p:nvSpPr>
        <p:spPr>
          <a:xfrm>
            <a:off x="9501658" y="240361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B5A6D700-AE6E-78B9-76D7-9F145F62DB66}"/>
              </a:ext>
            </a:extLst>
          </p:cNvPr>
          <p:cNvSpPr/>
          <p:nvPr/>
        </p:nvSpPr>
        <p:spPr>
          <a:xfrm>
            <a:off x="9802110" y="24762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F800E55B-9FEE-AF15-87D0-80AEA8ED4656}"/>
              </a:ext>
            </a:extLst>
          </p:cNvPr>
          <p:cNvSpPr/>
          <p:nvPr/>
        </p:nvSpPr>
        <p:spPr>
          <a:xfrm>
            <a:off x="9954510" y="262868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6E215930-6A23-242A-F6A8-124C3F919A59}"/>
              </a:ext>
            </a:extLst>
          </p:cNvPr>
          <p:cNvSpPr/>
          <p:nvPr/>
        </p:nvSpPr>
        <p:spPr>
          <a:xfrm>
            <a:off x="10027975" y="246780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6FD09794-8FBC-A5FC-5CA8-727FB4CEDBD8}"/>
              </a:ext>
            </a:extLst>
          </p:cNvPr>
          <p:cNvSpPr/>
          <p:nvPr/>
        </p:nvSpPr>
        <p:spPr>
          <a:xfrm>
            <a:off x="9718983" y="266095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0FB552B6-1003-DC82-64A1-7D027B9E9746}"/>
              </a:ext>
            </a:extLst>
          </p:cNvPr>
          <p:cNvSpPr/>
          <p:nvPr/>
        </p:nvSpPr>
        <p:spPr>
          <a:xfrm>
            <a:off x="7765356" y="33836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B5449A33-1746-F7E8-35D6-B976581B9B6F}"/>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AA621A76-2E67-1B12-A28F-4F4E6EBF5D57}"/>
              </a:ext>
            </a:extLst>
          </p:cNvPr>
          <p:cNvSpPr/>
          <p:nvPr/>
        </p:nvSpPr>
        <p:spPr>
          <a:xfrm>
            <a:off x="7991221" y="33752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1E97A378-ED0C-863C-80AA-04D9649AE91B}"/>
              </a:ext>
            </a:extLst>
          </p:cNvPr>
          <p:cNvSpPr/>
          <p:nvPr/>
        </p:nvSpPr>
        <p:spPr>
          <a:xfrm>
            <a:off x="7682229" y="35683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60DE64B7-78DB-F08B-9E12-48992F7F69A6}"/>
              </a:ext>
            </a:extLst>
          </p:cNvPr>
          <p:cNvSpPr/>
          <p:nvPr/>
        </p:nvSpPr>
        <p:spPr>
          <a:xfrm>
            <a:off x="7917756" y="353609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5A527D07-07D9-AAAD-137E-C4B189560C7A}"/>
              </a:ext>
            </a:extLst>
          </p:cNvPr>
          <p:cNvSpPr/>
          <p:nvPr/>
        </p:nvSpPr>
        <p:spPr>
          <a:xfrm>
            <a:off x="8070156" y="368849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0AAE5273-ABE6-2F19-91EA-5F3F8FE39AA3}"/>
              </a:ext>
            </a:extLst>
          </p:cNvPr>
          <p:cNvSpPr/>
          <p:nvPr/>
        </p:nvSpPr>
        <p:spPr>
          <a:xfrm>
            <a:off x="8143621" y="3527616"/>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F4660F7A-CE40-F877-C9D6-5810398BA713}"/>
              </a:ext>
            </a:extLst>
          </p:cNvPr>
          <p:cNvSpPr/>
          <p:nvPr/>
        </p:nvSpPr>
        <p:spPr>
          <a:xfrm>
            <a:off x="7834629" y="3720760"/>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C27CE8FE-68C8-DF06-212D-CCE5772A6866}"/>
              </a:ext>
            </a:extLst>
          </p:cNvPr>
          <p:cNvSpPr/>
          <p:nvPr/>
        </p:nvSpPr>
        <p:spPr>
          <a:xfrm>
            <a:off x="7726253" y="36924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194DADEF-2C5F-8B73-D857-8779149724CB}"/>
              </a:ext>
            </a:extLst>
          </p:cNvPr>
          <p:cNvSpPr/>
          <p:nvPr/>
        </p:nvSpPr>
        <p:spPr>
          <a:xfrm>
            <a:off x="7878653" y="38448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5ED85F5F-70D1-78F6-1A86-E56EB7881AD3}"/>
              </a:ext>
            </a:extLst>
          </p:cNvPr>
          <p:cNvSpPr/>
          <p:nvPr/>
        </p:nvSpPr>
        <p:spPr>
          <a:xfrm>
            <a:off x="7952118" y="368401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DD1E6D96-47B2-711C-1574-8210AD5D56DC}"/>
              </a:ext>
            </a:extLst>
          </p:cNvPr>
          <p:cNvSpPr/>
          <p:nvPr/>
        </p:nvSpPr>
        <p:spPr>
          <a:xfrm>
            <a:off x="7643126" y="387715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39AF3FDF-1B42-8D73-DE20-78639FEEEC8C}"/>
              </a:ext>
            </a:extLst>
          </p:cNvPr>
          <p:cNvSpPr/>
          <p:nvPr/>
        </p:nvSpPr>
        <p:spPr>
          <a:xfrm>
            <a:off x="7878653" y="38448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D82A456F-B179-12D9-719E-978B8E7FFFFB}"/>
              </a:ext>
            </a:extLst>
          </p:cNvPr>
          <p:cNvSpPr/>
          <p:nvPr/>
        </p:nvSpPr>
        <p:spPr>
          <a:xfrm>
            <a:off x="8031053" y="399729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EC5AC349-599C-D958-07E7-3630686F2B0B}"/>
              </a:ext>
            </a:extLst>
          </p:cNvPr>
          <p:cNvSpPr/>
          <p:nvPr/>
        </p:nvSpPr>
        <p:spPr>
          <a:xfrm>
            <a:off x="8104518" y="383641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A26E566A-95D5-C955-056C-4B5FE0BBB65A}"/>
              </a:ext>
            </a:extLst>
          </p:cNvPr>
          <p:cNvSpPr/>
          <p:nvPr/>
        </p:nvSpPr>
        <p:spPr>
          <a:xfrm>
            <a:off x="7795526" y="402955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577910FC-5C12-17F4-2B65-14BF1C1B3A8B}"/>
              </a:ext>
            </a:extLst>
          </p:cNvPr>
          <p:cNvSpPr/>
          <p:nvPr/>
        </p:nvSpPr>
        <p:spPr>
          <a:xfrm>
            <a:off x="7925965" y="38740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FD3700C0-EA69-6C6C-0FD6-97E4618DFE2A}"/>
              </a:ext>
            </a:extLst>
          </p:cNvPr>
          <p:cNvSpPr/>
          <p:nvPr/>
        </p:nvSpPr>
        <p:spPr>
          <a:xfrm>
            <a:off x="8078365" y="40264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DFDE1FD9-FE68-4209-5D65-FE30A2313A9A}"/>
              </a:ext>
            </a:extLst>
          </p:cNvPr>
          <p:cNvSpPr/>
          <p:nvPr/>
        </p:nvSpPr>
        <p:spPr>
          <a:xfrm>
            <a:off x="8151830" y="386556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98F9753D-B865-7FF5-0D2E-DCC2279384C1}"/>
              </a:ext>
            </a:extLst>
          </p:cNvPr>
          <p:cNvSpPr/>
          <p:nvPr/>
        </p:nvSpPr>
        <p:spPr>
          <a:xfrm>
            <a:off x="7842838" y="405870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4F18098A-78FA-6EDB-70BC-DC2DABD76340}"/>
              </a:ext>
            </a:extLst>
          </p:cNvPr>
          <p:cNvSpPr/>
          <p:nvPr/>
        </p:nvSpPr>
        <p:spPr>
          <a:xfrm>
            <a:off x="8411413" y="358882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FE087097-4167-1648-C723-D88AAA895878}"/>
              </a:ext>
            </a:extLst>
          </p:cNvPr>
          <p:cNvSpPr/>
          <p:nvPr/>
        </p:nvSpPr>
        <p:spPr>
          <a:xfrm>
            <a:off x="8563813" y="3741225"/>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B85B713E-4984-5136-48A2-ECB0B909063F}"/>
              </a:ext>
            </a:extLst>
          </p:cNvPr>
          <p:cNvSpPr/>
          <p:nvPr/>
        </p:nvSpPr>
        <p:spPr>
          <a:xfrm>
            <a:off x="8637278" y="358034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2CD5323F-7113-9636-C774-B57135BD3231}"/>
              </a:ext>
            </a:extLst>
          </p:cNvPr>
          <p:cNvSpPr/>
          <p:nvPr/>
        </p:nvSpPr>
        <p:spPr>
          <a:xfrm>
            <a:off x="8328286" y="377349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1B455C6F-BC5F-EA14-2F8C-C6EB5A95D9E4}"/>
              </a:ext>
            </a:extLst>
          </p:cNvPr>
          <p:cNvSpPr/>
          <p:nvPr/>
        </p:nvSpPr>
        <p:spPr>
          <a:xfrm>
            <a:off x="8013824" y="41616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DC28CDE7-D77F-DB83-E5AA-9C40A4AF96C6}"/>
              </a:ext>
            </a:extLst>
          </p:cNvPr>
          <p:cNvSpPr/>
          <p:nvPr/>
        </p:nvSpPr>
        <p:spPr>
          <a:xfrm>
            <a:off x="8166224"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84B32BEC-803A-A751-F430-C8D718EBB192}"/>
              </a:ext>
            </a:extLst>
          </p:cNvPr>
          <p:cNvSpPr/>
          <p:nvPr/>
        </p:nvSpPr>
        <p:spPr>
          <a:xfrm>
            <a:off x="8239689" y="41531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96774420-75A4-AC64-CBE3-8DD0EF4BCA13}"/>
              </a:ext>
            </a:extLst>
          </p:cNvPr>
          <p:cNvSpPr/>
          <p:nvPr/>
        </p:nvSpPr>
        <p:spPr>
          <a:xfrm>
            <a:off x="7930697" y="43463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D4701879-2368-1CB3-5CE8-C4BD1FC09A91}"/>
              </a:ext>
            </a:extLst>
          </p:cNvPr>
          <p:cNvSpPr/>
          <p:nvPr/>
        </p:nvSpPr>
        <p:spPr>
          <a:xfrm>
            <a:off x="8813785" y="317134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0D3417AF-44AC-8A5C-2057-70E772F00F29}"/>
              </a:ext>
            </a:extLst>
          </p:cNvPr>
          <p:cNvSpPr/>
          <p:nvPr/>
        </p:nvSpPr>
        <p:spPr>
          <a:xfrm>
            <a:off x="8966185" y="332374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013D2782-ACAB-D29C-130B-C11E67F3CE07}"/>
              </a:ext>
            </a:extLst>
          </p:cNvPr>
          <p:cNvSpPr/>
          <p:nvPr/>
        </p:nvSpPr>
        <p:spPr>
          <a:xfrm>
            <a:off x="9039650" y="316286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253BC61E-1788-1176-4E90-65B7D3DC7CE2}"/>
              </a:ext>
            </a:extLst>
          </p:cNvPr>
          <p:cNvSpPr/>
          <p:nvPr/>
        </p:nvSpPr>
        <p:spPr>
          <a:xfrm>
            <a:off x="8730658" y="3356013"/>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C7499171-4EA7-48F0-2CE8-78FA6193DAE1}"/>
              </a:ext>
            </a:extLst>
          </p:cNvPr>
          <p:cNvSpPr/>
          <p:nvPr/>
        </p:nvSpPr>
        <p:spPr>
          <a:xfrm>
            <a:off x="9973015" y="21980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1205E830-2624-31D7-1ECC-65FDE3D8BA1E}"/>
              </a:ext>
            </a:extLst>
          </p:cNvPr>
          <p:cNvSpPr/>
          <p:nvPr/>
        </p:nvSpPr>
        <p:spPr>
          <a:xfrm>
            <a:off x="10125415" y="23504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6E54561A-346C-3F85-A907-072606179D3B}"/>
              </a:ext>
            </a:extLst>
          </p:cNvPr>
          <p:cNvSpPr/>
          <p:nvPr/>
        </p:nvSpPr>
        <p:spPr>
          <a:xfrm>
            <a:off x="10148743" y="2219840"/>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1F65008D-5B29-EEB7-99E8-4D720D5ABA99}"/>
              </a:ext>
            </a:extLst>
          </p:cNvPr>
          <p:cNvSpPr/>
          <p:nvPr/>
        </p:nvSpPr>
        <p:spPr>
          <a:xfrm>
            <a:off x="9889888" y="238273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D314B7BA-6DC8-72D2-695B-F8A1E65E44BE}"/>
              </a:ext>
            </a:extLst>
          </p:cNvPr>
          <p:cNvSpPr/>
          <p:nvPr/>
        </p:nvSpPr>
        <p:spPr>
          <a:xfrm>
            <a:off x="10125415" y="235047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56DD88D4-3929-EF75-27EA-4DEA0CCA6D28}"/>
              </a:ext>
            </a:extLst>
          </p:cNvPr>
          <p:cNvSpPr/>
          <p:nvPr/>
        </p:nvSpPr>
        <p:spPr>
          <a:xfrm>
            <a:off x="9638831" y="218912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EC8DF9BE-24C5-2757-EAB8-B0EB000CC54F}"/>
              </a:ext>
            </a:extLst>
          </p:cNvPr>
          <p:cNvSpPr/>
          <p:nvPr/>
        </p:nvSpPr>
        <p:spPr>
          <a:xfrm>
            <a:off x="10248474" y="208495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4A8495AC-BDA0-DF31-CFE7-FB9A253AB443}"/>
              </a:ext>
            </a:extLst>
          </p:cNvPr>
          <p:cNvSpPr/>
          <p:nvPr/>
        </p:nvSpPr>
        <p:spPr>
          <a:xfrm>
            <a:off x="9403304" y="222139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765A5EB1-8092-8997-9037-BF45429EC7F7}"/>
              </a:ext>
            </a:extLst>
          </p:cNvPr>
          <p:cNvSpPr/>
          <p:nvPr/>
        </p:nvSpPr>
        <p:spPr>
          <a:xfrm>
            <a:off x="7671356" y="41616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6DADBDC2-B495-09CA-F2B6-618C1EF7E9D1}"/>
              </a:ext>
            </a:extLst>
          </p:cNvPr>
          <p:cNvSpPr/>
          <p:nvPr/>
        </p:nvSpPr>
        <p:spPr>
          <a:xfrm>
            <a:off x="7823756"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41CFEAA5-C640-D1DE-8513-6AB23701AB99}"/>
              </a:ext>
            </a:extLst>
          </p:cNvPr>
          <p:cNvSpPr/>
          <p:nvPr/>
        </p:nvSpPr>
        <p:spPr>
          <a:xfrm>
            <a:off x="7897221" y="41531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C660BB4E-8064-0557-6975-A84CDB4EFA15}"/>
              </a:ext>
            </a:extLst>
          </p:cNvPr>
          <p:cNvSpPr/>
          <p:nvPr/>
        </p:nvSpPr>
        <p:spPr>
          <a:xfrm>
            <a:off x="7588229" y="43463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C445470E-C103-8DF8-95DF-F2DE37AF99C4}"/>
              </a:ext>
            </a:extLst>
          </p:cNvPr>
          <p:cNvSpPr/>
          <p:nvPr/>
        </p:nvSpPr>
        <p:spPr>
          <a:xfrm>
            <a:off x="7823756" y="43140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38CBE28E-24C8-DC06-D0F1-322B6B39E15F}"/>
              </a:ext>
            </a:extLst>
          </p:cNvPr>
          <p:cNvSpPr/>
          <p:nvPr/>
        </p:nvSpPr>
        <p:spPr>
          <a:xfrm>
            <a:off x="7976156" y="446644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657116EC-F73A-75F7-DD17-259BBE805C4B}"/>
              </a:ext>
            </a:extLst>
          </p:cNvPr>
          <p:cNvSpPr/>
          <p:nvPr/>
        </p:nvSpPr>
        <p:spPr>
          <a:xfrm>
            <a:off x="8049621" y="430556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B70984D3-669E-4B57-212C-08AC5F90E307}"/>
              </a:ext>
            </a:extLst>
          </p:cNvPr>
          <p:cNvSpPr/>
          <p:nvPr/>
        </p:nvSpPr>
        <p:spPr>
          <a:xfrm>
            <a:off x="7740629" y="4498712"/>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8C8CB159-A2BB-6DF6-9305-EE8E34C72259}"/>
              </a:ext>
            </a:extLst>
          </p:cNvPr>
          <p:cNvSpPr/>
          <p:nvPr/>
        </p:nvSpPr>
        <p:spPr>
          <a:xfrm>
            <a:off x="7422064" y="3986298"/>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22969621-3515-43A2-AB2B-6174BF0E7A43}"/>
              </a:ext>
            </a:extLst>
          </p:cNvPr>
          <p:cNvSpPr/>
          <p:nvPr/>
        </p:nvSpPr>
        <p:spPr>
          <a:xfrm>
            <a:off x="7574464" y="4138698"/>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55E3F4DB-7D3C-AEC0-7339-54A575B8E3FD}"/>
              </a:ext>
            </a:extLst>
          </p:cNvPr>
          <p:cNvSpPr/>
          <p:nvPr/>
        </p:nvSpPr>
        <p:spPr>
          <a:xfrm>
            <a:off x="7647929" y="397781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F015D707-AE0F-63C4-507B-2AFB2B6A47BD}"/>
              </a:ext>
            </a:extLst>
          </p:cNvPr>
          <p:cNvSpPr/>
          <p:nvPr/>
        </p:nvSpPr>
        <p:spPr>
          <a:xfrm>
            <a:off x="7338937" y="4170963"/>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5DE2C17C-1F03-98B2-170E-A0DE7C8EF7DA}"/>
              </a:ext>
            </a:extLst>
          </p:cNvPr>
          <p:cNvSpPr/>
          <p:nvPr/>
        </p:nvSpPr>
        <p:spPr>
          <a:xfrm>
            <a:off x="7439117" y="36407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414EFC3A-FB49-27BE-4E61-328E83AF53F7}"/>
              </a:ext>
            </a:extLst>
          </p:cNvPr>
          <p:cNvSpPr/>
          <p:nvPr/>
        </p:nvSpPr>
        <p:spPr>
          <a:xfrm>
            <a:off x="7591517" y="379315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5BBCDB70-A429-0A90-1898-87A95D3683F4}"/>
              </a:ext>
            </a:extLst>
          </p:cNvPr>
          <p:cNvSpPr/>
          <p:nvPr/>
        </p:nvSpPr>
        <p:spPr>
          <a:xfrm>
            <a:off x="7664982" y="36322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9A1F1A9D-1D61-C0EA-07F6-DED0CC0D6CBD}"/>
              </a:ext>
            </a:extLst>
          </p:cNvPr>
          <p:cNvSpPr/>
          <p:nvPr/>
        </p:nvSpPr>
        <p:spPr>
          <a:xfrm>
            <a:off x="7355990" y="38254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7688C9BE-49C6-0579-9C30-0B27DF9F3C85}"/>
              </a:ext>
            </a:extLst>
          </p:cNvPr>
          <p:cNvSpPr/>
          <p:nvPr/>
        </p:nvSpPr>
        <p:spPr>
          <a:xfrm>
            <a:off x="7591517" y="3793154"/>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AFA36E98-9522-DBE6-9132-C3A410014B5F}"/>
              </a:ext>
            </a:extLst>
          </p:cNvPr>
          <p:cNvSpPr/>
          <p:nvPr/>
        </p:nvSpPr>
        <p:spPr>
          <a:xfrm>
            <a:off x="7743917" y="3945554"/>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BDFFC59E-9DA6-35BC-8FC4-A1DBDC4CFFBD}"/>
              </a:ext>
            </a:extLst>
          </p:cNvPr>
          <p:cNvSpPr/>
          <p:nvPr/>
        </p:nvSpPr>
        <p:spPr>
          <a:xfrm>
            <a:off x="7817382" y="3784675"/>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545D2DC0-A637-F2A5-6BD2-13AE66929441}"/>
              </a:ext>
            </a:extLst>
          </p:cNvPr>
          <p:cNvSpPr/>
          <p:nvPr/>
        </p:nvSpPr>
        <p:spPr>
          <a:xfrm>
            <a:off x="7508390" y="3977819"/>
            <a:ext cx="146930" cy="103807"/>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D64A92FF-BE15-27B5-F230-8B24827ABF84}"/>
              </a:ext>
            </a:extLst>
          </p:cNvPr>
          <p:cNvSpPr/>
          <p:nvPr/>
        </p:nvSpPr>
        <p:spPr>
          <a:xfrm>
            <a:off x="7377691" y="43378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9FBD65F5-ADB5-D6B4-8ADC-33E4B4EB9F51}"/>
              </a:ext>
            </a:extLst>
          </p:cNvPr>
          <p:cNvSpPr/>
          <p:nvPr/>
        </p:nvSpPr>
        <p:spPr>
          <a:xfrm>
            <a:off x="7530091" y="44902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20917244-16FB-2E15-7F3C-E46DE84E0706}"/>
              </a:ext>
            </a:extLst>
          </p:cNvPr>
          <p:cNvSpPr/>
          <p:nvPr/>
        </p:nvSpPr>
        <p:spPr>
          <a:xfrm>
            <a:off x="7603556" y="432941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9684DC7F-20A5-8E6E-60D2-E19F7FA9FF39}"/>
              </a:ext>
            </a:extLst>
          </p:cNvPr>
          <p:cNvSpPr/>
          <p:nvPr/>
        </p:nvSpPr>
        <p:spPr>
          <a:xfrm>
            <a:off x="7294564" y="45225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387F27D5-D6B2-81A6-CC98-77275E601DBB}"/>
              </a:ext>
            </a:extLst>
          </p:cNvPr>
          <p:cNvSpPr/>
          <p:nvPr/>
        </p:nvSpPr>
        <p:spPr>
          <a:xfrm>
            <a:off x="7530091" y="44902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AF695EBE-6CAC-30A2-85F5-A16DD0669BA0}"/>
              </a:ext>
            </a:extLst>
          </p:cNvPr>
          <p:cNvSpPr/>
          <p:nvPr/>
        </p:nvSpPr>
        <p:spPr>
          <a:xfrm>
            <a:off x="7682491" y="4642696"/>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179FD364-FCB3-985F-CF8D-3D715CCA32A5}"/>
              </a:ext>
            </a:extLst>
          </p:cNvPr>
          <p:cNvSpPr/>
          <p:nvPr/>
        </p:nvSpPr>
        <p:spPr>
          <a:xfrm>
            <a:off x="7755956" y="4481817"/>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ABA19B75-C78E-A144-4A51-3974AC039C75}"/>
              </a:ext>
            </a:extLst>
          </p:cNvPr>
          <p:cNvSpPr/>
          <p:nvPr/>
        </p:nvSpPr>
        <p:spPr>
          <a:xfrm>
            <a:off x="7446964" y="4674961"/>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622AA974-7E17-B2AB-506C-3B57D3E9E8B8}"/>
              </a:ext>
            </a:extLst>
          </p:cNvPr>
          <p:cNvSpPr/>
          <p:nvPr/>
        </p:nvSpPr>
        <p:spPr>
          <a:xfrm>
            <a:off x="7211896" y="4728299"/>
            <a:ext cx="146930" cy="103807"/>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F77E3546-7A48-6D68-1328-7304D713F563}"/>
              </a:ext>
            </a:extLst>
          </p:cNvPr>
          <p:cNvCxnSpPr>
            <a:cxnSpLocks/>
          </p:cNvCxnSpPr>
          <p:nvPr/>
        </p:nvCxnSpPr>
        <p:spPr>
          <a:xfrm flipV="1">
            <a:off x="6266520" y="1687571"/>
            <a:ext cx="4353901" cy="3474073"/>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4E732927-57DA-EE27-EF0E-78D7AC0DAD3A}"/>
                  </a:ext>
                </a:extLst>
              </p:cNvPr>
              <p:cNvSpPr txBox="1"/>
              <p:nvPr/>
            </p:nvSpPr>
            <p:spPr>
              <a:xfrm>
                <a:off x="10677474" y="1582863"/>
                <a:ext cx="4748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oMath>
                  </m:oMathPara>
                </a14:m>
                <a:endParaRPr lang="en-CA" dirty="0"/>
              </a:p>
            </p:txBody>
          </p:sp>
        </mc:Choice>
        <mc:Fallback xmlns="">
          <p:sp>
            <p:nvSpPr>
              <p:cNvPr id="174" name="TextBox 173">
                <a:extLst>
                  <a:ext uri="{FF2B5EF4-FFF2-40B4-BE49-F238E27FC236}">
                    <a16:creationId xmlns:a16="http://schemas.microsoft.com/office/drawing/2014/main" id="{4E732927-57DA-EE27-EF0E-78D7AC0DAD3A}"/>
                  </a:ext>
                </a:extLst>
              </p:cNvPr>
              <p:cNvSpPr txBox="1">
                <a:spLocks noRot="1" noChangeAspect="1" noMove="1" noResize="1" noEditPoints="1" noAdjustHandles="1" noChangeArrowheads="1" noChangeShapeType="1" noTextEdit="1"/>
              </p:cNvSpPr>
              <p:nvPr/>
            </p:nvSpPr>
            <p:spPr>
              <a:xfrm>
                <a:off x="10677474" y="1582863"/>
                <a:ext cx="474874" cy="369332"/>
              </a:xfrm>
              <a:prstGeom prst="rect">
                <a:avLst/>
              </a:prstGeom>
              <a:blipFill>
                <a:blip r:embed="rId5"/>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937828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D762-CF75-C3E2-CE0E-5E56D8BE7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C6675-DA1E-420F-F647-E443C4F1958D}"/>
              </a:ext>
            </a:extLst>
          </p:cNvPr>
          <p:cNvSpPr>
            <a:spLocks noGrp="1"/>
          </p:cNvSpPr>
          <p:nvPr>
            <p:ph type="title"/>
          </p:nvPr>
        </p:nvSpPr>
        <p:spPr>
          <a:xfrm>
            <a:off x="482600" y="597408"/>
            <a:ext cx="10634472" cy="1117092"/>
          </a:xfrm>
        </p:spPr>
        <p:txBody>
          <a:bodyPr/>
          <a:lstStyle/>
          <a:p>
            <a:r>
              <a:rPr lang="en-CA" sz="4800" dirty="0"/>
              <a:t>The Cost Effectiveness Acceptability Curve.</a:t>
            </a:r>
          </a:p>
        </p:txBody>
      </p:sp>
      <p:sp>
        <p:nvSpPr>
          <p:cNvPr id="3" name="Content Placeholder 2">
            <a:extLst>
              <a:ext uri="{FF2B5EF4-FFF2-40B4-BE49-F238E27FC236}">
                <a16:creationId xmlns:a16="http://schemas.microsoft.com/office/drawing/2014/main" id="{A1D064B2-1F15-AA52-4D33-264AC83C6016}"/>
              </a:ext>
            </a:extLst>
          </p:cNvPr>
          <p:cNvSpPr>
            <a:spLocks noGrp="1"/>
          </p:cNvSpPr>
          <p:nvPr>
            <p:ph idx="1"/>
          </p:nvPr>
        </p:nvSpPr>
        <p:spPr>
          <a:xfrm>
            <a:off x="482600" y="1943100"/>
            <a:ext cx="4432299" cy="3936491"/>
          </a:xfrm>
        </p:spPr>
        <p:txBody>
          <a:bodyPr/>
          <a:lstStyle/>
          <a:p>
            <a:pPr marL="342900" indent="-342900">
              <a:buFont typeface="Wingdings" panose="05000000000000000000" pitchFamily="2" charset="2"/>
              <a:buChar char="§"/>
            </a:pPr>
            <a:r>
              <a:rPr lang="en-CA" dirty="0"/>
              <a:t>We can take probabilistic sensitivity analysis further with the use of the </a:t>
            </a:r>
            <a:r>
              <a:rPr lang="en-CA" b="1" dirty="0"/>
              <a:t>Cost Effectiveness Acceptability Curve.</a:t>
            </a:r>
            <a:endParaRPr lang="en-CA" dirty="0"/>
          </a:p>
          <a:p>
            <a:pPr marL="342900" indent="-342900">
              <a:buFont typeface="Wingdings" panose="05000000000000000000" pitchFamily="2" charset="2"/>
              <a:buChar char="§"/>
            </a:pPr>
            <a:r>
              <a:rPr lang="en-CA" dirty="0"/>
              <a:t>This curve tells us the probability of cost effectiveness over a range of threshold values.</a:t>
            </a:r>
          </a:p>
        </p:txBody>
      </p:sp>
      <p:sp>
        <p:nvSpPr>
          <p:cNvPr id="4" name="Rectangle 3">
            <a:extLst>
              <a:ext uri="{FF2B5EF4-FFF2-40B4-BE49-F238E27FC236}">
                <a16:creationId xmlns:a16="http://schemas.microsoft.com/office/drawing/2014/main" id="{79F91973-E090-9DF3-C203-98B9ED2A6DDC}"/>
              </a:ext>
            </a:extLst>
          </p:cNvPr>
          <p:cNvSpPr/>
          <p:nvPr/>
        </p:nvSpPr>
        <p:spPr>
          <a:xfrm>
            <a:off x="5619750" y="1895475"/>
            <a:ext cx="5497322" cy="389572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0123F561-B2A3-803A-0869-9A839DA6EF3E}"/>
              </a:ext>
            </a:extLst>
          </p:cNvPr>
          <p:cNvSpPr/>
          <p:nvPr/>
        </p:nvSpPr>
        <p:spPr>
          <a:xfrm>
            <a:off x="5400675" y="1647825"/>
            <a:ext cx="600075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Rectangle 5">
            <a:extLst>
              <a:ext uri="{FF2B5EF4-FFF2-40B4-BE49-F238E27FC236}">
                <a16:creationId xmlns:a16="http://schemas.microsoft.com/office/drawing/2014/main" id="{825505F6-CB74-152B-DDF1-E682103C95BB}"/>
              </a:ext>
            </a:extLst>
          </p:cNvPr>
          <p:cNvSpPr/>
          <p:nvPr/>
        </p:nvSpPr>
        <p:spPr>
          <a:xfrm>
            <a:off x="10925175" y="1800225"/>
            <a:ext cx="476250" cy="4219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38FEB18-C9C2-E5D0-6F22-DB8FECA8CBA5}"/>
                  </a:ext>
                </a:extLst>
              </p:cNvPr>
              <p:cNvSpPr txBox="1"/>
              <p:nvPr/>
            </p:nvSpPr>
            <p:spPr>
              <a:xfrm>
                <a:off x="10082064" y="5781675"/>
                <a:ext cx="2354369" cy="369332"/>
              </a:xfrm>
              <a:prstGeom prst="rect">
                <a:avLst/>
              </a:prstGeom>
              <a:noFill/>
            </p:spPr>
            <p:txBody>
              <a:bodyPr wrap="square" rtlCol="0">
                <a:spAutoFit/>
              </a:bodyPr>
              <a:lstStyle/>
              <a:p>
                <a:r>
                  <a:rPr lang="en-CA" dirty="0"/>
                  <a:t>Threshold Value </a:t>
                </a:r>
                <a14:m>
                  <m:oMath xmlns:m="http://schemas.openxmlformats.org/officeDocument/2006/math">
                    <m:r>
                      <a:rPr lang="en-CA" b="0" i="1" smtClean="0">
                        <a:latin typeface="Cambria Math" panose="02040503050406030204" pitchFamily="18" charset="0"/>
                      </a:rPr>
                      <m:t>𝜆</m:t>
                    </m:r>
                  </m:oMath>
                </a14:m>
                <a:endParaRPr lang="en-CA" dirty="0"/>
              </a:p>
            </p:txBody>
          </p:sp>
        </mc:Choice>
        <mc:Fallback xmlns="">
          <p:sp>
            <p:nvSpPr>
              <p:cNvPr id="7" name="TextBox 6">
                <a:extLst>
                  <a:ext uri="{FF2B5EF4-FFF2-40B4-BE49-F238E27FC236}">
                    <a16:creationId xmlns:a16="http://schemas.microsoft.com/office/drawing/2014/main" id="{A38FEB18-C9C2-E5D0-6F22-DB8FECA8CBA5}"/>
                  </a:ext>
                </a:extLst>
              </p:cNvPr>
              <p:cNvSpPr txBox="1">
                <a:spLocks noRot="1" noChangeAspect="1" noMove="1" noResize="1" noEditPoints="1" noAdjustHandles="1" noChangeArrowheads="1" noChangeShapeType="1" noTextEdit="1"/>
              </p:cNvSpPr>
              <p:nvPr/>
            </p:nvSpPr>
            <p:spPr>
              <a:xfrm>
                <a:off x="10082064" y="5781675"/>
                <a:ext cx="2354369" cy="369332"/>
              </a:xfrm>
              <a:prstGeom prst="rect">
                <a:avLst/>
              </a:prstGeom>
              <a:blipFill>
                <a:blip r:embed="rId2"/>
                <a:stretch>
                  <a:fillRect l="-2332" t="-8197" b="-2459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29C1B6-8112-BD32-EFEB-2D26EC5096E9}"/>
                  </a:ext>
                </a:extLst>
              </p:cNvPr>
              <p:cNvSpPr txBox="1"/>
              <p:nvPr/>
            </p:nvSpPr>
            <p:spPr>
              <a:xfrm rot="16200000">
                <a:off x="3812989" y="3074878"/>
                <a:ext cx="2592495" cy="646331"/>
              </a:xfrm>
              <a:prstGeom prst="rect">
                <a:avLst/>
              </a:prstGeom>
              <a:noFill/>
            </p:spPr>
            <p:txBody>
              <a:bodyPr wrap="square" rtlCol="0">
                <a:spAutoFit/>
              </a:bodyPr>
              <a:lstStyle/>
              <a:p>
                <a:r>
                  <a:rPr lang="en-CA" b="0" i="0" dirty="0"/>
                  <a:t>Probability of Cost Effectivenes </a:t>
                </a:r>
                <a14:m>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a14:m>
                <a:endParaRPr lang="en-CA" dirty="0"/>
              </a:p>
            </p:txBody>
          </p:sp>
        </mc:Choice>
        <mc:Fallback xmlns="">
          <p:sp>
            <p:nvSpPr>
              <p:cNvPr id="8" name="TextBox 7">
                <a:extLst>
                  <a:ext uri="{FF2B5EF4-FFF2-40B4-BE49-F238E27FC236}">
                    <a16:creationId xmlns:a16="http://schemas.microsoft.com/office/drawing/2014/main" id="{1529C1B6-8112-BD32-EFEB-2D26EC5096E9}"/>
                  </a:ext>
                </a:extLst>
              </p:cNvPr>
              <p:cNvSpPr txBox="1">
                <a:spLocks noRot="1" noChangeAspect="1" noMove="1" noResize="1" noEditPoints="1" noAdjustHandles="1" noChangeArrowheads="1" noChangeShapeType="1" noTextEdit="1"/>
              </p:cNvSpPr>
              <p:nvPr/>
            </p:nvSpPr>
            <p:spPr>
              <a:xfrm rot="16200000">
                <a:off x="3812989" y="3074878"/>
                <a:ext cx="2592495" cy="646331"/>
              </a:xfrm>
              <a:prstGeom prst="rect">
                <a:avLst/>
              </a:prstGeom>
              <a:blipFill>
                <a:blip r:embed="rId3"/>
                <a:stretch>
                  <a:fillRect l="-4717" r="-14151" b="-2118"/>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81EEB958-887C-CF5A-E6A3-58350F769046}"/>
              </a:ext>
            </a:extLst>
          </p:cNvPr>
          <p:cNvSpPr txBox="1"/>
          <p:nvPr/>
        </p:nvSpPr>
        <p:spPr>
          <a:xfrm>
            <a:off x="5335397" y="5781675"/>
            <a:ext cx="306494" cy="369332"/>
          </a:xfrm>
          <a:prstGeom prst="rect">
            <a:avLst/>
          </a:prstGeom>
          <a:noFill/>
        </p:spPr>
        <p:txBody>
          <a:bodyPr wrap="none" rtlCol="0">
            <a:spAutoFit/>
          </a:bodyPr>
          <a:lstStyle/>
          <a:p>
            <a:r>
              <a:rPr lang="en-CA" dirty="0"/>
              <a:t>0</a:t>
            </a:r>
          </a:p>
        </p:txBody>
      </p:sp>
      <p:sp>
        <p:nvSpPr>
          <p:cNvPr id="11" name="TextBox 10">
            <a:extLst>
              <a:ext uri="{FF2B5EF4-FFF2-40B4-BE49-F238E27FC236}">
                <a16:creationId xmlns:a16="http://schemas.microsoft.com/office/drawing/2014/main" id="{5D90F053-B3E6-2A2E-3B08-E8206FA025A1}"/>
              </a:ext>
            </a:extLst>
          </p:cNvPr>
          <p:cNvSpPr txBox="1"/>
          <p:nvPr/>
        </p:nvSpPr>
        <p:spPr>
          <a:xfrm>
            <a:off x="5335397" y="2045256"/>
            <a:ext cx="306494" cy="369332"/>
          </a:xfrm>
          <a:prstGeom prst="rect">
            <a:avLst/>
          </a:prstGeom>
          <a:noFill/>
        </p:spPr>
        <p:txBody>
          <a:bodyPr wrap="none" rtlCol="0">
            <a:spAutoFit/>
          </a:bodyPr>
          <a:lstStyle/>
          <a:p>
            <a:r>
              <a:rPr lang="en-CA" dirty="0"/>
              <a:t>1</a:t>
            </a:r>
          </a:p>
        </p:txBody>
      </p:sp>
      <p:sp>
        <p:nvSpPr>
          <p:cNvPr id="12" name="Freeform: Shape 11">
            <a:extLst>
              <a:ext uri="{FF2B5EF4-FFF2-40B4-BE49-F238E27FC236}">
                <a16:creationId xmlns:a16="http://schemas.microsoft.com/office/drawing/2014/main" id="{94E1C2DA-178E-08B5-5B73-C53C3FC88574}"/>
              </a:ext>
            </a:extLst>
          </p:cNvPr>
          <p:cNvSpPr/>
          <p:nvPr/>
        </p:nvSpPr>
        <p:spPr>
          <a:xfrm>
            <a:off x="5619750" y="2899291"/>
            <a:ext cx="5343525" cy="1971675"/>
          </a:xfrm>
          <a:custGeom>
            <a:avLst/>
            <a:gdLst>
              <a:gd name="connsiteX0" fmla="*/ 0 w 5343525"/>
              <a:gd name="connsiteY0" fmla="*/ 1971675 h 1971675"/>
              <a:gd name="connsiteX1" fmla="*/ 485775 w 5343525"/>
              <a:gd name="connsiteY1" fmla="*/ 866775 h 1971675"/>
              <a:gd name="connsiteX2" fmla="*/ 2581275 w 5343525"/>
              <a:gd name="connsiteY2" fmla="*/ 171450 h 1971675"/>
              <a:gd name="connsiteX3" fmla="*/ 5343525 w 5343525"/>
              <a:gd name="connsiteY3" fmla="*/ 0 h 1971675"/>
            </a:gdLst>
            <a:ahLst/>
            <a:cxnLst>
              <a:cxn ang="0">
                <a:pos x="connsiteX0" y="connsiteY0"/>
              </a:cxn>
              <a:cxn ang="0">
                <a:pos x="connsiteX1" y="connsiteY1"/>
              </a:cxn>
              <a:cxn ang="0">
                <a:pos x="connsiteX2" y="connsiteY2"/>
              </a:cxn>
              <a:cxn ang="0">
                <a:pos x="connsiteX3" y="connsiteY3"/>
              </a:cxn>
            </a:cxnLst>
            <a:rect l="l" t="t" r="r" b="b"/>
            <a:pathLst>
              <a:path w="5343525" h="1971675">
                <a:moveTo>
                  <a:pt x="0" y="1971675"/>
                </a:moveTo>
                <a:cubicBezTo>
                  <a:pt x="27781" y="1569243"/>
                  <a:pt x="55563" y="1166812"/>
                  <a:pt x="485775" y="866775"/>
                </a:cubicBezTo>
                <a:cubicBezTo>
                  <a:pt x="915987" y="566738"/>
                  <a:pt x="1771650" y="315913"/>
                  <a:pt x="2581275" y="171450"/>
                </a:cubicBezTo>
                <a:cubicBezTo>
                  <a:pt x="3390900" y="26987"/>
                  <a:pt x="4367212" y="13493"/>
                  <a:pt x="5343525"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17F9CB44-5C98-4768-702E-46061010D4B6}"/>
              </a:ext>
            </a:extLst>
          </p:cNvPr>
          <p:cNvSpPr txBox="1"/>
          <p:nvPr/>
        </p:nvSpPr>
        <p:spPr>
          <a:xfrm>
            <a:off x="10721066" y="2482334"/>
            <a:ext cx="792012" cy="369332"/>
          </a:xfrm>
          <a:prstGeom prst="rect">
            <a:avLst/>
          </a:prstGeom>
          <a:noFill/>
        </p:spPr>
        <p:txBody>
          <a:bodyPr wrap="none" rtlCol="0">
            <a:spAutoFit/>
          </a:bodyPr>
          <a:lstStyle/>
          <a:p>
            <a:r>
              <a:rPr lang="en-CA" dirty="0"/>
              <a:t>CEAC</a:t>
            </a:r>
          </a:p>
        </p:txBody>
      </p:sp>
    </p:spTree>
    <p:extLst>
      <p:ext uri="{BB962C8B-B14F-4D97-AF65-F5344CB8AC3E}">
        <p14:creationId xmlns:p14="http://schemas.microsoft.com/office/powerpoint/2010/main" val="1225099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B6400-B842-5BA2-75FC-3DF7FE8CA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E6331-172B-AB68-48AA-B3BA726C7A40}"/>
              </a:ext>
            </a:extLst>
          </p:cNvPr>
          <p:cNvSpPr>
            <a:spLocks noGrp="1"/>
          </p:cNvSpPr>
          <p:nvPr>
            <p:ph type="title"/>
          </p:nvPr>
        </p:nvSpPr>
        <p:spPr>
          <a:xfrm>
            <a:off x="482600" y="597408"/>
            <a:ext cx="10634472" cy="1117092"/>
          </a:xfrm>
        </p:spPr>
        <p:txBody>
          <a:bodyPr/>
          <a:lstStyle/>
          <a:p>
            <a:r>
              <a:rPr lang="en-CA" sz="4800" dirty="0"/>
              <a:t>The Cost Effectiveness Acceptability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01D9DD-D2C6-ED17-E79D-0BA5FABA9733}"/>
                  </a:ext>
                </a:extLst>
              </p:cNvPr>
              <p:cNvSpPr>
                <a:spLocks noGrp="1"/>
              </p:cNvSpPr>
              <p:nvPr>
                <p:ph idx="1"/>
              </p:nvPr>
            </p:nvSpPr>
            <p:spPr>
              <a:xfrm>
                <a:off x="482600" y="1943100"/>
                <a:ext cx="4432299" cy="3936491"/>
              </a:xfrm>
            </p:spPr>
            <p:txBody>
              <a:bodyPr/>
              <a:lstStyle/>
              <a:p>
                <a:pPr marL="342900" indent="-342900">
                  <a:buFont typeface="Wingdings" panose="05000000000000000000" pitchFamily="2" charset="2"/>
                  <a:buChar char="§"/>
                </a:pPr>
                <a:r>
                  <a:rPr lang="en-CA" dirty="0"/>
                  <a:t>Often researchers will display the CEAC along with the “fixed” threshold value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oMath>
                </a14:m>
                <a:r>
                  <a:rPr lang="en-CA" dirty="0"/>
                  <a:t>.</a:t>
                </a:r>
              </a:p>
            </p:txBody>
          </p:sp>
        </mc:Choice>
        <mc:Fallback xmlns="">
          <p:sp>
            <p:nvSpPr>
              <p:cNvPr id="3" name="Content Placeholder 2">
                <a:extLst>
                  <a:ext uri="{FF2B5EF4-FFF2-40B4-BE49-F238E27FC236}">
                    <a16:creationId xmlns:a16="http://schemas.microsoft.com/office/drawing/2014/main" id="{0701D9DD-D2C6-ED17-E79D-0BA5FABA9733}"/>
                  </a:ext>
                </a:extLst>
              </p:cNvPr>
              <p:cNvSpPr>
                <a:spLocks noGrp="1" noRot="1" noChangeAspect="1" noMove="1" noResize="1" noEditPoints="1" noAdjustHandles="1" noChangeArrowheads="1" noChangeShapeType="1" noTextEdit="1"/>
              </p:cNvSpPr>
              <p:nvPr>
                <p:ph idx="1"/>
              </p:nvPr>
            </p:nvSpPr>
            <p:spPr>
              <a:xfrm>
                <a:off x="482600" y="1943100"/>
                <a:ext cx="4432299" cy="3936491"/>
              </a:xfrm>
              <a:blipFill>
                <a:blip r:embed="rId2"/>
                <a:stretch>
                  <a:fillRect l="-1788" t="-1240" r="-688"/>
                </a:stretch>
              </a:blipFill>
            </p:spPr>
            <p:txBody>
              <a:bodyPr/>
              <a:lstStyle/>
              <a:p>
                <a:r>
                  <a:rPr lang="en-CA">
                    <a:noFill/>
                  </a:rPr>
                  <a:t> </a:t>
                </a:r>
              </a:p>
            </p:txBody>
          </p:sp>
        </mc:Fallback>
      </mc:AlternateContent>
      <p:sp>
        <p:nvSpPr>
          <p:cNvPr id="4" name="Rectangle 3">
            <a:extLst>
              <a:ext uri="{FF2B5EF4-FFF2-40B4-BE49-F238E27FC236}">
                <a16:creationId xmlns:a16="http://schemas.microsoft.com/office/drawing/2014/main" id="{5ABDAD56-C2E3-A78E-BB2A-D675BD73A7E3}"/>
              </a:ext>
            </a:extLst>
          </p:cNvPr>
          <p:cNvSpPr/>
          <p:nvPr/>
        </p:nvSpPr>
        <p:spPr>
          <a:xfrm>
            <a:off x="5619750" y="1895475"/>
            <a:ext cx="5497322" cy="389572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817E55D9-8E79-4069-C49A-7DF7617C0F19}"/>
              </a:ext>
            </a:extLst>
          </p:cNvPr>
          <p:cNvSpPr/>
          <p:nvPr/>
        </p:nvSpPr>
        <p:spPr>
          <a:xfrm>
            <a:off x="5400675" y="1647825"/>
            <a:ext cx="600075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Rectangle 5">
            <a:extLst>
              <a:ext uri="{FF2B5EF4-FFF2-40B4-BE49-F238E27FC236}">
                <a16:creationId xmlns:a16="http://schemas.microsoft.com/office/drawing/2014/main" id="{46D9C95A-51DC-0481-8A1C-85D95D439429}"/>
              </a:ext>
            </a:extLst>
          </p:cNvPr>
          <p:cNvSpPr/>
          <p:nvPr/>
        </p:nvSpPr>
        <p:spPr>
          <a:xfrm>
            <a:off x="10925175" y="1800225"/>
            <a:ext cx="476250" cy="4219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1560B0F-53A0-EA75-856D-3C59AF0B1C01}"/>
                  </a:ext>
                </a:extLst>
              </p:cNvPr>
              <p:cNvSpPr txBox="1"/>
              <p:nvPr/>
            </p:nvSpPr>
            <p:spPr>
              <a:xfrm>
                <a:off x="10082064" y="5781675"/>
                <a:ext cx="2354369" cy="369332"/>
              </a:xfrm>
              <a:prstGeom prst="rect">
                <a:avLst/>
              </a:prstGeom>
              <a:noFill/>
            </p:spPr>
            <p:txBody>
              <a:bodyPr wrap="square" rtlCol="0">
                <a:spAutoFit/>
              </a:bodyPr>
              <a:lstStyle/>
              <a:p>
                <a:r>
                  <a:rPr lang="en-CA" dirty="0"/>
                  <a:t>Threshold Value </a:t>
                </a:r>
                <a14:m>
                  <m:oMath xmlns:m="http://schemas.openxmlformats.org/officeDocument/2006/math">
                    <m:r>
                      <a:rPr lang="en-CA" b="0" i="1" smtClean="0">
                        <a:latin typeface="Cambria Math" panose="02040503050406030204" pitchFamily="18" charset="0"/>
                      </a:rPr>
                      <m:t>𝜆</m:t>
                    </m:r>
                  </m:oMath>
                </a14:m>
                <a:endParaRPr lang="en-CA" dirty="0"/>
              </a:p>
            </p:txBody>
          </p:sp>
        </mc:Choice>
        <mc:Fallback xmlns="">
          <p:sp>
            <p:nvSpPr>
              <p:cNvPr id="7" name="TextBox 6">
                <a:extLst>
                  <a:ext uri="{FF2B5EF4-FFF2-40B4-BE49-F238E27FC236}">
                    <a16:creationId xmlns:a16="http://schemas.microsoft.com/office/drawing/2014/main" id="{A1560B0F-53A0-EA75-856D-3C59AF0B1C01}"/>
                  </a:ext>
                </a:extLst>
              </p:cNvPr>
              <p:cNvSpPr txBox="1">
                <a:spLocks noRot="1" noChangeAspect="1" noMove="1" noResize="1" noEditPoints="1" noAdjustHandles="1" noChangeArrowheads="1" noChangeShapeType="1" noTextEdit="1"/>
              </p:cNvSpPr>
              <p:nvPr/>
            </p:nvSpPr>
            <p:spPr>
              <a:xfrm>
                <a:off x="10082064" y="5781675"/>
                <a:ext cx="2354369" cy="369332"/>
              </a:xfrm>
              <a:prstGeom prst="rect">
                <a:avLst/>
              </a:prstGeom>
              <a:blipFill>
                <a:blip r:embed="rId3"/>
                <a:stretch>
                  <a:fillRect l="-2332" t="-8197" b="-2459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391CF43-1CA7-C7AE-32C4-5FC8ED15EFB0}"/>
                  </a:ext>
                </a:extLst>
              </p:cNvPr>
              <p:cNvSpPr txBox="1"/>
              <p:nvPr/>
            </p:nvSpPr>
            <p:spPr>
              <a:xfrm rot="16200000">
                <a:off x="3812989" y="3074878"/>
                <a:ext cx="2592495" cy="646331"/>
              </a:xfrm>
              <a:prstGeom prst="rect">
                <a:avLst/>
              </a:prstGeom>
              <a:noFill/>
            </p:spPr>
            <p:txBody>
              <a:bodyPr wrap="square" rtlCol="0">
                <a:spAutoFit/>
              </a:bodyPr>
              <a:lstStyle/>
              <a:p>
                <a:r>
                  <a:rPr lang="en-CA" b="0" i="0" dirty="0"/>
                  <a:t>Probability of Cost Effectivenes </a:t>
                </a:r>
                <a14:m>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a14:m>
                <a:endParaRPr lang="en-CA" dirty="0"/>
              </a:p>
            </p:txBody>
          </p:sp>
        </mc:Choice>
        <mc:Fallback xmlns="">
          <p:sp>
            <p:nvSpPr>
              <p:cNvPr id="8" name="TextBox 7">
                <a:extLst>
                  <a:ext uri="{FF2B5EF4-FFF2-40B4-BE49-F238E27FC236}">
                    <a16:creationId xmlns:a16="http://schemas.microsoft.com/office/drawing/2014/main" id="{5391CF43-1CA7-C7AE-32C4-5FC8ED15EFB0}"/>
                  </a:ext>
                </a:extLst>
              </p:cNvPr>
              <p:cNvSpPr txBox="1">
                <a:spLocks noRot="1" noChangeAspect="1" noMove="1" noResize="1" noEditPoints="1" noAdjustHandles="1" noChangeArrowheads="1" noChangeShapeType="1" noTextEdit="1"/>
              </p:cNvSpPr>
              <p:nvPr/>
            </p:nvSpPr>
            <p:spPr>
              <a:xfrm rot="16200000">
                <a:off x="3812989" y="3074878"/>
                <a:ext cx="2592495" cy="646331"/>
              </a:xfrm>
              <a:prstGeom prst="rect">
                <a:avLst/>
              </a:prstGeom>
              <a:blipFill>
                <a:blip r:embed="rId4"/>
                <a:stretch>
                  <a:fillRect l="-4717" r="-14151" b="-2118"/>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95417363-A1BE-6F87-0E94-353907F83D1B}"/>
              </a:ext>
            </a:extLst>
          </p:cNvPr>
          <p:cNvSpPr txBox="1"/>
          <p:nvPr/>
        </p:nvSpPr>
        <p:spPr>
          <a:xfrm>
            <a:off x="5335397" y="5781675"/>
            <a:ext cx="306494" cy="369332"/>
          </a:xfrm>
          <a:prstGeom prst="rect">
            <a:avLst/>
          </a:prstGeom>
          <a:noFill/>
        </p:spPr>
        <p:txBody>
          <a:bodyPr wrap="none" rtlCol="0">
            <a:spAutoFit/>
          </a:bodyPr>
          <a:lstStyle/>
          <a:p>
            <a:r>
              <a:rPr lang="en-CA" dirty="0"/>
              <a:t>0</a:t>
            </a:r>
          </a:p>
        </p:txBody>
      </p:sp>
      <p:sp>
        <p:nvSpPr>
          <p:cNvPr id="11" name="TextBox 10">
            <a:extLst>
              <a:ext uri="{FF2B5EF4-FFF2-40B4-BE49-F238E27FC236}">
                <a16:creationId xmlns:a16="http://schemas.microsoft.com/office/drawing/2014/main" id="{3E6E0119-A0F8-A332-4E93-99375AAC78E0}"/>
              </a:ext>
            </a:extLst>
          </p:cNvPr>
          <p:cNvSpPr txBox="1"/>
          <p:nvPr/>
        </p:nvSpPr>
        <p:spPr>
          <a:xfrm>
            <a:off x="5335397" y="2045256"/>
            <a:ext cx="306494" cy="369332"/>
          </a:xfrm>
          <a:prstGeom prst="rect">
            <a:avLst/>
          </a:prstGeom>
          <a:noFill/>
        </p:spPr>
        <p:txBody>
          <a:bodyPr wrap="none" rtlCol="0">
            <a:spAutoFit/>
          </a:bodyPr>
          <a:lstStyle/>
          <a:p>
            <a:r>
              <a:rPr lang="en-CA" dirty="0"/>
              <a:t>1</a:t>
            </a:r>
          </a:p>
        </p:txBody>
      </p:sp>
      <p:sp>
        <p:nvSpPr>
          <p:cNvPr id="12" name="Freeform: Shape 11">
            <a:extLst>
              <a:ext uri="{FF2B5EF4-FFF2-40B4-BE49-F238E27FC236}">
                <a16:creationId xmlns:a16="http://schemas.microsoft.com/office/drawing/2014/main" id="{A96AC38C-40AA-703D-445A-9214162CA277}"/>
              </a:ext>
            </a:extLst>
          </p:cNvPr>
          <p:cNvSpPr/>
          <p:nvPr/>
        </p:nvSpPr>
        <p:spPr>
          <a:xfrm>
            <a:off x="5619750" y="2899291"/>
            <a:ext cx="5343525" cy="1971675"/>
          </a:xfrm>
          <a:custGeom>
            <a:avLst/>
            <a:gdLst>
              <a:gd name="connsiteX0" fmla="*/ 0 w 5343525"/>
              <a:gd name="connsiteY0" fmla="*/ 1971675 h 1971675"/>
              <a:gd name="connsiteX1" fmla="*/ 485775 w 5343525"/>
              <a:gd name="connsiteY1" fmla="*/ 866775 h 1971675"/>
              <a:gd name="connsiteX2" fmla="*/ 2581275 w 5343525"/>
              <a:gd name="connsiteY2" fmla="*/ 171450 h 1971675"/>
              <a:gd name="connsiteX3" fmla="*/ 5343525 w 5343525"/>
              <a:gd name="connsiteY3" fmla="*/ 0 h 1971675"/>
            </a:gdLst>
            <a:ahLst/>
            <a:cxnLst>
              <a:cxn ang="0">
                <a:pos x="connsiteX0" y="connsiteY0"/>
              </a:cxn>
              <a:cxn ang="0">
                <a:pos x="connsiteX1" y="connsiteY1"/>
              </a:cxn>
              <a:cxn ang="0">
                <a:pos x="connsiteX2" y="connsiteY2"/>
              </a:cxn>
              <a:cxn ang="0">
                <a:pos x="connsiteX3" y="connsiteY3"/>
              </a:cxn>
            </a:cxnLst>
            <a:rect l="l" t="t" r="r" b="b"/>
            <a:pathLst>
              <a:path w="5343525" h="1971675">
                <a:moveTo>
                  <a:pt x="0" y="1971675"/>
                </a:moveTo>
                <a:cubicBezTo>
                  <a:pt x="27781" y="1569243"/>
                  <a:pt x="55563" y="1166812"/>
                  <a:pt x="485775" y="866775"/>
                </a:cubicBezTo>
                <a:cubicBezTo>
                  <a:pt x="915987" y="566738"/>
                  <a:pt x="1771650" y="315913"/>
                  <a:pt x="2581275" y="171450"/>
                </a:cubicBezTo>
                <a:cubicBezTo>
                  <a:pt x="3390900" y="26987"/>
                  <a:pt x="4367212" y="13493"/>
                  <a:pt x="5343525"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9F148029-1EAB-9DC9-57B3-FD621C090A47}"/>
              </a:ext>
            </a:extLst>
          </p:cNvPr>
          <p:cNvSpPr txBox="1"/>
          <p:nvPr/>
        </p:nvSpPr>
        <p:spPr>
          <a:xfrm>
            <a:off x="10721066" y="2482334"/>
            <a:ext cx="792012" cy="369332"/>
          </a:xfrm>
          <a:prstGeom prst="rect">
            <a:avLst/>
          </a:prstGeom>
          <a:noFill/>
        </p:spPr>
        <p:txBody>
          <a:bodyPr wrap="none" rtlCol="0">
            <a:spAutoFit/>
          </a:bodyPr>
          <a:lstStyle/>
          <a:p>
            <a:r>
              <a:rPr lang="en-CA" dirty="0"/>
              <a:t>CEAC</a:t>
            </a:r>
          </a:p>
        </p:txBody>
      </p:sp>
      <p:cxnSp>
        <p:nvCxnSpPr>
          <p:cNvPr id="14" name="Straight Connector 13">
            <a:extLst>
              <a:ext uri="{FF2B5EF4-FFF2-40B4-BE49-F238E27FC236}">
                <a16:creationId xmlns:a16="http://schemas.microsoft.com/office/drawing/2014/main" id="{50088ED0-2856-FEA1-5A25-6F44F09733DF}"/>
              </a:ext>
            </a:extLst>
          </p:cNvPr>
          <p:cNvCxnSpPr>
            <a:cxnSpLocks/>
            <a:stCxn id="4" idx="2"/>
          </p:cNvCxnSpPr>
          <p:nvPr/>
        </p:nvCxnSpPr>
        <p:spPr>
          <a:xfrm flipV="1">
            <a:off x="8368411" y="1895475"/>
            <a:ext cx="0" cy="3895725"/>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A0B9053-F305-7246-4C76-4F5952C48748}"/>
                  </a:ext>
                </a:extLst>
              </p:cNvPr>
              <p:cNvSpPr txBox="1"/>
              <p:nvPr/>
            </p:nvSpPr>
            <p:spPr>
              <a:xfrm>
                <a:off x="8368411" y="1829871"/>
                <a:ext cx="4748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dirty="0" smtClean="0">
                              <a:latin typeface="Cambria Math" panose="02040503050406030204" pitchFamily="18" charset="0"/>
                            </a:rPr>
                          </m:ctrlPr>
                        </m:sSupPr>
                        <m:e>
                          <m:r>
                            <a:rPr lang="en-CA" b="0" i="1" dirty="0" smtClean="0">
                              <a:latin typeface="Cambria Math" panose="02040503050406030204" pitchFamily="18" charset="0"/>
                            </a:rPr>
                            <m:t>𝜆</m:t>
                          </m:r>
                        </m:e>
                        <m:sup>
                          <m:r>
                            <a:rPr lang="en-CA" b="0" i="1" dirty="0" smtClean="0">
                              <a:latin typeface="Cambria Math" panose="02040503050406030204" pitchFamily="18" charset="0"/>
                            </a:rPr>
                            <m:t>𝑇</m:t>
                          </m:r>
                        </m:sup>
                      </m:sSup>
                    </m:oMath>
                  </m:oMathPara>
                </a14:m>
                <a:endParaRPr lang="en-CA" dirty="0"/>
              </a:p>
            </p:txBody>
          </p:sp>
        </mc:Choice>
        <mc:Fallback xmlns="">
          <p:sp>
            <p:nvSpPr>
              <p:cNvPr id="16" name="TextBox 15">
                <a:extLst>
                  <a:ext uri="{FF2B5EF4-FFF2-40B4-BE49-F238E27FC236}">
                    <a16:creationId xmlns:a16="http://schemas.microsoft.com/office/drawing/2014/main" id="{8A0B9053-F305-7246-4C76-4F5952C48748}"/>
                  </a:ext>
                </a:extLst>
              </p:cNvPr>
              <p:cNvSpPr txBox="1">
                <a:spLocks noRot="1" noChangeAspect="1" noMove="1" noResize="1" noEditPoints="1" noAdjustHandles="1" noChangeArrowheads="1" noChangeShapeType="1" noTextEdit="1"/>
              </p:cNvSpPr>
              <p:nvPr/>
            </p:nvSpPr>
            <p:spPr>
              <a:xfrm>
                <a:off x="8368411" y="1829871"/>
                <a:ext cx="474874" cy="369332"/>
              </a:xfrm>
              <a:prstGeom prst="rect">
                <a:avLst/>
              </a:prstGeom>
              <a:blipFill>
                <a:blip r:embed="rId5"/>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614824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FFA23-CB40-7B4E-004B-D558FE152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B7CAA-CE23-51E7-4A2B-1DE9730BBF09}"/>
              </a:ext>
            </a:extLst>
          </p:cNvPr>
          <p:cNvSpPr>
            <a:spLocks noGrp="1"/>
          </p:cNvSpPr>
          <p:nvPr>
            <p:ph type="title"/>
          </p:nvPr>
        </p:nvSpPr>
        <p:spPr/>
        <p:txBody>
          <a:bodyPr/>
          <a:lstStyle/>
          <a:p>
            <a:r>
              <a:rPr lang="en-CA" dirty="0"/>
              <a:t>Net Monetary Benefits and Net Health Benefits </a:t>
            </a:r>
          </a:p>
        </p:txBody>
      </p:sp>
      <p:sp>
        <p:nvSpPr>
          <p:cNvPr id="3" name="Text Placeholder 2">
            <a:extLst>
              <a:ext uri="{FF2B5EF4-FFF2-40B4-BE49-F238E27FC236}">
                <a16:creationId xmlns:a16="http://schemas.microsoft.com/office/drawing/2014/main" id="{8BB6C4A4-55B0-69D7-7597-8079AA51BE28}"/>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342949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14A7-486E-F9E1-9D46-437226B4B2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18C093-2EB0-08D6-650E-9ED40CA0E763}"/>
              </a:ext>
            </a:extLst>
          </p:cNvPr>
          <p:cNvSpPr/>
          <p:nvPr/>
        </p:nvSpPr>
        <p:spPr>
          <a:xfrm>
            <a:off x="8178800" y="1776979"/>
            <a:ext cx="2290618" cy="1935016"/>
          </a:xfrm>
          <a:prstGeom prst="rect">
            <a:avLst/>
          </a:prstGeom>
          <a:solidFill>
            <a:srgbClr val="FFFF00">
              <a:alpha val="5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More Costly, More Effective</a:t>
            </a:r>
            <a:br>
              <a:rPr lang="en-CA" dirty="0">
                <a:solidFill>
                  <a:schemeClr val="tx1"/>
                </a:solidFill>
              </a:rPr>
            </a:br>
            <a:r>
              <a:rPr lang="en-CA" dirty="0">
                <a:solidFill>
                  <a:schemeClr val="tx1"/>
                </a:solidFill>
              </a:rPr>
              <a:t>(Can be cost effective)</a:t>
            </a:r>
          </a:p>
        </p:txBody>
      </p:sp>
      <p:sp>
        <p:nvSpPr>
          <p:cNvPr id="7" name="Rectangle 6">
            <a:extLst>
              <a:ext uri="{FF2B5EF4-FFF2-40B4-BE49-F238E27FC236}">
                <a16:creationId xmlns:a16="http://schemas.microsoft.com/office/drawing/2014/main" id="{6C157805-3B27-265F-2113-0A71F8F30C7F}"/>
              </a:ext>
            </a:extLst>
          </p:cNvPr>
          <p:cNvSpPr/>
          <p:nvPr/>
        </p:nvSpPr>
        <p:spPr>
          <a:xfrm>
            <a:off x="8189191" y="3774474"/>
            <a:ext cx="2311400" cy="2105117"/>
          </a:xfrm>
          <a:prstGeom prst="rect">
            <a:avLst/>
          </a:prstGeom>
          <a:solidFill>
            <a:srgbClr val="00B050">
              <a:alpha val="6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Less Costly, More Effective</a:t>
            </a:r>
            <a:br>
              <a:rPr lang="en-CA" dirty="0">
                <a:solidFill>
                  <a:schemeClr val="tx1"/>
                </a:solidFill>
              </a:rPr>
            </a:br>
            <a:r>
              <a:rPr lang="en-CA" dirty="0">
                <a:solidFill>
                  <a:schemeClr val="tx1"/>
                </a:solidFill>
              </a:rPr>
              <a:t>(Always Cost Effective)</a:t>
            </a:r>
          </a:p>
        </p:txBody>
      </p:sp>
      <p:sp>
        <p:nvSpPr>
          <p:cNvPr id="9" name="Rectangle 8">
            <a:extLst>
              <a:ext uri="{FF2B5EF4-FFF2-40B4-BE49-F238E27FC236}">
                <a16:creationId xmlns:a16="http://schemas.microsoft.com/office/drawing/2014/main" id="{74219DB0-19DE-7049-DDCF-AEBC9B5D0C54}"/>
              </a:ext>
            </a:extLst>
          </p:cNvPr>
          <p:cNvSpPr/>
          <p:nvPr/>
        </p:nvSpPr>
        <p:spPr>
          <a:xfrm>
            <a:off x="5825836" y="1781203"/>
            <a:ext cx="2290618" cy="1935016"/>
          </a:xfrm>
          <a:prstGeom prst="rect">
            <a:avLst/>
          </a:prstGeom>
          <a:solidFill>
            <a:srgbClr val="C00000">
              <a:alpha val="6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More Costly, Less Effective</a:t>
            </a:r>
            <a:br>
              <a:rPr lang="en-CA" dirty="0">
                <a:solidFill>
                  <a:schemeClr val="tx1"/>
                </a:solidFill>
              </a:rPr>
            </a:br>
            <a:r>
              <a:rPr lang="en-CA" dirty="0">
                <a:solidFill>
                  <a:schemeClr val="tx1"/>
                </a:solidFill>
              </a:rPr>
              <a:t>(Never Cost Effective)</a:t>
            </a:r>
          </a:p>
        </p:txBody>
      </p:sp>
      <p:sp>
        <p:nvSpPr>
          <p:cNvPr id="12" name="Rectangle 11">
            <a:extLst>
              <a:ext uri="{FF2B5EF4-FFF2-40B4-BE49-F238E27FC236}">
                <a16:creationId xmlns:a16="http://schemas.microsoft.com/office/drawing/2014/main" id="{E5930D22-15A6-687B-6967-AEE1DDDDCF1C}"/>
              </a:ext>
            </a:extLst>
          </p:cNvPr>
          <p:cNvSpPr/>
          <p:nvPr/>
        </p:nvSpPr>
        <p:spPr>
          <a:xfrm>
            <a:off x="5825836" y="3774474"/>
            <a:ext cx="2311400" cy="2105114"/>
          </a:xfrm>
          <a:prstGeom prst="rect">
            <a:avLst/>
          </a:prstGeom>
          <a:solidFill>
            <a:srgbClr val="FFFF00">
              <a:alpha val="5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Less Costly, Less Effective (Can be cost effective)</a:t>
            </a:r>
          </a:p>
        </p:txBody>
      </p:sp>
      <p:sp>
        <p:nvSpPr>
          <p:cNvPr id="2" name="Title 1">
            <a:extLst>
              <a:ext uri="{FF2B5EF4-FFF2-40B4-BE49-F238E27FC236}">
                <a16:creationId xmlns:a16="http://schemas.microsoft.com/office/drawing/2014/main" id="{57FCE89C-6E32-DC44-F613-3D86458E6329}"/>
              </a:ext>
            </a:extLst>
          </p:cNvPr>
          <p:cNvSpPr>
            <a:spLocks noGrp="1"/>
          </p:cNvSpPr>
          <p:nvPr>
            <p:ph type="title"/>
          </p:nvPr>
        </p:nvSpPr>
        <p:spPr>
          <a:xfrm>
            <a:off x="482600" y="597408"/>
            <a:ext cx="10634472" cy="1117092"/>
          </a:xfrm>
        </p:spPr>
        <p:txBody>
          <a:bodyPr/>
          <a:lstStyle/>
          <a:p>
            <a:r>
              <a:rPr lang="en-CA" sz="4800" dirty="0"/>
              <a:t>The cost effectiveness plane and the ICER</a:t>
            </a:r>
          </a:p>
        </p:txBody>
      </p:sp>
      <p:sp>
        <p:nvSpPr>
          <p:cNvPr id="3" name="Content Placeholder 2">
            <a:extLst>
              <a:ext uri="{FF2B5EF4-FFF2-40B4-BE49-F238E27FC236}">
                <a16:creationId xmlns:a16="http://schemas.microsoft.com/office/drawing/2014/main" id="{88C591BC-CC46-05FD-DDFC-DEF8B8D091C4}"/>
              </a:ext>
            </a:extLst>
          </p:cNvPr>
          <p:cNvSpPr>
            <a:spLocks noGrp="1"/>
          </p:cNvSpPr>
          <p:nvPr>
            <p:ph idx="1"/>
          </p:nvPr>
        </p:nvSpPr>
        <p:spPr>
          <a:xfrm>
            <a:off x="482600" y="1943100"/>
            <a:ext cx="4634345" cy="3936491"/>
          </a:xfrm>
        </p:spPr>
        <p:txBody>
          <a:bodyPr>
            <a:normAutofit fontScale="92500"/>
          </a:bodyPr>
          <a:lstStyle/>
          <a:p>
            <a:pPr marL="342900" indent="-342900">
              <a:buFont typeface="Wingdings" panose="05000000000000000000" pitchFamily="2" charset="2"/>
              <a:buChar char="§"/>
            </a:pPr>
            <a:r>
              <a:rPr lang="en-CA" dirty="0"/>
              <a:t>The Cost effectiveness plane can be divided into 4 quadrants. </a:t>
            </a:r>
          </a:p>
          <a:p>
            <a:pPr marL="342900" indent="-342900">
              <a:buFont typeface="Wingdings" panose="05000000000000000000" pitchFamily="2" charset="2"/>
              <a:buChar char="§"/>
            </a:pPr>
            <a:r>
              <a:rPr lang="en-CA" dirty="0"/>
              <a:t>We can easily interpret an ICER in each of these quadrants.</a:t>
            </a:r>
          </a:p>
          <a:p>
            <a:pPr marL="342900" indent="-342900">
              <a:buFont typeface="Wingdings" panose="05000000000000000000" pitchFamily="2" charset="2"/>
              <a:buChar char="§"/>
            </a:pPr>
            <a:r>
              <a:rPr lang="en-CA" dirty="0"/>
              <a:t>Two important quadrants are the 2</a:t>
            </a:r>
            <a:r>
              <a:rPr lang="en-CA" baseline="30000" dirty="0"/>
              <a:t>nd</a:t>
            </a:r>
            <a:r>
              <a:rPr lang="en-CA" dirty="0"/>
              <a:t> and 4</a:t>
            </a:r>
            <a:r>
              <a:rPr lang="en-CA" baseline="30000" dirty="0"/>
              <a:t>th</a:t>
            </a:r>
            <a:r>
              <a:rPr lang="en-CA" dirty="0"/>
              <a:t> quadrant where regardless of threshold value a ICER will be cost effective or not.</a:t>
            </a:r>
          </a:p>
        </p:txBody>
      </p:sp>
      <p:cxnSp>
        <p:nvCxnSpPr>
          <p:cNvPr id="5" name="Straight Connector 4">
            <a:extLst>
              <a:ext uri="{FF2B5EF4-FFF2-40B4-BE49-F238E27FC236}">
                <a16:creationId xmlns:a16="http://schemas.microsoft.com/office/drawing/2014/main" id="{DA692200-774F-F5EC-3CF4-12E19C5A871A}"/>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6E2859C-3D49-607F-94F1-E50100891B7D}"/>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427CA9-D9F0-CC82-75E3-FA686F1BF712}"/>
                  </a:ext>
                </a:extLst>
              </p:cNvPr>
              <p:cNvSpPr txBox="1"/>
              <p:nvPr/>
            </p:nvSpPr>
            <p:spPr>
              <a:xfrm>
                <a:off x="8220364" y="1675307"/>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82427CA9-D9F0-CC82-75E3-FA686F1BF712}"/>
                  </a:ext>
                </a:extLst>
              </p:cNvPr>
              <p:cNvSpPr txBox="1">
                <a:spLocks noRot="1" noChangeAspect="1" noMove="1" noResize="1" noEditPoints="1" noAdjustHandles="1" noChangeArrowheads="1" noChangeShapeType="1" noTextEdit="1"/>
              </p:cNvSpPr>
              <p:nvPr/>
            </p:nvSpPr>
            <p:spPr>
              <a:xfrm>
                <a:off x="8220364" y="1675307"/>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1903F99-ADD7-78FF-EDED-7C7B2E9C0D72}"/>
                  </a:ext>
                </a:extLst>
              </p:cNvPr>
              <p:cNvSpPr txBox="1"/>
              <p:nvPr/>
            </p:nvSpPr>
            <p:spPr>
              <a:xfrm>
                <a:off x="10204249" y="3741122"/>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11903F99-ADD7-78FF-EDED-7C7B2E9C0D72}"/>
                  </a:ext>
                </a:extLst>
              </p:cNvPr>
              <p:cNvSpPr txBox="1">
                <a:spLocks noRot="1" noChangeAspect="1" noMove="1" noResize="1" noEditPoints="1" noAdjustHandles="1" noChangeArrowheads="1" noChangeShapeType="1" noTextEdit="1"/>
              </p:cNvSpPr>
              <p:nvPr/>
            </p:nvSpPr>
            <p:spPr>
              <a:xfrm>
                <a:off x="10204249" y="3741122"/>
                <a:ext cx="530338" cy="369332"/>
              </a:xfrm>
              <a:prstGeom prst="rect">
                <a:avLst/>
              </a:prstGeom>
              <a:blipFill>
                <a:blip r:embed="rId3"/>
                <a:stretch>
                  <a:fillRect/>
                </a:stretch>
              </a:blipFill>
            </p:spPr>
            <p:txBody>
              <a:bodyPr/>
              <a:lstStyle/>
              <a:p>
                <a:r>
                  <a:rPr lang="en-CA">
                    <a:noFill/>
                  </a:rPr>
                  <a:t> </a:t>
                </a:r>
              </a:p>
            </p:txBody>
          </p:sp>
        </mc:Fallback>
      </mc:AlternateContent>
      <p:sp>
        <p:nvSpPr>
          <p:cNvPr id="13" name="TextBox 12">
            <a:extLst>
              <a:ext uri="{FF2B5EF4-FFF2-40B4-BE49-F238E27FC236}">
                <a16:creationId xmlns:a16="http://schemas.microsoft.com/office/drawing/2014/main" id="{E426BD66-5FC4-9AF0-9055-A92B495F74DD}"/>
              </a:ext>
            </a:extLst>
          </p:cNvPr>
          <p:cNvSpPr txBox="1"/>
          <p:nvPr/>
        </p:nvSpPr>
        <p:spPr>
          <a:xfrm>
            <a:off x="8114032" y="3726679"/>
            <a:ext cx="306494" cy="369332"/>
          </a:xfrm>
          <a:prstGeom prst="rect">
            <a:avLst/>
          </a:prstGeom>
          <a:noFill/>
        </p:spPr>
        <p:txBody>
          <a:bodyPr wrap="none" rtlCol="0">
            <a:spAutoFit/>
          </a:bodyPr>
          <a:lstStyle/>
          <a:p>
            <a:r>
              <a:rPr lang="en-CA" dirty="0"/>
              <a:t>0</a:t>
            </a:r>
          </a:p>
        </p:txBody>
      </p:sp>
      <p:sp>
        <p:nvSpPr>
          <p:cNvPr id="14" name="TextBox 13">
            <a:extLst>
              <a:ext uri="{FF2B5EF4-FFF2-40B4-BE49-F238E27FC236}">
                <a16:creationId xmlns:a16="http://schemas.microsoft.com/office/drawing/2014/main" id="{6ADDD909-903E-B876-5F4A-86F9B9AF3A9B}"/>
              </a:ext>
            </a:extLst>
          </p:cNvPr>
          <p:cNvSpPr txBox="1"/>
          <p:nvPr/>
        </p:nvSpPr>
        <p:spPr>
          <a:xfrm>
            <a:off x="7878505" y="3427713"/>
            <a:ext cx="306494" cy="369332"/>
          </a:xfrm>
          <a:prstGeom prst="rect">
            <a:avLst/>
          </a:prstGeom>
          <a:noFill/>
        </p:spPr>
        <p:txBody>
          <a:bodyPr wrap="none" rtlCol="0">
            <a:spAutoFit/>
          </a:bodyPr>
          <a:lstStyle/>
          <a:p>
            <a:r>
              <a:rPr lang="en-CA" dirty="0"/>
              <a:t>0</a:t>
            </a:r>
          </a:p>
        </p:txBody>
      </p:sp>
    </p:spTree>
    <p:extLst>
      <p:ext uri="{BB962C8B-B14F-4D97-AF65-F5344CB8AC3E}">
        <p14:creationId xmlns:p14="http://schemas.microsoft.com/office/powerpoint/2010/main" val="1999031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7ED82-7EF7-98AA-A61D-2C393E8D7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7580E-58DA-581B-BF2A-717739865057}"/>
              </a:ext>
            </a:extLst>
          </p:cNvPr>
          <p:cNvSpPr>
            <a:spLocks noGrp="1"/>
          </p:cNvSpPr>
          <p:nvPr>
            <p:ph type="title"/>
          </p:nvPr>
        </p:nvSpPr>
        <p:spPr>
          <a:xfrm>
            <a:off x="482600" y="597408"/>
            <a:ext cx="10634472" cy="1117092"/>
          </a:xfrm>
        </p:spPr>
        <p:txBody>
          <a:bodyPr/>
          <a:lstStyle/>
          <a:p>
            <a:r>
              <a:rPr lang="en-CA" sz="4800" dirty="0"/>
              <a:t>The Problem with Negative ICERs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E7AFAE-DA24-DED6-E45A-10202B4628E7}"/>
                  </a:ext>
                </a:extLst>
              </p:cNvPr>
              <p:cNvSpPr>
                <a:spLocks noGrp="1"/>
              </p:cNvSpPr>
              <p:nvPr>
                <p:ph idx="1"/>
              </p:nvPr>
            </p:nvSpPr>
            <p:spPr>
              <a:xfrm>
                <a:off x="364913" y="1712096"/>
                <a:ext cx="4634345" cy="3936491"/>
              </a:xfrm>
            </p:spPr>
            <p:txBody>
              <a:bodyPr/>
              <a:lstStyle/>
              <a:p>
                <a:pPr marL="342900" indent="-342900">
                  <a:buFont typeface="Wingdings" panose="05000000000000000000" pitchFamily="2" charset="2"/>
                  <a:buChar char="§"/>
                </a:pPr>
                <a:r>
                  <a:rPr lang="en-CA" dirty="0"/>
                  <a:t>Suppose we have an ICER of </a:t>
                </a:r>
                <a14:m>
                  <m:oMath xmlns:m="http://schemas.openxmlformats.org/officeDocument/2006/math">
                    <m:r>
                      <a:rPr lang="en-CA" b="0" i="1" smtClean="0">
                        <a:latin typeface="Cambria Math" panose="02040503050406030204" pitchFamily="18" charset="0"/>
                      </a:rPr>
                      <m:t>𝜆</m:t>
                    </m:r>
                    <m:r>
                      <a:rPr lang="en-CA" b="0" i="1" smtClean="0">
                        <a:latin typeface="Cambria Math" panose="02040503050406030204" pitchFamily="18" charset="0"/>
                      </a:rPr>
                      <m:t>=−10</m:t>
                    </m:r>
                  </m:oMath>
                </a14:m>
                <a:r>
                  <a:rPr lang="en-CA" dirty="0"/>
                  <a:t>.</a:t>
                </a:r>
              </a:p>
              <a:p>
                <a:pPr marL="342900" indent="-342900">
                  <a:buFont typeface="Wingdings" panose="05000000000000000000" pitchFamily="2" charset="2"/>
                  <a:buChar char="§"/>
                </a:pPr>
                <a:r>
                  <a:rPr lang="en-CA" dirty="0"/>
                  <a:t>This can be any point along the ray in this figure</a:t>
                </a:r>
              </a:p>
            </p:txBody>
          </p:sp>
        </mc:Choice>
        <mc:Fallback xmlns="">
          <p:sp>
            <p:nvSpPr>
              <p:cNvPr id="3" name="Content Placeholder 2">
                <a:extLst>
                  <a:ext uri="{FF2B5EF4-FFF2-40B4-BE49-F238E27FC236}">
                    <a16:creationId xmlns:a16="http://schemas.microsoft.com/office/drawing/2014/main" id="{BAE7AFAE-DA24-DED6-E45A-10202B4628E7}"/>
                  </a:ext>
                </a:extLst>
              </p:cNvPr>
              <p:cNvSpPr>
                <a:spLocks noGrp="1" noRot="1" noChangeAspect="1" noMove="1" noResize="1" noEditPoints="1" noAdjustHandles="1" noChangeArrowheads="1" noChangeShapeType="1" noTextEdit="1"/>
              </p:cNvSpPr>
              <p:nvPr>
                <p:ph idx="1"/>
              </p:nvPr>
            </p:nvSpPr>
            <p:spPr>
              <a:xfrm>
                <a:off x="364913" y="1712096"/>
                <a:ext cx="4634345" cy="3936491"/>
              </a:xfrm>
              <a:blipFill>
                <a:blip r:embed="rId2"/>
                <a:stretch>
                  <a:fillRect l="-1842" t="-1238"/>
                </a:stretch>
              </a:blipFill>
            </p:spPr>
            <p:txBody>
              <a:bodyPr/>
              <a:lstStyle/>
              <a:p>
                <a:r>
                  <a:rPr lang="en-CA">
                    <a:noFill/>
                  </a:rPr>
                  <a:t> </a:t>
                </a:r>
              </a:p>
            </p:txBody>
          </p:sp>
        </mc:Fallback>
      </mc:AlternateContent>
      <p:cxnSp>
        <p:nvCxnSpPr>
          <p:cNvPr id="5" name="Straight Connector 4">
            <a:extLst>
              <a:ext uri="{FF2B5EF4-FFF2-40B4-BE49-F238E27FC236}">
                <a16:creationId xmlns:a16="http://schemas.microsoft.com/office/drawing/2014/main" id="{56BB5443-A04E-B690-EA84-B86AB58EAE1A}"/>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F59894C-64EF-1970-0E51-AE36FBE4C8DB}"/>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AEB316-F2CB-4AB1-D403-AEBD6611A704}"/>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63AEB316-F2CB-4AB1-D403-AEBD6611A704}"/>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B7152D1-415E-A0BE-4FB8-2D02B3BBCA30}"/>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4B7152D1-415E-A0BE-4FB8-2D02B3BBCA30}"/>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4"/>
                <a:stretch>
                  <a:fillRect/>
                </a:stretch>
              </a:blipFill>
            </p:spPr>
            <p:txBody>
              <a:bodyPr/>
              <a:lstStyle/>
              <a:p>
                <a:r>
                  <a:rPr lang="en-CA">
                    <a:noFill/>
                  </a:rPr>
                  <a:t> </a:t>
                </a:r>
              </a:p>
            </p:txBody>
          </p:sp>
        </mc:Fallback>
      </mc:AlternateContent>
      <p:cxnSp>
        <p:nvCxnSpPr>
          <p:cNvPr id="7" name="Straight Connector 6">
            <a:extLst>
              <a:ext uri="{FF2B5EF4-FFF2-40B4-BE49-F238E27FC236}">
                <a16:creationId xmlns:a16="http://schemas.microsoft.com/office/drawing/2014/main" id="{FFA7A24B-CF94-1549-9733-95B28CCD433A}"/>
              </a:ext>
            </a:extLst>
          </p:cNvPr>
          <p:cNvCxnSpPr>
            <a:cxnSpLocks/>
          </p:cNvCxnSpPr>
          <p:nvPr/>
        </p:nvCxnSpPr>
        <p:spPr>
          <a:xfrm>
            <a:off x="6563893" y="2179659"/>
            <a:ext cx="3684581" cy="3643807"/>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1A7D5B-CD1A-B325-766B-9F09326FB84B}"/>
              </a:ext>
            </a:extLst>
          </p:cNvPr>
          <p:cNvSpPr/>
          <p:nvPr/>
        </p:nvSpPr>
        <p:spPr>
          <a:xfrm>
            <a:off x="6638499" y="22420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07EB4BA2-7174-FC72-9454-3520664C70CA}"/>
              </a:ext>
            </a:extLst>
          </p:cNvPr>
          <p:cNvSpPr/>
          <p:nvPr/>
        </p:nvSpPr>
        <p:spPr>
          <a:xfrm>
            <a:off x="6790899" y="23944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A71CFC7A-E43C-8217-2345-ADBDF7D472D9}"/>
              </a:ext>
            </a:extLst>
          </p:cNvPr>
          <p:cNvSpPr/>
          <p:nvPr/>
        </p:nvSpPr>
        <p:spPr>
          <a:xfrm>
            <a:off x="6943299" y="25468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4F5442A0-FB7C-83C2-6430-9F2B563F4166}"/>
              </a:ext>
            </a:extLst>
          </p:cNvPr>
          <p:cNvSpPr/>
          <p:nvPr/>
        </p:nvSpPr>
        <p:spPr>
          <a:xfrm>
            <a:off x="7095699" y="26992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470FF2C1-9291-6C4C-7F39-15F6AF47C264}"/>
              </a:ext>
            </a:extLst>
          </p:cNvPr>
          <p:cNvSpPr/>
          <p:nvPr/>
        </p:nvSpPr>
        <p:spPr>
          <a:xfrm>
            <a:off x="7248099" y="28516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E02B6F8B-CCE8-B635-1058-C576FA2E3C7B}"/>
              </a:ext>
            </a:extLst>
          </p:cNvPr>
          <p:cNvSpPr/>
          <p:nvPr/>
        </p:nvSpPr>
        <p:spPr>
          <a:xfrm>
            <a:off x="7400499" y="30040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638CD5B8-B6BE-1C5C-C881-DF9C9B06E804}"/>
              </a:ext>
            </a:extLst>
          </p:cNvPr>
          <p:cNvSpPr/>
          <p:nvPr/>
        </p:nvSpPr>
        <p:spPr>
          <a:xfrm>
            <a:off x="7552899" y="31564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5991D4AA-7305-5F19-6B2C-4343D0EB0809}"/>
              </a:ext>
            </a:extLst>
          </p:cNvPr>
          <p:cNvSpPr/>
          <p:nvPr/>
        </p:nvSpPr>
        <p:spPr>
          <a:xfrm>
            <a:off x="7705299" y="33088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C06AF48C-8007-E7CC-2F7E-DFAF37F07642}"/>
              </a:ext>
            </a:extLst>
          </p:cNvPr>
          <p:cNvSpPr/>
          <p:nvPr/>
        </p:nvSpPr>
        <p:spPr>
          <a:xfrm>
            <a:off x="7857699" y="34612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AC4AD30A-9F6B-55ED-D137-FB85DB67FFFB}"/>
              </a:ext>
            </a:extLst>
          </p:cNvPr>
          <p:cNvSpPr/>
          <p:nvPr/>
        </p:nvSpPr>
        <p:spPr>
          <a:xfrm>
            <a:off x="8010099" y="36136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ED8C63FA-4D86-7BD7-6DDD-B82FB9D27C98}"/>
              </a:ext>
            </a:extLst>
          </p:cNvPr>
          <p:cNvSpPr/>
          <p:nvPr/>
        </p:nvSpPr>
        <p:spPr>
          <a:xfrm>
            <a:off x="8162499" y="37660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DFB01A76-288E-0A96-1F78-CE10F19F5423}"/>
              </a:ext>
            </a:extLst>
          </p:cNvPr>
          <p:cNvSpPr/>
          <p:nvPr/>
        </p:nvSpPr>
        <p:spPr>
          <a:xfrm>
            <a:off x="8314899" y="39184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9CD1D15C-8556-43E3-06E5-321AA0CCC4E4}"/>
              </a:ext>
            </a:extLst>
          </p:cNvPr>
          <p:cNvSpPr/>
          <p:nvPr/>
        </p:nvSpPr>
        <p:spPr>
          <a:xfrm>
            <a:off x="8467299" y="40708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B728FED0-0CEF-5172-9FEE-AB51DF446033}"/>
              </a:ext>
            </a:extLst>
          </p:cNvPr>
          <p:cNvSpPr/>
          <p:nvPr/>
        </p:nvSpPr>
        <p:spPr>
          <a:xfrm>
            <a:off x="8619699" y="42232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65C46EBF-201C-706A-B83D-FCED650F96A8}"/>
              </a:ext>
            </a:extLst>
          </p:cNvPr>
          <p:cNvSpPr/>
          <p:nvPr/>
        </p:nvSpPr>
        <p:spPr>
          <a:xfrm>
            <a:off x="8772099" y="43756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3E4BFE6C-4E8D-F741-8F8A-6ED9652BBF6A}"/>
              </a:ext>
            </a:extLst>
          </p:cNvPr>
          <p:cNvSpPr/>
          <p:nvPr/>
        </p:nvSpPr>
        <p:spPr>
          <a:xfrm>
            <a:off x="8924499" y="45280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A87C7A8F-96E8-1F03-13DC-1F47A003F7CE}"/>
              </a:ext>
            </a:extLst>
          </p:cNvPr>
          <p:cNvSpPr/>
          <p:nvPr/>
        </p:nvSpPr>
        <p:spPr>
          <a:xfrm>
            <a:off x="9076899" y="46804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EEE629D4-158C-12D4-B064-16611D26729F}"/>
              </a:ext>
            </a:extLst>
          </p:cNvPr>
          <p:cNvSpPr/>
          <p:nvPr/>
        </p:nvSpPr>
        <p:spPr>
          <a:xfrm>
            <a:off x="9229299" y="48328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FFCBE585-524A-806A-5B1E-052A507CD8F3}"/>
              </a:ext>
            </a:extLst>
          </p:cNvPr>
          <p:cNvSpPr/>
          <p:nvPr/>
        </p:nvSpPr>
        <p:spPr>
          <a:xfrm>
            <a:off x="9381699" y="49852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8304D7E9-7D53-9EDE-BC0C-83AB85FB5ADC}"/>
              </a:ext>
            </a:extLst>
          </p:cNvPr>
          <p:cNvSpPr/>
          <p:nvPr/>
        </p:nvSpPr>
        <p:spPr>
          <a:xfrm>
            <a:off x="9534099" y="51376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B05F8168-314C-C27F-B07B-D91A3936C6CE}"/>
              </a:ext>
            </a:extLst>
          </p:cNvPr>
          <p:cNvSpPr/>
          <p:nvPr/>
        </p:nvSpPr>
        <p:spPr>
          <a:xfrm>
            <a:off x="9686499" y="52900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F762ADEB-C9CB-49BE-3BB6-0834DB3AC714}"/>
              </a:ext>
            </a:extLst>
          </p:cNvPr>
          <p:cNvSpPr/>
          <p:nvPr/>
        </p:nvSpPr>
        <p:spPr>
          <a:xfrm>
            <a:off x="9838899" y="54424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4010E5E3-CC53-7CB7-C92E-24DD198C32BF}"/>
              </a:ext>
            </a:extLst>
          </p:cNvPr>
          <p:cNvSpPr/>
          <p:nvPr/>
        </p:nvSpPr>
        <p:spPr>
          <a:xfrm>
            <a:off x="9991299" y="5594872"/>
            <a:ext cx="161925" cy="1333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98636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B9401-44B2-42DB-3352-334B6B84A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9F9A0-B21D-94AB-67CF-D4BDB241D6D4}"/>
              </a:ext>
            </a:extLst>
          </p:cNvPr>
          <p:cNvSpPr>
            <a:spLocks noGrp="1"/>
          </p:cNvSpPr>
          <p:nvPr>
            <p:ph type="title"/>
          </p:nvPr>
        </p:nvSpPr>
        <p:spPr>
          <a:xfrm>
            <a:off x="482600" y="597408"/>
            <a:ext cx="10634472" cy="1117092"/>
          </a:xfrm>
        </p:spPr>
        <p:txBody>
          <a:bodyPr/>
          <a:lstStyle/>
          <a:p>
            <a:r>
              <a:rPr lang="en-CA" sz="4800" dirty="0"/>
              <a:t>The Problem with Negative ICERs</a:t>
            </a:r>
          </a:p>
        </p:txBody>
      </p:sp>
      <p:sp>
        <p:nvSpPr>
          <p:cNvPr id="3" name="Content Placeholder 2">
            <a:extLst>
              <a:ext uri="{FF2B5EF4-FFF2-40B4-BE49-F238E27FC236}">
                <a16:creationId xmlns:a16="http://schemas.microsoft.com/office/drawing/2014/main" id="{1C1B1CA2-1011-38F7-8E8E-A4C293F74A76}"/>
              </a:ext>
            </a:extLst>
          </p:cNvPr>
          <p:cNvSpPr>
            <a:spLocks noGrp="1"/>
          </p:cNvSpPr>
          <p:nvPr>
            <p:ph idx="1"/>
          </p:nvPr>
        </p:nvSpPr>
        <p:spPr>
          <a:xfrm>
            <a:off x="364913" y="1712096"/>
            <a:ext cx="4634345" cy="3936491"/>
          </a:xfrm>
        </p:spPr>
        <p:txBody>
          <a:bodyPr>
            <a:normAutofit fontScale="92500"/>
          </a:bodyPr>
          <a:lstStyle/>
          <a:p>
            <a:pPr marL="342900" indent="-342900">
              <a:buFont typeface="Wingdings" panose="05000000000000000000" pitchFamily="2" charset="2"/>
              <a:buChar char="§"/>
            </a:pPr>
            <a:r>
              <a:rPr lang="en-CA" dirty="0"/>
              <a:t>The problem here is that this ICER can correspond to treatments that are </a:t>
            </a:r>
            <a:r>
              <a:rPr lang="en-CA" b="1" dirty="0"/>
              <a:t>less costly and more effective</a:t>
            </a:r>
            <a:r>
              <a:rPr lang="en-CA" dirty="0"/>
              <a:t> and treatments that are </a:t>
            </a:r>
            <a:r>
              <a:rPr lang="en-CA" b="1" dirty="0"/>
              <a:t>more costly and less effective.</a:t>
            </a:r>
          </a:p>
          <a:p>
            <a:pPr marL="342900" indent="-342900">
              <a:buFont typeface="Wingdings" panose="05000000000000000000" pitchFamily="2" charset="2"/>
              <a:buChar char="§"/>
            </a:pPr>
            <a:r>
              <a:rPr lang="en-CA" dirty="0"/>
              <a:t>These are very different results!</a:t>
            </a:r>
          </a:p>
          <a:p>
            <a:pPr marL="342900" indent="-342900">
              <a:buFont typeface="Wingdings" panose="05000000000000000000" pitchFamily="2" charset="2"/>
              <a:buChar char="§"/>
            </a:pPr>
            <a:r>
              <a:rPr lang="en-CA" dirty="0"/>
              <a:t>Given this fact, how can we practically compute the CEAC?</a:t>
            </a:r>
          </a:p>
        </p:txBody>
      </p:sp>
      <p:cxnSp>
        <p:nvCxnSpPr>
          <p:cNvPr id="5" name="Straight Connector 4">
            <a:extLst>
              <a:ext uri="{FF2B5EF4-FFF2-40B4-BE49-F238E27FC236}">
                <a16:creationId xmlns:a16="http://schemas.microsoft.com/office/drawing/2014/main" id="{4D4F0558-CBCC-C4D2-C9A2-16FBD9B210B4}"/>
              </a:ext>
            </a:extLst>
          </p:cNvPr>
          <p:cNvCxnSpPr>
            <a:cxnSpLocks/>
          </p:cNvCxnSpPr>
          <p:nvPr/>
        </p:nvCxnSpPr>
        <p:spPr>
          <a:xfrm>
            <a:off x="8137236" y="1810327"/>
            <a:ext cx="41564" cy="42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77D453A-55C4-5B45-B67F-552A1E30A6AA}"/>
              </a:ext>
            </a:extLst>
          </p:cNvPr>
          <p:cNvCxnSpPr>
            <a:cxnSpLocks/>
          </p:cNvCxnSpPr>
          <p:nvPr/>
        </p:nvCxnSpPr>
        <p:spPr>
          <a:xfrm flipH="1">
            <a:off x="5929746" y="3745346"/>
            <a:ext cx="45812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23CFE8-A327-670D-22E9-06544DA6ED3B}"/>
                  </a:ext>
                </a:extLst>
              </p:cNvPr>
              <p:cNvSpPr txBox="1"/>
              <p:nvPr/>
            </p:nvSpPr>
            <p:spPr>
              <a:xfrm>
                <a:off x="8158018" y="1644134"/>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10" name="TextBox 9">
                <a:extLst>
                  <a:ext uri="{FF2B5EF4-FFF2-40B4-BE49-F238E27FC236}">
                    <a16:creationId xmlns:a16="http://schemas.microsoft.com/office/drawing/2014/main" id="{63AEB316-F2CB-4AB1-D403-AEBD6611A704}"/>
                  </a:ext>
                </a:extLst>
              </p:cNvPr>
              <p:cNvSpPr txBox="1">
                <a:spLocks noRot="1" noChangeAspect="1" noMove="1" noResize="1" noEditPoints="1" noAdjustHandles="1" noChangeArrowheads="1" noChangeShapeType="1" noTextEdit="1"/>
              </p:cNvSpPr>
              <p:nvPr/>
            </p:nvSpPr>
            <p:spPr>
              <a:xfrm>
                <a:off x="8158018" y="1644134"/>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2142FF-D3C0-BFE6-44A1-F48A4B4DC1E0}"/>
                  </a:ext>
                </a:extLst>
              </p:cNvPr>
              <p:cNvSpPr txBox="1"/>
              <p:nvPr/>
            </p:nvSpPr>
            <p:spPr>
              <a:xfrm>
                <a:off x="10248474" y="3745346"/>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11" name="TextBox 10">
                <a:extLst>
                  <a:ext uri="{FF2B5EF4-FFF2-40B4-BE49-F238E27FC236}">
                    <a16:creationId xmlns:a16="http://schemas.microsoft.com/office/drawing/2014/main" id="{4B7152D1-415E-A0BE-4FB8-2D02B3BBCA30}"/>
                  </a:ext>
                </a:extLst>
              </p:cNvPr>
              <p:cNvSpPr txBox="1">
                <a:spLocks noRot="1" noChangeAspect="1" noMove="1" noResize="1" noEditPoints="1" noAdjustHandles="1" noChangeArrowheads="1" noChangeShapeType="1" noTextEdit="1"/>
              </p:cNvSpPr>
              <p:nvPr/>
            </p:nvSpPr>
            <p:spPr>
              <a:xfrm>
                <a:off x="10248474" y="3745346"/>
                <a:ext cx="530338" cy="369332"/>
              </a:xfrm>
              <a:prstGeom prst="rect">
                <a:avLst/>
              </a:prstGeom>
              <a:blipFill>
                <a:blip r:embed="rId3"/>
                <a:stretch>
                  <a:fillRect/>
                </a:stretch>
              </a:blipFill>
            </p:spPr>
            <p:txBody>
              <a:bodyPr/>
              <a:lstStyle/>
              <a:p>
                <a:r>
                  <a:rPr lang="en-CA">
                    <a:noFill/>
                  </a:rPr>
                  <a:t> </a:t>
                </a:r>
              </a:p>
            </p:txBody>
          </p:sp>
        </mc:Fallback>
      </mc:AlternateContent>
      <p:cxnSp>
        <p:nvCxnSpPr>
          <p:cNvPr id="7" name="Straight Connector 6">
            <a:extLst>
              <a:ext uri="{FF2B5EF4-FFF2-40B4-BE49-F238E27FC236}">
                <a16:creationId xmlns:a16="http://schemas.microsoft.com/office/drawing/2014/main" id="{ACFF3BC0-5C48-851F-A4EF-846D347C3CDA}"/>
              </a:ext>
            </a:extLst>
          </p:cNvPr>
          <p:cNvCxnSpPr>
            <a:cxnSpLocks/>
          </p:cNvCxnSpPr>
          <p:nvPr/>
        </p:nvCxnSpPr>
        <p:spPr>
          <a:xfrm>
            <a:off x="6563893" y="2179659"/>
            <a:ext cx="3684581" cy="3643807"/>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1FC544-B135-4970-6F72-1DABD993C051}"/>
              </a:ext>
            </a:extLst>
          </p:cNvPr>
          <p:cNvSpPr/>
          <p:nvPr/>
        </p:nvSpPr>
        <p:spPr>
          <a:xfrm>
            <a:off x="6638499" y="22420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1D2337AD-DA3B-65DF-0136-2C7D7C7CE1D2}"/>
              </a:ext>
            </a:extLst>
          </p:cNvPr>
          <p:cNvSpPr/>
          <p:nvPr/>
        </p:nvSpPr>
        <p:spPr>
          <a:xfrm>
            <a:off x="6790899" y="23944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4714B787-130F-0859-7588-9495CA79A984}"/>
              </a:ext>
            </a:extLst>
          </p:cNvPr>
          <p:cNvSpPr/>
          <p:nvPr/>
        </p:nvSpPr>
        <p:spPr>
          <a:xfrm>
            <a:off x="6943299" y="25468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54A02C85-8518-159E-7A8E-8C2AFAA4A334}"/>
              </a:ext>
            </a:extLst>
          </p:cNvPr>
          <p:cNvSpPr/>
          <p:nvPr/>
        </p:nvSpPr>
        <p:spPr>
          <a:xfrm>
            <a:off x="7095699" y="26992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ED5CB903-694D-81BA-A9C7-A27249CEF2E3}"/>
              </a:ext>
            </a:extLst>
          </p:cNvPr>
          <p:cNvSpPr/>
          <p:nvPr/>
        </p:nvSpPr>
        <p:spPr>
          <a:xfrm>
            <a:off x="7248099" y="28516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01F83566-9926-A959-CB74-615ADE5CFC04}"/>
              </a:ext>
            </a:extLst>
          </p:cNvPr>
          <p:cNvSpPr/>
          <p:nvPr/>
        </p:nvSpPr>
        <p:spPr>
          <a:xfrm>
            <a:off x="7400499" y="30040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E1DFF8B0-7068-2683-FBEA-F252A259F6F2}"/>
              </a:ext>
            </a:extLst>
          </p:cNvPr>
          <p:cNvSpPr/>
          <p:nvPr/>
        </p:nvSpPr>
        <p:spPr>
          <a:xfrm>
            <a:off x="7552899" y="31564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9F30644A-D40D-5BA4-A4E1-14F54A64E90F}"/>
              </a:ext>
            </a:extLst>
          </p:cNvPr>
          <p:cNvSpPr/>
          <p:nvPr/>
        </p:nvSpPr>
        <p:spPr>
          <a:xfrm>
            <a:off x="7705299" y="33088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6C6F0F68-290E-9BD4-D921-A4BAC2AD74DD}"/>
              </a:ext>
            </a:extLst>
          </p:cNvPr>
          <p:cNvSpPr/>
          <p:nvPr/>
        </p:nvSpPr>
        <p:spPr>
          <a:xfrm>
            <a:off x="7857699" y="34612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E1D4514A-B93F-9E55-FB58-5344B4B4F535}"/>
              </a:ext>
            </a:extLst>
          </p:cNvPr>
          <p:cNvSpPr/>
          <p:nvPr/>
        </p:nvSpPr>
        <p:spPr>
          <a:xfrm>
            <a:off x="8010099" y="3613672"/>
            <a:ext cx="161925" cy="13334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50A9201C-304C-AA9B-5FF8-B4EDAE70997C}"/>
              </a:ext>
            </a:extLst>
          </p:cNvPr>
          <p:cNvSpPr/>
          <p:nvPr/>
        </p:nvSpPr>
        <p:spPr>
          <a:xfrm>
            <a:off x="8162499" y="37660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B77DB6BD-0780-2ACE-7E87-600CBB6CB980}"/>
              </a:ext>
            </a:extLst>
          </p:cNvPr>
          <p:cNvSpPr/>
          <p:nvPr/>
        </p:nvSpPr>
        <p:spPr>
          <a:xfrm>
            <a:off x="8314899" y="39184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045B9856-C32F-B21D-ECAD-1897F652D540}"/>
              </a:ext>
            </a:extLst>
          </p:cNvPr>
          <p:cNvSpPr/>
          <p:nvPr/>
        </p:nvSpPr>
        <p:spPr>
          <a:xfrm>
            <a:off x="8467299" y="40708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F04148F8-9EBE-A5B0-BA5D-5A1E93FFA79A}"/>
              </a:ext>
            </a:extLst>
          </p:cNvPr>
          <p:cNvSpPr/>
          <p:nvPr/>
        </p:nvSpPr>
        <p:spPr>
          <a:xfrm>
            <a:off x="8619699" y="42232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63728526-EC7D-BE9C-4413-3B6FB36D01E2}"/>
              </a:ext>
            </a:extLst>
          </p:cNvPr>
          <p:cNvSpPr/>
          <p:nvPr/>
        </p:nvSpPr>
        <p:spPr>
          <a:xfrm>
            <a:off x="8772099" y="43756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5ECF8F5B-799B-F662-C245-BB9FD3AB416A}"/>
              </a:ext>
            </a:extLst>
          </p:cNvPr>
          <p:cNvSpPr/>
          <p:nvPr/>
        </p:nvSpPr>
        <p:spPr>
          <a:xfrm>
            <a:off x="8924499" y="45280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5B9C9828-F311-C57E-14F8-0C07561ABE6F}"/>
              </a:ext>
            </a:extLst>
          </p:cNvPr>
          <p:cNvSpPr/>
          <p:nvPr/>
        </p:nvSpPr>
        <p:spPr>
          <a:xfrm>
            <a:off x="9076899" y="46804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012AB771-AD78-5318-BC0E-4F834D8DB866}"/>
              </a:ext>
            </a:extLst>
          </p:cNvPr>
          <p:cNvSpPr/>
          <p:nvPr/>
        </p:nvSpPr>
        <p:spPr>
          <a:xfrm>
            <a:off x="9229299" y="48328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69249C8E-06FB-357D-1AC0-22E35D4039F9}"/>
              </a:ext>
            </a:extLst>
          </p:cNvPr>
          <p:cNvSpPr/>
          <p:nvPr/>
        </p:nvSpPr>
        <p:spPr>
          <a:xfrm>
            <a:off x="9381699" y="49852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D46BB8D2-22D3-EA89-42C1-50341A0C2334}"/>
              </a:ext>
            </a:extLst>
          </p:cNvPr>
          <p:cNvSpPr/>
          <p:nvPr/>
        </p:nvSpPr>
        <p:spPr>
          <a:xfrm>
            <a:off x="9534099" y="51376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DAC12DAD-55D5-2697-87E7-49FA5B68CE4A}"/>
              </a:ext>
            </a:extLst>
          </p:cNvPr>
          <p:cNvSpPr/>
          <p:nvPr/>
        </p:nvSpPr>
        <p:spPr>
          <a:xfrm>
            <a:off x="9686499" y="52900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6A77B218-0387-BB33-87CA-D9A8A9D5DEB6}"/>
              </a:ext>
            </a:extLst>
          </p:cNvPr>
          <p:cNvSpPr/>
          <p:nvPr/>
        </p:nvSpPr>
        <p:spPr>
          <a:xfrm>
            <a:off x="9838899" y="54424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C6AF557F-F463-6D09-6370-B1F79D74DDF6}"/>
              </a:ext>
            </a:extLst>
          </p:cNvPr>
          <p:cNvSpPr/>
          <p:nvPr/>
        </p:nvSpPr>
        <p:spPr>
          <a:xfrm>
            <a:off x="9991299" y="5594872"/>
            <a:ext cx="161925" cy="1333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F434A988-BDAC-8A68-E394-D61D5E1D2B53}"/>
              </a:ext>
            </a:extLst>
          </p:cNvPr>
          <p:cNvSpPr txBox="1"/>
          <p:nvPr/>
        </p:nvSpPr>
        <p:spPr>
          <a:xfrm>
            <a:off x="5257800" y="2095500"/>
            <a:ext cx="1589666" cy="646331"/>
          </a:xfrm>
          <a:prstGeom prst="rect">
            <a:avLst/>
          </a:prstGeom>
          <a:noFill/>
        </p:spPr>
        <p:txBody>
          <a:bodyPr wrap="none" rtlCol="0">
            <a:spAutoFit/>
          </a:bodyPr>
          <a:lstStyle/>
          <a:p>
            <a:r>
              <a:rPr lang="en-CA" dirty="0"/>
              <a:t>More Costly</a:t>
            </a:r>
            <a:br>
              <a:rPr lang="en-CA" dirty="0"/>
            </a:br>
            <a:r>
              <a:rPr lang="en-CA" dirty="0"/>
              <a:t>Less Effective</a:t>
            </a:r>
          </a:p>
        </p:txBody>
      </p:sp>
      <p:sp>
        <p:nvSpPr>
          <p:cNvPr id="8" name="TextBox 7">
            <a:extLst>
              <a:ext uri="{FF2B5EF4-FFF2-40B4-BE49-F238E27FC236}">
                <a16:creationId xmlns:a16="http://schemas.microsoft.com/office/drawing/2014/main" id="{7AA13C6C-57C8-0DEF-F60F-0B13125AF38A}"/>
              </a:ext>
            </a:extLst>
          </p:cNvPr>
          <p:cNvSpPr txBox="1"/>
          <p:nvPr/>
        </p:nvSpPr>
        <p:spPr>
          <a:xfrm>
            <a:off x="9948578" y="4837777"/>
            <a:ext cx="1682192" cy="646331"/>
          </a:xfrm>
          <a:prstGeom prst="rect">
            <a:avLst/>
          </a:prstGeom>
          <a:noFill/>
        </p:spPr>
        <p:txBody>
          <a:bodyPr wrap="none" rtlCol="0">
            <a:spAutoFit/>
          </a:bodyPr>
          <a:lstStyle/>
          <a:p>
            <a:r>
              <a:rPr lang="en-CA" dirty="0"/>
              <a:t>Less Costly,</a:t>
            </a:r>
            <a:br>
              <a:rPr lang="en-CA" dirty="0"/>
            </a:br>
            <a:r>
              <a:rPr lang="en-CA" dirty="0"/>
              <a:t>More Effective</a:t>
            </a:r>
          </a:p>
        </p:txBody>
      </p:sp>
    </p:spTree>
    <p:extLst>
      <p:ext uri="{BB962C8B-B14F-4D97-AF65-F5344CB8AC3E}">
        <p14:creationId xmlns:p14="http://schemas.microsoft.com/office/powerpoint/2010/main" val="3143098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3AB9-9FB9-8445-5223-913CE966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E227F-65E0-AEF5-62B6-8DD56D0F146F}"/>
              </a:ext>
            </a:extLst>
          </p:cNvPr>
          <p:cNvSpPr>
            <a:spLocks noGrp="1"/>
          </p:cNvSpPr>
          <p:nvPr>
            <p:ph type="title"/>
          </p:nvPr>
        </p:nvSpPr>
        <p:spPr>
          <a:xfrm>
            <a:off x="482600" y="597408"/>
            <a:ext cx="10634472" cy="1117092"/>
          </a:xfrm>
        </p:spPr>
        <p:txBody>
          <a:bodyPr/>
          <a:lstStyle/>
          <a:p>
            <a:r>
              <a:rPr lang="en-CA" sz="4800" dirty="0"/>
              <a:t>The Solution: Net Health Benefits and Net Monetary Benefits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9EAC9-DEEC-065B-393F-46D8889C9554}"/>
                  </a:ext>
                </a:extLst>
              </p:cNvPr>
              <p:cNvSpPr>
                <a:spLocks noGrp="1"/>
              </p:cNvSpPr>
              <p:nvPr>
                <p:ph idx="1"/>
              </p:nvPr>
            </p:nvSpPr>
            <p:spPr>
              <a:xfrm>
                <a:off x="482600" y="1943100"/>
                <a:ext cx="10506991" cy="4057650"/>
              </a:xfrm>
            </p:spPr>
            <p:txBody>
              <a:bodyPr>
                <a:normAutofit lnSpcReduction="10000"/>
              </a:bodyPr>
              <a:lstStyle/>
              <a:p>
                <a:pPr marL="342900" indent="-342900">
                  <a:buFont typeface="Wingdings" panose="05000000000000000000" pitchFamily="2" charset="2"/>
                  <a:buChar char="§"/>
                </a:pPr>
                <a:r>
                  <a:rPr lang="en-CA" dirty="0"/>
                  <a:t>The most feasible solution is to convert  ICERs into </a:t>
                </a:r>
                <a:r>
                  <a:rPr lang="en-CA" b="1" dirty="0"/>
                  <a:t>NET Monetary Benefits </a:t>
                </a:r>
                <a:r>
                  <a:rPr lang="en-CA" dirty="0"/>
                  <a:t>or </a:t>
                </a:r>
                <a:r>
                  <a:rPr lang="en-CA" b="1" dirty="0"/>
                  <a:t>Net Health Benefits Equations</a:t>
                </a:r>
                <a:r>
                  <a:rPr lang="en-CA" dirty="0"/>
                  <a:t>.</a:t>
                </a:r>
                <a:br>
                  <a:rPr lang="en-CA" dirty="0"/>
                </a:br>
                <a14:m>
                  <m:oMath xmlns:m="http://schemas.openxmlformats.org/officeDocument/2006/math">
                    <m:r>
                      <a:rPr lang="en-CA" b="0" i="1" smtClean="0">
                        <a:latin typeface="Cambria Math" panose="02040503050406030204" pitchFamily="18" charset="0"/>
                      </a:rPr>
                      <m:t>𝑁𝑀𝐵</m:t>
                    </m:r>
                    <m:r>
                      <a:rPr lang="en-CA" b="0" i="1" smtClean="0">
                        <a:latin typeface="Cambria Math" panose="02040503050406030204" pitchFamily="18" charset="0"/>
                      </a:rPr>
                      <m:t>=</m:t>
                    </m:r>
                    <m:r>
                      <a:rPr lang="en-CA" b="0" i="1" smtClean="0">
                        <a:latin typeface="Cambria Math" panose="02040503050406030204" pitchFamily="18" charset="0"/>
                      </a:rPr>
                      <m:t>𝜆</m:t>
                    </m:r>
                    <m:r>
                      <m:rPr>
                        <m:sty m:val="p"/>
                      </m:rPr>
                      <a:rPr lang="en-CA" b="0" i="0" smtClean="0">
                        <a:latin typeface="Cambria Math" panose="02040503050406030204" pitchFamily="18" charset="0"/>
                      </a:rPr>
                      <m:t>Δ</m:t>
                    </m:r>
                    <m:r>
                      <a:rPr lang="en-CA" b="0" i="1" smtClean="0">
                        <a:latin typeface="Cambria Math" panose="02040503050406030204" pitchFamily="18" charset="0"/>
                      </a:rPr>
                      <m:t>𝐸</m:t>
                    </m:r>
                    <m:r>
                      <a:rPr lang="en-CA" b="0" i="1" smtClean="0">
                        <a:latin typeface="Cambria Math" panose="02040503050406030204" pitchFamily="18" charset="0"/>
                      </a:rPr>
                      <m:t>−</m:t>
                    </m:r>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a14:m>
                <a:br>
                  <a:rPr lang="en-CA" b="0" dirty="0"/>
                </a:br>
                <a14:m>
                  <m:oMath xmlns:m="http://schemas.openxmlformats.org/officeDocument/2006/math">
                    <m:r>
                      <a:rPr lang="en-CA" b="0" i="1" smtClean="0">
                        <a:latin typeface="Cambria Math" panose="02040503050406030204" pitchFamily="18" charset="0"/>
                      </a:rPr>
                      <m:t>𝑁𝐻𝐵</m:t>
                    </m:r>
                    <m:r>
                      <a:rPr lang="en-CA" b="0" i="1" smtClean="0">
                        <a:latin typeface="Cambria Math" panose="02040503050406030204" pitchFamily="18" charset="0"/>
                      </a:rPr>
                      <m:t>=</m:t>
                    </m:r>
                    <m:r>
                      <m:rPr>
                        <m:sty m:val="p"/>
                      </m:rPr>
                      <a:rPr lang="en-CA" b="0" i="0" smtClean="0">
                        <a:latin typeface="Cambria Math" panose="02040503050406030204" pitchFamily="18" charset="0"/>
                      </a:rPr>
                      <m:t>Δ</m:t>
                    </m:r>
                    <m:r>
                      <a:rPr lang="en-CA" b="0" i="1" smtClean="0">
                        <a:latin typeface="Cambria Math" panose="02040503050406030204" pitchFamily="18" charset="0"/>
                      </a:rPr>
                      <m:t>𝐸</m:t>
                    </m:r>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r>
                          <a:rPr lang="en-CA" b="0" i="1" smtClean="0">
                            <a:latin typeface="Cambria Math" panose="02040503050406030204" pitchFamily="18" charset="0"/>
                          </a:rPr>
                          <m:t>𝜆</m:t>
                        </m:r>
                      </m:den>
                    </m:f>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a14:m>
                <a:endParaRPr lang="en-CA" dirty="0"/>
              </a:p>
              <a:p>
                <a:pPr marL="342900" indent="-342900">
                  <a:buFont typeface="Wingdings" panose="05000000000000000000" pitchFamily="2" charset="2"/>
                  <a:buChar char="§"/>
                </a:pPr>
                <a:r>
                  <a:rPr lang="en-CA" dirty="0"/>
                  <a:t>This comes from simply rearranging formula for the ICER and defining </a:t>
                </a:r>
                <a14:m>
                  <m:oMath xmlns:m="http://schemas.openxmlformats.org/officeDocument/2006/math">
                    <m:r>
                      <a:rPr lang="en-CA" b="0" i="1" smtClean="0">
                        <a:latin typeface="Cambria Math" panose="02040503050406030204" pitchFamily="18" charset="0"/>
                      </a:rPr>
                      <m:t>𝜆</m:t>
                    </m:r>
                  </m:oMath>
                </a14:m>
                <a:r>
                  <a:rPr lang="en-CA" dirty="0"/>
                  <a:t> as a constant.</a:t>
                </a:r>
              </a:p>
              <a:p>
                <a:pPr marL="342900" indent="-342900">
                  <a:buFont typeface="Wingdings" panose="05000000000000000000" pitchFamily="2" charset="2"/>
                  <a:buChar char="§"/>
                </a:pPr>
                <a:r>
                  <a:rPr lang="en-CA" dirty="0"/>
                  <a:t>To build out the CEAC in this context we compute:</a:t>
                </a:r>
                <a:br>
                  <a:rPr lang="en-CA" dirty="0"/>
                </a:br>
                <a14:m>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𝜆</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0" smtClean="0">
                            <a:latin typeface="Cambria Math" panose="02040503050406030204" pitchFamily="18" charset="0"/>
                          </a:rPr>
                          <m:t># </m:t>
                        </m:r>
                        <m:r>
                          <m:rPr>
                            <m:sty m:val="p"/>
                          </m:rPr>
                          <a:rPr lang="en-CA" b="0" i="0" smtClean="0">
                            <a:latin typeface="Cambria Math" panose="02040503050406030204" pitchFamily="18" charset="0"/>
                          </a:rPr>
                          <m:t>of</m:t>
                        </m:r>
                        <m:r>
                          <a:rPr lang="en-CA" b="0" i="0" smtClean="0">
                            <a:latin typeface="Cambria Math" panose="02040503050406030204" pitchFamily="18" charset="0"/>
                          </a:rPr>
                          <m:t> </m:t>
                        </m:r>
                        <m:r>
                          <m:rPr>
                            <m:sty m:val="p"/>
                          </m:rPr>
                          <a:rPr lang="en-CA" b="0" i="0" smtClean="0">
                            <a:latin typeface="Cambria Math" panose="02040503050406030204" pitchFamily="18" charset="0"/>
                          </a:rPr>
                          <m:t>simulations</m:t>
                        </m:r>
                        <m:r>
                          <a:rPr lang="en-CA" b="0" i="0" smtClean="0">
                            <a:latin typeface="Cambria Math" panose="02040503050406030204" pitchFamily="18" charset="0"/>
                          </a:rPr>
                          <m:t> </m:t>
                        </m:r>
                        <m:r>
                          <m:rPr>
                            <m:sty m:val="p"/>
                          </m:rPr>
                          <a:rPr lang="en-CA" b="0" i="0" smtClean="0">
                            <a:latin typeface="Cambria Math" panose="02040503050406030204" pitchFamily="18" charset="0"/>
                          </a:rPr>
                          <m:t>with</m:t>
                        </m:r>
                        <m:r>
                          <a:rPr lang="en-CA" b="0" i="0" smtClean="0">
                            <a:latin typeface="Cambria Math" panose="02040503050406030204" pitchFamily="18" charset="0"/>
                          </a:rPr>
                          <m:t> </m:t>
                        </m:r>
                        <m:r>
                          <m:rPr>
                            <m:sty m:val="p"/>
                          </m:rPr>
                          <a:rPr lang="en-CA" b="0" i="0" smtClean="0">
                            <a:latin typeface="Cambria Math" panose="02040503050406030204" pitchFamily="18" charset="0"/>
                          </a:rPr>
                          <m:t>positive</m:t>
                        </m:r>
                        <m:r>
                          <a:rPr lang="en-CA" b="0" i="0" smtClean="0">
                            <a:latin typeface="Cambria Math" panose="02040503050406030204" pitchFamily="18" charset="0"/>
                          </a:rPr>
                          <m:t> </m:t>
                        </m:r>
                        <m:r>
                          <m:rPr>
                            <m:sty m:val="p"/>
                          </m:rPr>
                          <a:rPr lang="en-CA" b="0" i="0" smtClean="0">
                            <a:latin typeface="Cambria Math" panose="02040503050406030204" pitchFamily="18" charset="0"/>
                          </a:rPr>
                          <m:t>NMB</m:t>
                        </m:r>
                        <m:r>
                          <a:rPr lang="en-CA" b="0" i="0" smtClean="0">
                            <a:latin typeface="Cambria Math" panose="02040503050406030204" pitchFamily="18" charset="0"/>
                          </a:rPr>
                          <m:t> </m:t>
                        </m:r>
                        <m:r>
                          <m:rPr>
                            <m:sty m:val="p"/>
                          </m:rPr>
                          <a:rPr lang="en-CA" b="0" i="0" smtClean="0">
                            <a:latin typeface="Cambria Math" panose="02040503050406030204" pitchFamily="18" charset="0"/>
                          </a:rPr>
                          <m:t>or</m:t>
                        </m:r>
                        <m:r>
                          <a:rPr lang="en-CA" b="0" i="0" smtClean="0">
                            <a:latin typeface="Cambria Math" panose="02040503050406030204" pitchFamily="18" charset="0"/>
                          </a:rPr>
                          <m:t> </m:t>
                        </m:r>
                        <m:r>
                          <m:rPr>
                            <m:sty m:val="p"/>
                          </m:rPr>
                          <a:rPr lang="en-CA" b="0" i="0" smtClean="0">
                            <a:latin typeface="Cambria Math" panose="02040503050406030204" pitchFamily="18" charset="0"/>
                          </a:rPr>
                          <m:t>NHB</m:t>
                        </m:r>
                        <m:r>
                          <a:rPr lang="en-CA" b="0" i="0" smtClean="0">
                            <a:latin typeface="Cambria Math" panose="02040503050406030204" pitchFamily="18" charset="0"/>
                          </a:rPr>
                          <m:t> </m:t>
                        </m:r>
                        <m:r>
                          <m:rPr>
                            <m:sty m:val="p"/>
                          </m:rPr>
                          <a:rPr lang="en-CA" b="0" i="0" smtClean="0">
                            <a:latin typeface="Cambria Math" panose="02040503050406030204" pitchFamily="18" charset="0"/>
                          </a:rPr>
                          <m:t>at</m:t>
                        </m:r>
                        <m:r>
                          <a:rPr lang="en-CA" b="0" i="0" smtClean="0">
                            <a:latin typeface="Cambria Math" panose="02040503050406030204" pitchFamily="18" charset="0"/>
                          </a:rPr>
                          <m:t> </m:t>
                        </m:r>
                        <m:r>
                          <m:rPr>
                            <m:sty m:val="p"/>
                          </m:rPr>
                          <a:rPr lang="en-CA" b="0" i="0" smtClean="0">
                            <a:latin typeface="Cambria Math" panose="02040503050406030204" pitchFamily="18" charset="0"/>
                          </a:rPr>
                          <m:t>threshold</m:t>
                        </m:r>
                        <m:r>
                          <a:rPr lang="en-CA" b="0" i="0" smtClean="0">
                            <a:latin typeface="Cambria Math" panose="02040503050406030204" pitchFamily="18" charset="0"/>
                          </a:rPr>
                          <m:t> </m:t>
                        </m:r>
                        <m:r>
                          <m:rPr>
                            <m:sty m:val="p"/>
                          </m:rPr>
                          <a:rPr lang="en-CA" b="0" i="0" smtClean="0">
                            <a:latin typeface="Cambria Math" panose="02040503050406030204" pitchFamily="18" charset="0"/>
                          </a:rPr>
                          <m:t>value</m:t>
                        </m:r>
                        <m:r>
                          <a:rPr lang="en-CA" b="0" i="0" smtClean="0">
                            <a:latin typeface="Cambria Math" panose="02040503050406030204" pitchFamily="18" charset="0"/>
                          </a:rPr>
                          <m:t> </m:t>
                        </m:r>
                        <m:r>
                          <m:rPr>
                            <m:sty m:val="p"/>
                          </m:rPr>
                          <a:rPr lang="en-CA" b="0" i="0" smtClean="0">
                            <a:latin typeface="Cambria Math" panose="02040503050406030204" pitchFamily="18" charset="0"/>
                          </a:rPr>
                          <m:t>λ</m:t>
                        </m:r>
                      </m:num>
                      <m:den>
                        <m:r>
                          <m:rPr>
                            <m:sty m:val="p"/>
                          </m:rPr>
                          <a:rPr lang="en-CA" b="0" i="0" smtClean="0">
                            <a:latin typeface="Cambria Math" panose="02040503050406030204" pitchFamily="18" charset="0"/>
                          </a:rPr>
                          <m:t>Total</m:t>
                        </m:r>
                        <m:r>
                          <a:rPr lang="en-CA" b="0" i="0" smtClean="0">
                            <a:latin typeface="Cambria Math" panose="02040503050406030204" pitchFamily="18" charset="0"/>
                          </a:rPr>
                          <m:t> </m:t>
                        </m:r>
                        <m:r>
                          <m:rPr>
                            <m:sty m:val="p"/>
                          </m:rPr>
                          <a:rPr lang="en-CA" b="0" i="0" smtClean="0">
                            <a:latin typeface="Cambria Math" panose="02040503050406030204" pitchFamily="18" charset="0"/>
                          </a:rPr>
                          <m:t>number</m:t>
                        </m:r>
                        <m:r>
                          <a:rPr lang="en-CA" b="0" i="0" smtClean="0">
                            <a:latin typeface="Cambria Math" panose="02040503050406030204" pitchFamily="18" charset="0"/>
                          </a:rPr>
                          <m:t> </m:t>
                        </m:r>
                        <m:r>
                          <m:rPr>
                            <m:sty m:val="p"/>
                          </m:rPr>
                          <a:rPr lang="en-CA" b="0" i="0" smtClean="0">
                            <a:latin typeface="Cambria Math" panose="02040503050406030204" pitchFamily="18" charset="0"/>
                          </a:rPr>
                          <m:t>of</m:t>
                        </m:r>
                        <m:r>
                          <a:rPr lang="en-CA" b="0" i="0" smtClean="0">
                            <a:latin typeface="Cambria Math" panose="02040503050406030204" pitchFamily="18" charset="0"/>
                          </a:rPr>
                          <m:t> </m:t>
                        </m:r>
                        <m:r>
                          <m:rPr>
                            <m:sty m:val="p"/>
                          </m:rPr>
                          <a:rPr lang="en-CA" b="0" i="0" smtClean="0">
                            <a:latin typeface="Cambria Math" panose="02040503050406030204" pitchFamily="18" charset="0"/>
                          </a:rPr>
                          <m:t>simulations</m:t>
                        </m:r>
                      </m:den>
                    </m:f>
                  </m:oMath>
                </a14:m>
                <a:endParaRPr lang="en-CA" dirty="0"/>
              </a:p>
              <a:p>
                <a:pPr marL="342900" indent="-342900">
                  <a:buFont typeface="Wingdings" panose="05000000000000000000" pitchFamily="2" charset="2"/>
                  <a:buChar char="§"/>
                </a:pPr>
                <a:r>
                  <a:rPr lang="en-CA" dirty="0"/>
                  <a:t>In practice this is how the CEAC is computed.</a:t>
                </a:r>
              </a:p>
            </p:txBody>
          </p:sp>
        </mc:Choice>
        <mc:Fallback xmlns="">
          <p:sp>
            <p:nvSpPr>
              <p:cNvPr id="3" name="Content Placeholder 2">
                <a:extLst>
                  <a:ext uri="{FF2B5EF4-FFF2-40B4-BE49-F238E27FC236}">
                    <a16:creationId xmlns:a16="http://schemas.microsoft.com/office/drawing/2014/main" id="{9129EAC9-DEEC-065B-393F-46D8889C9554}"/>
                  </a:ext>
                </a:extLst>
              </p:cNvPr>
              <p:cNvSpPr>
                <a:spLocks noGrp="1" noRot="1" noChangeAspect="1" noMove="1" noResize="1" noEditPoints="1" noAdjustHandles="1" noChangeArrowheads="1" noChangeShapeType="1" noTextEdit="1"/>
              </p:cNvSpPr>
              <p:nvPr>
                <p:ph idx="1"/>
              </p:nvPr>
            </p:nvSpPr>
            <p:spPr>
              <a:xfrm>
                <a:off x="482600" y="1943100"/>
                <a:ext cx="10506991" cy="4057650"/>
              </a:xfrm>
              <a:blipFill>
                <a:blip r:embed="rId2"/>
                <a:stretch>
                  <a:fillRect l="-754" t="-2105" r="-580" b="-2556"/>
                </a:stretch>
              </a:blipFill>
            </p:spPr>
            <p:txBody>
              <a:bodyPr/>
              <a:lstStyle/>
              <a:p>
                <a:r>
                  <a:rPr lang="en-CA">
                    <a:noFill/>
                  </a:rPr>
                  <a:t> </a:t>
                </a:r>
              </a:p>
            </p:txBody>
          </p:sp>
        </mc:Fallback>
      </mc:AlternateContent>
    </p:spTree>
    <p:extLst>
      <p:ext uri="{BB962C8B-B14F-4D97-AF65-F5344CB8AC3E}">
        <p14:creationId xmlns:p14="http://schemas.microsoft.com/office/powerpoint/2010/main" val="2780586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2B3AF-60A1-F89D-48CE-BF7EAFA17AB8}"/>
              </a:ext>
            </a:extLst>
          </p:cNvPr>
          <p:cNvSpPr>
            <a:spLocks noGrp="1"/>
          </p:cNvSpPr>
          <p:nvPr>
            <p:ph type="title"/>
          </p:nvPr>
        </p:nvSpPr>
        <p:spPr/>
        <p:txBody>
          <a:bodyPr/>
          <a:lstStyle/>
          <a:p>
            <a:r>
              <a:rPr lang="en-CA" dirty="0"/>
              <a:t>Sketching the CEAC by hand</a:t>
            </a:r>
          </a:p>
        </p:txBody>
      </p:sp>
      <p:sp>
        <p:nvSpPr>
          <p:cNvPr id="3" name="Text Placeholder 2">
            <a:extLst>
              <a:ext uri="{FF2B5EF4-FFF2-40B4-BE49-F238E27FC236}">
                <a16:creationId xmlns:a16="http://schemas.microsoft.com/office/drawing/2014/main" id="{2E9675F0-4489-7893-5263-0DFA11C91531}"/>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1999447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E0BB-C2F9-DF44-C56A-325C684D7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1153C-EF65-0CB3-B53B-D0ACD7FCB450}"/>
              </a:ext>
            </a:extLst>
          </p:cNvPr>
          <p:cNvSpPr>
            <a:spLocks noGrp="1"/>
          </p:cNvSpPr>
          <p:nvPr>
            <p:ph type="title"/>
          </p:nvPr>
        </p:nvSpPr>
        <p:spPr>
          <a:xfrm>
            <a:off x="482600" y="597408"/>
            <a:ext cx="10634472" cy="1117092"/>
          </a:xfrm>
        </p:spPr>
        <p:txBody>
          <a:bodyPr/>
          <a:lstStyle/>
          <a:p>
            <a:r>
              <a:rPr lang="en-CA" sz="4800" dirty="0"/>
              <a:t>Sketching the CEAC by hand.</a:t>
            </a:r>
          </a:p>
        </p:txBody>
      </p:sp>
      <p:sp>
        <p:nvSpPr>
          <p:cNvPr id="3" name="Content Placeholder 2">
            <a:extLst>
              <a:ext uri="{FF2B5EF4-FFF2-40B4-BE49-F238E27FC236}">
                <a16:creationId xmlns:a16="http://schemas.microsoft.com/office/drawing/2014/main" id="{F117D3C9-E14C-1D7A-39D8-4460D86A309B}"/>
              </a:ext>
            </a:extLst>
          </p:cNvPr>
          <p:cNvSpPr>
            <a:spLocks noGrp="1"/>
          </p:cNvSpPr>
          <p:nvPr>
            <p:ph idx="1"/>
          </p:nvPr>
        </p:nvSpPr>
        <p:spPr>
          <a:xfrm>
            <a:off x="482601" y="1723324"/>
            <a:ext cx="10566400" cy="676085"/>
          </a:xfrm>
        </p:spPr>
        <p:txBody>
          <a:bodyPr>
            <a:normAutofit fontScale="92500" lnSpcReduction="20000"/>
          </a:bodyPr>
          <a:lstStyle/>
          <a:p>
            <a:pPr marL="342900" indent="-342900">
              <a:buFont typeface="Wingdings" panose="05000000000000000000" pitchFamily="2" charset="2"/>
              <a:buChar char="§"/>
            </a:pPr>
            <a:r>
              <a:rPr lang="en-CA" dirty="0"/>
              <a:t>Consider the following CE plane with 100 simulated ICERS. Sketch the cost effectiveness acceptability curve</a:t>
            </a:r>
          </a:p>
        </p:txBody>
      </p:sp>
      <p:cxnSp>
        <p:nvCxnSpPr>
          <p:cNvPr id="4" name="Straight Connector 3">
            <a:extLst>
              <a:ext uri="{FF2B5EF4-FFF2-40B4-BE49-F238E27FC236}">
                <a16:creationId xmlns:a16="http://schemas.microsoft.com/office/drawing/2014/main" id="{4E573DE4-5234-4DDC-E749-01C259FB2BCE}"/>
              </a:ext>
            </a:extLst>
          </p:cNvPr>
          <p:cNvCxnSpPr>
            <a:cxnSpLocks/>
          </p:cNvCxnSpPr>
          <p:nvPr/>
        </p:nvCxnSpPr>
        <p:spPr>
          <a:xfrm>
            <a:off x="2471593" y="2883407"/>
            <a:ext cx="0" cy="23839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330ED87-A3AD-7BDA-5339-17A39DA8CF35}"/>
              </a:ext>
            </a:extLst>
          </p:cNvPr>
          <p:cNvCxnSpPr>
            <a:cxnSpLocks/>
          </p:cNvCxnSpPr>
          <p:nvPr/>
        </p:nvCxnSpPr>
        <p:spPr>
          <a:xfrm flipH="1">
            <a:off x="1238250" y="3974593"/>
            <a:ext cx="26479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B0DCED3-2A97-B7D5-AEEA-1CCAD775B1D2}"/>
                  </a:ext>
                </a:extLst>
              </p:cNvPr>
              <p:cNvSpPr txBox="1"/>
              <p:nvPr/>
            </p:nvSpPr>
            <p:spPr>
              <a:xfrm>
                <a:off x="1946577" y="2530032"/>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2B0DCED3-2A97-B7D5-AEEA-1CCAD775B1D2}"/>
                  </a:ext>
                </a:extLst>
              </p:cNvPr>
              <p:cNvSpPr txBox="1">
                <a:spLocks noRot="1" noChangeAspect="1" noMove="1" noResize="1" noEditPoints="1" noAdjustHandles="1" noChangeArrowheads="1" noChangeShapeType="1" noTextEdit="1"/>
              </p:cNvSpPr>
              <p:nvPr/>
            </p:nvSpPr>
            <p:spPr>
              <a:xfrm>
                <a:off x="1946577" y="2530032"/>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7806EF-602C-F871-3259-D5F9FA67DC67}"/>
                  </a:ext>
                </a:extLst>
              </p:cNvPr>
              <p:cNvSpPr txBox="1"/>
              <p:nvPr/>
            </p:nvSpPr>
            <p:spPr>
              <a:xfrm>
                <a:off x="3971499" y="3789927"/>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7" name="TextBox 6">
                <a:extLst>
                  <a:ext uri="{FF2B5EF4-FFF2-40B4-BE49-F238E27FC236}">
                    <a16:creationId xmlns:a16="http://schemas.microsoft.com/office/drawing/2014/main" id="{BD7806EF-602C-F871-3259-D5F9FA67DC67}"/>
                  </a:ext>
                </a:extLst>
              </p:cNvPr>
              <p:cNvSpPr txBox="1">
                <a:spLocks noRot="1" noChangeAspect="1" noMove="1" noResize="1" noEditPoints="1" noAdjustHandles="1" noChangeArrowheads="1" noChangeShapeType="1" noTextEdit="1"/>
              </p:cNvSpPr>
              <p:nvPr/>
            </p:nvSpPr>
            <p:spPr>
              <a:xfrm>
                <a:off x="3971499" y="3789927"/>
                <a:ext cx="530338" cy="369332"/>
              </a:xfrm>
              <a:prstGeom prst="rect">
                <a:avLst/>
              </a:prstGeom>
              <a:blipFill>
                <a:blip r:embed="rId3"/>
                <a:stretch>
                  <a:fillRect/>
                </a:stretch>
              </a:blipFill>
            </p:spPr>
            <p:txBody>
              <a:bodyPr/>
              <a:lstStyle/>
              <a:p>
                <a:r>
                  <a:rPr lang="en-CA">
                    <a:noFill/>
                  </a:rPr>
                  <a:t> </a:t>
                </a:r>
              </a:p>
            </p:txBody>
          </p:sp>
        </mc:Fallback>
      </mc:AlternateContent>
      <p:sp>
        <p:nvSpPr>
          <p:cNvPr id="13" name="Oval 12">
            <a:extLst>
              <a:ext uri="{FF2B5EF4-FFF2-40B4-BE49-F238E27FC236}">
                <a16:creationId xmlns:a16="http://schemas.microsoft.com/office/drawing/2014/main" id="{E9BB1AF7-88D6-5659-EF06-F83327320686}"/>
              </a:ext>
            </a:extLst>
          </p:cNvPr>
          <p:cNvSpPr/>
          <p:nvPr/>
        </p:nvSpPr>
        <p:spPr>
          <a:xfrm>
            <a:off x="2647950" y="2883407"/>
            <a:ext cx="1123942" cy="974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N=50</a:t>
            </a:r>
          </a:p>
        </p:txBody>
      </p:sp>
      <p:sp>
        <p:nvSpPr>
          <p:cNvPr id="14" name="Oval 13">
            <a:extLst>
              <a:ext uri="{FF2B5EF4-FFF2-40B4-BE49-F238E27FC236}">
                <a16:creationId xmlns:a16="http://schemas.microsoft.com/office/drawing/2014/main" id="{75B86C29-91FA-1245-2786-245700AB1266}"/>
              </a:ext>
            </a:extLst>
          </p:cNvPr>
          <p:cNvSpPr/>
          <p:nvPr/>
        </p:nvSpPr>
        <p:spPr>
          <a:xfrm>
            <a:off x="2659575" y="4139370"/>
            <a:ext cx="1123942" cy="974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5" name="Oval 14">
            <a:extLst>
              <a:ext uri="{FF2B5EF4-FFF2-40B4-BE49-F238E27FC236}">
                <a16:creationId xmlns:a16="http://schemas.microsoft.com/office/drawing/2014/main" id="{5CE49514-A57C-D581-DD00-E123486ED8BE}"/>
              </a:ext>
            </a:extLst>
          </p:cNvPr>
          <p:cNvSpPr/>
          <p:nvPr/>
        </p:nvSpPr>
        <p:spPr>
          <a:xfrm>
            <a:off x="1085143" y="4159259"/>
            <a:ext cx="1123942" cy="974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N=30</a:t>
            </a:r>
          </a:p>
        </p:txBody>
      </p:sp>
      <p:sp>
        <p:nvSpPr>
          <p:cNvPr id="16" name="Oval 15">
            <a:extLst>
              <a:ext uri="{FF2B5EF4-FFF2-40B4-BE49-F238E27FC236}">
                <a16:creationId xmlns:a16="http://schemas.microsoft.com/office/drawing/2014/main" id="{E512BECA-86A0-79BC-782A-BC399458458F}"/>
              </a:ext>
            </a:extLst>
          </p:cNvPr>
          <p:cNvSpPr/>
          <p:nvPr/>
        </p:nvSpPr>
        <p:spPr>
          <a:xfrm>
            <a:off x="1056987" y="2871480"/>
            <a:ext cx="1123942" cy="974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7" name="Rectangle 16">
            <a:extLst>
              <a:ext uri="{FF2B5EF4-FFF2-40B4-BE49-F238E27FC236}">
                <a16:creationId xmlns:a16="http://schemas.microsoft.com/office/drawing/2014/main" id="{99161D9D-F412-D04C-E35C-3F658E9CADFA}"/>
              </a:ext>
            </a:extLst>
          </p:cNvPr>
          <p:cNvSpPr/>
          <p:nvPr/>
        </p:nvSpPr>
        <p:spPr>
          <a:xfrm>
            <a:off x="6221243" y="2638558"/>
            <a:ext cx="3809999" cy="267207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CEE4D92B-5A68-FEB4-364E-82F85EE18EF1}"/>
              </a:ext>
            </a:extLst>
          </p:cNvPr>
          <p:cNvSpPr/>
          <p:nvPr/>
        </p:nvSpPr>
        <p:spPr>
          <a:xfrm>
            <a:off x="6096000" y="25300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41BB8C64-0DA7-6DCA-FD1D-D68E89EE7E36}"/>
              </a:ext>
            </a:extLst>
          </p:cNvPr>
          <p:cNvSpPr/>
          <p:nvPr/>
        </p:nvSpPr>
        <p:spPr>
          <a:xfrm>
            <a:off x="9820275" y="2682431"/>
            <a:ext cx="336210" cy="28515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742E1500-A647-1CC9-46D5-69EAF285A3C0}"/>
              </a:ext>
            </a:extLst>
          </p:cNvPr>
          <p:cNvSpPr/>
          <p:nvPr/>
        </p:nvSpPr>
        <p:spPr>
          <a:xfrm>
            <a:off x="6248400" y="26824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32DA891-8AD0-8A78-9EDF-084C916DCA2F}"/>
                  </a:ext>
                </a:extLst>
              </p:cNvPr>
              <p:cNvSpPr txBox="1"/>
              <p:nvPr/>
            </p:nvSpPr>
            <p:spPr>
              <a:xfrm>
                <a:off x="5100137" y="2919973"/>
                <a:ext cx="1148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m:oMathPara>
                </a14:m>
                <a:endParaRPr lang="en-CA" dirty="0"/>
              </a:p>
            </p:txBody>
          </p:sp>
        </mc:Choice>
        <mc:Fallback xmlns="">
          <p:sp>
            <p:nvSpPr>
              <p:cNvPr id="21" name="TextBox 20">
                <a:extLst>
                  <a:ext uri="{FF2B5EF4-FFF2-40B4-BE49-F238E27FC236}">
                    <a16:creationId xmlns:a16="http://schemas.microsoft.com/office/drawing/2014/main" id="{132DA891-8AD0-8A78-9EDF-084C916DCA2F}"/>
                  </a:ext>
                </a:extLst>
              </p:cNvPr>
              <p:cNvSpPr txBox="1">
                <a:spLocks noRot="1" noChangeAspect="1" noMove="1" noResize="1" noEditPoints="1" noAdjustHandles="1" noChangeArrowheads="1" noChangeShapeType="1" noTextEdit="1"/>
              </p:cNvSpPr>
              <p:nvPr/>
            </p:nvSpPr>
            <p:spPr>
              <a:xfrm>
                <a:off x="5100137" y="2919973"/>
                <a:ext cx="1148263" cy="369332"/>
              </a:xfrm>
              <a:prstGeom prst="rect">
                <a:avLst/>
              </a:prstGeom>
              <a:blipFill>
                <a:blip r:embed="rId4"/>
                <a:stretch>
                  <a:fillRect b="-1475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7560D4B-4332-85AB-ED15-E1B853A6DC4A}"/>
                  </a:ext>
                </a:extLst>
              </p:cNvPr>
              <p:cNvSpPr txBox="1"/>
              <p:nvPr/>
            </p:nvSpPr>
            <p:spPr>
              <a:xfrm>
                <a:off x="9625011" y="5317092"/>
                <a:ext cx="474617"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m:rPr>
                              <m:sty m:val="p"/>
                            </m:rPr>
                            <a:rPr lang="en-CA" b="0" i="0" smtClean="0">
                              <a:latin typeface="Cambria Math" panose="02040503050406030204" pitchFamily="18" charset="0"/>
                            </a:rPr>
                            <m:t>T</m:t>
                          </m:r>
                        </m:sup>
                      </m:sSup>
                    </m:oMath>
                  </m:oMathPara>
                </a14:m>
                <a:endParaRPr lang="en-CA" dirty="0"/>
              </a:p>
            </p:txBody>
          </p:sp>
        </mc:Choice>
        <mc:Fallback xmlns="">
          <p:sp>
            <p:nvSpPr>
              <p:cNvPr id="23" name="TextBox 22">
                <a:extLst>
                  <a:ext uri="{FF2B5EF4-FFF2-40B4-BE49-F238E27FC236}">
                    <a16:creationId xmlns:a16="http://schemas.microsoft.com/office/drawing/2014/main" id="{C7560D4B-4332-85AB-ED15-E1B853A6DC4A}"/>
                  </a:ext>
                </a:extLst>
              </p:cNvPr>
              <p:cNvSpPr txBox="1">
                <a:spLocks noRot="1" noChangeAspect="1" noMove="1" noResize="1" noEditPoints="1" noAdjustHandles="1" noChangeArrowheads="1" noChangeShapeType="1" noTextEdit="1"/>
              </p:cNvSpPr>
              <p:nvPr/>
            </p:nvSpPr>
            <p:spPr>
              <a:xfrm>
                <a:off x="9625011" y="5317092"/>
                <a:ext cx="474617" cy="374270"/>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5D51430-B219-DE98-6FAC-9F40AD3B9F95}"/>
                  </a:ext>
                </a:extLst>
              </p:cNvPr>
              <p:cNvSpPr txBox="1"/>
              <p:nvPr/>
            </p:nvSpPr>
            <p:spPr>
              <a:xfrm>
                <a:off x="5912296" y="5349358"/>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CA" dirty="0"/>
              </a:p>
            </p:txBody>
          </p:sp>
        </mc:Choice>
        <mc:Fallback xmlns="">
          <p:sp>
            <p:nvSpPr>
              <p:cNvPr id="24" name="TextBox 23">
                <a:extLst>
                  <a:ext uri="{FF2B5EF4-FFF2-40B4-BE49-F238E27FC236}">
                    <a16:creationId xmlns:a16="http://schemas.microsoft.com/office/drawing/2014/main" id="{D5D51430-B219-DE98-6FAC-9F40AD3B9F95}"/>
                  </a:ext>
                </a:extLst>
              </p:cNvPr>
              <p:cNvSpPr txBox="1">
                <a:spLocks noRot="1" noChangeAspect="1" noMove="1" noResize="1" noEditPoints="1" noAdjustHandles="1" noChangeArrowheads="1" noChangeShapeType="1" noTextEdit="1"/>
              </p:cNvSpPr>
              <p:nvPr/>
            </p:nvSpPr>
            <p:spPr>
              <a:xfrm>
                <a:off x="5912296" y="5349358"/>
                <a:ext cx="367408" cy="369332"/>
              </a:xfrm>
              <a:prstGeom prst="rect">
                <a:avLst/>
              </a:prstGeom>
              <a:blipFill>
                <a:blip r:embed="rId6"/>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053810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2FAEF-35A5-B8AC-D9DE-0576B18E8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6CF59-80BE-BAC6-8ABC-3EE93E74B2D1}"/>
              </a:ext>
            </a:extLst>
          </p:cNvPr>
          <p:cNvSpPr>
            <a:spLocks noGrp="1"/>
          </p:cNvSpPr>
          <p:nvPr>
            <p:ph type="title"/>
          </p:nvPr>
        </p:nvSpPr>
        <p:spPr>
          <a:xfrm>
            <a:off x="482600" y="597408"/>
            <a:ext cx="10634472" cy="1117092"/>
          </a:xfrm>
        </p:spPr>
        <p:txBody>
          <a:bodyPr/>
          <a:lstStyle/>
          <a:p>
            <a:r>
              <a:rPr lang="en-CA" sz="4800" dirty="0"/>
              <a:t>Sketching the CEAC by hand.</a:t>
            </a:r>
          </a:p>
        </p:txBody>
      </p:sp>
      <p:sp>
        <p:nvSpPr>
          <p:cNvPr id="3" name="Content Placeholder 2">
            <a:extLst>
              <a:ext uri="{FF2B5EF4-FFF2-40B4-BE49-F238E27FC236}">
                <a16:creationId xmlns:a16="http://schemas.microsoft.com/office/drawing/2014/main" id="{9CEA0EE4-9EF4-04BF-3302-7D3FFD5AAD08}"/>
              </a:ext>
            </a:extLst>
          </p:cNvPr>
          <p:cNvSpPr>
            <a:spLocks noGrp="1"/>
          </p:cNvSpPr>
          <p:nvPr>
            <p:ph idx="1"/>
          </p:nvPr>
        </p:nvSpPr>
        <p:spPr>
          <a:xfrm>
            <a:off x="482601" y="1723324"/>
            <a:ext cx="10566400" cy="676085"/>
          </a:xfrm>
        </p:spPr>
        <p:txBody>
          <a:bodyPr>
            <a:normAutofit fontScale="92500" lnSpcReduction="20000"/>
          </a:bodyPr>
          <a:lstStyle/>
          <a:p>
            <a:pPr marL="342900" indent="-342900">
              <a:buFont typeface="Wingdings" panose="05000000000000000000" pitchFamily="2" charset="2"/>
              <a:buChar char="§"/>
            </a:pPr>
            <a:r>
              <a:rPr lang="en-CA" dirty="0"/>
              <a:t>Consider the following CE plane with 100 simulated ICERS. Sketch the cost effectiveness acceptability curve</a:t>
            </a:r>
          </a:p>
        </p:txBody>
      </p:sp>
      <p:cxnSp>
        <p:nvCxnSpPr>
          <p:cNvPr id="4" name="Straight Connector 3">
            <a:extLst>
              <a:ext uri="{FF2B5EF4-FFF2-40B4-BE49-F238E27FC236}">
                <a16:creationId xmlns:a16="http://schemas.microsoft.com/office/drawing/2014/main" id="{CCE24849-6FFE-83D9-DCFE-5B490FBDF048}"/>
              </a:ext>
            </a:extLst>
          </p:cNvPr>
          <p:cNvCxnSpPr>
            <a:cxnSpLocks/>
          </p:cNvCxnSpPr>
          <p:nvPr/>
        </p:nvCxnSpPr>
        <p:spPr>
          <a:xfrm>
            <a:off x="2471593" y="2883407"/>
            <a:ext cx="0" cy="23839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EE936D9-19D8-D0A1-328A-82C58E032C36}"/>
              </a:ext>
            </a:extLst>
          </p:cNvPr>
          <p:cNvCxnSpPr>
            <a:cxnSpLocks/>
          </p:cNvCxnSpPr>
          <p:nvPr/>
        </p:nvCxnSpPr>
        <p:spPr>
          <a:xfrm flipH="1">
            <a:off x="1238250" y="3974593"/>
            <a:ext cx="26479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A68FAD-F8C1-7562-9BF4-42E2501AA384}"/>
                  </a:ext>
                </a:extLst>
              </p:cNvPr>
              <p:cNvSpPr txBox="1"/>
              <p:nvPr/>
            </p:nvSpPr>
            <p:spPr>
              <a:xfrm>
                <a:off x="1946577" y="2530032"/>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2AA68FAD-F8C1-7562-9BF4-42E2501AA384}"/>
                  </a:ext>
                </a:extLst>
              </p:cNvPr>
              <p:cNvSpPr txBox="1">
                <a:spLocks noRot="1" noChangeAspect="1" noMove="1" noResize="1" noEditPoints="1" noAdjustHandles="1" noChangeArrowheads="1" noChangeShapeType="1" noTextEdit="1"/>
              </p:cNvSpPr>
              <p:nvPr/>
            </p:nvSpPr>
            <p:spPr>
              <a:xfrm>
                <a:off x="1946577" y="2530032"/>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595E9E-3543-08D6-FD67-C43C6A0B95F8}"/>
                  </a:ext>
                </a:extLst>
              </p:cNvPr>
              <p:cNvSpPr txBox="1"/>
              <p:nvPr/>
            </p:nvSpPr>
            <p:spPr>
              <a:xfrm>
                <a:off x="3971499" y="3789927"/>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7" name="TextBox 6">
                <a:extLst>
                  <a:ext uri="{FF2B5EF4-FFF2-40B4-BE49-F238E27FC236}">
                    <a16:creationId xmlns:a16="http://schemas.microsoft.com/office/drawing/2014/main" id="{69595E9E-3543-08D6-FD67-C43C6A0B95F8}"/>
                  </a:ext>
                </a:extLst>
              </p:cNvPr>
              <p:cNvSpPr txBox="1">
                <a:spLocks noRot="1" noChangeAspect="1" noMove="1" noResize="1" noEditPoints="1" noAdjustHandles="1" noChangeArrowheads="1" noChangeShapeType="1" noTextEdit="1"/>
              </p:cNvSpPr>
              <p:nvPr/>
            </p:nvSpPr>
            <p:spPr>
              <a:xfrm>
                <a:off x="3971499" y="3789927"/>
                <a:ext cx="530338" cy="369332"/>
              </a:xfrm>
              <a:prstGeom prst="rect">
                <a:avLst/>
              </a:prstGeom>
              <a:blipFill>
                <a:blip r:embed="rId3"/>
                <a:stretch>
                  <a:fillRect/>
                </a:stretch>
              </a:blipFill>
            </p:spPr>
            <p:txBody>
              <a:bodyPr/>
              <a:lstStyle/>
              <a:p>
                <a:r>
                  <a:rPr lang="en-CA">
                    <a:noFill/>
                  </a:rPr>
                  <a:t> </a:t>
                </a:r>
              </a:p>
            </p:txBody>
          </p:sp>
        </mc:Fallback>
      </mc:AlternateContent>
      <p:sp>
        <p:nvSpPr>
          <p:cNvPr id="13" name="Oval 12">
            <a:extLst>
              <a:ext uri="{FF2B5EF4-FFF2-40B4-BE49-F238E27FC236}">
                <a16:creationId xmlns:a16="http://schemas.microsoft.com/office/drawing/2014/main" id="{C60687C3-7CBF-C8EC-EB28-4921E8F86F1C}"/>
              </a:ext>
            </a:extLst>
          </p:cNvPr>
          <p:cNvSpPr/>
          <p:nvPr/>
        </p:nvSpPr>
        <p:spPr>
          <a:xfrm>
            <a:off x="2647950" y="2883407"/>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N=50</a:t>
            </a:r>
          </a:p>
        </p:txBody>
      </p:sp>
      <p:sp>
        <p:nvSpPr>
          <p:cNvPr id="14" name="Oval 13">
            <a:extLst>
              <a:ext uri="{FF2B5EF4-FFF2-40B4-BE49-F238E27FC236}">
                <a16:creationId xmlns:a16="http://schemas.microsoft.com/office/drawing/2014/main" id="{72B92C9C-9D31-6FAE-6F09-29DE0A97D742}"/>
              </a:ext>
            </a:extLst>
          </p:cNvPr>
          <p:cNvSpPr/>
          <p:nvPr/>
        </p:nvSpPr>
        <p:spPr>
          <a:xfrm>
            <a:off x="2659575" y="4139370"/>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5" name="Oval 14">
            <a:extLst>
              <a:ext uri="{FF2B5EF4-FFF2-40B4-BE49-F238E27FC236}">
                <a16:creationId xmlns:a16="http://schemas.microsoft.com/office/drawing/2014/main" id="{9878C4B6-66BD-493C-FAC9-792F12616082}"/>
              </a:ext>
            </a:extLst>
          </p:cNvPr>
          <p:cNvSpPr/>
          <p:nvPr/>
        </p:nvSpPr>
        <p:spPr>
          <a:xfrm>
            <a:off x="1085143" y="4159259"/>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N=30</a:t>
            </a:r>
          </a:p>
        </p:txBody>
      </p:sp>
      <p:sp>
        <p:nvSpPr>
          <p:cNvPr id="16" name="Oval 15">
            <a:extLst>
              <a:ext uri="{FF2B5EF4-FFF2-40B4-BE49-F238E27FC236}">
                <a16:creationId xmlns:a16="http://schemas.microsoft.com/office/drawing/2014/main" id="{1503AFC1-4CB3-9A44-E5A6-7E36B528CB13}"/>
              </a:ext>
            </a:extLst>
          </p:cNvPr>
          <p:cNvSpPr/>
          <p:nvPr/>
        </p:nvSpPr>
        <p:spPr>
          <a:xfrm>
            <a:off x="1056987" y="2871480"/>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7" name="Rectangle 16">
            <a:extLst>
              <a:ext uri="{FF2B5EF4-FFF2-40B4-BE49-F238E27FC236}">
                <a16:creationId xmlns:a16="http://schemas.microsoft.com/office/drawing/2014/main" id="{D4EEBFAD-424E-4351-7027-6D38ED9190A2}"/>
              </a:ext>
            </a:extLst>
          </p:cNvPr>
          <p:cNvSpPr/>
          <p:nvPr/>
        </p:nvSpPr>
        <p:spPr>
          <a:xfrm>
            <a:off x="6221243" y="2638558"/>
            <a:ext cx="3809999" cy="267207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Rectangle 17">
            <a:extLst>
              <a:ext uri="{FF2B5EF4-FFF2-40B4-BE49-F238E27FC236}">
                <a16:creationId xmlns:a16="http://schemas.microsoft.com/office/drawing/2014/main" id="{9C263B4E-6E76-76E4-C152-DEF49ADD492A}"/>
              </a:ext>
            </a:extLst>
          </p:cNvPr>
          <p:cNvSpPr/>
          <p:nvPr/>
        </p:nvSpPr>
        <p:spPr>
          <a:xfrm>
            <a:off x="6096000" y="25300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D59B0896-4CBE-3E0E-DE13-6AE239CB9E50}"/>
              </a:ext>
            </a:extLst>
          </p:cNvPr>
          <p:cNvSpPr/>
          <p:nvPr/>
        </p:nvSpPr>
        <p:spPr>
          <a:xfrm>
            <a:off x="9820275" y="2682431"/>
            <a:ext cx="336210" cy="28515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73645066-F726-9EFE-D6C4-4D71E4678408}"/>
              </a:ext>
            </a:extLst>
          </p:cNvPr>
          <p:cNvSpPr/>
          <p:nvPr/>
        </p:nvSpPr>
        <p:spPr>
          <a:xfrm>
            <a:off x="6248400" y="26824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8DEC748-E636-926E-78E7-AD5242E6C4C8}"/>
                  </a:ext>
                </a:extLst>
              </p:cNvPr>
              <p:cNvSpPr txBox="1"/>
              <p:nvPr/>
            </p:nvSpPr>
            <p:spPr>
              <a:xfrm>
                <a:off x="5100137" y="2919973"/>
                <a:ext cx="1148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m:oMathPara>
                </a14:m>
                <a:endParaRPr lang="en-CA" dirty="0"/>
              </a:p>
            </p:txBody>
          </p:sp>
        </mc:Choice>
        <mc:Fallback xmlns="">
          <p:sp>
            <p:nvSpPr>
              <p:cNvPr id="21" name="TextBox 20">
                <a:extLst>
                  <a:ext uri="{FF2B5EF4-FFF2-40B4-BE49-F238E27FC236}">
                    <a16:creationId xmlns:a16="http://schemas.microsoft.com/office/drawing/2014/main" id="{58DEC748-E636-926E-78E7-AD5242E6C4C8}"/>
                  </a:ext>
                </a:extLst>
              </p:cNvPr>
              <p:cNvSpPr txBox="1">
                <a:spLocks noRot="1" noChangeAspect="1" noMove="1" noResize="1" noEditPoints="1" noAdjustHandles="1" noChangeArrowheads="1" noChangeShapeType="1" noTextEdit="1"/>
              </p:cNvSpPr>
              <p:nvPr/>
            </p:nvSpPr>
            <p:spPr>
              <a:xfrm>
                <a:off x="5100137" y="2919973"/>
                <a:ext cx="1148263" cy="369332"/>
              </a:xfrm>
              <a:prstGeom prst="rect">
                <a:avLst/>
              </a:prstGeom>
              <a:blipFill>
                <a:blip r:embed="rId4"/>
                <a:stretch>
                  <a:fillRect b="-1475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F9FC5EB-8100-13DD-B914-1880ED510BB9}"/>
                  </a:ext>
                </a:extLst>
              </p:cNvPr>
              <p:cNvSpPr txBox="1"/>
              <p:nvPr/>
            </p:nvSpPr>
            <p:spPr>
              <a:xfrm>
                <a:off x="9625011" y="5317092"/>
                <a:ext cx="363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𝜆</m:t>
                      </m:r>
                    </m:oMath>
                  </m:oMathPara>
                </a14:m>
                <a:endParaRPr lang="en-CA" dirty="0"/>
              </a:p>
            </p:txBody>
          </p:sp>
        </mc:Choice>
        <mc:Fallback xmlns="">
          <p:sp>
            <p:nvSpPr>
              <p:cNvPr id="23" name="TextBox 22">
                <a:extLst>
                  <a:ext uri="{FF2B5EF4-FFF2-40B4-BE49-F238E27FC236}">
                    <a16:creationId xmlns:a16="http://schemas.microsoft.com/office/drawing/2014/main" id="{FF9FC5EB-8100-13DD-B914-1880ED510BB9}"/>
                  </a:ext>
                </a:extLst>
              </p:cNvPr>
              <p:cNvSpPr txBox="1">
                <a:spLocks noRot="1" noChangeAspect="1" noMove="1" noResize="1" noEditPoints="1" noAdjustHandles="1" noChangeArrowheads="1" noChangeShapeType="1" noTextEdit="1"/>
              </p:cNvSpPr>
              <p:nvPr/>
            </p:nvSpPr>
            <p:spPr>
              <a:xfrm>
                <a:off x="9625011" y="5317092"/>
                <a:ext cx="363369"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A5A657B-8AEA-8E98-C06C-D6D5786EBD33}"/>
                  </a:ext>
                </a:extLst>
              </p:cNvPr>
              <p:cNvSpPr txBox="1"/>
              <p:nvPr/>
            </p:nvSpPr>
            <p:spPr>
              <a:xfrm>
                <a:off x="5912296" y="5349358"/>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CA" dirty="0"/>
              </a:p>
            </p:txBody>
          </p:sp>
        </mc:Choice>
        <mc:Fallback xmlns="">
          <p:sp>
            <p:nvSpPr>
              <p:cNvPr id="24" name="TextBox 23">
                <a:extLst>
                  <a:ext uri="{FF2B5EF4-FFF2-40B4-BE49-F238E27FC236}">
                    <a16:creationId xmlns:a16="http://schemas.microsoft.com/office/drawing/2014/main" id="{AA5A657B-8AEA-8E98-C06C-D6D5786EBD33}"/>
                  </a:ext>
                </a:extLst>
              </p:cNvPr>
              <p:cNvSpPr txBox="1">
                <a:spLocks noRot="1" noChangeAspect="1" noMove="1" noResize="1" noEditPoints="1" noAdjustHandles="1" noChangeArrowheads="1" noChangeShapeType="1" noTextEdit="1"/>
              </p:cNvSpPr>
              <p:nvPr/>
            </p:nvSpPr>
            <p:spPr>
              <a:xfrm>
                <a:off x="5912296" y="5349358"/>
                <a:ext cx="367408" cy="369332"/>
              </a:xfrm>
              <a:prstGeom prst="rect">
                <a:avLst/>
              </a:prstGeom>
              <a:blipFill>
                <a:blip r:embed="rId6"/>
                <a:stretch>
                  <a:fillRect/>
                </a:stretch>
              </a:blipFill>
            </p:spPr>
            <p:txBody>
              <a:bodyPr/>
              <a:lstStyle/>
              <a:p>
                <a:r>
                  <a:rPr lang="en-CA">
                    <a:noFill/>
                  </a:rPr>
                  <a:t> </a:t>
                </a:r>
              </a:p>
            </p:txBody>
          </p:sp>
        </mc:Fallback>
      </mc:AlternateContent>
      <p:sp>
        <p:nvSpPr>
          <p:cNvPr id="8" name="Oval 7">
            <a:extLst>
              <a:ext uri="{FF2B5EF4-FFF2-40B4-BE49-F238E27FC236}">
                <a16:creationId xmlns:a16="http://schemas.microsoft.com/office/drawing/2014/main" id="{83F5BDAE-FF7C-5888-FF54-A9C5201B65CC}"/>
              </a:ext>
            </a:extLst>
          </p:cNvPr>
          <p:cNvSpPr/>
          <p:nvPr/>
        </p:nvSpPr>
        <p:spPr>
          <a:xfrm>
            <a:off x="6106521" y="3970085"/>
            <a:ext cx="178365" cy="155936"/>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0" name="Straight Connector 9">
            <a:extLst>
              <a:ext uri="{FF2B5EF4-FFF2-40B4-BE49-F238E27FC236}">
                <a16:creationId xmlns:a16="http://schemas.microsoft.com/office/drawing/2014/main" id="{279E09BC-F9A1-EDBE-C947-F9831696C0CE}"/>
              </a:ext>
            </a:extLst>
          </p:cNvPr>
          <p:cNvCxnSpPr>
            <a:endCxn id="7" idx="1"/>
          </p:cNvCxnSpPr>
          <p:nvPr/>
        </p:nvCxnSpPr>
        <p:spPr>
          <a:xfrm>
            <a:off x="1056987" y="3974593"/>
            <a:ext cx="2914512"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B567A1A-44FE-C397-CD22-2061FD28AFA1}"/>
                  </a:ext>
                </a:extLst>
              </p:cNvPr>
              <p:cNvSpPr txBox="1"/>
              <p:nvPr/>
            </p:nvSpPr>
            <p:spPr>
              <a:xfrm>
                <a:off x="3650481" y="4027681"/>
                <a:ext cx="9044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r>
                        <a:rPr lang="en-CA" b="0" i="1" smtClean="0">
                          <a:latin typeface="Cambria Math" panose="02040503050406030204" pitchFamily="18" charset="0"/>
                        </a:rPr>
                        <m:t>=0</m:t>
                      </m:r>
                    </m:oMath>
                  </m:oMathPara>
                </a14:m>
                <a:endParaRPr lang="en-CA" dirty="0"/>
              </a:p>
            </p:txBody>
          </p:sp>
        </mc:Choice>
        <mc:Fallback xmlns="">
          <p:sp>
            <p:nvSpPr>
              <p:cNvPr id="11" name="TextBox 10">
                <a:extLst>
                  <a:ext uri="{FF2B5EF4-FFF2-40B4-BE49-F238E27FC236}">
                    <a16:creationId xmlns:a16="http://schemas.microsoft.com/office/drawing/2014/main" id="{CB567A1A-44FE-C397-CD22-2061FD28AFA1}"/>
                  </a:ext>
                </a:extLst>
              </p:cNvPr>
              <p:cNvSpPr txBox="1">
                <a:spLocks noRot="1" noChangeAspect="1" noMove="1" noResize="1" noEditPoints="1" noAdjustHandles="1" noChangeArrowheads="1" noChangeShapeType="1" noTextEdit="1"/>
              </p:cNvSpPr>
              <p:nvPr/>
            </p:nvSpPr>
            <p:spPr>
              <a:xfrm>
                <a:off x="3650481" y="4027681"/>
                <a:ext cx="904478" cy="369332"/>
              </a:xfrm>
              <a:prstGeom prst="rect">
                <a:avLst/>
              </a:prstGeom>
              <a:blipFill>
                <a:blip r:embed="rId7"/>
                <a:stretch>
                  <a:fillRect/>
                </a:stretch>
              </a:blipFill>
            </p:spPr>
            <p:txBody>
              <a:bodyPr/>
              <a:lstStyle/>
              <a:p>
                <a:r>
                  <a:rPr lang="en-CA">
                    <a:noFill/>
                  </a:rPr>
                  <a:t> </a:t>
                </a:r>
              </a:p>
            </p:txBody>
          </p:sp>
        </mc:Fallback>
      </mc:AlternateContent>
      <p:sp>
        <p:nvSpPr>
          <p:cNvPr id="12" name="Arrow: Right 11">
            <a:extLst>
              <a:ext uri="{FF2B5EF4-FFF2-40B4-BE49-F238E27FC236}">
                <a16:creationId xmlns:a16="http://schemas.microsoft.com/office/drawing/2014/main" id="{846DCD8A-4C1F-968C-584A-EA1F693A9E9B}"/>
              </a:ext>
            </a:extLst>
          </p:cNvPr>
          <p:cNvSpPr/>
          <p:nvPr/>
        </p:nvSpPr>
        <p:spPr>
          <a:xfrm rot="13076728">
            <a:off x="6213198" y="4294484"/>
            <a:ext cx="695325" cy="1750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212E51E5-54B3-9D1C-D7DC-56B302587E5A}"/>
                  </a:ext>
                </a:extLst>
              </p:cNvPr>
              <p:cNvSpPr txBox="1"/>
              <p:nvPr/>
            </p:nvSpPr>
            <p:spPr>
              <a:xfrm>
                <a:off x="6664229" y="4410895"/>
                <a:ext cx="1836913" cy="636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0</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40</m:t>
                          </m:r>
                        </m:num>
                        <m:den>
                          <m:r>
                            <a:rPr lang="en-CA" b="0" i="1" smtClean="0">
                              <a:latin typeface="Cambria Math" panose="02040503050406030204" pitchFamily="18" charset="0"/>
                            </a:rPr>
                            <m:t>100</m:t>
                          </m:r>
                        </m:den>
                      </m:f>
                    </m:oMath>
                  </m:oMathPara>
                </a14:m>
                <a:endParaRPr lang="en-CA" dirty="0"/>
              </a:p>
            </p:txBody>
          </p:sp>
        </mc:Choice>
        <mc:Fallback>
          <p:sp>
            <p:nvSpPr>
              <p:cNvPr id="22" name="TextBox 21">
                <a:extLst>
                  <a:ext uri="{FF2B5EF4-FFF2-40B4-BE49-F238E27FC236}">
                    <a16:creationId xmlns:a16="http://schemas.microsoft.com/office/drawing/2014/main" id="{212E51E5-54B3-9D1C-D7DC-56B302587E5A}"/>
                  </a:ext>
                </a:extLst>
              </p:cNvPr>
              <p:cNvSpPr txBox="1">
                <a:spLocks noRot="1" noChangeAspect="1" noMove="1" noResize="1" noEditPoints="1" noAdjustHandles="1" noChangeArrowheads="1" noChangeShapeType="1" noTextEdit="1"/>
              </p:cNvSpPr>
              <p:nvPr/>
            </p:nvSpPr>
            <p:spPr>
              <a:xfrm>
                <a:off x="6664229" y="4410895"/>
                <a:ext cx="1836913" cy="636585"/>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C84C7701-E246-5B0F-7CF1-0EBD995A2707}"/>
                  </a:ext>
                </a:extLst>
              </p:cNvPr>
              <p:cNvSpPr txBox="1"/>
              <p:nvPr/>
            </p:nvSpPr>
            <p:spPr>
              <a:xfrm>
                <a:off x="5579872" y="3860287"/>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0.4</m:t>
                      </m:r>
                    </m:oMath>
                  </m:oMathPara>
                </a14:m>
                <a:endParaRPr lang="en-CA" dirty="0"/>
              </a:p>
            </p:txBody>
          </p:sp>
        </mc:Choice>
        <mc:Fallback>
          <p:sp>
            <p:nvSpPr>
              <p:cNvPr id="25" name="TextBox 24">
                <a:extLst>
                  <a:ext uri="{FF2B5EF4-FFF2-40B4-BE49-F238E27FC236}">
                    <a16:creationId xmlns:a16="http://schemas.microsoft.com/office/drawing/2014/main" id="{C84C7701-E246-5B0F-7CF1-0EBD995A2707}"/>
                  </a:ext>
                </a:extLst>
              </p:cNvPr>
              <p:cNvSpPr txBox="1">
                <a:spLocks noRot="1" noChangeAspect="1" noMove="1" noResize="1" noEditPoints="1" noAdjustHandles="1" noChangeArrowheads="1" noChangeShapeType="1" noTextEdit="1"/>
              </p:cNvSpPr>
              <p:nvPr/>
            </p:nvSpPr>
            <p:spPr>
              <a:xfrm>
                <a:off x="5579872" y="3860287"/>
                <a:ext cx="543739" cy="369332"/>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2FF1672-9844-FE7A-CA39-2947E829C3EF}"/>
                  </a:ext>
                </a:extLst>
              </p:cNvPr>
              <p:cNvSpPr txBox="1"/>
              <p:nvPr/>
            </p:nvSpPr>
            <p:spPr>
              <a:xfrm>
                <a:off x="4141801" y="5694053"/>
                <a:ext cx="6619826" cy="369332"/>
              </a:xfrm>
              <a:prstGeom prst="rect">
                <a:avLst/>
              </a:prstGeom>
              <a:noFill/>
            </p:spPr>
            <p:txBody>
              <a:bodyPr wrap="none" rtlCol="0">
                <a:spAutoFit/>
              </a:bodyPr>
              <a:lstStyle/>
              <a:p>
                <a:r>
                  <a:rPr lang="en-CA" b="1" dirty="0"/>
                  <a:t>Step 1: Compute the probability of cost effectiveness at </a:t>
                </a:r>
                <a14:m>
                  <m:oMath xmlns:m="http://schemas.openxmlformats.org/officeDocument/2006/math">
                    <m:r>
                      <a:rPr lang="en-CA" b="1" i="1" smtClean="0">
                        <a:latin typeface="Cambria Math" panose="02040503050406030204" pitchFamily="18" charset="0"/>
                      </a:rPr>
                      <m:t>𝝀</m:t>
                    </m:r>
                    <m:r>
                      <a:rPr lang="en-CA" b="1" i="1" smtClean="0">
                        <a:latin typeface="Cambria Math" panose="02040503050406030204" pitchFamily="18" charset="0"/>
                      </a:rPr>
                      <m:t>=</m:t>
                    </m:r>
                    <m:r>
                      <a:rPr lang="en-CA" b="1" i="1" smtClean="0">
                        <a:latin typeface="Cambria Math" panose="02040503050406030204" pitchFamily="18" charset="0"/>
                      </a:rPr>
                      <m:t>𝟎</m:t>
                    </m:r>
                  </m:oMath>
                </a14:m>
                <a:endParaRPr lang="en-CA" b="1" dirty="0"/>
              </a:p>
            </p:txBody>
          </p:sp>
        </mc:Choice>
        <mc:Fallback xmlns="">
          <p:sp>
            <p:nvSpPr>
              <p:cNvPr id="26" name="TextBox 25">
                <a:extLst>
                  <a:ext uri="{FF2B5EF4-FFF2-40B4-BE49-F238E27FC236}">
                    <a16:creationId xmlns:a16="http://schemas.microsoft.com/office/drawing/2014/main" id="{C2FF1672-9844-FE7A-CA39-2947E829C3EF}"/>
                  </a:ext>
                </a:extLst>
              </p:cNvPr>
              <p:cNvSpPr txBox="1">
                <a:spLocks noRot="1" noChangeAspect="1" noMove="1" noResize="1" noEditPoints="1" noAdjustHandles="1" noChangeArrowheads="1" noChangeShapeType="1" noTextEdit="1"/>
              </p:cNvSpPr>
              <p:nvPr/>
            </p:nvSpPr>
            <p:spPr>
              <a:xfrm>
                <a:off x="4141801" y="5694053"/>
                <a:ext cx="6619826" cy="369332"/>
              </a:xfrm>
              <a:prstGeom prst="rect">
                <a:avLst/>
              </a:prstGeom>
              <a:blipFill>
                <a:blip r:embed="rId10"/>
                <a:stretch>
                  <a:fillRect l="-737" t="-8197" b="-24590"/>
                </a:stretch>
              </a:blipFill>
            </p:spPr>
            <p:txBody>
              <a:bodyPr/>
              <a:lstStyle/>
              <a:p>
                <a:r>
                  <a:rPr lang="en-CA">
                    <a:noFill/>
                  </a:rPr>
                  <a:t> </a:t>
                </a:r>
              </a:p>
            </p:txBody>
          </p:sp>
        </mc:Fallback>
      </mc:AlternateContent>
    </p:spTree>
    <p:extLst>
      <p:ext uri="{BB962C8B-B14F-4D97-AF65-F5344CB8AC3E}">
        <p14:creationId xmlns:p14="http://schemas.microsoft.com/office/powerpoint/2010/main" val="1856265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0D7E0-A26F-1A88-08B8-C10331E9A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9F748-2D55-0DC2-050E-D229DAC99BFF}"/>
              </a:ext>
            </a:extLst>
          </p:cNvPr>
          <p:cNvSpPr>
            <a:spLocks noGrp="1"/>
          </p:cNvSpPr>
          <p:nvPr>
            <p:ph type="title"/>
          </p:nvPr>
        </p:nvSpPr>
        <p:spPr>
          <a:xfrm>
            <a:off x="482600" y="597408"/>
            <a:ext cx="10634472" cy="1117092"/>
          </a:xfrm>
        </p:spPr>
        <p:txBody>
          <a:bodyPr/>
          <a:lstStyle/>
          <a:p>
            <a:r>
              <a:rPr lang="en-CA" sz="4800" dirty="0"/>
              <a:t>Sketching the CEAC by hand.</a:t>
            </a:r>
          </a:p>
        </p:txBody>
      </p:sp>
      <p:sp>
        <p:nvSpPr>
          <p:cNvPr id="3" name="Content Placeholder 2">
            <a:extLst>
              <a:ext uri="{FF2B5EF4-FFF2-40B4-BE49-F238E27FC236}">
                <a16:creationId xmlns:a16="http://schemas.microsoft.com/office/drawing/2014/main" id="{DC1883CE-B40A-2933-54C5-B02209AB2DE0}"/>
              </a:ext>
            </a:extLst>
          </p:cNvPr>
          <p:cNvSpPr>
            <a:spLocks noGrp="1"/>
          </p:cNvSpPr>
          <p:nvPr>
            <p:ph idx="1"/>
          </p:nvPr>
        </p:nvSpPr>
        <p:spPr>
          <a:xfrm>
            <a:off x="482601" y="1723324"/>
            <a:ext cx="10566400" cy="676085"/>
          </a:xfrm>
        </p:spPr>
        <p:txBody>
          <a:bodyPr>
            <a:normAutofit fontScale="92500" lnSpcReduction="20000"/>
          </a:bodyPr>
          <a:lstStyle/>
          <a:p>
            <a:pPr marL="342900" indent="-342900">
              <a:buFont typeface="Wingdings" panose="05000000000000000000" pitchFamily="2" charset="2"/>
              <a:buChar char="§"/>
            </a:pPr>
            <a:r>
              <a:rPr lang="en-CA" dirty="0"/>
              <a:t>Consider the following CE plane with 100 simulated ICERS. Sketch the cost effectiveness acceptability curve</a:t>
            </a:r>
          </a:p>
        </p:txBody>
      </p:sp>
      <p:cxnSp>
        <p:nvCxnSpPr>
          <p:cNvPr id="4" name="Straight Connector 3">
            <a:extLst>
              <a:ext uri="{FF2B5EF4-FFF2-40B4-BE49-F238E27FC236}">
                <a16:creationId xmlns:a16="http://schemas.microsoft.com/office/drawing/2014/main" id="{34351F00-B150-580D-40EA-91B6567771C9}"/>
              </a:ext>
            </a:extLst>
          </p:cNvPr>
          <p:cNvCxnSpPr>
            <a:cxnSpLocks/>
          </p:cNvCxnSpPr>
          <p:nvPr/>
        </p:nvCxnSpPr>
        <p:spPr>
          <a:xfrm>
            <a:off x="2471593" y="2883407"/>
            <a:ext cx="0" cy="23839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09201E0-0779-D3AC-D58A-24B58A4F1D9E}"/>
              </a:ext>
            </a:extLst>
          </p:cNvPr>
          <p:cNvCxnSpPr>
            <a:cxnSpLocks/>
          </p:cNvCxnSpPr>
          <p:nvPr/>
        </p:nvCxnSpPr>
        <p:spPr>
          <a:xfrm flipH="1">
            <a:off x="1238250" y="3974593"/>
            <a:ext cx="26479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1FEE31-3C68-7170-6A15-5216BFC98ADB}"/>
                  </a:ext>
                </a:extLst>
              </p:cNvPr>
              <p:cNvSpPr txBox="1"/>
              <p:nvPr/>
            </p:nvSpPr>
            <p:spPr>
              <a:xfrm>
                <a:off x="1946577" y="2530032"/>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101FEE31-3C68-7170-6A15-5216BFC98ADB}"/>
                  </a:ext>
                </a:extLst>
              </p:cNvPr>
              <p:cNvSpPr txBox="1">
                <a:spLocks noRot="1" noChangeAspect="1" noMove="1" noResize="1" noEditPoints="1" noAdjustHandles="1" noChangeArrowheads="1" noChangeShapeType="1" noTextEdit="1"/>
              </p:cNvSpPr>
              <p:nvPr/>
            </p:nvSpPr>
            <p:spPr>
              <a:xfrm>
                <a:off x="1946577" y="2530032"/>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91E55E-699F-FDEB-948B-CCBBB1841EE1}"/>
                  </a:ext>
                </a:extLst>
              </p:cNvPr>
              <p:cNvSpPr txBox="1"/>
              <p:nvPr/>
            </p:nvSpPr>
            <p:spPr>
              <a:xfrm>
                <a:off x="3971499" y="3789927"/>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7" name="TextBox 6">
                <a:extLst>
                  <a:ext uri="{FF2B5EF4-FFF2-40B4-BE49-F238E27FC236}">
                    <a16:creationId xmlns:a16="http://schemas.microsoft.com/office/drawing/2014/main" id="{9091E55E-699F-FDEB-948B-CCBBB1841EE1}"/>
                  </a:ext>
                </a:extLst>
              </p:cNvPr>
              <p:cNvSpPr txBox="1">
                <a:spLocks noRot="1" noChangeAspect="1" noMove="1" noResize="1" noEditPoints="1" noAdjustHandles="1" noChangeArrowheads="1" noChangeShapeType="1" noTextEdit="1"/>
              </p:cNvSpPr>
              <p:nvPr/>
            </p:nvSpPr>
            <p:spPr>
              <a:xfrm>
                <a:off x="3971499" y="3789927"/>
                <a:ext cx="530338" cy="369332"/>
              </a:xfrm>
              <a:prstGeom prst="rect">
                <a:avLst/>
              </a:prstGeom>
              <a:blipFill>
                <a:blip r:embed="rId3"/>
                <a:stretch>
                  <a:fillRect/>
                </a:stretch>
              </a:blipFill>
            </p:spPr>
            <p:txBody>
              <a:bodyPr/>
              <a:lstStyle/>
              <a:p>
                <a:r>
                  <a:rPr lang="en-CA">
                    <a:noFill/>
                  </a:rPr>
                  <a:t> </a:t>
                </a:r>
              </a:p>
            </p:txBody>
          </p:sp>
        </mc:Fallback>
      </mc:AlternateContent>
      <p:sp>
        <p:nvSpPr>
          <p:cNvPr id="13" name="Oval 12">
            <a:extLst>
              <a:ext uri="{FF2B5EF4-FFF2-40B4-BE49-F238E27FC236}">
                <a16:creationId xmlns:a16="http://schemas.microsoft.com/office/drawing/2014/main" id="{ECF6A1DC-ABF9-CA61-9397-BC203C72E0FA}"/>
              </a:ext>
            </a:extLst>
          </p:cNvPr>
          <p:cNvSpPr/>
          <p:nvPr/>
        </p:nvSpPr>
        <p:spPr>
          <a:xfrm>
            <a:off x="2647950" y="2883407"/>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N=50</a:t>
            </a:r>
          </a:p>
        </p:txBody>
      </p:sp>
      <p:sp>
        <p:nvSpPr>
          <p:cNvPr id="14" name="Oval 13">
            <a:extLst>
              <a:ext uri="{FF2B5EF4-FFF2-40B4-BE49-F238E27FC236}">
                <a16:creationId xmlns:a16="http://schemas.microsoft.com/office/drawing/2014/main" id="{FBA30CB3-0C7E-8CA2-C608-67839F67DAED}"/>
              </a:ext>
            </a:extLst>
          </p:cNvPr>
          <p:cNvSpPr/>
          <p:nvPr/>
        </p:nvSpPr>
        <p:spPr>
          <a:xfrm>
            <a:off x="2659575" y="4139370"/>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5" name="Oval 14">
            <a:extLst>
              <a:ext uri="{FF2B5EF4-FFF2-40B4-BE49-F238E27FC236}">
                <a16:creationId xmlns:a16="http://schemas.microsoft.com/office/drawing/2014/main" id="{FDFF08FD-8931-0DD8-FFE8-D1DEDF7725D2}"/>
              </a:ext>
            </a:extLst>
          </p:cNvPr>
          <p:cNvSpPr/>
          <p:nvPr/>
        </p:nvSpPr>
        <p:spPr>
          <a:xfrm>
            <a:off x="1085143" y="4159259"/>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N=30</a:t>
            </a:r>
          </a:p>
        </p:txBody>
      </p:sp>
      <p:sp>
        <p:nvSpPr>
          <p:cNvPr id="16" name="Oval 15">
            <a:extLst>
              <a:ext uri="{FF2B5EF4-FFF2-40B4-BE49-F238E27FC236}">
                <a16:creationId xmlns:a16="http://schemas.microsoft.com/office/drawing/2014/main" id="{F2459B2E-59C9-66A9-6C34-E87A30C804E7}"/>
              </a:ext>
            </a:extLst>
          </p:cNvPr>
          <p:cNvSpPr/>
          <p:nvPr/>
        </p:nvSpPr>
        <p:spPr>
          <a:xfrm>
            <a:off x="1056987" y="2871480"/>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7" name="Rectangle 16">
            <a:extLst>
              <a:ext uri="{FF2B5EF4-FFF2-40B4-BE49-F238E27FC236}">
                <a16:creationId xmlns:a16="http://schemas.microsoft.com/office/drawing/2014/main" id="{4671163A-B123-A549-D8A0-FA23418FD581}"/>
              </a:ext>
            </a:extLst>
          </p:cNvPr>
          <p:cNvSpPr/>
          <p:nvPr/>
        </p:nvSpPr>
        <p:spPr>
          <a:xfrm>
            <a:off x="6221243" y="2638558"/>
            <a:ext cx="3809999" cy="267207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Rectangle 17">
            <a:extLst>
              <a:ext uri="{FF2B5EF4-FFF2-40B4-BE49-F238E27FC236}">
                <a16:creationId xmlns:a16="http://schemas.microsoft.com/office/drawing/2014/main" id="{1E39666A-5FB7-E4C8-EC19-57A221544FA2}"/>
              </a:ext>
            </a:extLst>
          </p:cNvPr>
          <p:cNvSpPr/>
          <p:nvPr/>
        </p:nvSpPr>
        <p:spPr>
          <a:xfrm>
            <a:off x="6096000" y="25300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8F011C1E-5115-5A74-F355-510D3D2B7F5C}"/>
              </a:ext>
            </a:extLst>
          </p:cNvPr>
          <p:cNvSpPr/>
          <p:nvPr/>
        </p:nvSpPr>
        <p:spPr>
          <a:xfrm>
            <a:off x="9820275" y="2682431"/>
            <a:ext cx="336210" cy="28515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16CB1DF3-CDA1-ACDF-AE28-C8EAB00EE65C}"/>
              </a:ext>
            </a:extLst>
          </p:cNvPr>
          <p:cNvSpPr/>
          <p:nvPr/>
        </p:nvSpPr>
        <p:spPr>
          <a:xfrm>
            <a:off x="6248400" y="26824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CCBEEE1-F375-6571-3D2A-8EDC7AF2972B}"/>
                  </a:ext>
                </a:extLst>
              </p:cNvPr>
              <p:cNvSpPr txBox="1"/>
              <p:nvPr/>
            </p:nvSpPr>
            <p:spPr>
              <a:xfrm>
                <a:off x="5100137" y="2919973"/>
                <a:ext cx="1148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m:oMathPara>
                </a14:m>
                <a:endParaRPr lang="en-CA" dirty="0"/>
              </a:p>
            </p:txBody>
          </p:sp>
        </mc:Choice>
        <mc:Fallback xmlns="">
          <p:sp>
            <p:nvSpPr>
              <p:cNvPr id="21" name="TextBox 20">
                <a:extLst>
                  <a:ext uri="{FF2B5EF4-FFF2-40B4-BE49-F238E27FC236}">
                    <a16:creationId xmlns:a16="http://schemas.microsoft.com/office/drawing/2014/main" id="{CCCBEEE1-F375-6571-3D2A-8EDC7AF2972B}"/>
                  </a:ext>
                </a:extLst>
              </p:cNvPr>
              <p:cNvSpPr txBox="1">
                <a:spLocks noRot="1" noChangeAspect="1" noMove="1" noResize="1" noEditPoints="1" noAdjustHandles="1" noChangeArrowheads="1" noChangeShapeType="1" noTextEdit="1"/>
              </p:cNvSpPr>
              <p:nvPr/>
            </p:nvSpPr>
            <p:spPr>
              <a:xfrm>
                <a:off x="5100137" y="2919973"/>
                <a:ext cx="1148263" cy="369332"/>
              </a:xfrm>
              <a:prstGeom prst="rect">
                <a:avLst/>
              </a:prstGeom>
              <a:blipFill>
                <a:blip r:embed="rId4"/>
                <a:stretch>
                  <a:fillRect b="-1475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FD01FF8-D90E-F0AF-C2F3-171C012EBFA8}"/>
                  </a:ext>
                </a:extLst>
              </p:cNvPr>
              <p:cNvSpPr txBox="1"/>
              <p:nvPr/>
            </p:nvSpPr>
            <p:spPr>
              <a:xfrm>
                <a:off x="9625011" y="5317092"/>
                <a:ext cx="363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𝜆</m:t>
                      </m:r>
                    </m:oMath>
                  </m:oMathPara>
                </a14:m>
                <a:endParaRPr lang="en-CA" dirty="0"/>
              </a:p>
            </p:txBody>
          </p:sp>
        </mc:Choice>
        <mc:Fallback xmlns="">
          <p:sp>
            <p:nvSpPr>
              <p:cNvPr id="23" name="TextBox 22">
                <a:extLst>
                  <a:ext uri="{FF2B5EF4-FFF2-40B4-BE49-F238E27FC236}">
                    <a16:creationId xmlns:a16="http://schemas.microsoft.com/office/drawing/2014/main" id="{4FD01FF8-D90E-F0AF-C2F3-171C012EBFA8}"/>
                  </a:ext>
                </a:extLst>
              </p:cNvPr>
              <p:cNvSpPr txBox="1">
                <a:spLocks noRot="1" noChangeAspect="1" noMove="1" noResize="1" noEditPoints="1" noAdjustHandles="1" noChangeArrowheads="1" noChangeShapeType="1" noTextEdit="1"/>
              </p:cNvSpPr>
              <p:nvPr/>
            </p:nvSpPr>
            <p:spPr>
              <a:xfrm>
                <a:off x="9625011" y="5317092"/>
                <a:ext cx="363369"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208B88D-1F87-587F-941B-F457A0970B96}"/>
                  </a:ext>
                </a:extLst>
              </p:cNvPr>
              <p:cNvSpPr txBox="1"/>
              <p:nvPr/>
            </p:nvSpPr>
            <p:spPr>
              <a:xfrm>
                <a:off x="5912296" y="5349358"/>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CA" dirty="0"/>
              </a:p>
            </p:txBody>
          </p:sp>
        </mc:Choice>
        <mc:Fallback xmlns="">
          <p:sp>
            <p:nvSpPr>
              <p:cNvPr id="24" name="TextBox 23">
                <a:extLst>
                  <a:ext uri="{FF2B5EF4-FFF2-40B4-BE49-F238E27FC236}">
                    <a16:creationId xmlns:a16="http://schemas.microsoft.com/office/drawing/2014/main" id="{F208B88D-1F87-587F-941B-F457A0970B96}"/>
                  </a:ext>
                </a:extLst>
              </p:cNvPr>
              <p:cNvSpPr txBox="1">
                <a:spLocks noRot="1" noChangeAspect="1" noMove="1" noResize="1" noEditPoints="1" noAdjustHandles="1" noChangeArrowheads="1" noChangeShapeType="1" noTextEdit="1"/>
              </p:cNvSpPr>
              <p:nvPr/>
            </p:nvSpPr>
            <p:spPr>
              <a:xfrm>
                <a:off x="5912296" y="5349358"/>
                <a:ext cx="367408" cy="369332"/>
              </a:xfrm>
              <a:prstGeom prst="rect">
                <a:avLst/>
              </a:prstGeom>
              <a:blipFill>
                <a:blip r:embed="rId6"/>
                <a:stretch>
                  <a:fillRect/>
                </a:stretch>
              </a:blipFill>
            </p:spPr>
            <p:txBody>
              <a:bodyPr/>
              <a:lstStyle/>
              <a:p>
                <a:r>
                  <a:rPr lang="en-CA">
                    <a:noFill/>
                  </a:rPr>
                  <a:t> </a:t>
                </a:r>
              </a:p>
            </p:txBody>
          </p:sp>
        </mc:Fallback>
      </mc:AlternateContent>
      <p:sp>
        <p:nvSpPr>
          <p:cNvPr id="8" name="Oval 7">
            <a:extLst>
              <a:ext uri="{FF2B5EF4-FFF2-40B4-BE49-F238E27FC236}">
                <a16:creationId xmlns:a16="http://schemas.microsoft.com/office/drawing/2014/main" id="{D1EF68E1-4ED7-7E6F-5917-C4A1F1F87962}"/>
              </a:ext>
            </a:extLst>
          </p:cNvPr>
          <p:cNvSpPr/>
          <p:nvPr/>
        </p:nvSpPr>
        <p:spPr>
          <a:xfrm>
            <a:off x="6106521" y="3970085"/>
            <a:ext cx="178365" cy="155936"/>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0" name="Straight Connector 9">
            <a:extLst>
              <a:ext uri="{FF2B5EF4-FFF2-40B4-BE49-F238E27FC236}">
                <a16:creationId xmlns:a16="http://schemas.microsoft.com/office/drawing/2014/main" id="{A9076600-8603-DCA2-93BC-C052E913B809}"/>
              </a:ext>
            </a:extLst>
          </p:cNvPr>
          <p:cNvCxnSpPr>
            <a:cxnSpLocks/>
          </p:cNvCxnSpPr>
          <p:nvPr/>
        </p:nvCxnSpPr>
        <p:spPr>
          <a:xfrm flipV="1">
            <a:off x="2471593" y="2883407"/>
            <a:ext cx="0" cy="2465951"/>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23903C-6804-39A8-FAA1-1F08F7813374}"/>
                  </a:ext>
                </a:extLst>
              </p:cNvPr>
              <p:cNvSpPr txBox="1"/>
              <p:nvPr/>
            </p:nvSpPr>
            <p:spPr>
              <a:xfrm>
                <a:off x="2427704" y="2495792"/>
                <a:ext cx="11449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r>
                        <a:rPr lang="en-CA" b="0" i="1" smtClean="0">
                          <a:latin typeface="Cambria Math" panose="02040503050406030204" pitchFamily="18" charset="0"/>
                        </a:rPr>
                        <m:t>=+∞</m:t>
                      </m:r>
                    </m:oMath>
                  </m:oMathPara>
                </a14:m>
                <a:endParaRPr lang="en-CA" dirty="0"/>
              </a:p>
            </p:txBody>
          </p:sp>
        </mc:Choice>
        <mc:Fallback xmlns="">
          <p:sp>
            <p:nvSpPr>
              <p:cNvPr id="11" name="TextBox 10">
                <a:extLst>
                  <a:ext uri="{FF2B5EF4-FFF2-40B4-BE49-F238E27FC236}">
                    <a16:creationId xmlns:a16="http://schemas.microsoft.com/office/drawing/2014/main" id="{5023903C-6804-39A8-FAA1-1F08F7813374}"/>
                  </a:ext>
                </a:extLst>
              </p:cNvPr>
              <p:cNvSpPr txBox="1">
                <a:spLocks noRot="1" noChangeAspect="1" noMove="1" noResize="1" noEditPoints="1" noAdjustHandles="1" noChangeArrowheads="1" noChangeShapeType="1" noTextEdit="1"/>
              </p:cNvSpPr>
              <p:nvPr/>
            </p:nvSpPr>
            <p:spPr>
              <a:xfrm>
                <a:off x="2427704" y="2495792"/>
                <a:ext cx="1144929" cy="369332"/>
              </a:xfrm>
              <a:prstGeom prst="rect">
                <a:avLst/>
              </a:prstGeom>
              <a:blipFill>
                <a:blip r:embed="rId7"/>
                <a:stretch>
                  <a:fillRect/>
                </a:stretch>
              </a:blipFill>
            </p:spPr>
            <p:txBody>
              <a:bodyPr/>
              <a:lstStyle/>
              <a:p>
                <a:r>
                  <a:rPr lang="en-CA">
                    <a:noFill/>
                  </a:rPr>
                  <a:t> </a:t>
                </a:r>
              </a:p>
            </p:txBody>
          </p:sp>
        </mc:Fallback>
      </mc:AlternateContent>
      <p:sp>
        <p:nvSpPr>
          <p:cNvPr id="12" name="Arrow: Right 11">
            <a:extLst>
              <a:ext uri="{FF2B5EF4-FFF2-40B4-BE49-F238E27FC236}">
                <a16:creationId xmlns:a16="http://schemas.microsoft.com/office/drawing/2014/main" id="{2C491053-DD53-4BF8-B9FB-DC43628B5CA5}"/>
              </a:ext>
            </a:extLst>
          </p:cNvPr>
          <p:cNvSpPr/>
          <p:nvPr/>
        </p:nvSpPr>
        <p:spPr>
          <a:xfrm rot="13076728">
            <a:off x="6213198" y="4294484"/>
            <a:ext cx="695325" cy="1750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10C219D8-E7CC-9EB2-A386-6CE16DD71694}"/>
                  </a:ext>
                </a:extLst>
              </p:cNvPr>
              <p:cNvSpPr txBox="1"/>
              <p:nvPr/>
            </p:nvSpPr>
            <p:spPr>
              <a:xfrm>
                <a:off x="6664229" y="4410895"/>
                <a:ext cx="183691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0</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4</m:t>
                          </m:r>
                          <m:r>
                            <a:rPr lang="en-CA" b="0" i="1" smtClean="0">
                              <a:latin typeface="Cambria Math" panose="02040503050406030204" pitchFamily="18" charset="0"/>
                            </a:rPr>
                            <m:t>0</m:t>
                          </m:r>
                        </m:num>
                        <m:den>
                          <m:r>
                            <a:rPr lang="en-CA" b="0" i="1" smtClean="0">
                              <a:latin typeface="Cambria Math" panose="02040503050406030204" pitchFamily="18" charset="0"/>
                            </a:rPr>
                            <m:t>100</m:t>
                          </m:r>
                        </m:den>
                      </m:f>
                    </m:oMath>
                  </m:oMathPara>
                </a14:m>
                <a:endParaRPr lang="en-CA" dirty="0"/>
              </a:p>
            </p:txBody>
          </p:sp>
        </mc:Choice>
        <mc:Fallback>
          <p:sp>
            <p:nvSpPr>
              <p:cNvPr id="22" name="TextBox 21">
                <a:extLst>
                  <a:ext uri="{FF2B5EF4-FFF2-40B4-BE49-F238E27FC236}">
                    <a16:creationId xmlns:a16="http://schemas.microsoft.com/office/drawing/2014/main" id="{10C219D8-E7CC-9EB2-A386-6CE16DD71694}"/>
                  </a:ext>
                </a:extLst>
              </p:cNvPr>
              <p:cNvSpPr txBox="1">
                <a:spLocks noRot="1" noChangeAspect="1" noMove="1" noResize="1" noEditPoints="1" noAdjustHandles="1" noChangeArrowheads="1" noChangeShapeType="1" noTextEdit="1"/>
              </p:cNvSpPr>
              <p:nvPr/>
            </p:nvSpPr>
            <p:spPr>
              <a:xfrm>
                <a:off x="6664229" y="4410895"/>
                <a:ext cx="1836913" cy="6127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7D442902-2B63-C34D-3194-789B403C19CB}"/>
                  </a:ext>
                </a:extLst>
              </p:cNvPr>
              <p:cNvSpPr txBox="1"/>
              <p:nvPr/>
            </p:nvSpPr>
            <p:spPr>
              <a:xfrm>
                <a:off x="5579872" y="3860287"/>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0.4</m:t>
                      </m:r>
                    </m:oMath>
                  </m:oMathPara>
                </a14:m>
                <a:endParaRPr lang="en-CA" dirty="0"/>
              </a:p>
            </p:txBody>
          </p:sp>
        </mc:Choice>
        <mc:Fallback>
          <p:sp>
            <p:nvSpPr>
              <p:cNvPr id="25" name="TextBox 24">
                <a:extLst>
                  <a:ext uri="{FF2B5EF4-FFF2-40B4-BE49-F238E27FC236}">
                    <a16:creationId xmlns:a16="http://schemas.microsoft.com/office/drawing/2014/main" id="{7D442902-2B63-C34D-3194-789B403C19CB}"/>
                  </a:ext>
                </a:extLst>
              </p:cNvPr>
              <p:cNvSpPr txBox="1">
                <a:spLocks noRot="1" noChangeAspect="1" noMove="1" noResize="1" noEditPoints="1" noAdjustHandles="1" noChangeArrowheads="1" noChangeShapeType="1" noTextEdit="1"/>
              </p:cNvSpPr>
              <p:nvPr/>
            </p:nvSpPr>
            <p:spPr>
              <a:xfrm>
                <a:off x="5579872" y="3860287"/>
                <a:ext cx="543739" cy="369332"/>
              </a:xfrm>
              <a:prstGeom prst="rect">
                <a:avLst/>
              </a:prstGeom>
              <a:blipFill>
                <a:blip r:embed="rId9"/>
                <a:stretch>
                  <a:fillRect/>
                </a:stretch>
              </a:blipFill>
            </p:spPr>
            <p:txBody>
              <a:bodyPr/>
              <a:lstStyle/>
              <a:p>
                <a:r>
                  <a:rPr lang="en-CA">
                    <a:noFill/>
                  </a:rPr>
                  <a:t> </a:t>
                </a:r>
              </a:p>
            </p:txBody>
          </p:sp>
        </mc:Fallback>
      </mc:AlternateContent>
      <p:sp>
        <p:nvSpPr>
          <p:cNvPr id="28" name="Oval 27">
            <a:extLst>
              <a:ext uri="{FF2B5EF4-FFF2-40B4-BE49-F238E27FC236}">
                <a16:creationId xmlns:a16="http://schemas.microsoft.com/office/drawing/2014/main" id="{ECD81FC7-CE44-86F3-C7B0-9C4B0C56AC9E}"/>
              </a:ext>
            </a:extLst>
          </p:cNvPr>
          <p:cNvSpPr/>
          <p:nvPr/>
        </p:nvSpPr>
        <p:spPr>
          <a:xfrm>
            <a:off x="9452721" y="3340276"/>
            <a:ext cx="178365" cy="155936"/>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71AA5A6C-FFCE-1976-479F-45D8569DF3BA}"/>
                  </a:ext>
                </a:extLst>
              </p:cNvPr>
              <p:cNvSpPr txBox="1"/>
              <p:nvPr/>
            </p:nvSpPr>
            <p:spPr>
              <a:xfrm>
                <a:off x="5602195" y="3243823"/>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0.6</m:t>
                      </m:r>
                    </m:oMath>
                  </m:oMathPara>
                </a14:m>
                <a:endParaRPr lang="en-CA" dirty="0"/>
              </a:p>
            </p:txBody>
          </p:sp>
        </mc:Choice>
        <mc:Fallback>
          <p:sp>
            <p:nvSpPr>
              <p:cNvPr id="29" name="TextBox 28">
                <a:extLst>
                  <a:ext uri="{FF2B5EF4-FFF2-40B4-BE49-F238E27FC236}">
                    <a16:creationId xmlns:a16="http://schemas.microsoft.com/office/drawing/2014/main" id="{71AA5A6C-FFCE-1976-479F-45D8569DF3BA}"/>
                  </a:ext>
                </a:extLst>
              </p:cNvPr>
              <p:cNvSpPr txBox="1">
                <a:spLocks noRot="1" noChangeAspect="1" noMove="1" noResize="1" noEditPoints="1" noAdjustHandles="1" noChangeArrowheads="1" noChangeShapeType="1" noTextEdit="1"/>
              </p:cNvSpPr>
              <p:nvPr/>
            </p:nvSpPr>
            <p:spPr>
              <a:xfrm>
                <a:off x="5602195" y="3243823"/>
                <a:ext cx="543739" cy="369332"/>
              </a:xfrm>
              <a:prstGeom prst="rect">
                <a:avLst/>
              </a:prstGeom>
              <a:blipFill>
                <a:blip r:embed="rId10"/>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4809EF3F-914D-85F9-5808-D834430B7D2F}"/>
                  </a:ext>
                </a:extLst>
              </p:cNvPr>
              <p:cNvSpPr txBox="1"/>
              <p:nvPr/>
            </p:nvSpPr>
            <p:spPr>
              <a:xfrm>
                <a:off x="9452721" y="3621923"/>
                <a:ext cx="2077364"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6</m:t>
                          </m:r>
                          <m:r>
                            <a:rPr lang="en-CA" b="0" i="1" smtClean="0">
                              <a:latin typeface="Cambria Math" panose="02040503050406030204" pitchFamily="18" charset="0"/>
                            </a:rPr>
                            <m:t>0</m:t>
                          </m:r>
                        </m:num>
                        <m:den>
                          <m:r>
                            <a:rPr lang="en-CA" b="0" i="1" smtClean="0">
                              <a:latin typeface="Cambria Math" panose="02040503050406030204" pitchFamily="18" charset="0"/>
                            </a:rPr>
                            <m:t>100</m:t>
                          </m:r>
                        </m:den>
                      </m:f>
                    </m:oMath>
                  </m:oMathPara>
                </a14:m>
                <a:endParaRPr lang="en-CA" dirty="0"/>
              </a:p>
            </p:txBody>
          </p:sp>
        </mc:Choice>
        <mc:Fallback>
          <p:sp>
            <p:nvSpPr>
              <p:cNvPr id="30" name="TextBox 29">
                <a:extLst>
                  <a:ext uri="{FF2B5EF4-FFF2-40B4-BE49-F238E27FC236}">
                    <a16:creationId xmlns:a16="http://schemas.microsoft.com/office/drawing/2014/main" id="{4809EF3F-914D-85F9-5808-D834430B7D2F}"/>
                  </a:ext>
                </a:extLst>
              </p:cNvPr>
              <p:cNvSpPr txBox="1">
                <a:spLocks noRot="1" noChangeAspect="1" noMove="1" noResize="1" noEditPoints="1" noAdjustHandles="1" noChangeArrowheads="1" noChangeShapeType="1" noTextEdit="1"/>
              </p:cNvSpPr>
              <p:nvPr/>
            </p:nvSpPr>
            <p:spPr>
              <a:xfrm>
                <a:off x="9452721" y="3621923"/>
                <a:ext cx="2077364" cy="612732"/>
              </a:xfrm>
              <a:prstGeom prst="rect">
                <a:avLst/>
              </a:prstGeom>
              <a:blipFill>
                <a:blip r:embed="rId11"/>
                <a:stretch>
                  <a:fillRect/>
                </a:stretch>
              </a:blipFill>
            </p:spPr>
            <p:txBody>
              <a:bodyPr/>
              <a:lstStyle/>
              <a:p>
                <a:r>
                  <a:rPr lang="en-CA">
                    <a:noFill/>
                  </a:rPr>
                  <a:t> </a:t>
                </a:r>
              </a:p>
            </p:txBody>
          </p:sp>
        </mc:Fallback>
      </mc:AlternateContent>
      <p:cxnSp>
        <p:nvCxnSpPr>
          <p:cNvPr id="32" name="Straight Connector 31">
            <a:extLst>
              <a:ext uri="{FF2B5EF4-FFF2-40B4-BE49-F238E27FC236}">
                <a16:creationId xmlns:a16="http://schemas.microsoft.com/office/drawing/2014/main" id="{605F1A6E-E987-A618-ABBE-066625D77868}"/>
              </a:ext>
            </a:extLst>
          </p:cNvPr>
          <p:cNvCxnSpPr>
            <a:endCxn id="28" idx="2"/>
          </p:cNvCxnSpPr>
          <p:nvPr/>
        </p:nvCxnSpPr>
        <p:spPr>
          <a:xfrm>
            <a:off x="6248400" y="3428489"/>
            <a:ext cx="3204321"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3" name="Arrow: Right 32">
            <a:extLst>
              <a:ext uri="{FF2B5EF4-FFF2-40B4-BE49-F238E27FC236}">
                <a16:creationId xmlns:a16="http://schemas.microsoft.com/office/drawing/2014/main" id="{79BFF732-DA57-FCDE-DE84-D3AF170457B6}"/>
              </a:ext>
            </a:extLst>
          </p:cNvPr>
          <p:cNvSpPr/>
          <p:nvPr/>
        </p:nvSpPr>
        <p:spPr>
          <a:xfrm rot="13076728">
            <a:off x="9570867" y="3598348"/>
            <a:ext cx="477993" cy="1736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4575918-2622-9146-6B93-769D71DBF958}"/>
                  </a:ext>
                </a:extLst>
              </p:cNvPr>
              <p:cNvSpPr txBox="1"/>
              <p:nvPr/>
            </p:nvSpPr>
            <p:spPr>
              <a:xfrm>
                <a:off x="4724400" y="5679913"/>
                <a:ext cx="6915150" cy="369332"/>
              </a:xfrm>
              <a:prstGeom prst="rect">
                <a:avLst/>
              </a:prstGeom>
              <a:noFill/>
            </p:spPr>
            <p:txBody>
              <a:bodyPr wrap="square">
                <a:spAutoFit/>
              </a:bodyPr>
              <a:lstStyle/>
              <a:p>
                <a:r>
                  <a:rPr lang="en-CA" b="1" dirty="0"/>
                  <a:t>Step 2: Compute the probability of cost effectiveness at </a:t>
                </a:r>
                <a14:m>
                  <m:oMath xmlns:m="http://schemas.openxmlformats.org/officeDocument/2006/math">
                    <m:r>
                      <a:rPr lang="en-CA" b="1" i="1" smtClean="0">
                        <a:latin typeface="Cambria Math" panose="02040503050406030204" pitchFamily="18" charset="0"/>
                      </a:rPr>
                      <m:t>𝝀</m:t>
                    </m:r>
                    <m:r>
                      <a:rPr lang="en-CA" b="1" i="1" smtClean="0">
                        <a:latin typeface="Cambria Math" panose="02040503050406030204" pitchFamily="18" charset="0"/>
                      </a:rPr>
                      <m:t>=+∞</m:t>
                    </m:r>
                  </m:oMath>
                </a14:m>
                <a:endParaRPr lang="en-CA" b="1" dirty="0"/>
              </a:p>
            </p:txBody>
          </p:sp>
        </mc:Choice>
        <mc:Fallback xmlns="">
          <p:sp>
            <p:nvSpPr>
              <p:cNvPr id="35" name="TextBox 34">
                <a:extLst>
                  <a:ext uri="{FF2B5EF4-FFF2-40B4-BE49-F238E27FC236}">
                    <a16:creationId xmlns:a16="http://schemas.microsoft.com/office/drawing/2014/main" id="{A4575918-2622-9146-6B93-769D71DBF958}"/>
                  </a:ext>
                </a:extLst>
              </p:cNvPr>
              <p:cNvSpPr txBox="1">
                <a:spLocks noRot="1" noChangeAspect="1" noMove="1" noResize="1" noEditPoints="1" noAdjustHandles="1" noChangeArrowheads="1" noChangeShapeType="1" noTextEdit="1"/>
              </p:cNvSpPr>
              <p:nvPr/>
            </p:nvSpPr>
            <p:spPr>
              <a:xfrm>
                <a:off x="4724400" y="5679913"/>
                <a:ext cx="6915150" cy="369332"/>
              </a:xfrm>
              <a:prstGeom prst="rect">
                <a:avLst/>
              </a:prstGeom>
              <a:blipFill>
                <a:blip r:embed="rId12"/>
                <a:stretch>
                  <a:fillRect l="-705" t="-10000" b="-26667"/>
                </a:stretch>
              </a:blipFill>
            </p:spPr>
            <p:txBody>
              <a:bodyPr/>
              <a:lstStyle/>
              <a:p>
                <a:r>
                  <a:rPr lang="en-CA">
                    <a:noFill/>
                  </a:rPr>
                  <a:t> </a:t>
                </a:r>
              </a:p>
            </p:txBody>
          </p:sp>
        </mc:Fallback>
      </mc:AlternateContent>
    </p:spTree>
    <p:extLst>
      <p:ext uri="{BB962C8B-B14F-4D97-AF65-F5344CB8AC3E}">
        <p14:creationId xmlns:p14="http://schemas.microsoft.com/office/powerpoint/2010/main" val="2188859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8D4EE-6F9B-A352-FEF1-74412646E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50A98-D54E-D986-790E-1DC5F8528646}"/>
              </a:ext>
            </a:extLst>
          </p:cNvPr>
          <p:cNvSpPr>
            <a:spLocks noGrp="1"/>
          </p:cNvSpPr>
          <p:nvPr>
            <p:ph type="title"/>
          </p:nvPr>
        </p:nvSpPr>
        <p:spPr>
          <a:xfrm>
            <a:off x="482600" y="597408"/>
            <a:ext cx="10634472" cy="1117092"/>
          </a:xfrm>
        </p:spPr>
        <p:txBody>
          <a:bodyPr/>
          <a:lstStyle/>
          <a:p>
            <a:r>
              <a:rPr lang="en-CA" sz="4800" dirty="0"/>
              <a:t>Sketching the CEAC by hand.</a:t>
            </a:r>
          </a:p>
        </p:txBody>
      </p:sp>
      <p:sp>
        <p:nvSpPr>
          <p:cNvPr id="3" name="Content Placeholder 2">
            <a:extLst>
              <a:ext uri="{FF2B5EF4-FFF2-40B4-BE49-F238E27FC236}">
                <a16:creationId xmlns:a16="http://schemas.microsoft.com/office/drawing/2014/main" id="{67C84ADB-936D-F183-4ECC-B5114C55FEC3}"/>
              </a:ext>
            </a:extLst>
          </p:cNvPr>
          <p:cNvSpPr>
            <a:spLocks noGrp="1"/>
          </p:cNvSpPr>
          <p:nvPr>
            <p:ph idx="1"/>
          </p:nvPr>
        </p:nvSpPr>
        <p:spPr>
          <a:xfrm>
            <a:off x="482601" y="1723324"/>
            <a:ext cx="10566400" cy="676085"/>
          </a:xfrm>
        </p:spPr>
        <p:txBody>
          <a:bodyPr>
            <a:normAutofit fontScale="92500" lnSpcReduction="20000"/>
          </a:bodyPr>
          <a:lstStyle/>
          <a:p>
            <a:pPr marL="342900" indent="-342900">
              <a:buFont typeface="Wingdings" panose="05000000000000000000" pitchFamily="2" charset="2"/>
              <a:buChar char="§"/>
            </a:pPr>
            <a:r>
              <a:rPr lang="en-CA" dirty="0"/>
              <a:t>Consider the following CE plane with 100 simulated ICERS. Sketch the cost effectiveness acceptability curve</a:t>
            </a:r>
          </a:p>
        </p:txBody>
      </p:sp>
      <p:cxnSp>
        <p:nvCxnSpPr>
          <p:cNvPr id="4" name="Straight Connector 3">
            <a:extLst>
              <a:ext uri="{FF2B5EF4-FFF2-40B4-BE49-F238E27FC236}">
                <a16:creationId xmlns:a16="http://schemas.microsoft.com/office/drawing/2014/main" id="{D877AAC4-AE2B-A062-D5E3-8E9952F52CB3}"/>
              </a:ext>
            </a:extLst>
          </p:cNvPr>
          <p:cNvCxnSpPr>
            <a:cxnSpLocks/>
          </p:cNvCxnSpPr>
          <p:nvPr/>
        </p:nvCxnSpPr>
        <p:spPr>
          <a:xfrm>
            <a:off x="2471593" y="2883407"/>
            <a:ext cx="0" cy="23839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22A42EB-C52B-3FC1-92A6-B5DBA7AD9CD6}"/>
              </a:ext>
            </a:extLst>
          </p:cNvPr>
          <p:cNvCxnSpPr>
            <a:cxnSpLocks/>
          </p:cNvCxnSpPr>
          <p:nvPr/>
        </p:nvCxnSpPr>
        <p:spPr>
          <a:xfrm flipH="1">
            <a:off x="1238250" y="3974593"/>
            <a:ext cx="26479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9107490-44E8-11E0-3081-AD0252104A59}"/>
                  </a:ext>
                </a:extLst>
              </p:cNvPr>
              <p:cNvSpPr txBox="1"/>
              <p:nvPr/>
            </p:nvSpPr>
            <p:spPr>
              <a:xfrm>
                <a:off x="1946577" y="2530032"/>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C9107490-44E8-11E0-3081-AD0252104A59}"/>
                  </a:ext>
                </a:extLst>
              </p:cNvPr>
              <p:cNvSpPr txBox="1">
                <a:spLocks noRot="1" noChangeAspect="1" noMove="1" noResize="1" noEditPoints="1" noAdjustHandles="1" noChangeArrowheads="1" noChangeShapeType="1" noTextEdit="1"/>
              </p:cNvSpPr>
              <p:nvPr/>
            </p:nvSpPr>
            <p:spPr>
              <a:xfrm>
                <a:off x="1946577" y="2530032"/>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B9C7FD-D113-DC13-C1D9-B687294D89F4}"/>
                  </a:ext>
                </a:extLst>
              </p:cNvPr>
              <p:cNvSpPr txBox="1"/>
              <p:nvPr/>
            </p:nvSpPr>
            <p:spPr>
              <a:xfrm>
                <a:off x="3971499" y="3789927"/>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7" name="TextBox 6">
                <a:extLst>
                  <a:ext uri="{FF2B5EF4-FFF2-40B4-BE49-F238E27FC236}">
                    <a16:creationId xmlns:a16="http://schemas.microsoft.com/office/drawing/2014/main" id="{08B9C7FD-D113-DC13-C1D9-B687294D89F4}"/>
                  </a:ext>
                </a:extLst>
              </p:cNvPr>
              <p:cNvSpPr txBox="1">
                <a:spLocks noRot="1" noChangeAspect="1" noMove="1" noResize="1" noEditPoints="1" noAdjustHandles="1" noChangeArrowheads="1" noChangeShapeType="1" noTextEdit="1"/>
              </p:cNvSpPr>
              <p:nvPr/>
            </p:nvSpPr>
            <p:spPr>
              <a:xfrm>
                <a:off x="3971499" y="3789927"/>
                <a:ext cx="530338" cy="369332"/>
              </a:xfrm>
              <a:prstGeom prst="rect">
                <a:avLst/>
              </a:prstGeom>
              <a:blipFill>
                <a:blip r:embed="rId3"/>
                <a:stretch>
                  <a:fillRect/>
                </a:stretch>
              </a:blipFill>
            </p:spPr>
            <p:txBody>
              <a:bodyPr/>
              <a:lstStyle/>
              <a:p>
                <a:r>
                  <a:rPr lang="en-CA">
                    <a:noFill/>
                  </a:rPr>
                  <a:t> </a:t>
                </a:r>
              </a:p>
            </p:txBody>
          </p:sp>
        </mc:Fallback>
      </mc:AlternateContent>
      <p:sp>
        <p:nvSpPr>
          <p:cNvPr id="13" name="Oval 12">
            <a:extLst>
              <a:ext uri="{FF2B5EF4-FFF2-40B4-BE49-F238E27FC236}">
                <a16:creationId xmlns:a16="http://schemas.microsoft.com/office/drawing/2014/main" id="{EB6829F9-4F59-257F-6CAB-F6DAC021B706}"/>
              </a:ext>
            </a:extLst>
          </p:cNvPr>
          <p:cNvSpPr/>
          <p:nvPr/>
        </p:nvSpPr>
        <p:spPr>
          <a:xfrm>
            <a:off x="2647950" y="2883407"/>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N=50</a:t>
            </a:r>
          </a:p>
        </p:txBody>
      </p:sp>
      <p:sp>
        <p:nvSpPr>
          <p:cNvPr id="14" name="Oval 13">
            <a:extLst>
              <a:ext uri="{FF2B5EF4-FFF2-40B4-BE49-F238E27FC236}">
                <a16:creationId xmlns:a16="http://schemas.microsoft.com/office/drawing/2014/main" id="{9C82B905-4CC7-BB28-E0B6-6AC4904D7D23}"/>
              </a:ext>
            </a:extLst>
          </p:cNvPr>
          <p:cNvSpPr/>
          <p:nvPr/>
        </p:nvSpPr>
        <p:spPr>
          <a:xfrm>
            <a:off x="2659575" y="4139370"/>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5" name="Oval 14">
            <a:extLst>
              <a:ext uri="{FF2B5EF4-FFF2-40B4-BE49-F238E27FC236}">
                <a16:creationId xmlns:a16="http://schemas.microsoft.com/office/drawing/2014/main" id="{61290F32-FFA7-F8CC-C307-00D1EC409FA7}"/>
              </a:ext>
            </a:extLst>
          </p:cNvPr>
          <p:cNvSpPr/>
          <p:nvPr/>
        </p:nvSpPr>
        <p:spPr>
          <a:xfrm>
            <a:off x="1085143" y="4159259"/>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N=30</a:t>
            </a:r>
          </a:p>
        </p:txBody>
      </p:sp>
      <p:sp>
        <p:nvSpPr>
          <p:cNvPr id="16" name="Oval 15">
            <a:extLst>
              <a:ext uri="{FF2B5EF4-FFF2-40B4-BE49-F238E27FC236}">
                <a16:creationId xmlns:a16="http://schemas.microsoft.com/office/drawing/2014/main" id="{8F10594D-72DD-0712-321B-84BC3926EB30}"/>
              </a:ext>
            </a:extLst>
          </p:cNvPr>
          <p:cNvSpPr/>
          <p:nvPr/>
        </p:nvSpPr>
        <p:spPr>
          <a:xfrm>
            <a:off x="1056987" y="2871480"/>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7" name="Rectangle 16">
            <a:extLst>
              <a:ext uri="{FF2B5EF4-FFF2-40B4-BE49-F238E27FC236}">
                <a16:creationId xmlns:a16="http://schemas.microsoft.com/office/drawing/2014/main" id="{052B1520-A26E-C8A8-CBC6-157E1A055CB7}"/>
              </a:ext>
            </a:extLst>
          </p:cNvPr>
          <p:cNvSpPr/>
          <p:nvPr/>
        </p:nvSpPr>
        <p:spPr>
          <a:xfrm>
            <a:off x="6221243" y="2638558"/>
            <a:ext cx="3809999" cy="267207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Rectangle 17">
            <a:extLst>
              <a:ext uri="{FF2B5EF4-FFF2-40B4-BE49-F238E27FC236}">
                <a16:creationId xmlns:a16="http://schemas.microsoft.com/office/drawing/2014/main" id="{8A66E488-8A02-C790-6694-803931F012F4}"/>
              </a:ext>
            </a:extLst>
          </p:cNvPr>
          <p:cNvSpPr/>
          <p:nvPr/>
        </p:nvSpPr>
        <p:spPr>
          <a:xfrm>
            <a:off x="6096000" y="25300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436F5DA8-3496-3046-C2F2-C1C8BA0DE538}"/>
              </a:ext>
            </a:extLst>
          </p:cNvPr>
          <p:cNvSpPr/>
          <p:nvPr/>
        </p:nvSpPr>
        <p:spPr>
          <a:xfrm>
            <a:off x="9820275" y="2682431"/>
            <a:ext cx="336210" cy="28515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5DB1EB7F-AE6E-EF92-307D-85E1CD11758D}"/>
              </a:ext>
            </a:extLst>
          </p:cNvPr>
          <p:cNvSpPr/>
          <p:nvPr/>
        </p:nvSpPr>
        <p:spPr>
          <a:xfrm>
            <a:off x="6248400" y="26824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A5C8759-09DB-4B57-91CE-B9E153F9143A}"/>
                  </a:ext>
                </a:extLst>
              </p:cNvPr>
              <p:cNvSpPr txBox="1"/>
              <p:nvPr/>
            </p:nvSpPr>
            <p:spPr>
              <a:xfrm>
                <a:off x="5100137" y="2919973"/>
                <a:ext cx="1148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m:oMathPara>
                </a14:m>
                <a:endParaRPr lang="en-CA" dirty="0"/>
              </a:p>
            </p:txBody>
          </p:sp>
        </mc:Choice>
        <mc:Fallback xmlns="">
          <p:sp>
            <p:nvSpPr>
              <p:cNvPr id="21" name="TextBox 20">
                <a:extLst>
                  <a:ext uri="{FF2B5EF4-FFF2-40B4-BE49-F238E27FC236}">
                    <a16:creationId xmlns:a16="http://schemas.microsoft.com/office/drawing/2014/main" id="{6A5C8759-09DB-4B57-91CE-B9E153F9143A}"/>
                  </a:ext>
                </a:extLst>
              </p:cNvPr>
              <p:cNvSpPr txBox="1">
                <a:spLocks noRot="1" noChangeAspect="1" noMove="1" noResize="1" noEditPoints="1" noAdjustHandles="1" noChangeArrowheads="1" noChangeShapeType="1" noTextEdit="1"/>
              </p:cNvSpPr>
              <p:nvPr/>
            </p:nvSpPr>
            <p:spPr>
              <a:xfrm>
                <a:off x="5100137" y="2919973"/>
                <a:ext cx="1148263" cy="369332"/>
              </a:xfrm>
              <a:prstGeom prst="rect">
                <a:avLst/>
              </a:prstGeom>
              <a:blipFill>
                <a:blip r:embed="rId4"/>
                <a:stretch>
                  <a:fillRect b="-1475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56A607F-E506-5E00-7BB8-45357C65D8BE}"/>
                  </a:ext>
                </a:extLst>
              </p:cNvPr>
              <p:cNvSpPr txBox="1"/>
              <p:nvPr/>
            </p:nvSpPr>
            <p:spPr>
              <a:xfrm>
                <a:off x="9625011" y="5317092"/>
                <a:ext cx="363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𝜆</m:t>
                      </m:r>
                    </m:oMath>
                  </m:oMathPara>
                </a14:m>
                <a:endParaRPr lang="en-CA" dirty="0"/>
              </a:p>
            </p:txBody>
          </p:sp>
        </mc:Choice>
        <mc:Fallback xmlns="">
          <p:sp>
            <p:nvSpPr>
              <p:cNvPr id="23" name="TextBox 22">
                <a:extLst>
                  <a:ext uri="{FF2B5EF4-FFF2-40B4-BE49-F238E27FC236}">
                    <a16:creationId xmlns:a16="http://schemas.microsoft.com/office/drawing/2014/main" id="{056A607F-E506-5E00-7BB8-45357C65D8BE}"/>
                  </a:ext>
                </a:extLst>
              </p:cNvPr>
              <p:cNvSpPr txBox="1">
                <a:spLocks noRot="1" noChangeAspect="1" noMove="1" noResize="1" noEditPoints="1" noAdjustHandles="1" noChangeArrowheads="1" noChangeShapeType="1" noTextEdit="1"/>
              </p:cNvSpPr>
              <p:nvPr/>
            </p:nvSpPr>
            <p:spPr>
              <a:xfrm>
                <a:off x="9625011" y="5317092"/>
                <a:ext cx="363369"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5C39627-0EDF-E4B3-03EE-38A5F3B6FB20}"/>
                  </a:ext>
                </a:extLst>
              </p:cNvPr>
              <p:cNvSpPr txBox="1"/>
              <p:nvPr/>
            </p:nvSpPr>
            <p:spPr>
              <a:xfrm>
                <a:off x="5912296" y="5349358"/>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CA" dirty="0"/>
              </a:p>
            </p:txBody>
          </p:sp>
        </mc:Choice>
        <mc:Fallback xmlns="">
          <p:sp>
            <p:nvSpPr>
              <p:cNvPr id="24" name="TextBox 23">
                <a:extLst>
                  <a:ext uri="{FF2B5EF4-FFF2-40B4-BE49-F238E27FC236}">
                    <a16:creationId xmlns:a16="http://schemas.microsoft.com/office/drawing/2014/main" id="{D5C39627-0EDF-E4B3-03EE-38A5F3B6FB20}"/>
                  </a:ext>
                </a:extLst>
              </p:cNvPr>
              <p:cNvSpPr txBox="1">
                <a:spLocks noRot="1" noChangeAspect="1" noMove="1" noResize="1" noEditPoints="1" noAdjustHandles="1" noChangeArrowheads="1" noChangeShapeType="1" noTextEdit="1"/>
              </p:cNvSpPr>
              <p:nvPr/>
            </p:nvSpPr>
            <p:spPr>
              <a:xfrm>
                <a:off x="5912296" y="5349358"/>
                <a:ext cx="367408" cy="369332"/>
              </a:xfrm>
              <a:prstGeom prst="rect">
                <a:avLst/>
              </a:prstGeom>
              <a:blipFill>
                <a:blip r:embed="rId6"/>
                <a:stretch>
                  <a:fillRect/>
                </a:stretch>
              </a:blipFill>
            </p:spPr>
            <p:txBody>
              <a:bodyPr/>
              <a:lstStyle/>
              <a:p>
                <a:r>
                  <a:rPr lang="en-CA">
                    <a:noFill/>
                  </a:rPr>
                  <a:t> </a:t>
                </a:r>
              </a:p>
            </p:txBody>
          </p:sp>
        </mc:Fallback>
      </mc:AlternateContent>
      <p:sp>
        <p:nvSpPr>
          <p:cNvPr id="8" name="Oval 7">
            <a:extLst>
              <a:ext uri="{FF2B5EF4-FFF2-40B4-BE49-F238E27FC236}">
                <a16:creationId xmlns:a16="http://schemas.microsoft.com/office/drawing/2014/main" id="{ABE695D0-D278-69AB-5394-4CD6D406B12E}"/>
              </a:ext>
            </a:extLst>
          </p:cNvPr>
          <p:cNvSpPr/>
          <p:nvPr/>
        </p:nvSpPr>
        <p:spPr>
          <a:xfrm>
            <a:off x="6106521" y="3970085"/>
            <a:ext cx="178365" cy="155936"/>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0" name="Straight Connector 9">
            <a:extLst>
              <a:ext uri="{FF2B5EF4-FFF2-40B4-BE49-F238E27FC236}">
                <a16:creationId xmlns:a16="http://schemas.microsoft.com/office/drawing/2014/main" id="{2DE1D147-290D-4C50-2289-0833DD368372}"/>
              </a:ext>
            </a:extLst>
          </p:cNvPr>
          <p:cNvCxnSpPr>
            <a:cxnSpLocks/>
          </p:cNvCxnSpPr>
          <p:nvPr/>
        </p:nvCxnSpPr>
        <p:spPr>
          <a:xfrm flipV="1">
            <a:off x="2471593" y="2883407"/>
            <a:ext cx="0" cy="2465951"/>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5FBB690-CFAC-52A8-F58F-B3C17538558D}"/>
                  </a:ext>
                </a:extLst>
              </p:cNvPr>
              <p:cNvSpPr txBox="1"/>
              <p:nvPr/>
            </p:nvSpPr>
            <p:spPr>
              <a:xfrm>
                <a:off x="2427704" y="2495792"/>
                <a:ext cx="11449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r>
                        <a:rPr lang="en-CA" b="0" i="1" smtClean="0">
                          <a:latin typeface="Cambria Math" panose="02040503050406030204" pitchFamily="18" charset="0"/>
                        </a:rPr>
                        <m:t>=+∞</m:t>
                      </m:r>
                    </m:oMath>
                  </m:oMathPara>
                </a14:m>
                <a:endParaRPr lang="en-CA" dirty="0"/>
              </a:p>
            </p:txBody>
          </p:sp>
        </mc:Choice>
        <mc:Fallback xmlns="">
          <p:sp>
            <p:nvSpPr>
              <p:cNvPr id="11" name="TextBox 10">
                <a:extLst>
                  <a:ext uri="{FF2B5EF4-FFF2-40B4-BE49-F238E27FC236}">
                    <a16:creationId xmlns:a16="http://schemas.microsoft.com/office/drawing/2014/main" id="{45FBB690-CFAC-52A8-F58F-B3C17538558D}"/>
                  </a:ext>
                </a:extLst>
              </p:cNvPr>
              <p:cNvSpPr txBox="1">
                <a:spLocks noRot="1" noChangeAspect="1" noMove="1" noResize="1" noEditPoints="1" noAdjustHandles="1" noChangeArrowheads="1" noChangeShapeType="1" noTextEdit="1"/>
              </p:cNvSpPr>
              <p:nvPr/>
            </p:nvSpPr>
            <p:spPr>
              <a:xfrm>
                <a:off x="2427704" y="2495792"/>
                <a:ext cx="1144929" cy="369332"/>
              </a:xfrm>
              <a:prstGeom prst="rect">
                <a:avLst/>
              </a:prstGeom>
              <a:blipFill>
                <a:blip r:embed="rId7"/>
                <a:stretch>
                  <a:fillRect/>
                </a:stretch>
              </a:blipFill>
            </p:spPr>
            <p:txBody>
              <a:bodyPr/>
              <a:lstStyle/>
              <a:p>
                <a:r>
                  <a:rPr lang="en-CA">
                    <a:noFill/>
                  </a:rPr>
                  <a:t> </a:t>
                </a:r>
              </a:p>
            </p:txBody>
          </p:sp>
        </mc:Fallback>
      </mc:AlternateContent>
      <p:sp>
        <p:nvSpPr>
          <p:cNvPr id="12" name="Arrow: Right 11">
            <a:extLst>
              <a:ext uri="{FF2B5EF4-FFF2-40B4-BE49-F238E27FC236}">
                <a16:creationId xmlns:a16="http://schemas.microsoft.com/office/drawing/2014/main" id="{63BE93BE-7FC7-2A23-C8D1-6A14860FE563}"/>
              </a:ext>
            </a:extLst>
          </p:cNvPr>
          <p:cNvSpPr/>
          <p:nvPr/>
        </p:nvSpPr>
        <p:spPr>
          <a:xfrm rot="13076728">
            <a:off x="6213198" y="4294484"/>
            <a:ext cx="695325" cy="1750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434421B8-C43A-26F8-909D-B7CE28785C22}"/>
                  </a:ext>
                </a:extLst>
              </p:cNvPr>
              <p:cNvSpPr txBox="1"/>
              <p:nvPr/>
            </p:nvSpPr>
            <p:spPr>
              <a:xfrm>
                <a:off x="6664229" y="4410895"/>
                <a:ext cx="183691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0</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4</m:t>
                          </m:r>
                          <m:r>
                            <a:rPr lang="en-CA" b="0" i="1" smtClean="0">
                              <a:latin typeface="Cambria Math" panose="02040503050406030204" pitchFamily="18" charset="0"/>
                            </a:rPr>
                            <m:t>0</m:t>
                          </m:r>
                        </m:num>
                        <m:den>
                          <m:r>
                            <a:rPr lang="en-CA" b="0" i="1" smtClean="0">
                              <a:latin typeface="Cambria Math" panose="02040503050406030204" pitchFamily="18" charset="0"/>
                            </a:rPr>
                            <m:t>100</m:t>
                          </m:r>
                        </m:den>
                      </m:f>
                    </m:oMath>
                  </m:oMathPara>
                </a14:m>
                <a:endParaRPr lang="en-CA" dirty="0"/>
              </a:p>
            </p:txBody>
          </p:sp>
        </mc:Choice>
        <mc:Fallback>
          <p:sp>
            <p:nvSpPr>
              <p:cNvPr id="22" name="TextBox 21">
                <a:extLst>
                  <a:ext uri="{FF2B5EF4-FFF2-40B4-BE49-F238E27FC236}">
                    <a16:creationId xmlns:a16="http://schemas.microsoft.com/office/drawing/2014/main" id="{434421B8-C43A-26F8-909D-B7CE28785C22}"/>
                  </a:ext>
                </a:extLst>
              </p:cNvPr>
              <p:cNvSpPr txBox="1">
                <a:spLocks noRot="1" noChangeAspect="1" noMove="1" noResize="1" noEditPoints="1" noAdjustHandles="1" noChangeArrowheads="1" noChangeShapeType="1" noTextEdit="1"/>
              </p:cNvSpPr>
              <p:nvPr/>
            </p:nvSpPr>
            <p:spPr>
              <a:xfrm>
                <a:off x="6664229" y="4410895"/>
                <a:ext cx="1836913" cy="6127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78C85F1D-007B-DAF5-B89F-4C873018FB4C}"/>
                  </a:ext>
                </a:extLst>
              </p:cNvPr>
              <p:cNvSpPr txBox="1"/>
              <p:nvPr/>
            </p:nvSpPr>
            <p:spPr>
              <a:xfrm>
                <a:off x="5579872" y="3860287"/>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0.4</m:t>
                      </m:r>
                    </m:oMath>
                  </m:oMathPara>
                </a14:m>
                <a:endParaRPr lang="en-CA" dirty="0"/>
              </a:p>
            </p:txBody>
          </p:sp>
        </mc:Choice>
        <mc:Fallback>
          <p:sp>
            <p:nvSpPr>
              <p:cNvPr id="25" name="TextBox 24">
                <a:extLst>
                  <a:ext uri="{FF2B5EF4-FFF2-40B4-BE49-F238E27FC236}">
                    <a16:creationId xmlns:a16="http://schemas.microsoft.com/office/drawing/2014/main" id="{78C85F1D-007B-DAF5-B89F-4C873018FB4C}"/>
                  </a:ext>
                </a:extLst>
              </p:cNvPr>
              <p:cNvSpPr txBox="1">
                <a:spLocks noRot="1" noChangeAspect="1" noMove="1" noResize="1" noEditPoints="1" noAdjustHandles="1" noChangeArrowheads="1" noChangeShapeType="1" noTextEdit="1"/>
              </p:cNvSpPr>
              <p:nvPr/>
            </p:nvSpPr>
            <p:spPr>
              <a:xfrm>
                <a:off x="5579872" y="3860287"/>
                <a:ext cx="543739" cy="369332"/>
              </a:xfrm>
              <a:prstGeom prst="rect">
                <a:avLst/>
              </a:prstGeom>
              <a:blipFill>
                <a:blip r:embed="rId9"/>
                <a:stretch>
                  <a:fillRect/>
                </a:stretch>
              </a:blipFill>
            </p:spPr>
            <p:txBody>
              <a:bodyPr/>
              <a:lstStyle/>
              <a:p>
                <a:r>
                  <a:rPr lang="en-CA">
                    <a:noFill/>
                  </a:rPr>
                  <a:t> </a:t>
                </a:r>
              </a:p>
            </p:txBody>
          </p:sp>
        </mc:Fallback>
      </mc:AlternateContent>
      <p:sp>
        <p:nvSpPr>
          <p:cNvPr id="28" name="Oval 27">
            <a:extLst>
              <a:ext uri="{FF2B5EF4-FFF2-40B4-BE49-F238E27FC236}">
                <a16:creationId xmlns:a16="http://schemas.microsoft.com/office/drawing/2014/main" id="{B9CCA0A6-5EA4-C2B2-59AB-C1BB2D8802B8}"/>
              </a:ext>
            </a:extLst>
          </p:cNvPr>
          <p:cNvSpPr/>
          <p:nvPr/>
        </p:nvSpPr>
        <p:spPr>
          <a:xfrm>
            <a:off x="9452721" y="3340276"/>
            <a:ext cx="178365" cy="155936"/>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397D3D58-8EF3-A659-F120-0478E08B01DF}"/>
                  </a:ext>
                </a:extLst>
              </p:cNvPr>
              <p:cNvSpPr txBox="1"/>
              <p:nvPr/>
            </p:nvSpPr>
            <p:spPr>
              <a:xfrm>
                <a:off x="5602195" y="3243823"/>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0.6</m:t>
                      </m:r>
                    </m:oMath>
                  </m:oMathPara>
                </a14:m>
                <a:endParaRPr lang="en-CA" dirty="0"/>
              </a:p>
            </p:txBody>
          </p:sp>
        </mc:Choice>
        <mc:Fallback>
          <p:sp>
            <p:nvSpPr>
              <p:cNvPr id="29" name="TextBox 28">
                <a:extLst>
                  <a:ext uri="{FF2B5EF4-FFF2-40B4-BE49-F238E27FC236}">
                    <a16:creationId xmlns:a16="http://schemas.microsoft.com/office/drawing/2014/main" id="{397D3D58-8EF3-A659-F120-0478E08B01DF}"/>
                  </a:ext>
                </a:extLst>
              </p:cNvPr>
              <p:cNvSpPr txBox="1">
                <a:spLocks noRot="1" noChangeAspect="1" noMove="1" noResize="1" noEditPoints="1" noAdjustHandles="1" noChangeArrowheads="1" noChangeShapeType="1" noTextEdit="1"/>
              </p:cNvSpPr>
              <p:nvPr/>
            </p:nvSpPr>
            <p:spPr>
              <a:xfrm>
                <a:off x="5602195" y="3243823"/>
                <a:ext cx="543739" cy="369332"/>
              </a:xfrm>
              <a:prstGeom prst="rect">
                <a:avLst/>
              </a:prstGeom>
              <a:blipFill>
                <a:blip r:embed="rId10"/>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2E01BBA3-F85E-C628-6289-F22CB184C7EF}"/>
                  </a:ext>
                </a:extLst>
              </p:cNvPr>
              <p:cNvSpPr txBox="1"/>
              <p:nvPr/>
            </p:nvSpPr>
            <p:spPr>
              <a:xfrm>
                <a:off x="9452721" y="3621923"/>
                <a:ext cx="2077364"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Pr</m:t>
                          </m:r>
                        </m:fName>
                        <m:e>
                          <m:d>
                            <m:dPr>
                              <m:ctrlPr>
                                <a:rPr lang="en-CA" b="0" i="1" smtClean="0">
                                  <a:latin typeface="Cambria Math" panose="02040503050406030204" pitchFamily="18" charset="0"/>
                                </a:rPr>
                              </m:ctrlPr>
                            </m:dPr>
                            <m:e>
                              <m:r>
                                <a:rPr lang="en-CA" b="0" i="1" smtClean="0">
                                  <a:latin typeface="Cambria Math" panose="02040503050406030204" pitchFamily="18" charset="0"/>
                                </a:rPr>
                                <m:t>𝐶𝐸</m:t>
                              </m:r>
                            </m:e>
                            <m:e>
                              <m:r>
                                <a:rPr lang="en-CA" b="0" i="1" smtClean="0">
                                  <a:latin typeface="Cambria Math" panose="02040503050406030204" pitchFamily="18" charset="0"/>
                                </a:rPr>
                                <m:t>+∞</m:t>
                              </m:r>
                            </m:e>
                          </m:d>
                        </m:e>
                      </m:fun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60</m:t>
                          </m:r>
                        </m:num>
                        <m:den>
                          <m:r>
                            <a:rPr lang="en-CA" b="0" i="1" smtClean="0">
                              <a:latin typeface="Cambria Math" panose="02040503050406030204" pitchFamily="18" charset="0"/>
                            </a:rPr>
                            <m:t>100</m:t>
                          </m:r>
                        </m:den>
                      </m:f>
                    </m:oMath>
                  </m:oMathPara>
                </a14:m>
                <a:endParaRPr lang="en-CA" dirty="0"/>
              </a:p>
            </p:txBody>
          </p:sp>
        </mc:Choice>
        <mc:Fallback>
          <p:sp>
            <p:nvSpPr>
              <p:cNvPr id="30" name="TextBox 29">
                <a:extLst>
                  <a:ext uri="{FF2B5EF4-FFF2-40B4-BE49-F238E27FC236}">
                    <a16:creationId xmlns:a16="http://schemas.microsoft.com/office/drawing/2014/main" id="{2E01BBA3-F85E-C628-6289-F22CB184C7EF}"/>
                  </a:ext>
                </a:extLst>
              </p:cNvPr>
              <p:cNvSpPr txBox="1">
                <a:spLocks noRot="1" noChangeAspect="1" noMove="1" noResize="1" noEditPoints="1" noAdjustHandles="1" noChangeArrowheads="1" noChangeShapeType="1" noTextEdit="1"/>
              </p:cNvSpPr>
              <p:nvPr/>
            </p:nvSpPr>
            <p:spPr>
              <a:xfrm>
                <a:off x="9452721" y="3621923"/>
                <a:ext cx="2077364" cy="612732"/>
              </a:xfrm>
              <a:prstGeom prst="rect">
                <a:avLst/>
              </a:prstGeom>
              <a:blipFill>
                <a:blip r:embed="rId11"/>
                <a:stretch>
                  <a:fillRect/>
                </a:stretch>
              </a:blipFill>
            </p:spPr>
            <p:txBody>
              <a:bodyPr/>
              <a:lstStyle/>
              <a:p>
                <a:r>
                  <a:rPr lang="en-CA">
                    <a:noFill/>
                  </a:rPr>
                  <a:t> </a:t>
                </a:r>
              </a:p>
            </p:txBody>
          </p:sp>
        </mc:Fallback>
      </mc:AlternateContent>
      <p:cxnSp>
        <p:nvCxnSpPr>
          <p:cNvPr id="32" name="Straight Connector 31">
            <a:extLst>
              <a:ext uri="{FF2B5EF4-FFF2-40B4-BE49-F238E27FC236}">
                <a16:creationId xmlns:a16="http://schemas.microsoft.com/office/drawing/2014/main" id="{F898E5DD-8522-2F3F-43A2-130376F8AC12}"/>
              </a:ext>
            </a:extLst>
          </p:cNvPr>
          <p:cNvCxnSpPr>
            <a:endCxn id="28" idx="2"/>
          </p:cNvCxnSpPr>
          <p:nvPr/>
        </p:nvCxnSpPr>
        <p:spPr>
          <a:xfrm>
            <a:off x="6248400" y="3428489"/>
            <a:ext cx="3204321"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DD00E39A-6FA8-5CEB-3190-C6F2DE0346D8}"/>
              </a:ext>
            </a:extLst>
          </p:cNvPr>
          <p:cNvSpPr/>
          <p:nvPr/>
        </p:nvSpPr>
        <p:spPr>
          <a:xfrm>
            <a:off x="6232869" y="3419475"/>
            <a:ext cx="3244506" cy="561975"/>
          </a:xfrm>
          <a:custGeom>
            <a:avLst/>
            <a:gdLst>
              <a:gd name="connsiteX0" fmla="*/ 0 w 3219450"/>
              <a:gd name="connsiteY0" fmla="*/ 561975 h 561975"/>
              <a:gd name="connsiteX1" fmla="*/ 542925 w 3219450"/>
              <a:gd name="connsiteY1" fmla="*/ 200025 h 561975"/>
              <a:gd name="connsiteX2" fmla="*/ 3219450 w 3219450"/>
              <a:gd name="connsiteY2" fmla="*/ 0 h 561975"/>
            </a:gdLst>
            <a:ahLst/>
            <a:cxnLst>
              <a:cxn ang="0">
                <a:pos x="connsiteX0" y="connsiteY0"/>
              </a:cxn>
              <a:cxn ang="0">
                <a:pos x="connsiteX1" y="connsiteY1"/>
              </a:cxn>
              <a:cxn ang="0">
                <a:pos x="connsiteX2" y="connsiteY2"/>
              </a:cxn>
            </a:cxnLst>
            <a:rect l="l" t="t" r="r" b="b"/>
            <a:pathLst>
              <a:path w="3219450" h="561975">
                <a:moveTo>
                  <a:pt x="0" y="561975"/>
                </a:moveTo>
                <a:cubicBezTo>
                  <a:pt x="3175" y="427831"/>
                  <a:pt x="6350" y="293687"/>
                  <a:pt x="542925" y="200025"/>
                </a:cubicBezTo>
                <a:cubicBezTo>
                  <a:pt x="1079500" y="106362"/>
                  <a:pt x="2149475" y="53181"/>
                  <a:pt x="3219450" y="0"/>
                </a:cubicBezTo>
              </a:path>
            </a:pathLst>
          </a:cu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Arrow: Right 25">
            <a:extLst>
              <a:ext uri="{FF2B5EF4-FFF2-40B4-BE49-F238E27FC236}">
                <a16:creationId xmlns:a16="http://schemas.microsoft.com/office/drawing/2014/main" id="{A036CB5B-CE94-991F-96E9-C4C58F994B97}"/>
              </a:ext>
            </a:extLst>
          </p:cNvPr>
          <p:cNvSpPr/>
          <p:nvPr/>
        </p:nvSpPr>
        <p:spPr>
          <a:xfrm rot="13076728">
            <a:off x="9570867" y="3598348"/>
            <a:ext cx="477993" cy="1736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8B980F5F-FEE0-773B-1922-B95946B2C45A}"/>
              </a:ext>
            </a:extLst>
          </p:cNvPr>
          <p:cNvSpPr txBox="1"/>
          <p:nvPr/>
        </p:nvSpPr>
        <p:spPr>
          <a:xfrm>
            <a:off x="4724400" y="5679913"/>
            <a:ext cx="6915150" cy="369332"/>
          </a:xfrm>
          <a:prstGeom prst="rect">
            <a:avLst/>
          </a:prstGeom>
          <a:noFill/>
        </p:spPr>
        <p:txBody>
          <a:bodyPr wrap="square">
            <a:spAutoFit/>
          </a:bodyPr>
          <a:lstStyle/>
          <a:p>
            <a:r>
              <a:rPr lang="en-CA" b="1" dirty="0"/>
              <a:t>Step 3: Connect these points with a  curve</a:t>
            </a:r>
          </a:p>
        </p:txBody>
      </p:sp>
    </p:spTree>
    <p:extLst>
      <p:ext uri="{BB962C8B-B14F-4D97-AF65-F5344CB8AC3E}">
        <p14:creationId xmlns:p14="http://schemas.microsoft.com/office/powerpoint/2010/main" val="1414540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FF0C2-DAE7-BB13-C815-8967E335E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22053-8069-9030-B6C9-5059A0F0A750}"/>
              </a:ext>
            </a:extLst>
          </p:cNvPr>
          <p:cNvSpPr>
            <a:spLocks noGrp="1"/>
          </p:cNvSpPr>
          <p:nvPr>
            <p:ph type="title"/>
          </p:nvPr>
        </p:nvSpPr>
        <p:spPr>
          <a:xfrm>
            <a:off x="482600" y="597408"/>
            <a:ext cx="10634472" cy="1117092"/>
          </a:xfrm>
        </p:spPr>
        <p:txBody>
          <a:bodyPr/>
          <a:lstStyle/>
          <a:p>
            <a:r>
              <a:rPr lang="en-CA" sz="4800" dirty="0"/>
              <a:t>Sketching the CEAC by hand.</a:t>
            </a:r>
          </a:p>
        </p:txBody>
      </p:sp>
      <p:sp>
        <p:nvSpPr>
          <p:cNvPr id="3" name="Content Placeholder 2">
            <a:extLst>
              <a:ext uri="{FF2B5EF4-FFF2-40B4-BE49-F238E27FC236}">
                <a16:creationId xmlns:a16="http://schemas.microsoft.com/office/drawing/2014/main" id="{DFD04BA0-53C3-643A-005F-8A6A49B9E1B8}"/>
              </a:ext>
            </a:extLst>
          </p:cNvPr>
          <p:cNvSpPr>
            <a:spLocks noGrp="1"/>
          </p:cNvSpPr>
          <p:nvPr>
            <p:ph idx="1"/>
          </p:nvPr>
        </p:nvSpPr>
        <p:spPr>
          <a:xfrm>
            <a:off x="482601" y="1723324"/>
            <a:ext cx="10566400" cy="676085"/>
          </a:xfrm>
        </p:spPr>
        <p:txBody>
          <a:bodyPr>
            <a:normAutofit fontScale="92500" lnSpcReduction="20000"/>
          </a:bodyPr>
          <a:lstStyle/>
          <a:p>
            <a:pPr marL="342900" indent="-342900">
              <a:buFont typeface="Wingdings" panose="05000000000000000000" pitchFamily="2" charset="2"/>
              <a:buChar char="§"/>
            </a:pPr>
            <a:r>
              <a:rPr lang="en-CA" dirty="0"/>
              <a:t>Consider the following CE plane with 100 simulated ICERS. Sketch the cost effectiveness acceptability curve</a:t>
            </a:r>
          </a:p>
        </p:txBody>
      </p:sp>
      <p:cxnSp>
        <p:nvCxnSpPr>
          <p:cNvPr id="4" name="Straight Connector 3">
            <a:extLst>
              <a:ext uri="{FF2B5EF4-FFF2-40B4-BE49-F238E27FC236}">
                <a16:creationId xmlns:a16="http://schemas.microsoft.com/office/drawing/2014/main" id="{906D75FD-EEAA-36D8-4996-5607DF53370C}"/>
              </a:ext>
            </a:extLst>
          </p:cNvPr>
          <p:cNvCxnSpPr>
            <a:cxnSpLocks/>
          </p:cNvCxnSpPr>
          <p:nvPr/>
        </p:nvCxnSpPr>
        <p:spPr>
          <a:xfrm>
            <a:off x="2471593" y="2883407"/>
            <a:ext cx="0" cy="23839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683508C-B383-1D96-A7FE-805480523AB6}"/>
              </a:ext>
            </a:extLst>
          </p:cNvPr>
          <p:cNvCxnSpPr>
            <a:cxnSpLocks/>
          </p:cNvCxnSpPr>
          <p:nvPr/>
        </p:nvCxnSpPr>
        <p:spPr>
          <a:xfrm flipH="1">
            <a:off x="1238250" y="3974593"/>
            <a:ext cx="26479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0EF9A3-8A32-C88A-310F-A2482DDF1620}"/>
                  </a:ext>
                </a:extLst>
              </p:cNvPr>
              <p:cNvSpPr txBox="1"/>
              <p:nvPr/>
            </p:nvSpPr>
            <p:spPr>
              <a:xfrm>
                <a:off x="1946577" y="2530032"/>
                <a:ext cx="525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030EF9A3-8A32-C88A-310F-A2482DDF1620}"/>
                  </a:ext>
                </a:extLst>
              </p:cNvPr>
              <p:cNvSpPr txBox="1">
                <a:spLocks noRot="1" noChangeAspect="1" noMove="1" noResize="1" noEditPoints="1" noAdjustHandles="1" noChangeArrowheads="1" noChangeShapeType="1" noTextEdit="1"/>
              </p:cNvSpPr>
              <p:nvPr/>
            </p:nvSpPr>
            <p:spPr>
              <a:xfrm>
                <a:off x="1946577" y="2530032"/>
                <a:ext cx="5250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DA6499-8E2F-EBF9-BB0A-441B731908C1}"/>
                  </a:ext>
                </a:extLst>
              </p:cNvPr>
              <p:cNvSpPr txBox="1"/>
              <p:nvPr/>
            </p:nvSpPr>
            <p:spPr>
              <a:xfrm>
                <a:off x="3971499" y="3789927"/>
                <a:ext cx="5303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𝐸</m:t>
                      </m:r>
                    </m:oMath>
                  </m:oMathPara>
                </a14:m>
                <a:endParaRPr lang="en-CA" dirty="0"/>
              </a:p>
            </p:txBody>
          </p:sp>
        </mc:Choice>
        <mc:Fallback xmlns="">
          <p:sp>
            <p:nvSpPr>
              <p:cNvPr id="7" name="TextBox 6">
                <a:extLst>
                  <a:ext uri="{FF2B5EF4-FFF2-40B4-BE49-F238E27FC236}">
                    <a16:creationId xmlns:a16="http://schemas.microsoft.com/office/drawing/2014/main" id="{BADA6499-8E2F-EBF9-BB0A-441B731908C1}"/>
                  </a:ext>
                </a:extLst>
              </p:cNvPr>
              <p:cNvSpPr txBox="1">
                <a:spLocks noRot="1" noChangeAspect="1" noMove="1" noResize="1" noEditPoints="1" noAdjustHandles="1" noChangeArrowheads="1" noChangeShapeType="1" noTextEdit="1"/>
              </p:cNvSpPr>
              <p:nvPr/>
            </p:nvSpPr>
            <p:spPr>
              <a:xfrm>
                <a:off x="3971499" y="3789927"/>
                <a:ext cx="530338" cy="369332"/>
              </a:xfrm>
              <a:prstGeom prst="rect">
                <a:avLst/>
              </a:prstGeom>
              <a:blipFill>
                <a:blip r:embed="rId3"/>
                <a:stretch>
                  <a:fillRect/>
                </a:stretch>
              </a:blipFill>
            </p:spPr>
            <p:txBody>
              <a:bodyPr/>
              <a:lstStyle/>
              <a:p>
                <a:r>
                  <a:rPr lang="en-CA">
                    <a:noFill/>
                  </a:rPr>
                  <a:t> </a:t>
                </a:r>
              </a:p>
            </p:txBody>
          </p:sp>
        </mc:Fallback>
      </mc:AlternateContent>
      <p:sp>
        <p:nvSpPr>
          <p:cNvPr id="13" name="Oval 12">
            <a:extLst>
              <a:ext uri="{FF2B5EF4-FFF2-40B4-BE49-F238E27FC236}">
                <a16:creationId xmlns:a16="http://schemas.microsoft.com/office/drawing/2014/main" id="{F7CBD745-60A0-335B-98FB-7C2CA5FBBF03}"/>
              </a:ext>
            </a:extLst>
          </p:cNvPr>
          <p:cNvSpPr/>
          <p:nvPr/>
        </p:nvSpPr>
        <p:spPr>
          <a:xfrm>
            <a:off x="2647950" y="2883407"/>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N=50</a:t>
            </a:r>
          </a:p>
        </p:txBody>
      </p:sp>
      <p:sp>
        <p:nvSpPr>
          <p:cNvPr id="14" name="Oval 13">
            <a:extLst>
              <a:ext uri="{FF2B5EF4-FFF2-40B4-BE49-F238E27FC236}">
                <a16:creationId xmlns:a16="http://schemas.microsoft.com/office/drawing/2014/main" id="{94FE2959-5E73-5361-542D-4F03B3EA4168}"/>
              </a:ext>
            </a:extLst>
          </p:cNvPr>
          <p:cNvSpPr/>
          <p:nvPr/>
        </p:nvSpPr>
        <p:spPr>
          <a:xfrm>
            <a:off x="2659575" y="4139370"/>
            <a:ext cx="1123942" cy="974215"/>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5" name="Oval 14">
            <a:extLst>
              <a:ext uri="{FF2B5EF4-FFF2-40B4-BE49-F238E27FC236}">
                <a16:creationId xmlns:a16="http://schemas.microsoft.com/office/drawing/2014/main" id="{552593C9-D486-224F-D1FF-93297CD15880}"/>
              </a:ext>
            </a:extLst>
          </p:cNvPr>
          <p:cNvSpPr/>
          <p:nvPr/>
        </p:nvSpPr>
        <p:spPr>
          <a:xfrm>
            <a:off x="1085143" y="4159259"/>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N=30</a:t>
            </a:r>
          </a:p>
        </p:txBody>
      </p:sp>
      <p:sp>
        <p:nvSpPr>
          <p:cNvPr id="16" name="Oval 15">
            <a:extLst>
              <a:ext uri="{FF2B5EF4-FFF2-40B4-BE49-F238E27FC236}">
                <a16:creationId xmlns:a16="http://schemas.microsoft.com/office/drawing/2014/main" id="{45927DCB-30B1-4ED9-1FD8-32953076A52B}"/>
              </a:ext>
            </a:extLst>
          </p:cNvPr>
          <p:cNvSpPr/>
          <p:nvPr/>
        </p:nvSpPr>
        <p:spPr>
          <a:xfrm>
            <a:off x="1056987" y="2871480"/>
            <a:ext cx="1123942" cy="97421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N=10</a:t>
            </a:r>
          </a:p>
        </p:txBody>
      </p:sp>
      <p:sp>
        <p:nvSpPr>
          <p:cNvPr id="17" name="Rectangle 16">
            <a:extLst>
              <a:ext uri="{FF2B5EF4-FFF2-40B4-BE49-F238E27FC236}">
                <a16:creationId xmlns:a16="http://schemas.microsoft.com/office/drawing/2014/main" id="{8D7E47B2-1998-ACEA-6FD9-21BED4D7AB8A}"/>
              </a:ext>
            </a:extLst>
          </p:cNvPr>
          <p:cNvSpPr/>
          <p:nvPr/>
        </p:nvSpPr>
        <p:spPr>
          <a:xfrm>
            <a:off x="6221243" y="2638558"/>
            <a:ext cx="3809999" cy="267207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Rectangle 17">
            <a:extLst>
              <a:ext uri="{FF2B5EF4-FFF2-40B4-BE49-F238E27FC236}">
                <a16:creationId xmlns:a16="http://schemas.microsoft.com/office/drawing/2014/main" id="{26CEA1DC-F114-7FA2-9B8D-FD4A637B50E6}"/>
              </a:ext>
            </a:extLst>
          </p:cNvPr>
          <p:cNvSpPr/>
          <p:nvPr/>
        </p:nvSpPr>
        <p:spPr>
          <a:xfrm>
            <a:off x="6096000" y="25300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75685A26-C322-269B-C30A-A7D1866161FD}"/>
              </a:ext>
            </a:extLst>
          </p:cNvPr>
          <p:cNvSpPr/>
          <p:nvPr/>
        </p:nvSpPr>
        <p:spPr>
          <a:xfrm>
            <a:off x="9820275" y="2682431"/>
            <a:ext cx="336210" cy="28515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111A0247-F450-E9E7-01AC-7ED78AD50EF7}"/>
              </a:ext>
            </a:extLst>
          </p:cNvPr>
          <p:cNvSpPr/>
          <p:nvPr/>
        </p:nvSpPr>
        <p:spPr>
          <a:xfrm>
            <a:off x="6248400" y="2682432"/>
            <a:ext cx="4149423"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16AF8E3-312B-1F0B-2333-F32840CD2C3D}"/>
                  </a:ext>
                </a:extLst>
              </p:cNvPr>
              <p:cNvSpPr txBox="1"/>
              <p:nvPr/>
            </p:nvSpPr>
            <p:spPr>
              <a:xfrm>
                <a:off x="5100137" y="2919973"/>
                <a:ext cx="1148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m:oMathPara>
                </a14:m>
                <a:endParaRPr lang="en-CA" dirty="0"/>
              </a:p>
            </p:txBody>
          </p:sp>
        </mc:Choice>
        <mc:Fallback xmlns="">
          <p:sp>
            <p:nvSpPr>
              <p:cNvPr id="21" name="TextBox 20">
                <a:extLst>
                  <a:ext uri="{FF2B5EF4-FFF2-40B4-BE49-F238E27FC236}">
                    <a16:creationId xmlns:a16="http://schemas.microsoft.com/office/drawing/2014/main" id="{516AF8E3-312B-1F0B-2333-F32840CD2C3D}"/>
                  </a:ext>
                </a:extLst>
              </p:cNvPr>
              <p:cNvSpPr txBox="1">
                <a:spLocks noRot="1" noChangeAspect="1" noMove="1" noResize="1" noEditPoints="1" noAdjustHandles="1" noChangeArrowheads="1" noChangeShapeType="1" noTextEdit="1"/>
              </p:cNvSpPr>
              <p:nvPr/>
            </p:nvSpPr>
            <p:spPr>
              <a:xfrm>
                <a:off x="5100137" y="2919973"/>
                <a:ext cx="1148263" cy="369332"/>
              </a:xfrm>
              <a:prstGeom prst="rect">
                <a:avLst/>
              </a:prstGeom>
              <a:blipFill>
                <a:blip r:embed="rId4"/>
                <a:stretch>
                  <a:fillRect b="-1475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2913A8-1BBF-39AA-6504-50B781C6A7FC}"/>
                  </a:ext>
                </a:extLst>
              </p:cNvPr>
              <p:cNvSpPr txBox="1"/>
              <p:nvPr/>
            </p:nvSpPr>
            <p:spPr>
              <a:xfrm>
                <a:off x="9625011" y="5317092"/>
                <a:ext cx="363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𝜆</m:t>
                      </m:r>
                    </m:oMath>
                  </m:oMathPara>
                </a14:m>
                <a:endParaRPr lang="en-CA" dirty="0"/>
              </a:p>
            </p:txBody>
          </p:sp>
        </mc:Choice>
        <mc:Fallback xmlns="">
          <p:sp>
            <p:nvSpPr>
              <p:cNvPr id="23" name="TextBox 22">
                <a:extLst>
                  <a:ext uri="{FF2B5EF4-FFF2-40B4-BE49-F238E27FC236}">
                    <a16:creationId xmlns:a16="http://schemas.microsoft.com/office/drawing/2014/main" id="{0A2913A8-1BBF-39AA-6504-50B781C6A7FC}"/>
                  </a:ext>
                </a:extLst>
              </p:cNvPr>
              <p:cNvSpPr txBox="1">
                <a:spLocks noRot="1" noChangeAspect="1" noMove="1" noResize="1" noEditPoints="1" noAdjustHandles="1" noChangeArrowheads="1" noChangeShapeType="1" noTextEdit="1"/>
              </p:cNvSpPr>
              <p:nvPr/>
            </p:nvSpPr>
            <p:spPr>
              <a:xfrm>
                <a:off x="9625011" y="5317092"/>
                <a:ext cx="363369"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D862FD4-156A-BC27-57DC-928399376CFA}"/>
                  </a:ext>
                </a:extLst>
              </p:cNvPr>
              <p:cNvSpPr txBox="1"/>
              <p:nvPr/>
            </p:nvSpPr>
            <p:spPr>
              <a:xfrm>
                <a:off x="5912296" y="5349358"/>
                <a:ext cx="3674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CA" dirty="0"/>
              </a:p>
            </p:txBody>
          </p:sp>
        </mc:Choice>
        <mc:Fallback xmlns="">
          <p:sp>
            <p:nvSpPr>
              <p:cNvPr id="24" name="TextBox 23">
                <a:extLst>
                  <a:ext uri="{FF2B5EF4-FFF2-40B4-BE49-F238E27FC236}">
                    <a16:creationId xmlns:a16="http://schemas.microsoft.com/office/drawing/2014/main" id="{DD862FD4-156A-BC27-57DC-928399376CFA}"/>
                  </a:ext>
                </a:extLst>
              </p:cNvPr>
              <p:cNvSpPr txBox="1">
                <a:spLocks noRot="1" noChangeAspect="1" noMove="1" noResize="1" noEditPoints="1" noAdjustHandles="1" noChangeArrowheads="1" noChangeShapeType="1" noTextEdit="1"/>
              </p:cNvSpPr>
              <p:nvPr/>
            </p:nvSpPr>
            <p:spPr>
              <a:xfrm>
                <a:off x="5912296" y="5349358"/>
                <a:ext cx="367408" cy="369332"/>
              </a:xfrm>
              <a:prstGeom prst="rect">
                <a:avLst/>
              </a:prstGeom>
              <a:blipFill>
                <a:blip r:embed="rId6"/>
                <a:stretch>
                  <a:fillRect/>
                </a:stretch>
              </a:blipFill>
            </p:spPr>
            <p:txBody>
              <a:bodyPr/>
              <a:lstStyle/>
              <a:p>
                <a:r>
                  <a:rPr lang="en-CA">
                    <a:noFill/>
                  </a:rPr>
                  <a:t> </a:t>
                </a:r>
              </a:p>
            </p:txBody>
          </p:sp>
        </mc:Fallback>
      </mc:AlternateContent>
      <p:cxnSp>
        <p:nvCxnSpPr>
          <p:cNvPr id="10" name="Straight Connector 9">
            <a:extLst>
              <a:ext uri="{FF2B5EF4-FFF2-40B4-BE49-F238E27FC236}">
                <a16:creationId xmlns:a16="http://schemas.microsoft.com/office/drawing/2014/main" id="{A71588C6-30D8-1B32-6BA6-D4C08CD21104}"/>
              </a:ext>
            </a:extLst>
          </p:cNvPr>
          <p:cNvCxnSpPr>
            <a:cxnSpLocks/>
          </p:cNvCxnSpPr>
          <p:nvPr/>
        </p:nvCxnSpPr>
        <p:spPr>
          <a:xfrm flipV="1">
            <a:off x="2471593" y="2883407"/>
            <a:ext cx="0" cy="2465951"/>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A755CE8-D284-817B-00E4-D984D1764829}"/>
                  </a:ext>
                </a:extLst>
              </p:cNvPr>
              <p:cNvSpPr txBox="1"/>
              <p:nvPr/>
            </p:nvSpPr>
            <p:spPr>
              <a:xfrm>
                <a:off x="2427704" y="2495792"/>
                <a:ext cx="11449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𝜆</m:t>
                          </m:r>
                        </m:e>
                        <m:sup>
                          <m:r>
                            <a:rPr lang="en-CA" b="0" i="1" smtClean="0">
                              <a:latin typeface="Cambria Math" panose="02040503050406030204" pitchFamily="18" charset="0"/>
                            </a:rPr>
                            <m:t>𝑇</m:t>
                          </m:r>
                        </m:sup>
                      </m:sSup>
                      <m:r>
                        <a:rPr lang="en-CA" b="0" i="1" smtClean="0">
                          <a:latin typeface="Cambria Math" panose="02040503050406030204" pitchFamily="18" charset="0"/>
                        </a:rPr>
                        <m:t>=+∞</m:t>
                      </m:r>
                    </m:oMath>
                  </m:oMathPara>
                </a14:m>
                <a:endParaRPr lang="en-CA" dirty="0"/>
              </a:p>
            </p:txBody>
          </p:sp>
        </mc:Choice>
        <mc:Fallback xmlns="">
          <p:sp>
            <p:nvSpPr>
              <p:cNvPr id="11" name="TextBox 10">
                <a:extLst>
                  <a:ext uri="{FF2B5EF4-FFF2-40B4-BE49-F238E27FC236}">
                    <a16:creationId xmlns:a16="http://schemas.microsoft.com/office/drawing/2014/main" id="{2A755CE8-D284-817B-00E4-D984D1764829}"/>
                  </a:ext>
                </a:extLst>
              </p:cNvPr>
              <p:cNvSpPr txBox="1">
                <a:spLocks noRot="1" noChangeAspect="1" noMove="1" noResize="1" noEditPoints="1" noAdjustHandles="1" noChangeArrowheads="1" noChangeShapeType="1" noTextEdit="1"/>
              </p:cNvSpPr>
              <p:nvPr/>
            </p:nvSpPr>
            <p:spPr>
              <a:xfrm>
                <a:off x="2427704" y="2495792"/>
                <a:ext cx="1144929" cy="369332"/>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5193C99D-F214-506E-C83C-E088EC69FA51}"/>
                  </a:ext>
                </a:extLst>
              </p:cNvPr>
              <p:cNvSpPr txBox="1"/>
              <p:nvPr/>
            </p:nvSpPr>
            <p:spPr>
              <a:xfrm>
                <a:off x="5579872" y="3860287"/>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0.4</m:t>
                      </m:r>
                    </m:oMath>
                  </m:oMathPara>
                </a14:m>
                <a:endParaRPr lang="en-CA" dirty="0"/>
              </a:p>
            </p:txBody>
          </p:sp>
        </mc:Choice>
        <mc:Fallback>
          <p:sp>
            <p:nvSpPr>
              <p:cNvPr id="25" name="TextBox 24">
                <a:extLst>
                  <a:ext uri="{FF2B5EF4-FFF2-40B4-BE49-F238E27FC236}">
                    <a16:creationId xmlns:a16="http://schemas.microsoft.com/office/drawing/2014/main" id="{5193C99D-F214-506E-C83C-E088EC69FA51}"/>
                  </a:ext>
                </a:extLst>
              </p:cNvPr>
              <p:cNvSpPr txBox="1">
                <a:spLocks noRot="1" noChangeAspect="1" noMove="1" noResize="1" noEditPoints="1" noAdjustHandles="1" noChangeArrowheads="1" noChangeShapeType="1" noTextEdit="1"/>
              </p:cNvSpPr>
              <p:nvPr/>
            </p:nvSpPr>
            <p:spPr>
              <a:xfrm>
                <a:off x="5579872" y="3860287"/>
                <a:ext cx="543739" cy="3693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C4BFAC6A-9E3B-2CB1-EC7D-C14B15766C37}"/>
                  </a:ext>
                </a:extLst>
              </p:cNvPr>
              <p:cNvSpPr txBox="1"/>
              <p:nvPr/>
            </p:nvSpPr>
            <p:spPr>
              <a:xfrm>
                <a:off x="5602195" y="3243823"/>
                <a:ext cx="5437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0.6</m:t>
                      </m:r>
                    </m:oMath>
                  </m:oMathPara>
                </a14:m>
                <a:endParaRPr lang="en-CA" dirty="0"/>
              </a:p>
            </p:txBody>
          </p:sp>
        </mc:Choice>
        <mc:Fallback>
          <p:sp>
            <p:nvSpPr>
              <p:cNvPr id="29" name="TextBox 28">
                <a:extLst>
                  <a:ext uri="{FF2B5EF4-FFF2-40B4-BE49-F238E27FC236}">
                    <a16:creationId xmlns:a16="http://schemas.microsoft.com/office/drawing/2014/main" id="{C4BFAC6A-9E3B-2CB1-EC7D-C14B15766C37}"/>
                  </a:ext>
                </a:extLst>
              </p:cNvPr>
              <p:cNvSpPr txBox="1">
                <a:spLocks noRot="1" noChangeAspect="1" noMove="1" noResize="1" noEditPoints="1" noAdjustHandles="1" noChangeArrowheads="1" noChangeShapeType="1" noTextEdit="1"/>
              </p:cNvSpPr>
              <p:nvPr/>
            </p:nvSpPr>
            <p:spPr>
              <a:xfrm>
                <a:off x="5602195" y="3243823"/>
                <a:ext cx="543739" cy="369332"/>
              </a:xfrm>
              <a:prstGeom prst="rect">
                <a:avLst/>
              </a:prstGeom>
              <a:blipFill>
                <a:blip r:embed="rId9"/>
                <a:stretch>
                  <a:fillRect/>
                </a:stretch>
              </a:blipFill>
            </p:spPr>
            <p:txBody>
              <a:bodyPr/>
              <a:lstStyle/>
              <a:p>
                <a:r>
                  <a:rPr lang="en-CA">
                    <a:noFill/>
                  </a:rPr>
                  <a:t> </a:t>
                </a:r>
              </a:p>
            </p:txBody>
          </p:sp>
        </mc:Fallback>
      </mc:AlternateContent>
      <p:cxnSp>
        <p:nvCxnSpPr>
          <p:cNvPr id="32" name="Straight Connector 31">
            <a:extLst>
              <a:ext uri="{FF2B5EF4-FFF2-40B4-BE49-F238E27FC236}">
                <a16:creationId xmlns:a16="http://schemas.microsoft.com/office/drawing/2014/main" id="{5441548B-0651-5161-48AD-6D899F38EDFD}"/>
              </a:ext>
            </a:extLst>
          </p:cNvPr>
          <p:cNvCxnSpPr>
            <a:endCxn id="28" idx="2"/>
          </p:cNvCxnSpPr>
          <p:nvPr/>
        </p:nvCxnSpPr>
        <p:spPr>
          <a:xfrm>
            <a:off x="6248400" y="3428489"/>
            <a:ext cx="3204321"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563B206A-32F0-21C7-AE64-841F8F78C49F}"/>
              </a:ext>
            </a:extLst>
          </p:cNvPr>
          <p:cNvSpPr/>
          <p:nvPr/>
        </p:nvSpPr>
        <p:spPr>
          <a:xfrm>
            <a:off x="6232869" y="3419475"/>
            <a:ext cx="3244506" cy="561975"/>
          </a:xfrm>
          <a:custGeom>
            <a:avLst/>
            <a:gdLst>
              <a:gd name="connsiteX0" fmla="*/ 0 w 3219450"/>
              <a:gd name="connsiteY0" fmla="*/ 561975 h 561975"/>
              <a:gd name="connsiteX1" fmla="*/ 542925 w 3219450"/>
              <a:gd name="connsiteY1" fmla="*/ 200025 h 561975"/>
              <a:gd name="connsiteX2" fmla="*/ 3219450 w 3219450"/>
              <a:gd name="connsiteY2" fmla="*/ 0 h 561975"/>
            </a:gdLst>
            <a:ahLst/>
            <a:cxnLst>
              <a:cxn ang="0">
                <a:pos x="connsiteX0" y="connsiteY0"/>
              </a:cxn>
              <a:cxn ang="0">
                <a:pos x="connsiteX1" y="connsiteY1"/>
              </a:cxn>
              <a:cxn ang="0">
                <a:pos x="connsiteX2" y="connsiteY2"/>
              </a:cxn>
            </a:cxnLst>
            <a:rect l="l" t="t" r="r" b="b"/>
            <a:pathLst>
              <a:path w="3219450" h="561975">
                <a:moveTo>
                  <a:pt x="0" y="561975"/>
                </a:moveTo>
                <a:cubicBezTo>
                  <a:pt x="3175" y="427831"/>
                  <a:pt x="6350" y="293687"/>
                  <a:pt x="542925" y="200025"/>
                </a:cubicBezTo>
                <a:cubicBezTo>
                  <a:pt x="1079500" y="106362"/>
                  <a:pt x="2149475" y="53181"/>
                  <a:pt x="3219450" y="0"/>
                </a:cubicBezTo>
              </a:path>
            </a:pathLst>
          </a:cu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7A187464-9EB6-6776-449B-3E5BC8F36AFB}"/>
              </a:ext>
            </a:extLst>
          </p:cNvPr>
          <p:cNvSpPr txBox="1"/>
          <p:nvPr/>
        </p:nvSpPr>
        <p:spPr>
          <a:xfrm>
            <a:off x="4724400" y="5679913"/>
            <a:ext cx="6915150" cy="369332"/>
          </a:xfrm>
          <a:prstGeom prst="rect">
            <a:avLst/>
          </a:prstGeom>
          <a:noFill/>
        </p:spPr>
        <p:txBody>
          <a:bodyPr wrap="square">
            <a:spAutoFit/>
          </a:bodyPr>
          <a:lstStyle/>
          <a:p>
            <a:r>
              <a:rPr lang="en-CA" b="1" dirty="0"/>
              <a:t>Step 3: Connect these points with a  curve</a:t>
            </a:r>
          </a:p>
        </p:txBody>
      </p:sp>
      <p:sp>
        <p:nvSpPr>
          <p:cNvPr id="31" name="Freeform: Shape 30">
            <a:extLst>
              <a:ext uri="{FF2B5EF4-FFF2-40B4-BE49-F238E27FC236}">
                <a16:creationId xmlns:a16="http://schemas.microsoft.com/office/drawing/2014/main" id="{07DF49B8-66FA-B60A-B337-8639E5A2F51F}"/>
              </a:ext>
            </a:extLst>
          </p:cNvPr>
          <p:cNvSpPr/>
          <p:nvPr/>
        </p:nvSpPr>
        <p:spPr>
          <a:xfrm>
            <a:off x="6229350" y="3429000"/>
            <a:ext cx="3287014" cy="846178"/>
          </a:xfrm>
          <a:custGeom>
            <a:avLst/>
            <a:gdLst>
              <a:gd name="connsiteX0" fmla="*/ 0 w 3190875"/>
              <a:gd name="connsiteY0" fmla="*/ 609600 h 846178"/>
              <a:gd name="connsiteX1" fmla="*/ 304800 w 3190875"/>
              <a:gd name="connsiteY1" fmla="*/ 828675 h 846178"/>
              <a:gd name="connsiteX2" fmla="*/ 857250 w 3190875"/>
              <a:gd name="connsiteY2" fmla="*/ 200025 h 846178"/>
              <a:gd name="connsiteX3" fmla="*/ 3190875 w 3190875"/>
              <a:gd name="connsiteY3" fmla="*/ 0 h 846178"/>
            </a:gdLst>
            <a:ahLst/>
            <a:cxnLst>
              <a:cxn ang="0">
                <a:pos x="connsiteX0" y="connsiteY0"/>
              </a:cxn>
              <a:cxn ang="0">
                <a:pos x="connsiteX1" y="connsiteY1"/>
              </a:cxn>
              <a:cxn ang="0">
                <a:pos x="connsiteX2" y="connsiteY2"/>
              </a:cxn>
              <a:cxn ang="0">
                <a:pos x="connsiteX3" y="connsiteY3"/>
              </a:cxn>
            </a:cxnLst>
            <a:rect l="l" t="t" r="r" b="b"/>
            <a:pathLst>
              <a:path w="3190875" h="846178">
                <a:moveTo>
                  <a:pt x="0" y="609600"/>
                </a:moveTo>
                <a:cubicBezTo>
                  <a:pt x="80962" y="753268"/>
                  <a:pt x="161925" y="896937"/>
                  <a:pt x="304800" y="828675"/>
                </a:cubicBezTo>
                <a:cubicBezTo>
                  <a:pt x="447675" y="760413"/>
                  <a:pt x="376238" y="338137"/>
                  <a:pt x="857250" y="200025"/>
                </a:cubicBezTo>
                <a:cubicBezTo>
                  <a:pt x="1338263" y="61912"/>
                  <a:pt x="2264569" y="30956"/>
                  <a:pt x="3190875" y="0"/>
                </a:cubicBezTo>
              </a:path>
            </a:pathLst>
          </a:cu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927B86CF-5777-9C03-7B9A-E25036B8A642}"/>
              </a:ext>
            </a:extLst>
          </p:cNvPr>
          <p:cNvSpPr/>
          <p:nvPr/>
        </p:nvSpPr>
        <p:spPr>
          <a:xfrm>
            <a:off x="9452721" y="3340276"/>
            <a:ext cx="178365" cy="155936"/>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0B8D7C0E-5702-AABC-0A9B-CB7569CEC23E}"/>
              </a:ext>
            </a:extLst>
          </p:cNvPr>
          <p:cNvSpPr/>
          <p:nvPr/>
        </p:nvSpPr>
        <p:spPr>
          <a:xfrm>
            <a:off x="6106521" y="3970085"/>
            <a:ext cx="178365" cy="155936"/>
          </a:xfrm>
          <a:prstGeom prst="ellipse">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CB7B5D6-B32E-A176-4931-FFDC3CF1D140}"/>
                  </a:ext>
                </a:extLst>
              </p:cNvPr>
              <p:cNvSpPr txBox="1"/>
              <p:nvPr/>
            </p:nvSpPr>
            <p:spPr>
              <a:xfrm>
                <a:off x="7244717" y="3542134"/>
                <a:ext cx="4229491" cy="1754326"/>
              </a:xfrm>
              <a:prstGeom prst="rect">
                <a:avLst/>
              </a:prstGeom>
              <a:noFill/>
            </p:spPr>
            <p:txBody>
              <a:bodyPr wrap="none" rtlCol="0">
                <a:spAutoFit/>
              </a:bodyPr>
              <a:lstStyle/>
              <a:p>
                <a:r>
                  <a:rPr lang="en-CA" dirty="0"/>
                  <a:t>This is also a credible shape! </a:t>
                </a:r>
                <a:br>
                  <a:rPr lang="en-CA" dirty="0"/>
                </a:br>
                <a:r>
                  <a:rPr lang="en-CA" dirty="0"/>
                  <a:t>(The real shape is an empirical question)</a:t>
                </a:r>
                <a:br>
                  <a:rPr lang="en-CA" dirty="0"/>
                </a:br>
                <a:br>
                  <a:rPr lang="en-CA" dirty="0"/>
                </a:br>
                <a:r>
                  <a:rPr lang="en-CA" dirty="0"/>
                  <a:t>Any non-strictly increasing/decreasing </a:t>
                </a:r>
                <a:br>
                  <a:rPr lang="en-CA" dirty="0"/>
                </a:br>
                <a:r>
                  <a:rPr lang="en-CA" dirty="0"/>
                  <a:t>behaviour is limited to “small values”</a:t>
                </a:r>
                <a:br>
                  <a:rPr lang="en-CA" dirty="0"/>
                </a:br>
                <a:r>
                  <a:rPr lang="en-CA" dirty="0"/>
                  <a:t>of </a:t>
                </a:r>
                <a14:m>
                  <m:oMath xmlns:m="http://schemas.openxmlformats.org/officeDocument/2006/math">
                    <m:r>
                      <a:rPr lang="en-CA" b="0" i="1" smtClean="0">
                        <a:latin typeface="Cambria Math" panose="02040503050406030204" pitchFamily="18" charset="0"/>
                      </a:rPr>
                      <m:t>𝜆</m:t>
                    </m:r>
                    <m:r>
                      <a:rPr lang="en-CA" b="0" i="0" smtClean="0">
                        <a:latin typeface="Cambria Math" panose="02040503050406030204" pitchFamily="18" charset="0"/>
                      </a:rPr>
                      <m:t>.</m:t>
                    </m:r>
                  </m:oMath>
                </a14:m>
                <a:endParaRPr lang="en-CA" dirty="0"/>
              </a:p>
            </p:txBody>
          </p:sp>
        </mc:Choice>
        <mc:Fallback xmlns="">
          <p:sp>
            <p:nvSpPr>
              <p:cNvPr id="33" name="TextBox 32">
                <a:extLst>
                  <a:ext uri="{FF2B5EF4-FFF2-40B4-BE49-F238E27FC236}">
                    <a16:creationId xmlns:a16="http://schemas.microsoft.com/office/drawing/2014/main" id="{9CB7B5D6-B32E-A176-4931-FFDC3CF1D140}"/>
                  </a:ext>
                </a:extLst>
              </p:cNvPr>
              <p:cNvSpPr txBox="1">
                <a:spLocks noRot="1" noChangeAspect="1" noMove="1" noResize="1" noEditPoints="1" noAdjustHandles="1" noChangeArrowheads="1" noChangeShapeType="1" noTextEdit="1"/>
              </p:cNvSpPr>
              <p:nvPr/>
            </p:nvSpPr>
            <p:spPr>
              <a:xfrm>
                <a:off x="7244717" y="3542134"/>
                <a:ext cx="4229491" cy="1754326"/>
              </a:xfrm>
              <a:prstGeom prst="rect">
                <a:avLst/>
              </a:prstGeom>
              <a:blipFill>
                <a:blip r:embed="rId10"/>
                <a:stretch>
                  <a:fillRect l="-1153" t="-1736" r="-720" b="-4514"/>
                </a:stretch>
              </a:blipFill>
            </p:spPr>
            <p:txBody>
              <a:bodyPr/>
              <a:lstStyle/>
              <a:p>
                <a:r>
                  <a:rPr lang="en-CA">
                    <a:noFill/>
                  </a:rPr>
                  <a:t> </a:t>
                </a:r>
              </a:p>
            </p:txBody>
          </p:sp>
        </mc:Fallback>
      </mc:AlternateContent>
    </p:spTree>
    <p:extLst>
      <p:ext uri="{BB962C8B-B14F-4D97-AF65-F5344CB8AC3E}">
        <p14:creationId xmlns:p14="http://schemas.microsoft.com/office/powerpoint/2010/main" val="146952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B505-6E71-FAB0-915D-41EDB250F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1564F-4A6B-F236-3DF1-08F4427622F0}"/>
              </a:ext>
            </a:extLst>
          </p:cNvPr>
          <p:cNvSpPr>
            <a:spLocks noGrp="1"/>
          </p:cNvSpPr>
          <p:nvPr>
            <p:ph type="title"/>
          </p:nvPr>
        </p:nvSpPr>
        <p:spPr>
          <a:xfrm>
            <a:off x="482600" y="597408"/>
            <a:ext cx="10634472" cy="1117092"/>
          </a:xfrm>
        </p:spPr>
        <p:txBody>
          <a:bodyPr/>
          <a:lstStyle/>
          <a:p>
            <a:r>
              <a:rPr lang="en-CA" sz="4800" dirty="0"/>
              <a:t>The many shapes of the CEAC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387C15-A6D6-D369-A112-FA5EC801AE03}"/>
                  </a:ext>
                </a:extLst>
              </p:cNvPr>
              <p:cNvSpPr>
                <a:spLocks noGrp="1"/>
              </p:cNvSpPr>
              <p:nvPr>
                <p:ph idx="1"/>
              </p:nvPr>
            </p:nvSpPr>
            <p:spPr>
              <a:xfrm>
                <a:off x="143529" y="1714500"/>
                <a:ext cx="4887068" cy="3936491"/>
              </a:xfrm>
            </p:spPr>
            <p:txBody>
              <a:bodyPr>
                <a:normAutofit/>
              </a:bodyPr>
              <a:lstStyle/>
              <a:p>
                <a:pPr marL="342900" indent="-342900">
                  <a:buFont typeface="Wingdings" panose="05000000000000000000" pitchFamily="2" charset="2"/>
                  <a:buChar char="§"/>
                </a:pPr>
                <a:r>
                  <a:rPr lang="en-CA" dirty="0"/>
                  <a:t>The exact shape of a CEAC is an empirical question. However, there are a few that are credible.</a:t>
                </a:r>
              </a:p>
              <a:p>
                <a:pPr marL="342900" indent="-342900">
                  <a:buFont typeface="Wingdings" panose="05000000000000000000" pitchFamily="2" charset="2"/>
                  <a:buChar char="§"/>
                </a:pPr>
                <a:r>
                  <a:rPr lang="en-CA" dirty="0"/>
                  <a:t>The cases of CEAC 1 and</a:t>
                </a:r>
                <a:br>
                  <a:rPr lang="en-CA" dirty="0"/>
                </a:br>
                <a:r>
                  <a:rPr lang="en-CA" dirty="0"/>
                  <a:t>CEAC 3 is due to the role increasing threshold value </a:t>
                </a:r>
                <a14:m>
                  <m:oMath xmlns:m="http://schemas.openxmlformats.org/officeDocument/2006/math">
                    <m:r>
                      <a:rPr lang="en-CA" b="0" i="1" smtClean="0">
                        <a:latin typeface="Cambria Math" panose="02040503050406030204" pitchFamily="18" charset="0"/>
                      </a:rPr>
                      <m:t>𝜆</m:t>
                    </m:r>
                  </m:oMath>
                </a14:m>
                <a:r>
                  <a:rPr lang="en-CA" dirty="0"/>
                  <a:t> has in dropping ICERS from the 3</a:t>
                </a:r>
                <a:r>
                  <a:rPr lang="en-CA" baseline="30000" dirty="0"/>
                  <a:t>rd</a:t>
                </a:r>
                <a:r>
                  <a:rPr lang="en-CA" dirty="0"/>
                  <a:t> quadrant and bringing in new observations from the 1</a:t>
                </a:r>
                <a:r>
                  <a:rPr lang="en-CA" baseline="30000" dirty="0"/>
                  <a:t>st</a:t>
                </a:r>
                <a:r>
                  <a:rPr lang="en-CA" dirty="0"/>
                  <a:t> quadrant.</a:t>
                </a:r>
              </a:p>
            </p:txBody>
          </p:sp>
        </mc:Choice>
        <mc:Fallback xmlns="">
          <p:sp>
            <p:nvSpPr>
              <p:cNvPr id="3" name="Content Placeholder 2">
                <a:extLst>
                  <a:ext uri="{FF2B5EF4-FFF2-40B4-BE49-F238E27FC236}">
                    <a16:creationId xmlns:a16="http://schemas.microsoft.com/office/drawing/2014/main" id="{EE387C15-A6D6-D369-A112-FA5EC801AE03}"/>
                  </a:ext>
                </a:extLst>
              </p:cNvPr>
              <p:cNvSpPr>
                <a:spLocks noGrp="1" noRot="1" noChangeAspect="1" noMove="1" noResize="1" noEditPoints="1" noAdjustHandles="1" noChangeArrowheads="1" noChangeShapeType="1" noTextEdit="1"/>
              </p:cNvSpPr>
              <p:nvPr>
                <p:ph idx="1"/>
              </p:nvPr>
            </p:nvSpPr>
            <p:spPr>
              <a:xfrm>
                <a:off x="143529" y="1714500"/>
                <a:ext cx="4887068" cy="3936491"/>
              </a:xfrm>
              <a:blipFill>
                <a:blip r:embed="rId2"/>
                <a:stretch>
                  <a:fillRect l="-1748" t="-1238" r="-1498" b="-2012"/>
                </a:stretch>
              </a:blipFill>
            </p:spPr>
            <p:txBody>
              <a:bodyPr/>
              <a:lstStyle/>
              <a:p>
                <a:r>
                  <a:rPr lang="en-CA">
                    <a:noFill/>
                  </a:rPr>
                  <a:t> </a:t>
                </a:r>
              </a:p>
            </p:txBody>
          </p:sp>
        </mc:Fallback>
      </mc:AlternateContent>
      <p:sp>
        <p:nvSpPr>
          <p:cNvPr id="4" name="Rectangle 3">
            <a:extLst>
              <a:ext uri="{FF2B5EF4-FFF2-40B4-BE49-F238E27FC236}">
                <a16:creationId xmlns:a16="http://schemas.microsoft.com/office/drawing/2014/main" id="{A93C6D5A-8900-A6B7-5055-EC4F0021B04D}"/>
              </a:ext>
            </a:extLst>
          </p:cNvPr>
          <p:cNvSpPr/>
          <p:nvPr/>
        </p:nvSpPr>
        <p:spPr>
          <a:xfrm>
            <a:off x="5619750" y="1895475"/>
            <a:ext cx="5497322" cy="389572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ADDBC3-E196-A2A6-0815-959AE9803C48}"/>
                  </a:ext>
                </a:extLst>
              </p:cNvPr>
              <p:cNvSpPr txBox="1"/>
              <p:nvPr/>
            </p:nvSpPr>
            <p:spPr>
              <a:xfrm>
                <a:off x="10082064" y="5781675"/>
                <a:ext cx="2354369" cy="369332"/>
              </a:xfrm>
              <a:prstGeom prst="rect">
                <a:avLst/>
              </a:prstGeom>
              <a:noFill/>
            </p:spPr>
            <p:txBody>
              <a:bodyPr wrap="square" rtlCol="0">
                <a:spAutoFit/>
              </a:bodyPr>
              <a:lstStyle/>
              <a:p>
                <a:r>
                  <a:rPr lang="en-CA" dirty="0"/>
                  <a:t>Threshold Value </a:t>
                </a:r>
                <a14:m>
                  <m:oMath xmlns:m="http://schemas.openxmlformats.org/officeDocument/2006/math">
                    <m:r>
                      <a:rPr lang="en-CA" b="0" i="1" smtClean="0">
                        <a:latin typeface="Cambria Math" panose="02040503050406030204" pitchFamily="18" charset="0"/>
                      </a:rPr>
                      <m:t>𝜆</m:t>
                    </m:r>
                  </m:oMath>
                </a14:m>
                <a:endParaRPr lang="en-CA" dirty="0"/>
              </a:p>
            </p:txBody>
          </p:sp>
        </mc:Choice>
        <mc:Fallback xmlns="">
          <p:sp>
            <p:nvSpPr>
              <p:cNvPr id="5" name="TextBox 4">
                <a:extLst>
                  <a:ext uri="{FF2B5EF4-FFF2-40B4-BE49-F238E27FC236}">
                    <a16:creationId xmlns:a16="http://schemas.microsoft.com/office/drawing/2014/main" id="{A2ADDBC3-E196-A2A6-0815-959AE9803C48}"/>
                  </a:ext>
                </a:extLst>
              </p:cNvPr>
              <p:cNvSpPr txBox="1">
                <a:spLocks noRot="1" noChangeAspect="1" noMove="1" noResize="1" noEditPoints="1" noAdjustHandles="1" noChangeArrowheads="1" noChangeShapeType="1" noTextEdit="1"/>
              </p:cNvSpPr>
              <p:nvPr/>
            </p:nvSpPr>
            <p:spPr>
              <a:xfrm>
                <a:off x="10082064" y="5781675"/>
                <a:ext cx="2354369" cy="369332"/>
              </a:xfrm>
              <a:prstGeom prst="rect">
                <a:avLst/>
              </a:prstGeom>
              <a:blipFill>
                <a:blip r:embed="rId3"/>
                <a:stretch>
                  <a:fillRect l="-2332" t="-8197" b="-2459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E45472-616C-B0A9-BE69-FC2E6F9F1DCA}"/>
                  </a:ext>
                </a:extLst>
              </p:cNvPr>
              <p:cNvSpPr txBox="1"/>
              <p:nvPr/>
            </p:nvSpPr>
            <p:spPr>
              <a:xfrm rot="16200000">
                <a:off x="3812989" y="3074878"/>
                <a:ext cx="2592495" cy="646331"/>
              </a:xfrm>
              <a:prstGeom prst="rect">
                <a:avLst/>
              </a:prstGeom>
              <a:noFill/>
            </p:spPr>
            <p:txBody>
              <a:bodyPr wrap="square" rtlCol="0">
                <a:spAutoFit/>
              </a:bodyPr>
              <a:lstStyle/>
              <a:p>
                <a:r>
                  <a:rPr lang="en-CA" b="0" i="0" dirty="0"/>
                  <a:t>Probability of Cost Effectivenes </a:t>
                </a:r>
                <a14:m>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a14:m>
                <a:endParaRPr lang="en-CA" dirty="0"/>
              </a:p>
            </p:txBody>
          </p:sp>
        </mc:Choice>
        <mc:Fallback xmlns="">
          <p:sp>
            <p:nvSpPr>
              <p:cNvPr id="6" name="TextBox 5">
                <a:extLst>
                  <a:ext uri="{FF2B5EF4-FFF2-40B4-BE49-F238E27FC236}">
                    <a16:creationId xmlns:a16="http://schemas.microsoft.com/office/drawing/2014/main" id="{B1E45472-616C-B0A9-BE69-FC2E6F9F1DCA}"/>
                  </a:ext>
                </a:extLst>
              </p:cNvPr>
              <p:cNvSpPr txBox="1">
                <a:spLocks noRot="1" noChangeAspect="1" noMove="1" noResize="1" noEditPoints="1" noAdjustHandles="1" noChangeArrowheads="1" noChangeShapeType="1" noTextEdit="1"/>
              </p:cNvSpPr>
              <p:nvPr/>
            </p:nvSpPr>
            <p:spPr>
              <a:xfrm rot="16200000">
                <a:off x="3812989" y="3074878"/>
                <a:ext cx="2592495" cy="646331"/>
              </a:xfrm>
              <a:prstGeom prst="rect">
                <a:avLst/>
              </a:prstGeom>
              <a:blipFill>
                <a:blip r:embed="rId4"/>
                <a:stretch>
                  <a:fillRect l="-4717" r="-14151" b="-2118"/>
                </a:stretch>
              </a:blipFill>
            </p:spPr>
            <p:txBody>
              <a:bodyPr/>
              <a:lstStyle/>
              <a:p>
                <a:r>
                  <a:rPr lang="en-CA">
                    <a:noFill/>
                  </a:rPr>
                  <a:t> </a:t>
                </a:r>
              </a:p>
            </p:txBody>
          </p:sp>
        </mc:Fallback>
      </mc:AlternateContent>
      <p:sp>
        <p:nvSpPr>
          <p:cNvPr id="7" name="TextBox 6">
            <a:extLst>
              <a:ext uri="{FF2B5EF4-FFF2-40B4-BE49-F238E27FC236}">
                <a16:creationId xmlns:a16="http://schemas.microsoft.com/office/drawing/2014/main" id="{E152890E-3B52-0120-1E32-F4B4772FF12A}"/>
              </a:ext>
            </a:extLst>
          </p:cNvPr>
          <p:cNvSpPr txBox="1"/>
          <p:nvPr/>
        </p:nvSpPr>
        <p:spPr>
          <a:xfrm>
            <a:off x="5335397" y="5781675"/>
            <a:ext cx="306494" cy="369332"/>
          </a:xfrm>
          <a:prstGeom prst="rect">
            <a:avLst/>
          </a:prstGeom>
          <a:noFill/>
        </p:spPr>
        <p:txBody>
          <a:bodyPr wrap="none" rtlCol="0">
            <a:spAutoFit/>
          </a:bodyPr>
          <a:lstStyle/>
          <a:p>
            <a:r>
              <a:rPr lang="en-CA" dirty="0"/>
              <a:t>0</a:t>
            </a:r>
          </a:p>
        </p:txBody>
      </p:sp>
      <p:sp>
        <p:nvSpPr>
          <p:cNvPr id="8" name="TextBox 7">
            <a:extLst>
              <a:ext uri="{FF2B5EF4-FFF2-40B4-BE49-F238E27FC236}">
                <a16:creationId xmlns:a16="http://schemas.microsoft.com/office/drawing/2014/main" id="{2DBCF163-D4AD-7CF7-2E99-54965CBB1820}"/>
              </a:ext>
            </a:extLst>
          </p:cNvPr>
          <p:cNvSpPr txBox="1"/>
          <p:nvPr/>
        </p:nvSpPr>
        <p:spPr>
          <a:xfrm>
            <a:off x="5335397" y="2045256"/>
            <a:ext cx="306494" cy="369332"/>
          </a:xfrm>
          <a:prstGeom prst="rect">
            <a:avLst/>
          </a:prstGeom>
          <a:noFill/>
        </p:spPr>
        <p:txBody>
          <a:bodyPr wrap="none" rtlCol="0">
            <a:spAutoFit/>
          </a:bodyPr>
          <a:lstStyle/>
          <a:p>
            <a:r>
              <a:rPr lang="en-CA" dirty="0"/>
              <a:t>1</a:t>
            </a:r>
          </a:p>
        </p:txBody>
      </p:sp>
      <p:sp>
        <p:nvSpPr>
          <p:cNvPr id="10" name="Rectangle 9">
            <a:extLst>
              <a:ext uri="{FF2B5EF4-FFF2-40B4-BE49-F238E27FC236}">
                <a16:creationId xmlns:a16="http://schemas.microsoft.com/office/drawing/2014/main" id="{468E7F86-58D0-3290-6CAC-A4476F6877BE}"/>
              </a:ext>
            </a:extLst>
          </p:cNvPr>
          <p:cNvSpPr/>
          <p:nvPr/>
        </p:nvSpPr>
        <p:spPr>
          <a:xfrm>
            <a:off x="5553075" y="1800225"/>
            <a:ext cx="600075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Rectangle 10">
            <a:extLst>
              <a:ext uri="{FF2B5EF4-FFF2-40B4-BE49-F238E27FC236}">
                <a16:creationId xmlns:a16="http://schemas.microsoft.com/office/drawing/2014/main" id="{04E37709-065F-8FBD-8842-14A466B90FA3}"/>
              </a:ext>
            </a:extLst>
          </p:cNvPr>
          <p:cNvSpPr/>
          <p:nvPr/>
        </p:nvSpPr>
        <p:spPr>
          <a:xfrm>
            <a:off x="11077575" y="1952626"/>
            <a:ext cx="476250" cy="3867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Freeform: Shape 11">
            <a:extLst>
              <a:ext uri="{FF2B5EF4-FFF2-40B4-BE49-F238E27FC236}">
                <a16:creationId xmlns:a16="http://schemas.microsoft.com/office/drawing/2014/main" id="{7DECB0C6-92FE-4E26-EBAC-D8144A647098}"/>
              </a:ext>
            </a:extLst>
          </p:cNvPr>
          <p:cNvSpPr/>
          <p:nvPr/>
        </p:nvSpPr>
        <p:spPr>
          <a:xfrm>
            <a:off x="5619750" y="2925507"/>
            <a:ext cx="5343525" cy="1971675"/>
          </a:xfrm>
          <a:custGeom>
            <a:avLst/>
            <a:gdLst>
              <a:gd name="connsiteX0" fmla="*/ 0 w 5343525"/>
              <a:gd name="connsiteY0" fmla="*/ 1971675 h 1971675"/>
              <a:gd name="connsiteX1" fmla="*/ 485775 w 5343525"/>
              <a:gd name="connsiteY1" fmla="*/ 866775 h 1971675"/>
              <a:gd name="connsiteX2" fmla="*/ 2581275 w 5343525"/>
              <a:gd name="connsiteY2" fmla="*/ 171450 h 1971675"/>
              <a:gd name="connsiteX3" fmla="*/ 5343525 w 5343525"/>
              <a:gd name="connsiteY3" fmla="*/ 0 h 1971675"/>
            </a:gdLst>
            <a:ahLst/>
            <a:cxnLst>
              <a:cxn ang="0">
                <a:pos x="connsiteX0" y="connsiteY0"/>
              </a:cxn>
              <a:cxn ang="0">
                <a:pos x="connsiteX1" y="connsiteY1"/>
              </a:cxn>
              <a:cxn ang="0">
                <a:pos x="connsiteX2" y="connsiteY2"/>
              </a:cxn>
              <a:cxn ang="0">
                <a:pos x="connsiteX3" y="connsiteY3"/>
              </a:cxn>
            </a:cxnLst>
            <a:rect l="l" t="t" r="r" b="b"/>
            <a:pathLst>
              <a:path w="5343525" h="1971675">
                <a:moveTo>
                  <a:pt x="0" y="1971675"/>
                </a:moveTo>
                <a:cubicBezTo>
                  <a:pt x="27781" y="1569243"/>
                  <a:pt x="55563" y="1166812"/>
                  <a:pt x="485775" y="866775"/>
                </a:cubicBezTo>
                <a:cubicBezTo>
                  <a:pt x="915987" y="566738"/>
                  <a:pt x="1771650" y="315913"/>
                  <a:pt x="2581275" y="171450"/>
                </a:cubicBezTo>
                <a:cubicBezTo>
                  <a:pt x="3390900" y="26987"/>
                  <a:pt x="4367212" y="13493"/>
                  <a:pt x="5343525"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3098A18E-93D4-BA72-AC0A-B924A01E3369}"/>
              </a:ext>
            </a:extLst>
          </p:cNvPr>
          <p:cNvSpPr txBox="1"/>
          <p:nvPr/>
        </p:nvSpPr>
        <p:spPr>
          <a:xfrm>
            <a:off x="10853019" y="2320409"/>
            <a:ext cx="968342" cy="369332"/>
          </a:xfrm>
          <a:prstGeom prst="rect">
            <a:avLst/>
          </a:prstGeom>
          <a:noFill/>
        </p:spPr>
        <p:txBody>
          <a:bodyPr wrap="none" rtlCol="0">
            <a:spAutoFit/>
          </a:bodyPr>
          <a:lstStyle/>
          <a:p>
            <a:r>
              <a:rPr lang="en-CA" dirty="0"/>
              <a:t>CEAC 1</a:t>
            </a:r>
          </a:p>
        </p:txBody>
      </p:sp>
      <p:sp>
        <p:nvSpPr>
          <p:cNvPr id="14" name="Freeform: Shape 13">
            <a:extLst>
              <a:ext uri="{FF2B5EF4-FFF2-40B4-BE49-F238E27FC236}">
                <a16:creationId xmlns:a16="http://schemas.microsoft.com/office/drawing/2014/main" id="{17E536E1-1A4A-ED66-1E70-3CB723E367FC}"/>
              </a:ext>
            </a:extLst>
          </p:cNvPr>
          <p:cNvSpPr/>
          <p:nvPr/>
        </p:nvSpPr>
        <p:spPr>
          <a:xfrm flipV="1">
            <a:off x="5619750" y="2600325"/>
            <a:ext cx="5629275" cy="2354006"/>
          </a:xfrm>
          <a:custGeom>
            <a:avLst/>
            <a:gdLst>
              <a:gd name="connsiteX0" fmla="*/ 0 w 5343525"/>
              <a:gd name="connsiteY0" fmla="*/ 1971675 h 1971675"/>
              <a:gd name="connsiteX1" fmla="*/ 485775 w 5343525"/>
              <a:gd name="connsiteY1" fmla="*/ 866775 h 1971675"/>
              <a:gd name="connsiteX2" fmla="*/ 2581275 w 5343525"/>
              <a:gd name="connsiteY2" fmla="*/ 171450 h 1971675"/>
              <a:gd name="connsiteX3" fmla="*/ 5343525 w 5343525"/>
              <a:gd name="connsiteY3" fmla="*/ 0 h 1971675"/>
            </a:gdLst>
            <a:ahLst/>
            <a:cxnLst>
              <a:cxn ang="0">
                <a:pos x="connsiteX0" y="connsiteY0"/>
              </a:cxn>
              <a:cxn ang="0">
                <a:pos x="connsiteX1" y="connsiteY1"/>
              </a:cxn>
              <a:cxn ang="0">
                <a:pos x="connsiteX2" y="connsiteY2"/>
              </a:cxn>
              <a:cxn ang="0">
                <a:pos x="connsiteX3" y="connsiteY3"/>
              </a:cxn>
            </a:cxnLst>
            <a:rect l="l" t="t" r="r" b="b"/>
            <a:pathLst>
              <a:path w="5343525" h="1971675">
                <a:moveTo>
                  <a:pt x="0" y="1971675"/>
                </a:moveTo>
                <a:cubicBezTo>
                  <a:pt x="27781" y="1569243"/>
                  <a:pt x="55563" y="1166812"/>
                  <a:pt x="485775" y="866775"/>
                </a:cubicBezTo>
                <a:cubicBezTo>
                  <a:pt x="915987" y="566738"/>
                  <a:pt x="1771650" y="315913"/>
                  <a:pt x="2581275" y="171450"/>
                </a:cubicBezTo>
                <a:cubicBezTo>
                  <a:pt x="3390900" y="26987"/>
                  <a:pt x="4367212" y="13493"/>
                  <a:pt x="5343525" y="0"/>
                </a:cubicBez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42BCA8E7-5BA4-D879-3317-0A39884FDF41}"/>
              </a:ext>
            </a:extLst>
          </p:cNvPr>
          <p:cNvSpPr/>
          <p:nvPr/>
        </p:nvSpPr>
        <p:spPr>
          <a:xfrm>
            <a:off x="5636510" y="2509838"/>
            <a:ext cx="5231575" cy="1765340"/>
          </a:xfrm>
          <a:custGeom>
            <a:avLst/>
            <a:gdLst>
              <a:gd name="connsiteX0" fmla="*/ 0 w 3190875"/>
              <a:gd name="connsiteY0" fmla="*/ 609600 h 846178"/>
              <a:gd name="connsiteX1" fmla="*/ 304800 w 3190875"/>
              <a:gd name="connsiteY1" fmla="*/ 828675 h 846178"/>
              <a:gd name="connsiteX2" fmla="*/ 857250 w 3190875"/>
              <a:gd name="connsiteY2" fmla="*/ 200025 h 846178"/>
              <a:gd name="connsiteX3" fmla="*/ 3190875 w 3190875"/>
              <a:gd name="connsiteY3" fmla="*/ 0 h 846178"/>
            </a:gdLst>
            <a:ahLst/>
            <a:cxnLst>
              <a:cxn ang="0">
                <a:pos x="connsiteX0" y="connsiteY0"/>
              </a:cxn>
              <a:cxn ang="0">
                <a:pos x="connsiteX1" y="connsiteY1"/>
              </a:cxn>
              <a:cxn ang="0">
                <a:pos x="connsiteX2" y="connsiteY2"/>
              </a:cxn>
              <a:cxn ang="0">
                <a:pos x="connsiteX3" y="connsiteY3"/>
              </a:cxn>
            </a:cxnLst>
            <a:rect l="l" t="t" r="r" b="b"/>
            <a:pathLst>
              <a:path w="3190875" h="846178">
                <a:moveTo>
                  <a:pt x="0" y="609600"/>
                </a:moveTo>
                <a:cubicBezTo>
                  <a:pt x="80962" y="753268"/>
                  <a:pt x="161925" y="896937"/>
                  <a:pt x="304800" y="828675"/>
                </a:cubicBezTo>
                <a:cubicBezTo>
                  <a:pt x="447675" y="760413"/>
                  <a:pt x="376238" y="338137"/>
                  <a:pt x="857250" y="200025"/>
                </a:cubicBezTo>
                <a:cubicBezTo>
                  <a:pt x="1338263" y="61912"/>
                  <a:pt x="2264569" y="30956"/>
                  <a:pt x="3190875" y="0"/>
                </a:cubicBezTo>
              </a:path>
            </a:pathLst>
          </a:cu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Freeform: Shape 19">
            <a:extLst>
              <a:ext uri="{FF2B5EF4-FFF2-40B4-BE49-F238E27FC236}">
                <a16:creationId xmlns:a16="http://schemas.microsoft.com/office/drawing/2014/main" id="{9089156B-8681-95C9-F730-7F5F7BAC1649}"/>
              </a:ext>
            </a:extLst>
          </p:cNvPr>
          <p:cNvSpPr/>
          <p:nvPr/>
        </p:nvSpPr>
        <p:spPr>
          <a:xfrm flipV="1">
            <a:off x="5595919" y="2739770"/>
            <a:ext cx="5653106" cy="1765340"/>
          </a:xfrm>
          <a:custGeom>
            <a:avLst/>
            <a:gdLst>
              <a:gd name="connsiteX0" fmla="*/ 0 w 3190875"/>
              <a:gd name="connsiteY0" fmla="*/ 609600 h 846178"/>
              <a:gd name="connsiteX1" fmla="*/ 304800 w 3190875"/>
              <a:gd name="connsiteY1" fmla="*/ 828675 h 846178"/>
              <a:gd name="connsiteX2" fmla="*/ 857250 w 3190875"/>
              <a:gd name="connsiteY2" fmla="*/ 200025 h 846178"/>
              <a:gd name="connsiteX3" fmla="*/ 3190875 w 3190875"/>
              <a:gd name="connsiteY3" fmla="*/ 0 h 846178"/>
            </a:gdLst>
            <a:ahLst/>
            <a:cxnLst>
              <a:cxn ang="0">
                <a:pos x="connsiteX0" y="connsiteY0"/>
              </a:cxn>
              <a:cxn ang="0">
                <a:pos x="connsiteX1" y="connsiteY1"/>
              </a:cxn>
              <a:cxn ang="0">
                <a:pos x="connsiteX2" y="connsiteY2"/>
              </a:cxn>
              <a:cxn ang="0">
                <a:pos x="connsiteX3" y="connsiteY3"/>
              </a:cxn>
            </a:cxnLst>
            <a:rect l="l" t="t" r="r" b="b"/>
            <a:pathLst>
              <a:path w="3190875" h="846178">
                <a:moveTo>
                  <a:pt x="0" y="609600"/>
                </a:moveTo>
                <a:cubicBezTo>
                  <a:pt x="80962" y="753268"/>
                  <a:pt x="161925" y="896937"/>
                  <a:pt x="304800" y="828675"/>
                </a:cubicBezTo>
                <a:cubicBezTo>
                  <a:pt x="447675" y="760413"/>
                  <a:pt x="376238" y="338137"/>
                  <a:pt x="857250" y="200025"/>
                </a:cubicBezTo>
                <a:cubicBezTo>
                  <a:pt x="1338263" y="61912"/>
                  <a:pt x="2264569" y="30956"/>
                  <a:pt x="3190875" y="0"/>
                </a:cubicBezTo>
              </a:path>
            </a:pathLst>
          </a:cu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3FAF8BFB-054E-0043-5407-9E110C40D8CF}"/>
              </a:ext>
            </a:extLst>
          </p:cNvPr>
          <p:cNvSpPr txBox="1"/>
          <p:nvPr/>
        </p:nvSpPr>
        <p:spPr>
          <a:xfrm>
            <a:off x="10884845" y="2739616"/>
            <a:ext cx="968342" cy="369332"/>
          </a:xfrm>
          <a:prstGeom prst="rect">
            <a:avLst/>
          </a:prstGeom>
          <a:noFill/>
        </p:spPr>
        <p:txBody>
          <a:bodyPr wrap="none" rtlCol="0">
            <a:spAutoFit/>
          </a:bodyPr>
          <a:lstStyle/>
          <a:p>
            <a:r>
              <a:rPr lang="en-CA" dirty="0"/>
              <a:t>CEAC 2</a:t>
            </a:r>
          </a:p>
        </p:txBody>
      </p:sp>
      <p:sp>
        <p:nvSpPr>
          <p:cNvPr id="15" name="TextBox 14">
            <a:extLst>
              <a:ext uri="{FF2B5EF4-FFF2-40B4-BE49-F238E27FC236}">
                <a16:creationId xmlns:a16="http://schemas.microsoft.com/office/drawing/2014/main" id="{05D1C416-CA96-7184-135D-97E3139B75D3}"/>
              </a:ext>
            </a:extLst>
          </p:cNvPr>
          <p:cNvSpPr txBox="1"/>
          <p:nvPr/>
        </p:nvSpPr>
        <p:spPr>
          <a:xfrm>
            <a:off x="10764854" y="4045291"/>
            <a:ext cx="968342" cy="369332"/>
          </a:xfrm>
          <a:prstGeom prst="rect">
            <a:avLst/>
          </a:prstGeom>
          <a:noFill/>
        </p:spPr>
        <p:txBody>
          <a:bodyPr wrap="none" rtlCol="0">
            <a:spAutoFit/>
          </a:bodyPr>
          <a:lstStyle/>
          <a:p>
            <a:r>
              <a:rPr lang="en-CA" dirty="0"/>
              <a:t>CEAC 3</a:t>
            </a:r>
          </a:p>
        </p:txBody>
      </p:sp>
      <p:sp>
        <p:nvSpPr>
          <p:cNvPr id="16" name="TextBox 15">
            <a:extLst>
              <a:ext uri="{FF2B5EF4-FFF2-40B4-BE49-F238E27FC236}">
                <a16:creationId xmlns:a16="http://schemas.microsoft.com/office/drawing/2014/main" id="{06B093F8-EA9C-8688-5786-6882F51DD93B}"/>
              </a:ext>
            </a:extLst>
          </p:cNvPr>
          <p:cNvSpPr txBox="1"/>
          <p:nvPr/>
        </p:nvSpPr>
        <p:spPr>
          <a:xfrm>
            <a:off x="10810935" y="4589372"/>
            <a:ext cx="968342" cy="369332"/>
          </a:xfrm>
          <a:prstGeom prst="rect">
            <a:avLst/>
          </a:prstGeom>
          <a:noFill/>
        </p:spPr>
        <p:txBody>
          <a:bodyPr wrap="none" rtlCol="0">
            <a:spAutoFit/>
          </a:bodyPr>
          <a:lstStyle/>
          <a:p>
            <a:r>
              <a:rPr lang="en-CA" dirty="0"/>
              <a:t>CEAC 4</a:t>
            </a:r>
          </a:p>
        </p:txBody>
      </p:sp>
    </p:spTree>
    <p:extLst>
      <p:ext uri="{BB962C8B-B14F-4D97-AF65-F5344CB8AC3E}">
        <p14:creationId xmlns:p14="http://schemas.microsoft.com/office/powerpoint/2010/main" val="1150279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1A96-8D87-A964-B8DF-C14239767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750B8-4E90-49D8-49E4-9E4847C3CF7E}"/>
              </a:ext>
            </a:extLst>
          </p:cNvPr>
          <p:cNvSpPr>
            <a:spLocks noGrp="1"/>
          </p:cNvSpPr>
          <p:nvPr>
            <p:ph type="title"/>
          </p:nvPr>
        </p:nvSpPr>
        <p:spPr>
          <a:xfrm>
            <a:off x="482600" y="597408"/>
            <a:ext cx="10634472" cy="1117092"/>
          </a:xfrm>
        </p:spPr>
        <p:txBody>
          <a:bodyPr/>
          <a:lstStyle/>
          <a:p>
            <a:r>
              <a:rPr lang="en-CA" sz="4800" dirty="0"/>
              <a:t>A CEAC Shapes we can never have</a:t>
            </a:r>
          </a:p>
        </p:txBody>
      </p:sp>
      <p:sp>
        <p:nvSpPr>
          <p:cNvPr id="3" name="Content Placeholder 2">
            <a:extLst>
              <a:ext uri="{FF2B5EF4-FFF2-40B4-BE49-F238E27FC236}">
                <a16:creationId xmlns:a16="http://schemas.microsoft.com/office/drawing/2014/main" id="{F2430704-A783-70AF-7B48-4D82FD3DE836}"/>
              </a:ext>
            </a:extLst>
          </p:cNvPr>
          <p:cNvSpPr>
            <a:spLocks noGrp="1"/>
          </p:cNvSpPr>
          <p:nvPr>
            <p:ph idx="1"/>
          </p:nvPr>
        </p:nvSpPr>
        <p:spPr>
          <a:xfrm>
            <a:off x="143529" y="1714500"/>
            <a:ext cx="4887068" cy="3936491"/>
          </a:xfrm>
        </p:spPr>
        <p:txBody>
          <a:bodyPr>
            <a:normAutofit/>
          </a:bodyPr>
          <a:lstStyle/>
          <a:p>
            <a:pPr marL="342900" indent="-342900">
              <a:buFont typeface="Wingdings" panose="05000000000000000000" pitchFamily="2" charset="2"/>
              <a:buChar char="§"/>
            </a:pPr>
            <a:r>
              <a:rPr lang="en-CA" dirty="0"/>
              <a:t>Its important to note, that the CEAC will never oscillate or inflect at large threshold values.</a:t>
            </a:r>
          </a:p>
          <a:p>
            <a:pPr marL="342900" indent="-342900">
              <a:buFont typeface="Wingdings" panose="05000000000000000000" pitchFamily="2" charset="2"/>
              <a:buChar char="§"/>
            </a:pPr>
            <a:r>
              <a:rPr lang="en-CA" dirty="0"/>
              <a:t>This is because these shapes are </a:t>
            </a:r>
            <a:r>
              <a:rPr lang="en-CA" b="1" dirty="0"/>
              <a:t>IMPOSSIBLE</a:t>
            </a:r>
            <a:r>
              <a:rPr lang="en-CA" dirty="0"/>
              <a:t> based on how the CEAC is computed.</a:t>
            </a:r>
          </a:p>
        </p:txBody>
      </p:sp>
      <p:sp>
        <p:nvSpPr>
          <p:cNvPr id="4" name="Rectangle 3">
            <a:extLst>
              <a:ext uri="{FF2B5EF4-FFF2-40B4-BE49-F238E27FC236}">
                <a16:creationId xmlns:a16="http://schemas.microsoft.com/office/drawing/2014/main" id="{9E478692-2A6B-DE32-7077-1E85DC3A426D}"/>
              </a:ext>
            </a:extLst>
          </p:cNvPr>
          <p:cNvSpPr/>
          <p:nvPr/>
        </p:nvSpPr>
        <p:spPr>
          <a:xfrm>
            <a:off x="5619750" y="1895475"/>
            <a:ext cx="5497322" cy="389572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5704BF6-5732-3E44-241F-E0C579ABB172}"/>
                  </a:ext>
                </a:extLst>
              </p:cNvPr>
              <p:cNvSpPr txBox="1"/>
              <p:nvPr/>
            </p:nvSpPr>
            <p:spPr>
              <a:xfrm>
                <a:off x="10082064" y="5781675"/>
                <a:ext cx="2354369" cy="369332"/>
              </a:xfrm>
              <a:prstGeom prst="rect">
                <a:avLst/>
              </a:prstGeom>
              <a:noFill/>
            </p:spPr>
            <p:txBody>
              <a:bodyPr wrap="square" rtlCol="0">
                <a:spAutoFit/>
              </a:bodyPr>
              <a:lstStyle/>
              <a:p>
                <a:r>
                  <a:rPr lang="en-CA" dirty="0"/>
                  <a:t>Threshold Value </a:t>
                </a:r>
                <a14:m>
                  <m:oMath xmlns:m="http://schemas.openxmlformats.org/officeDocument/2006/math">
                    <m:r>
                      <a:rPr lang="en-CA" b="0" i="1" smtClean="0">
                        <a:latin typeface="Cambria Math" panose="02040503050406030204" pitchFamily="18" charset="0"/>
                      </a:rPr>
                      <m:t>𝜆</m:t>
                    </m:r>
                  </m:oMath>
                </a14:m>
                <a:endParaRPr lang="en-CA" dirty="0"/>
              </a:p>
            </p:txBody>
          </p:sp>
        </mc:Choice>
        <mc:Fallback xmlns="">
          <p:sp>
            <p:nvSpPr>
              <p:cNvPr id="5" name="TextBox 4">
                <a:extLst>
                  <a:ext uri="{FF2B5EF4-FFF2-40B4-BE49-F238E27FC236}">
                    <a16:creationId xmlns:a16="http://schemas.microsoft.com/office/drawing/2014/main" id="{A5704BF6-5732-3E44-241F-E0C579ABB172}"/>
                  </a:ext>
                </a:extLst>
              </p:cNvPr>
              <p:cNvSpPr txBox="1">
                <a:spLocks noRot="1" noChangeAspect="1" noMove="1" noResize="1" noEditPoints="1" noAdjustHandles="1" noChangeArrowheads="1" noChangeShapeType="1" noTextEdit="1"/>
              </p:cNvSpPr>
              <p:nvPr/>
            </p:nvSpPr>
            <p:spPr>
              <a:xfrm>
                <a:off x="10082064" y="5781675"/>
                <a:ext cx="2354369" cy="369332"/>
              </a:xfrm>
              <a:prstGeom prst="rect">
                <a:avLst/>
              </a:prstGeom>
              <a:blipFill>
                <a:blip r:embed="rId2"/>
                <a:stretch>
                  <a:fillRect l="-2332" t="-8197" b="-2459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BBF963-D2E8-76B1-0086-8B2575AAAF29}"/>
                  </a:ext>
                </a:extLst>
              </p:cNvPr>
              <p:cNvSpPr txBox="1"/>
              <p:nvPr/>
            </p:nvSpPr>
            <p:spPr>
              <a:xfrm rot="16200000">
                <a:off x="3812989" y="3074878"/>
                <a:ext cx="2592495" cy="646331"/>
              </a:xfrm>
              <a:prstGeom prst="rect">
                <a:avLst/>
              </a:prstGeom>
              <a:noFill/>
            </p:spPr>
            <p:txBody>
              <a:bodyPr wrap="square" rtlCol="0">
                <a:spAutoFit/>
              </a:bodyPr>
              <a:lstStyle/>
              <a:p>
                <a:r>
                  <a:rPr lang="en-CA" b="0" i="0" dirty="0"/>
                  <a:t>Probability of Cost Effectivenes </a:t>
                </a:r>
                <a14:m>
                  <m:oMath xmlns:m="http://schemas.openxmlformats.org/officeDocument/2006/math">
                    <m:r>
                      <m:rPr>
                        <m:sty m:val="p"/>
                      </m:rPr>
                      <a:rPr lang="en-CA" b="0" i="0" smtClean="0">
                        <a:latin typeface="Cambria Math" panose="02040503050406030204" pitchFamily="18" charset="0"/>
                      </a:rPr>
                      <m:t>Pr</m:t>
                    </m:r>
                    <m:r>
                      <a:rPr lang="en-CA" b="0" i="1" smtClean="0">
                        <a:latin typeface="Cambria Math" panose="02040503050406030204" pitchFamily="18" charset="0"/>
                      </a:rPr>
                      <m:t>(</m:t>
                    </m:r>
                    <m:r>
                      <a:rPr lang="en-CA" b="0" i="1" smtClean="0">
                        <a:latin typeface="Cambria Math" panose="02040503050406030204" pitchFamily="18" charset="0"/>
                      </a:rPr>
                      <m:t>𝐶𝐸</m:t>
                    </m:r>
                    <m:r>
                      <a:rPr lang="en-CA" b="0" i="1" smtClean="0">
                        <a:latin typeface="Cambria Math" panose="02040503050406030204" pitchFamily="18" charset="0"/>
                      </a:rPr>
                      <m:t>|</m:t>
                    </m:r>
                    <m:r>
                      <a:rPr lang="en-CA" b="0" i="1" smtClean="0">
                        <a:latin typeface="Cambria Math" panose="02040503050406030204" pitchFamily="18" charset="0"/>
                      </a:rPr>
                      <m:t>𝜆</m:t>
                    </m:r>
                    <m:r>
                      <a:rPr lang="en-CA" b="0" i="1" smtClean="0">
                        <a:latin typeface="Cambria Math" panose="02040503050406030204" pitchFamily="18" charset="0"/>
                      </a:rPr>
                      <m:t>)</m:t>
                    </m:r>
                  </m:oMath>
                </a14:m>
                <a:endParaRPr lang="en-CA" dirty="0"/>
              </a:p>
            </p:txBody>
          </p:sp>
        </mc:Choice>
        <mc:Fallback xmlns="">
          <p:sp>
            <p:nvSpPr>
              <p:cNvPr id="6" name="TextBox 5">
                <a:extLst>
                  <a:ext uri="{FF2B5EF4-FFF2-40B4-BE49-F238E27FC236}">
                    <a16:creationId xmlns:a16="http://schemas.microsoft.com/office/drawing/2014/main" id="{88BBF963-D2E8-76B1-0086-8B2575AAAF29}"/>
                  </a:ext>
                </a:extLst>
              </p:cNvPr>
              <p:cNvSpPr txBox="1">
                <a:spLocks noRot="1" noChangeAspect="1" noMove="1" noResize="1" noEditPoints="1" noAdjustHandles="1" noChangeArrowheads="1" noChangeShapeType="1" noTextEdit="1"/>
              </p:cNvSpPr>
              <p:nvPr/>
            </p:nvSpPr>
            <p:spPr>
              <a:xfrm rot="16200000">
                <a:off x="3812989" y="3074878"/>
                <a:ext cx="2592495" cy="646331"/>
              </a:xfrm>
              <a:prstGeom prst="rect">
                <a:avLst/>
              </a:prstGeom>
              <a:blipFill>
                <a:blip r:embed="rId3"/>
                <a:stretch>
                  <a:fillRect l="-4717" r="-14151" b="-2118"/>
                </a:stretch>
              </a:blipFill>
            </p:spPr>
            <p:txBody>
              <a:bodyPr/>
              <a:lstStyle/>
              <a:p>
                <a:r>
                  <a:rPr lang="en-CA">
                    <a:noFill/>
                  </a:rPr>
                  <a:t> </a:t>
                </a:r>
              </a:p>
            </p:txBody>
          </p:sp>
        </mc:Fallback>
      </mc:AlternateContent>
      <p:sp>
        <p:nvSpPr>
          <p:cNvPr id="7" name="TextBox 6">
            <a:extLst>
              <a:ext uri="{FF2B5EF4-FFF2-40B4-BE49-F238E27FC236}">
                <a16:creationId xmlns:a16="http://schemas.microsoft.com/office/drawing/2014/main" id="{A8968698-79E3-9E31-12BE-324675B02055}"/>
              </a:ext>
            </a:extLst>
          </p:cNvPr>
          <p:cNvSpPr txBox="1"/>
          <p:nvPr/>
        </p:nvSpPr>
        <p:spPr>
          <a:xfrm>
            <a:off x="5335397" y="5781675"/>
            <a:ext cx="306494" cy="369332"/>
          </a:xfrm>
          <a:prstGeom prst="rect">
            <a:avLst/>
          </a:prstGeom>
          <a:noFill/>
        </p:spPr>
        <p:txBody>
          <a:bodyPr wrap="none" rtlCol="0">
            <a:spAutoFit/>
          </a:bodyPr>
          <a:lstStyle/>
          <a:p>
            <a:r>
              <a:rPr lang="en-CA" dirty="0"/>
              <a:t>0</a:t>
            </a:r>
          </a:p>
        </p:txBody>
      </p:sp>
      <p:sp>
        <p:nvSpPr>
          <p:cNvPr id="8" name="TextBox 7">
            <a:extLst>
              <a:ext uri="{FF2B5EF4-FFF2-40B4-BE49-F238E27FC236}">
                <a16:creationId xmlns:a16="http://schemas.microsoft.com/office/drawing/2014/main" id="{AE68917B-A093-9C14-607A-71CFD224238A}"/>
              </a:ext>
            </a:extLst>
          </p:cNvPr>
          <p:cNvSpPr txBox="1"/>
          <p:nvPr/>
        </p:nvSpPr>
        <p:spPr>
          <a:xfrm>
            <a:off x="5335397" y="2045256"/>
            <a:ext cx="306494" cy="369332"/>
          </a:xfrm>
          <a:prstGeom prst="rect">
            <a:avLst/>
          </a:prstGeom>
          <a:noFill/>
        </p:spPr>
        <p:txBody>
          <a:bodyPr wrap="none" rtlCol="0">
            <a:spAutoFit/>
          </a:bodyPr>
          <a:lstStyle/>
          <a:p>
            <a:r>
              <a:rPr lang="en-CA" dirty="0"/>
              <a:t>1</a:t>
            </a:r>
          </a:p>
        </p:txBody>
      </p:sp>
      <p:sp>
        <p:nvSpPr>
          <p:cNvPr id="10" name="Rectangle 9">
            <a:extLst>
              <a:ext uri="{FF2B5EF4-FFF2-40B4-BE49-F238E27FC236}">
                <a16:creationId xmlns:a16="http://schemas.microsoft.com/office/drawing/2014/main" id="{01BDD102-6049-D03E-1717-19BFEAF167CE}"/>
              </a:ext>
            </a:extLst>
          </p:cNvPr>
          <p:cNvSpPr/>
          <p:nvPr/>
        </p:nvSpPr>
        <p:spPr>
          <a:xfrm>
            <a:off x="5553075" y="1800225"/>
            <a:ext cx="600075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Rectangle 10">
            <a:extLst>
              <a:ext uri="{FF2B5EF4-FFF2-40B4-BE49-F238E27FC236}">
                <a16:creationId xmlns:a16="http://schemas.microsoft.com/office/drawing/2014/main" id="{737533FC-86FF-4427-3440-421F7ECC2DB7}"/>
              </a:ext>
            </a:extLst>
          </p:cNvPr>
          <p:cNvSpPr/>
          <p:nvPr/>
        </p:nvSpPr>
        <p:spPr>
          <a:xfrm>
            <a:off x="11077575" y="1952626"/>
            <a:ext cx="476250" cy="3867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TextBox 12">
            <a:extLst>
              <a:ext uri="{FF2B5EF4-FFF2-40B4-BE49-F238E27FC236}">
                <a16:creationId xmlns:a16="http://schemas.microsoft.com/office/drawing/2014/main" id="{F90CE35D-C343-EE4B-6471-8F32EAEB2CBA}"/>
              </a:ext>
            </a:extLst>
          </p:cNvPr>
          <p:cNvSpPr txBox="1"/>
          <p:nvPr/>
        </p:nvSpPr>
        <p:spPr>
          <a:xfrm>
            <a:off x="10325868" y="2165628"/>
            <a:ext cx="968342" cy="369332"/>
          </a:xfrm>
          <a:prstGeom prst="rect">
            <a:avLst/>
          </a:prstGeom>
          <a:noFill/>
        </p:spPr>
        <p:txBody>
          <a:bodyPr wrap="none" rtlCol="0">
            <a:spAutoFit/>
          </a:bodyPr>
          <a:lstStyle/>
          <a:p>
            <a:r>
              <a:rPr lang="en-CA" dirty="0"/>
              <a:t>CEAC 5</a:t>
            </a:r>
          </a:p>
        </p:txBody>
      </p:sp>
      <p:sp>
        <p:nvSpPr>
          <p:cNvPr id="16" name="TextBox 15">
            <a:extLst>
              <a:ext uri="{FF2B5EF4-FFF2-40B4-BE49-F238E27FC236}">
                <a16:creationId xmlns:a16="http://schemas.microsoft.com/office/drawing/2014/main" id="{9F1FB505-9A77-9F08-2329-CA8047C868AC}"/>
              </a:ext>
            </a:extLst>
          </p:cNvPr>
          <p:cNvSpPr txBox="1"/>
          <p:nvPr/>
        </p:nvSpPr>
        <p:spPr>
          <a:xfrm>
            <a:off x="10835366" y="4221801"/>
            <a:ext cx="968342" cy="369332"/>
          </a:xfrm>
          <a:prstGeom prst="rect">
            <a:avLst/>
          </a:prstGeom>
          <a:noFill/>
        </p:spPr>
        <p:txBody>
          <a:bodyPr wrap="none" rtlCol="0">
            <a:spAutoFit/>
          </a:bodyPr>
          <a:lstStyle/>
          <a:p>
            <a:r>
              <a:rPr lang="en-CA" dirty="0"/>
              <a:t>CEAC 7</a:t>
            </a:r>
          </a:p>
        </p:txBody>
      </p:sp>
      <p:sp>
        <p:nvSpPr>
          <p:cNvPr id="18" name="Freeform: Shape 17">
            <a:extLst>
              <a:ext uri="{FF2B5EF4-FFF2-40B4-BE49-F238E27FC236}">
                <a16:creationId xmlns:a16="http://schemas.microsoft.com/office/drawing/2014/main" id="{43C9E95C-62B0-F1B8-D273-61040FF3D1CC}"/>
              </a:ext>
            </a:extLst>
          </p:cNvPr>
          <p:cNvSpPr/>
          <p:nvPr/>
        </p:nvSpPr>
        <p:spPr>
          <a:xfrm>
            <a:off x="5638800" y="2509839"/>
            <a:ext cx="5259404" cy="2100344"/>
          </a:xfrm>
          <a:custGeom>
            <a:avLst/>
            <a:gdLst>
              <a:gd name="connsiteX0" fmla="*/ 0 w 4905375"/>
              <a:gd name="connsiteY0" fmla="*/ 1753344 h 1934401"/>
              <a:gd name="connsiteX1" fmla="*/ 971550 w 4905375"/>
              <a:gd name="connsiteY1" fmla="*/ 744 h 1934401"/>
              <a:gd name="connsiteX2" fmla="*/ 2162175 w 4905375"/>
              <a:gd name="connsiteY2" fmla="*/ 1934319 h 1934401"/>
              <a:gd name="connsiteX3" fmla="*/ 3114675 w 4905375"/>
              <a:gd name="connsiteY3" fmla="*/ 86469 h 1934401"/>
              <a:gd name="connsiteX4" fmla="*/ 4210050 w 4905375"/>
              <a:gd name="connsiteY4" fmla="*/ 1858119 h 1934401"/>
              <a:gd name="connsiteX5" fmla="*/ 4905375 w 4905375"/>
              <a:gd name="connsiteY5" fmla="*/ 296019 h 193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5375" h="1934401">
                <a:moveTo>
                  <a:pt x="0" y="1753344"/>
                </a:moveTo>
                <a:cubicBezTo>
                  <a:pt x="305594" y="861963"/>
                  <a:pt x="611188" y="-29418"/>
                  <a:pt x="971550" y="744"/>
                </a:cubicBezTo>
                <a:cubicBezTo>
                  <a:pt x="1331912" y="30906"/>
                  <a:pt x="1804988" y="1920032"/>
                  <a:pt x="2162175" y="1934319"/>
                </a:cubicBezTo>
                <a:cubicBezTo>
                  <a:pt x="2519362" y="1948606"/>
                  <a:pt x="2773363" y="99169"/>
                  <a:pt x="3114675" y="86469"/>
                </a:cubicBezTo>
                <a:cubicBezTo>
                  <a:pt x="3455987" y="73769"/>
                  <a:pt x="3911600" y="1823194"/>
                  <a:pt x="4210050" y="1858119"/>
                </a:cubicBezTo>
                <a:cubicBezTo>
                  <a:pt x="4508500" y="1893044"/>
                  <a:pt x="4706937" y="1094531"/>
                  <a:pt x="4905375" y="296019"/>
                </a:cubicBezTo>
              </a:path>
            </a:pathLst>
          </a:cu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Arc 21">
            <a:extLst>
              <a:ext uri="{FF2B5EF4-FFF2-40B4-BE49-F238E27FC236}">
                <a16:creationId xmlns:a16="http://schemas.microsoft.com/office/drawing/2014/main" id="{50D02407-9D5E-5EAD-DC15-B9D98D625B41}"/>
              </a:ext>
            </a:extLst>
          </p:cNvPr>
          <p:cNvSpPr/>
          <p:nvPr/>
        </p:nvSpPr>
        <p:spPr>
          <a:xfrm>
            <a:off x="5636385" y="2837248"/>
            <a:ext cx="5173654" cy="3103733"/>
          </a:xfrm>
          <a:prstGeom prst="arc">
            <a:avLst>
              <a:gd name="adj1" fmla="val 10742986"/>
              <a:gd name="adj2" fmla="val 0"/>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3" name="Arc 22">
            <a:extLst>
              <a:ext uri="{FF2B5EF4-FFF2-40B4-BE49-F238E27FC236}">
                <a16:creationId xmlns:a16="http://schemas.microsoft.com/office/drawing/2014/main" id="{6237FACE-13D8-CE28-EB97-D4CF3336EB80}"/>
              </a:ext>
            </a:extLst>
          </p:cNvPr>
          <p:cNvSpPr/>
          <p:nvPr/>
        </p:nvSpPr>
        <p:spPr>
          <a:xfrm rot="10800000">
            <a:off x="5601376" y="1131975"/>
            <a:ext cx="5173654" cy="3103733"/>
          </a:xfrm>
          <a:prstGeom prst="arc">
            <a:avLst>
              <a:gd name="adj1" fmla="val 10742986"/>
              <a:gd name="adj2" fmla="val 0"/>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4" name="TextBox 23">
            <a:extLst>
              <a:ext uri="{FF2B5EF4-FFF2-40B4-BE49-F238E27FC236}">
                <a16:creationId xmlns:a16="http://schemas.microsoft.com/office/drawing/2014/main" id="{709E5F93-7AE1-1508-769C-DD5CEE1D2DB4}"/>
              </a:ext>
            </a:extLst>
          </p:cNvPr>
          <p:cNvSpPr txBox="1"/>
          <p:nvPr/>
        </p:nvSpPr>
        <p:spPr>
          <a:xfrm>
            <a:off x="10861638" y="2803202"/>
            <a:ext cx="968342" cy="369332"/>
          </a:xfrm>
          <a:prstGeom prst="rect">
            <a:avLst/>
          </a:prstGeom>
          <a:noFill/>
        </p:spPr>
        <p:txBody>
          <a:bodyPr wrap="none" rtlCol="0">
            <a:spAutoFit/>
          </a:bodyPr>
          <a:lstStyle/>
          <a:p>
            <a:r>
              <a:rPr lang="en-CA" dirty="0"/>
              <a:t>CEAC 6</a:t>
            </a:r>
          </a:p>
        </p:txBody>
      </p:sp>
    </p:spTree>
    <p:extLst>
      <p:ext uri="{BB962C8B-B14F-4D97-AF65-F5344CB8AC3E}">
        <p14:creationId xmlns:p14="http://schemas.microsoft.com/office/powerpoint/2010/main" val="3702420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285FD-F345-B0F4-9D0F-9EB8BAC53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A3B67-BCC8-A079-8FD3-834FB2B5C539}"/>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F9BB715C-D49F-FDA5-FD7B-E5EBA59EA674}"/>
              </a:ext>
            </a:extLst>
          </p:cNvPr>
          <p:cNvSpPr>
            <a:spLocks noGrp="1"/>
          </p:cNvSpPr>
          <p:nvPr>
            <p:ph idx="1"/>
          </p:nvPr>
        </p:nvSpPr>
        <p:spPr>
          <a:xfrm>
            <a:off x="482600" y="1485900"/>
            <a:ext cx="10747375" cy="3829050"/>
          </a:xfrm>
        </p:spPr>
        <p:txBody>
          <a:bodyPr>
            <a:normAutofit/>
          </a:bodyPr>
          <a:lstStyle/>
          <a:p>
            <a:r>
              <a:rPr lang="en-CA" dirty="0"/>
              <a:t>In this lecture, we will discuss:</a:t>
            </a:r>
          </a:p>
          <a:p>
            <a:pPr marL="457200" indent="-457200">
              <a:buFont typeface="+mj-lt"/>
              <a:buAutoNum type="arabicPeriod"/>
            </a:pPr>
            <a:r>
              <a:rPr lang="en-CA" dirty="0"/>
              <a:t>What is sensitivity analysis?</a:t>
            </a:r>
          </a:p>
          <a:p>
            <a:pPr marL="457200" indent="-457200">
              <a:buFont typeface="+mj-lt"/>
              <a:buAutoNum type="arabicPeriod"/>
            </a:pPr>
            <a:r>
              <a:rPr lang="en-CA" dirty="0"/>
              <a:t>One-way sensitivity analysis.</a:t>
            </a:r>
          </a:p>
          <a:p>
            <a:pPr marL="457200" indent="-457200">
              <a:buFont typeface="+mj-lt"/>
              <a:buAutoNum type="arabicPeriod"/>
            </a:pPr>
            <a:r>
              <a:rPr lang="en-CA" dirty="0"/>
              <a:t>Two-way sensitivity analysis.</a:t>
            </a:r>
          </a:p>
          <a:p>
            <a:pPr marL="457200" indent="-457200">
              <a:buFont typeface="+mj-lt"/>
              <a:buAutoNum type="arabicPeriod"/>
            </a:pPr>
            <a:r>
              <a:rPr lang="en-CA" dirty="0"/>
              <a:t>Probabilistic Sensitivity Analysis and the CEAC</a:t>
            </a:r>
          </a:p>
          <a:p>
            <a:pPr marL="457200" indent="-457200">
              <a:buFont typeface="+mj-lt"/>
              <a:buAutoNum type="arabicPeriod"/>
            </a:pPr>
            <a:r>
              <a:rPr lang="en-CA" dirty="0"/>
              <a:t>Net Monetary Benefits and Net Health Benefits</a:t>
            </a:r>
          </a:p>
          <a:p>
            <a:pPr marL="457200" indent="-457200">
              <a:buFont typeface="+mj-lt"/>
              <a:buAutoNum type="arabicPeriod"/>
            </a:pPr>
            <a:r>
              <a:rPr lang="en-CA" dirty="0"/>
              <a:t>Sketching the CEAC by hand.</a:t>
            </a:r>
          </a:p>
          <a:p>
            <a:pPr marL="457200" indent="-457200">
              <a:buFont typeface="+mj-lt"/>
              <a:buAutoNum type="arabicPeriod"/>
            </a:pPr>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A7C65D82-C381-EF9A-A289-2F569535F8D2}"/>
              </a:ext>
            </a:extLst>
          </p:cNvPr>
          <p:cNvSpPr/>
          <p:nvPr/>
        </p:nvSpPr>
        <p:spPr>
          <a:xfrm>
            <a:off x="1748341" y="49297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the idea of sensitivity analysis</a:t>
            </a:r>
          </a:p>
          <a:p>
            <a:pPr marL="285750" indent="-285750">
              <a:buFont typeface="Wingdings" panose="05000000000000000000" pitchFamily="2" charset="2"/>
              <a:buChar char="Ø"/>
            </a:pPr>
            <a:r>
              <a:rPr lang="en-CA" b="1" i="1" dirty="0">
                <a:solidFill>
                  <a:schemeClr val="tx1"/>
                </a:solidFill>
              </a:rPr>
              <a:t>Understand how sensitivity analysis supports the robustness of model results</a:t>
            </a:r>
          </a:p>
        </p:txBody>
      </p:sp>
    </p:spTree>
    <p:extLst>
      <p:ext uri="{BB962C8B-B14F-4D97-AF65-F5344CB8AC3E}">
        <p14:creationId xmlns:p14="http://schemas.microsoft.com/office/powerpoint/2010/main" val="2620521807"/>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5126</TotalTime>
  <Words>2043</Words>
  <Application>Microsoft Office PowerPoint</Application>
  <PresentationFormat>Widescreen</PresentationFormat>
  <Paragraphs>260</Paragraphs>
  <Slides>35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Cambria Math</vt:lpstr>
      <vt:lpstr>Seaford</vt:lpstr>
      <vt:lpstr>Wingdings</vt:lpstr>
      <vt:lpstr>LevelVTI</vt:lpstr>
      <vt:lpstr>Health Economics Lecture #9</vt:lpstr>
      <vt:lpstr>Learning Objectives</vt:lpstr>
      <vt:lpstr>What is sensitivity analysis?</vt:lpstr>
      <vt:lpstr>Sensitivity Analysis</vt:lpstr>
      <vt:lpstr>Types of Sensitivity Analysis</vt:lpstr>
      <vt:lpstr>What do we apply sensitivity analysis to?</vt:lpstr>
      <vt:lpstr>One Way Sensitivity Analysis</vt:lpstr>
      <vt:lpstr>One-way Sensitivity Analysis</vt:lpstr>
      <vt:lpstr>Tornado Diagrams</vt:lpstr>
      <vt:lpstr>Spider Plots</vt:lpstr>
      <vt:lpstr>Two-Way Sensitivity Analysis</vt:lpstr>
      <vt:lpstr>Two Way Sensitivity Analysis</vt:lpstr>
      <vt:lpstr>Two way sensitivity analysis plot</vt:lpstr>
      <vt:lpstr>Probabilistic Sensitivity Analysis</vt:lpstr>
      <vt:lpstr>Probabilistic Sensitivity Analysis</vt:lpstr>
      <vt:lpstr>The cost effectiveness plane and the ICER</vt:lpstr>
      <vt:lpstr>PSA and the CE Plane</vt:lpstr>
      <vt:lpstr>PSA and the CE Plane</vt:lpstr>
      <vt:lpstr>PSA and the CE Plane</vt:lpstr>
      <vt:lpstr>The Cost Effectiveness Acceptability Curve.</vt:lpstr>
      <vt:lpstr>The Cost Effectiveness Acceptability Curve.</vt:lpstr>
      <vt:lpstr>Net Monetary Benefits and Net Health Benefits </vt:lpstr>
      <vt:lpstr>The cost effectiveness plane and the ICER</vt:lpstr>
      <vt:lpstr>The Problem with Negative ICERs</vt:lpstr>
      <vt:lpstr>The Problem with Negative ICERs</vt:lpstr>
      <vt:lpstr>The Solution: Net Health Benefits and Net Monetary Benefits</vt:lpstr>
      <vt:lpstr>Sketching the CEAC by hand</vt:lpstr>
      <vt:lpstr>Sketching the CEAC by hand.</vt:lpstr>
      <vt:lpstr>Sketching the CEAC by hand.</vt:lpstr>
      <vt:lpstr>Sketching the CEAC by hand.</vt:lpstr>
      <vt:lpstr>Sketching the CEAC by hand.</vt:lpstr>
      <vt:lpstr>Sketching the CEAC by hand.</vt:lpstr>
      <vt:lpstr>The many shapes of the CEAC</vt:lpstr>
      <vt:lpstr>A CEAC Shapes we can never have</vt:lpstr>
      <vt:lpstr>Learning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Yakov Smith</cp:lastModifiedBy>
  <cp:revision>37</cp:revision>
  <dcterms:created xsi:type="dcterms:W3CDTF">2025-07-13T05:00:08Z</dcterms:created>
  <dcterms:modified xsi:type="dcterms:W3CDTF">2025-11-19T16:21:12Z</dcterms:modified>
</cp:coreProperties>
</file>