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99" r:id="rId1"/>
  </p:sldMasterIdLst>
  <p:notesMasterIdLst>
    <p:notesMasterId r:id="rId25"/>
  </p:notesMasterIdLst>
  <p:sldIdLst>
    <p:sldId id="256" r:id="rId2"/>
    <p:sldId id="257" r:id="rId3"/>
    <p:sldId id="275" r:id="rId4"/>
    <p:sldId id="284" r:id="rId5"/>
    <p:sldId id="279" r:id="rId6"/>
    <p:sldId id="288" r:id="rId7"/>
    <p:sldId id="285" r:id="rId8"/>
    <p:sldId id="298" r:id="rId9"/>
    <p:sldId id="276" r:id="rId10"/>
    <p:sldId id="280" r:id="rId11"/>
    <p:sldId id="289" r:id="rId12"/>
    <p:sldId id="294" r:id="rId13"/>
    <p:sldId id="290" r:id="rId14"/>
    <p:sldId id="299" r:id="rId15"/>
    <p:sldId id="300" r:id="rId16"/>
    <p:sldId id="291" r:id="rId17"/>
    <p:sldId id="292" r:id="rId18"/>
    <p:sldId id="282" r:id="rId19"/>
    <p:sldId id="281" r:id="rId20"/>
    <p:sldId id="295" r:id="rId21"/>
    <p:sldId id="274" r:id="rId22"/>
    <p:sldId id="296" r:id="rId23"/>
    <p:sldId id="29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284" autoAdjust="0"/>
  </p:normalViewPr>
  <p:slideViewPr>
    <p:cSldViewPr snapToGrid="0">
      <p:cViewPr varScale="1">
        <p:scale>
          <a:sx n="100" d="100"/>
          <a:sy n="100" d="100"/>
        </p:scale>
        <p:origin x="37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69A107-93FC-4C73-A81C-593CBB10CFEF}" type="datetimeFigureOut">
              <a:rPr lang="en-CA" smtClean="0"/>
              <a:t>2025-11-12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3E61FF-07A4-4C6C-B06F-DD1DA8ACF568}" type="slidenum">
              <a:rPr lang="en-CA" smtClean="0"/>
              <a:t>‹#›</a:t>
            </a:fld>
            <a:endParaRPr lang="en-CA"/>
          </a:p>
        </p:txBody>
      </p:sp>
    </p:spTree>
    <p:extLst>
      <p:ext uri="{BB962C8B-B14F-4D97-AF65-F5344CB8AC3E}">
        <p14:creationId xmlns:p14="http://schemas.microsoft.com/office/powerpoint/2010/main" val="873835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E3B8B-B15B-CDC1-71D5-F76B75186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DD85F-E84A-FB7D-98DF-1B69C6A494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2F523-F678-1D9E-2B13-E87C114BA18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5935070-5186-E423-7D84-A109D2A7F33C}"/>
              </a:ext>
            </a:extLst>
          </p:cNvPr>
          <p:cNvSpPr>
            <a:spLocks noGrp="1"/>
          </p:cNvSpPr>
          <p:nvPr>
            <p:ph type="sldNum" sz="quarter" idx="5"/>
          </p:nvPr>
        </p:nvSpPr>
        <p:spPr/>
        <p:txBody>
          <a:bodyPr/>
          <a:lstStyle/>
          <a:p>
            <a:fld id="{CE3E61FF-07A4-4C6C-B06F-DD1DA8ACF568}" type="slidenum">
              <a:rPr lang="en-CA" smtClean="0"/>
              <a:t>3</a:t>
            </a:fld>
            <a:endParaRPr lang="en-CA"/>
          </a:p>
        </p:txBody>
      </p:sp>
    </p:spTree>
    <p:extLst>
      <p:ext uri="{BB962C8B-B14F-4D97-AF65-F5344CB8AC3E}">
        <p14:creationId xmlns:p14="http://schemas.microsoft.com/office/powerpoint/2010/main" val="2735921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BF174-D56F-A69A-687B-3A3F153FA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0BE14-E058-97BD-43D7-218F091D0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9E373-64DD-0FA8-9E19-8E40A6FF863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39D1103-C69C-9143-BB36-E02506047BE3}"/>
              </a:ext>
            </a:extLst>
          </p:cNvPr>
          <p:cNvSpPr>
            <a:spLocks noGrp="1"/>
          </p:cNvSpPr>
          <p:nvPr>
            <p:ph type="sldNum" sz="quarter" idx="5"/>
          </p:nvPr>
        </p:nvSpPr>
        <p:spPr/>
        <p:txBody>
          <a:bodyPr/>
          <a:lstStyle/>
          <a:p>
            <a:fld id="{CE3E61FF-07A4-4C6C-B06F-DD1DA8ACF568}" type="slidenum">
              <a:rPr lang="en-CA" smtClean="0"/>
              <a:t>9</a:t>
            </a:fld>
            <a:endParaRPr lang="en-CA"/>
          </a:p>
        </p:txBody>
      </p:sp>
    </p:spTree>
    <p:extLst>
      <p:ext uri="{BB962C8B-B14F-4D97-AF65-F5344CB8AC3E}">
        <p14:creationId xmlns:p14="http://schemas.microsoft.com/office/powerpoint/2010/main" val="3603669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6E282-93A1-CF7C-B707-2D676407A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C0FECC-3F19-0EC9-7AD4-7151AD88A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D81F3-7B11-CD15-D893-E7956E829EE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2ABFF6D-5D93-30A4-91CF-E6E6287F6B42}"/>
              </a:ext>
            </a:extLst>
          </p:cNvPr>
          <p:cNvSpPr>
            <a:spLocks noGrp="1"/>
          </p:cNvSpPr>
          <p:nvPr>
            <p:ph type="sldNum" sz="quarter" idx="5"/>
          </p:nvPr>
        </p:nvSpPr>
        <p:spPr/>
        <p:txBody>
          <a:bodyPr/>
          <a:lstStyle/>
          <a:p>
            <a:fld id="{CE3E61FF-07A4-4C6C-B06F-DD1DA8ACF568}" type="slidenum">
              <a:rPr lang="en-CA" smtClean="0"/>
              <a:t>18</a:t>
            </a:fld>
            <a:endParaRPr lang="en-CA"/>
          </a:p>
        </p:txBody>
      </p:sp>
    </p:spTree>
    <p:extLst>
      <p:ext uri="{BB962C8B-B14F-4D97-AF65-F5344CB8AC3E}">
        <p14:creationId xmlns:p14="http://schemas.microsoft.com/office/powerpoint/2010/main" val="2794832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2FE-E00B-4FAF-8F73-F722060EBA12}"/>
              </a:ext>
            </a:extLst>
          </p:cNvPr>
          <p:cNvSpPr>
            <a:spLocks noGrp="1"/>
          </p:cNvSpPr>
          <p:nvPr>
            <p:ph type="ctrTitle"/>
          </p:nvPr>
        </p:nvSpPr>
        <p:spPr>
          <a:xfrm>
            <a:off x="482600" y="978408"/>
            <a:ext cx="10506991" cy="2531555"/>
          </a:xfrm>
          <a:prstGeom prst="rect">
            <a:avLst/>
          </a:prstGeom>
        </p:spPr>
        <p:txBody>
          <a:bodyPr anchor="b"/>
          <a:lstStyle>
            <a:lvl1pPr algn="l">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7C1CCE2-4461-473E-B23C-34C8CCF04B3A}"/>
              </a:ext>
            </a:extLst>
          </p:cNvPr>
          <p:cNvSpPr>
            <a:spLocks noGrp="1"/>
          </p:cNvSpPr>
          <p:nvPr>
            <p:ph type="subTitle" idx="1"/>
          </p:nvPr>
        </p:nvSpPr>
        <p:spPr>
          <a:xfrm>
            <a:off x="482600" y="3602038"/>
            <a:ext cx="10506991" cy="227755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AA551A-CE2F-4E35-A714-B1F04D4B4E8E}"/>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26B5C907-6594-4DFF-A32B-449C3BA96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76D75-E9DA-4660-AC52-51BA63FCB94D}"/>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0" name="Straight Connector 9">
            <a:extLst>
              <a:ext uri="{FF2B5EF4-FFF2-40B4-BE49-F238E27FC236}">
                <a16:creationId xmlns:a16="http://schemas.microsoft.com/office/drawing/2014/main" id="{A2EFA84C-D756-4DC7-AA46-68D776F37FA4}"/>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06393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3735-A77F-440D-9448-6AE7C204D377}"/>
              </a:ext>
            </a:extLst>
          </p:cNvPr>
          <p:cNvSpPr>
            <a:spLocks noGrp="1"/>
          </p:cNvSpPr>
          <p:nvPr>
            <p:ph type="title"/>
          </p:nvPr>
        </p:nvSpPr>
        <p:spPr>
          <a:xfrm>
            <a:off x="482600" y="978408"/>
            <a:ext cx="10634472" cy="2157984"/>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276C6EE-D55E-454B-B28C-EC73D1DB4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A2905-6D2E-4319-9521-61452AB8F996}"/>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6DAC7550-84E8-49D3-B419-6F5F327DA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D2C6B-EA5D-4D97-BC84-6C860D53636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890066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1B299E6-11CC-4181-86C3-528A13F1F556}"/>
              </a:ext>
              <a:ext uri="{C183D7F6-B498-43B3-948B-1728B52AA6E4}">
                <adec:decorative xmlns:adec="http://schemas.microsoft.com/office/drawing/2017/decorative" val="1"/>
              </a:ext>
            </a:extLst>
          </p:cNvPr>
          <p:cNvSpPr/>
          <p:nvPr/>
        </p:nvSpPr>
        <p:spPr>
          <a:xfrm>
            <a:off x="481007" y="3922232"/>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03473-0A64-4F9F-833B-8D64E39019B1}"/>
              </a:ext>
            </a:extLst>
          </p:cNvPr>
          <p:cNvSpPr>
            <a:spLocks noGrp="1"/>
          </p:cNvSpPr>
          <p:nvPr>
            <p:ph type="title"/>
          </p:nvPr>
        </p:nvSpPr>
        <p:spPr>
          <a:xfrm>
            <a:off x="482600" y="978409"/>
            <a:ext cx="10515600" cy="2716769"/>
          </a:xfrm>
          <a:prstGeom prst="rect">
            <a:avLst/>
          </a:prstGeo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6873736-B424-40F2-B562-6DC10E5EDE4F}"/>
              </a:ext>
            </a:extLst>
          </p:cNvPr>
          <p:cNvSpPr>
            <a:spLocks noGrp="1"/>
          </p:cNvSpPr>
          <p:nvPr>
            <p:ph type="body" idx="1"/>
          </p:nvPr>
        </p:nvSpPr>
        <p:spPr>
          <a:xfrm>
            <a:off x="482600" y="4171445"/>
            <a:ext cx="10515600" cy="1918205"/>
          </a:xfrm>
        </p:spPr>
        <p:txBody>
          <a:bodyPr>
            <a:normAutofit/>
          </a:bodyPr>
          <a:lstStyle>
            <a:lvl1pPr marL="0" indent="0">
              <a:buNone/>
              <a:defRPr lang="en-US" sz="2400" i="1" kern="120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Date Placeholder 3">
            <a:extLst>
              <a:ext uri="{FF2B5EF4-FFF2-40B4-BE49-F238E27FC236}">
                <a16:creationId xmlns:a16="http://schemas.microsoft.com/office/drawing/2014/main" id="{74348851-37C0-478D-B722-D76C817DC49D}"/>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263E063E-66CE-4C18-91FA-D14AE052D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66D3D-FD62-470C-BC3C-A03771A32F60}"/>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1" name="Straight Connector 10">
            <a:extLst>
              <a:ext uri="{FF2B5EF4-FFF2-40B4-BE49-F238E27FC236}">
                <a16:creationId xmlns:a16="http://schemas.microsoft.com/office/drawing/2014/main" id="{DDFF0049-0231-4557-A707-569556F0CA83}"/>
              </a:ext>
              <a:ext uri="{C183D7F6-B498-43B3-948B-1728B52AA6E4}">
                <adec:decorative xmlns:adec="http://schemas.microsoft.com/office/drawing/2017/decorative" val="1"/>
              </a:ext>
            </a:extLst>
          </p:cNvPr>
          <p:cNvCxnSpPr>
            <a:cxnSpLocks/>
          </p:cNvCxnSpPr>
          <p:nvPr/>
        </p:nvCxnSpPr>
        <p:spPr>
          <a:xfrm>
            <a:off x="481007" y="3922232"/>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57A0DB1-87C8-4BF4-B2A2-F9CA6ED05AC4}"/>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6C29209-8A8F-48A7-8BA2-AFADA37CBD4F}"/>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34955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66BE9C-AE7C-4C39-9694-C32D6939B965}"/>
              </a:ext>
              <a:ext uri="{C183D7F6-B498-43B3-948B-1728B52AA6E4}">
                <adec:decorative xmlns:adec="http://schemas.microsoft.com/office/drawing/2017/decorative" val="1"/>
              </a:ext>
            </a:extLst>
          </p:cNvPr>
          <p:cNvSpPr/>
          <p:nvPr/>
        </p:nvSpPr>
        <p:spPr>
          <a:xfrm>
            <a:off x="481007" y="483577"/>
            <a:ext cx="11147071" cy="2434824"/>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CC42C-303A-4BDF-990A-2B07967BC9A9}"/>
              </a:ext>
            </a:extLst>
          </p:cNvPr>
          <p:cNvSpPr>
            <a:spLocks noGrp="1"/>
          </p:cNvSpPr>
          <p:nvPr>
            <p:ph type="title"/>
          </p:nvPr>
        </p:nvSpPr>
        <p:spPr>
          <a:xfrm>
            <a:off x="482599" y="978408"/>
            <a:ext cx="11147071" cy="1755263"/>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0C55CEF-353E-4E14-83AD-ACADDC08D943}"/>
              </a:ext>
            </a:extLst>
          </p:cNvPr>
          <p:cNvSpPr>
            <a:spLocks noGrp="1"/>
          </p:cNvSpPr>
          <p:nvPr>
            <p:ph sz="half" idx="1"/>
          </p:nvPr>
        </p:nvSpPr>
        <p:spPr>
          <a:xfrm>
            <a:off x="48260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E55ECEF-9654-4AC1-BF77-7BC602BBD434}"/>
              </a:ext>
            </a:extLst>
          </p:cNvPr>
          <p:cNvSpPr>
            <a:spLocks noGrp="1"/>
          </p:cNvSpPr>
          <p:nvPr>
            <p:ph sz="half" idx="2"/>
          </p:nvPr>
        </p:nvSpPr>
        <p:spPr>
          <a:xfrm>
            <a:off x="621112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4922FC8-BC06-407B-A82B-DA62B33A1CD4}"/>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6" name="Footer Placeholder 5">
            <a:extLst>
              <a:ext uri="{FF2B5EF4-FFF2-40B4-BE49-F238E27FC236}">
                <a16:creationId xmlns:a16="http://schemas.microsoft.com/office/drawing/2014/main" id="{7915B701-4E1F-48AA-8A3C-ED5DD9151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6BCA31-8AC7-46F5-BCAB-41D54DF83D78}"/>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a:extLst>
              <a:ext uri="{FF2B5EF4-FFF2-40B4-BE49-F238E27FC236}">
                <a16:creationId xmlns:a16="http://schemas.microsoft.com/office/drawing/2014/main" id="{21BA86D8-2A29-4A0E-AEA0-39B41C4187DE}"/>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085E13E-918A-4D04-9E84-94148D7C878E}"/>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51486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E892-D975-4DD6-8583-A14DDBE85F0C}"/>
              </a:ext>
            </a:extLst>
          </p:cNvPr>
          <p:cNvSpPr>
            <a:spLocks noGrp="1"/>
          </p:cNvSpPr>
          <p:nvPr>
            <p:ph type="title"/>
          </p:nvPr>
        </p:nvSpPr>
        <p:spPr>
          <a:xfrm>
            <a:off x="484631" y="978407"/>
            <a:ext cx="11145039" cy="1339584"/>
          </a:xfrm>
          <a:prstGeom prst="rect">
            <a:avLst/>
          </a:prstGeo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1F7700-CECC-4881-BE5C-A13CD825B73B}"/>
              </a:ext>
            </a:extLst>
          </p:cNvPr>
          <p:cNvSpPr>
            <a:spLocks noGrp="1"/>
          </p:cNvSpPr>
          <p:nvPr>
            <p:ph type="body" idx="1"/>
          </p:nvPr>
        </p:nvSpPr>
        <p:spPr>
          <a:xfrm>
            <a:off x="484632" y="2500921"/>
            <a:ext cx="5346222" cy="823912"/>
          </a:xfrm>
        </p:spPr>
        <p:txBody>
          <a:bodyPr anchor="b">
            <a:normAutofit/>
          </a:bodyPr>
          <a:lstStyle>
            <a:lvl1pPr marL="0" indent="0">
              <a:buNone/>
              <a:defRPr lang="en-US" sz="2400" b="0" i="1"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Content Placeholder 3">
            <a:extLst>
              <a:ext uri="{FF2B5EF4-FFF2-40B4-BE49-F238E27FC236}">
                <a16:creationId xmlns:a16="http://schemas.microsoft.com/office/drawing/2014/main" id="{4CA50766-520A-44C5-943E-569222B74104}"/>
              </a:ext>
            </a:extLst>
          </p:cNvPr>
          <p:cNvSpPr>
            <a:spLocks noGrp="1"/>
          </p:cNvSpPr>
          <p:nvPr>
            <p:ph sz="half" idx="2"/>
          </p:nvPr>
        </p:nvSpPr>
        <p:spPr>
          <a:xfrm>
            <a:off x="484632" y="3428999"/>
            <a:ext cx="5346222"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72F7E42-976A-4239-8006-D68538D4B71F}"/>
              </a:ext>
            </a:extLst>
          </p:cNvPr>
          <p:cNvSpPr>
            <a:spLocks noGrp="1"/>
          </p:cNvSpPr>
          <p:nvPr>
            <p:ph type="body" sz="quarter" idx="3"/>
          </p:nvPr>
        </p:nvSpPr>
        <p:spPr>
          <a:xfrm>
            <a:off x="6257120" y="2500921"/>
            <a:ext cx="5372551" cy="823912"/>
          </a:xfrm>
        </p:spPr>
        <p:txBody>
          <a:bodyPr anchor="b"/>
          <a:lstStyle>
            <a:lvl1pPr marL="0" indent="0">
              <a:buNone/>
              <a:defRPr lang="en-US" sz="2400" b="0" i="1" kern="120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CA329-951F-4391-ADC5-7EA320B7782F}"/>
              </a:ext>
            </a:extLst>
          </p:cNvPr>
          <p:cNvSpPr>
            <a:spLocks noGrp="1"/>
          </p:cNvSpPr>
          <p:nvPr>
            <p:ph sz="quarter" idx="4"/>
          </p:nvPr>
        </p:nvSpPr>
        <p:spPr>
          <a:xfrm>
            <a:off x="6257120" y="3428999"/>
            <a:ext cx="5372551"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BEC22A-DA46-460C-B865-D928C20AE763}"/>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8" name="Footer Placeholder 7">
            <a:extLst>
              <a:ext uri="{FF2B5EF4-FFF2-40B4-BE49-F238E27FC236}">
                <a16:creationId xmlns:a16="http://schemas.microsoft.com/office/drawing/2014/main" id="{4EB2D647-42C5-4AB7-BB71-3A44065716E7}"/>
              </a:ext>
            </a:extLst>
          </p:cNvPr>
          <p:cNvSpPr>
            <a:spLocks noGrp="1"/>
          </p:cNvSpPr>
          <p:nvPr>
            <p:ph type="ftr" sz="quarter" idx="11"/>
          </p:nvPr>
        </p:nvSpPr>
        <p:spPr>
          <a:xfrm>
            <a:off x="484632" y="6419088"/>
            <a:ext cx="4114800" cy="365125"/>
          </a:xfrm>
        </p:spPr>
        <p:txBody>
          <a:bodyPr/>
          <a:lstStyle/>
          <a:p>
            <a:endParaRPr lang="en-US"/>
          </a:p>
        </p:txBody>
      </p:sp>
      <p:sp>
        <p:nvSpPr>
          <p:cNvPr id="9" name="Slide Number Placeholder 8">
            <a:extLst>
              <a:ext uri="{FF2B5EF4-FFF2-40B4-BE49-F238E27FC236}">
                <a16:creationId xmlns:a16="http://schemas.microsoft.com/office/drawing/2014/main" id="{590B2B67-714C-46DA-85E5-598B4244D3B0}"/>
              </a:ext>
            </a:extLst>
          </p:cNvPr>
          <p:cNvSpPr>
            <a:spLocks noGrp="1"/>
          </p:cNvSpPr>
          <p:nvPr>
            <p:ph type="sldNum" sz="quarter" idx="12"/>
          </p:nvPr>
        </p:nvSpPr>
        <p:spPr>
          <a:xfrm>
            <a:off x="10989591" y="-7190"/>
            <a:ext cx="640080" cy="365125"/>
          </a:xfrm>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187989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D4B6724-AB30-4E7C-BE2B-ECD94FF1B463}"/>
              </a:ext>
              <a:ext uri="{C183D7F6-B498-43B3-948B-1728B52AA6E4}">
                <adec:decorative xmlns:adec="http://schemas.microsoft.com/office/drawing/2017/decorative" val="1"/>
              </a:ext>
            </a:extLst>
          </p:cNvPr>
          <p:cNvSpPr/>
          <p:nvPr/>
        </p:nvSpPr>
        <p:spPr>
          <a:xfrm>
            <a:off x="481007" y="3933311"/>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1D4BAB-2678-4A19-A575-C47CAF1446E5}"/>
              </a:ext>
            </a:extLst>
          </p:cNvPr>
          <p:cNvSpPr>
            <a:spLocks noGrp="1"/>
          </p:cNvSpPr>
          <p:nvPr>
            <p:ph type="title"/>
          </p:nvPr>
        </p:nvSpPr>
        <p:spPr>
          <a:xfrm>
            <a:off x="482600" y="978408"/>
            <a:ext cx="10634472" cy="2591509"/>
          </a:xfrm>
          <a:prstGeom prst="rect">
            <a:avLst/>
          </a:prstGeom>
        </p:spPr>
        <p:txBody>
          <a:bodyPr anchor="b"/>
          <a:lstStyle/>
          <a:p>
            <a:r>
              <a:rPr lang="en-US"/>
              <a:t>Click to edit Master title style</a:t>
            </a:r>
            <a:endParaRPr lang="en-US" dirty="0"/>
          </a:p>
        </p:txBody>
      </p:sp>
      <p:sp>
        <p:nvSpPr>
          <p:cNvPr id="3" name="Date Placeholder 2">
            <a:extLst>
              <a:ext uri="{FF2B5EF4-FFF2-40B4-BE49-F238E27FC236}">
                <a16:creationId xmlns:a16="http://schemas.microsoft.com/office/drawing/2014/main" id="{4047C89E-0ABD-4FD2-924C-894345ADFED8}"/>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4" name="Footer Placeholder 3">
            <a:extLst>
              <a:ext uri="{FF2B5EF4-FFF2-40B4-BE49-F238E27FC236}">
                <a16:creationId xmlns:a16="http://schemas.microsoft.com/office/drawing/2014/main" id="{553026CE-9CC8-403B-88B1-184D16532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B3D616-3C18-401B-A792-E75149FDFC47}"/>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7" name="Straight Connector 6">
            <a:extLst>
              <a:ext uri="{FF2B5EF4-FFF2-40B4-BE49-F238E27FC236}">
                <a16:creationId xmlns:a16="http://schemas.microsoft.com/office/drawing/2014/main" id="{04EC6F70-D800-4067-A36A-5BBFC8018E2D}"/>
              </a:ext>
              <a:ext uri="{C183D7F6-B498-43B3-948B-1728B52AA6E4}">
                <adec:decorative xmlns:adec="http://schemas.microsoft.com/office/drawing/2017/decorative" val="1"/>
              </a:ext>
            </a:extLst>
          </p:cNvPr>
          <p:cNvCxnSpPr>
            <a:cxnSpLocks/>
          </p:cNvCxnSpPr>
          <p:nvPr/>
        </p:nvCxnSpPr>
        <p:spPr>
          <a:xfrm>
            <a:off x="482600" y="393331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2B66CB6-8988-4FBA-8524-726765A5F2AA}"/>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49036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73F84-0C6B-4EF4-9405-C389824999D4}"/>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3" name="Footer Placeholder 2">
            <a:extLst>
              <a:ext uri="{FF2B5EF4-FFF2-40B4-BE49-F238E27FC236}">
                <a16:creationId xmlns:a16="http://schemas.microsoft.com/office/drawing/2014/main" id="{DCCEC807-744E-4C5C-8B15-09AED3E570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BCB19-9F4B-474C-85C1-4A645A971827}"/>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53933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88B0-DD6B-449B-AE32-D3192081E76F}"/>
              </a:ext>
            </a:extLst>
          </p:cNvPr>
          <p:cNvSpPr>
            <a:spLocks noGrp="1"/>
          </p:cNvSpPr>
          <p:nvPr>
            <p:ph type="title"/>
          </p:nvPr>
        </p:nvSpPr>
        <p:spPr>
          <a:xfrm>
            <a:off x="484632" y="978408"/>
            <a:ext cx="4287393" cy="2450592"/>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F22ED6-5B69-4B3B-BF96-3A75F2107FA6}"/>
              </a:ext>
            </a:extLst>
          </p:cNvPr>
          <p:cNvSpPr>
            <a:spLocks noGrp="1"/>
          </p:cNvSpPr>
          <p:nvPr>
            <p:ph idx="1"/>
          </p:nvPr>
        </p:nvSpPr>
        <p:spPr>
          <a:xfrm>
            <a:off x="5183187" y="987425"/>
            <a:ext cx="644648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7704043-D45F-440A-A15D-2718A913E05A}"/>
              </a:ext>
            </a:extLst>
          </p:cNvPr>
          <p:cNvSpPr>
            <a:spLocks noGrp="1"/>
          </p:cNvSpPr>
          <p:nvPr>
            <p:ph type="body" sz="half" idx="2"/>
          </p:nvPr>
        </p:nvSpPr>
        <p:spPr>
          <a:xfrm>
            <a:off x="484632" y="3645074"/>
            <a:ext cx="4287393" cy="2223914"/>
          </a:xfrm>
        </p:spPr>
        <p:txBody>
          <a:bodyPr/>
          <a:lstStyle>
            <a:lvl1pPr marL="0" indent="0">
              <a:buNone/>
              <a:defRPr lang="en-US" sz="2400" i="1"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072DC-7326-43E7-806C-B690C439E8A8}"/>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6" name="Footer Placeholder 5">
            <a:extLst>
              <a:ext uri="{FF2B5EF4-FFF2-40B4-BE49-F238E27FC236}">
                <a16:creationId xmlns:a16="http://schemas.microsoft.com/office/drawing/2014/main" id="{73F89A0F-B8C6-4AA6-A9C4-4A454F422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7A616-A4F2-4FC5-88DE-B4E6BA542895}"/>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868114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773D-D007-4687-BA9C-9F229829B5EF}"/>
              </a:ext>
            </a:extLst>
          </p:cNvPr>
          <p:cNvSpPr>
            <a:spLocks noGrp="1"/>
          </p:cNvSpPr>
          <p:nvPr>
            <p:ph type="title"/>
          </p:nvPr>
        </p:nvSpPr>
        <p:spPr>
          <a:xfrm>
            <a:off x="484632" y="978407"/>
            <a:ext cx="4287393" cy="2450593"/>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A3A75FC-78D2-4EF5-884F-11B7BACF799A}"/>
              </a:ext>
            </a:extLst>
          </p:cNvPr>
          <p:cNvSpPr>
            <a:spLocks noGrp="1"/>
          </p:cNvSpPr>
          <p:nvPr>
            <p:ph type="pic" idx="1"/>
          </p:nvPr>
        </p:nvSpPr>
        <p:spPr>
          <a:xfrm>
            <a:off x="5183187" y="987425"/>
            <a:ext cx="644648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D7CE0BB-D335-4391-A23F-194C575CAF8F}"/>
              </a:ext>
            </a:extLst>
          </p:cNvPr>
          <p:cNvSpPr>
            <a:spLocks noGrp="1"/>
          </p:cNvSpPr>
          <p:nvPr>
            <p:ph type="body" sz="half" idx="2"/>
          </p:nvPr>
        </p:nvSpPr>
        <p:spPr>
          <a:xfrm>
            <a:off x="484632" y="3645074"/>
            <a:ext cx="4287393" cy="2223914"/>
          </a:xfrm>
        </p:spPr>
        <p:txBody>
          <a:bodyPr/>
          <a:lstStyle>
            <a:lvl1pPr marL="0" indent="0">
              <a:buNone/>
              <a:defRPr lang="en-US" sz="240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701E1-B97B-4DA5-B9AD-07B7C12476AE}"/>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6" name="Footer Placeholder 5">
            <a:extLst>
              <a:ext uri="{FF2B5EF4-FFF2-40B4-BE49-F238E27FC236}">
                <a16:creationId xmlns:a16="http://schemas.microsoft.com/office/drawing/2014/main" id="{076D9CF8-F42F-4618-9F26-8BFE56487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A2023-1ECA-4A96-BDC7-F7FA4368BE1B}"/>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43327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999A10-4355-4A13-B008-196B21ABEEAF}"/>
              </a:ext>
              <a:ext uri="{C183D7F6-B498-43B3-948B-1728B52AA6E4}">
                <adec:decorative xmlns:adec="http://schemas.microsoft.com/office/drawing/2017/decorative" val="1"/>
              </a:ext>
            </a:extLst>
          </p:cNvPr>
          <p:cNvSpPr/>
          <p:nvPr/>
        </p:nvSpPr>
        <p:spPr>
          <a:xfrm>
            <a:off x="482600" y="483576"/>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36D448-AFEA-4483-B0E4-002840525CDD}"/>
              </a:ext>
            </a:extLst>
          </p:cNvPr>
          <p:cNvSpPr>
            <a:spLocks noGrp="1"/>
          </p:cNvSpPr>
          <p:nvPr>
            <p:ph type="title"/>
          </p:nvPr>
        </p:nvSpPr>
        <p:spPr>
          <a:xfrm>
            <a:off x="482600" y="978408"/>
            <a:ext cx="10506991" cy="1755263"/>
          </a:xfrm>
          <a:prstGeom prst="rect">
            <a:avLst/>
          </a:prstGeo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F216234-4516-4303-8F60-A8127D89A5E5}"/>
              </a:ext>
            </a:extLst>
          </p:cNvPr>
          <p:cNvSpPr>
            <a:spLocks noGrp="1"/>
          </p:cNvSpPr>
          <p:nvPr>
            <p:ph type="body" orient="vert" idx="1"/>
          </p:nvPr>
        </p:nvSpPr>
        <p:spPr>
          <a:xfrm>
            <a:off x="484192" y="3103131"/>
            <a:ext cx="10506991" cy="30929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6B5D50-A474-462B-A807-DF186B1C2F48}"/>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F8BF1DAF-2E2D-46ED-AA3E-3D2FE4039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FC771-EB13-4EB5-A0A2-3968C6ABBD4E}"/>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8" name="Straight Connector 7">
            <a:extLst>
              <a:ext uri="{FF2B5EF4-FFF2-40B4-BE49-F238E27FC236}">
                <a16:creationId xmlns:a16="http://schemas.microsoft.com/office/drawing/2014/main" id="{B3B596B8-8230-4695-8D76-F06AFA8156C3}"/>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53EBF93-5FD9-4F4E-8485-7B937145CD0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68233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6B4D06-C7C6-4949-8EB2-F03ED999A2BB}"/>
              </a:ext>
            </a:extLst>
          </p:cNvPr>
          <p:cNvSpPr>
            <a:spLocks noGrp="1"/>
          </p:cNvSpPr>
          <p:nvPr>
            <p:ph type="title" orient="vert"/>
          </p:nvPr>
        </p:nvSpPr>
        <p:spPr>
          <a:xfrm>
            <a:off x="8041710" y="978408"/>
            <a:ext cx="2947881" cy="5124777"/>
          </a:xfrm>
          <a:prstGeom prst="rect">
            <a:avLst/>
          </a:prstGeo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C921B9D-8C11-4176-AF22-89F972E21284}"/>
              </a:ext>
            </a:extLst>
          </p:cNvPr>
          <p:cNvSpPr>
            <a:spLocks noGrp="1"/>
          </p:cNvSpPr>
          <p:nvPr>
            <p:ph type="body" orient="vert" idx="1"/>
          </p:nvPr>
        </p:nvSpPr>
        <p:spPr>
          <a:xfrm>
            <a:off x="484632" y="978408"/>
            <a:ext cx="7256453" cy="512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AFA9E1C-8E18-4A35-9BD8-427B1D14BB8E}"/>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2E116CDB-7BB6-4DD2-A626-6DA8E569F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D0403B-439E-449F-83B1-799EEC239A2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2946932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87A535-3CAC-46BC-B2B2-3AE83EC3A561}"/>
              </a:ext>
            </a:extLst>
          </p:cNvPr>
          <p:cNvSpPr>
            <a:spLocks noGrp="1"/>
          </p:cNvSpPr>
          <p:nvPr>
            <p:ph type="title"/>
          </p:nvPr>
        </p:nvSpPr>
        <p:spPr>
          <a:xfrm>
            <a:off x="482600" y="978408"/>
            <a:ext cx="10506991" cy="215309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D8EBDBD-59EC-46ED-BE79-6D37B531D692}"/>
              </a:ext>
            </a:extLst>
          </p:cNvPr>
          <p:cNvSpPr>
            <a:spLocks noGrp="1"/>
          </p:cNvSpPr>
          <p:nvPr>
            <p:ph type="body" idx="1"/>
          </p:nvPr>
        </p:nvSpPr>
        <p:spPr>
          <a:xfrm>
            <a:off x="482600" y="3306870"/>
            <a:ext cx="10506991" cy="257272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5921F5C-FD3D-42C7-90F4-5ECE6FFCFE7F}"/>
              </a:ext>
            </a:extLst>
          </p:cNvPr>
          <p:cNvSpPr>
            <a:spLocks noGrp="1"/>
          </p:cNvSpPr>
          <p:nvPr>
            <p:ph type="dt" sz="half" idx="2"/>
          </p:nvPr>
        </p:nvSpPr>
        <p:spPr>
          <a:xfrm>
            <a:off x="484632" y="100584"/>
            <a:ext cx="2743200" cy="365125"/>
          </a:xfrm>
          <a:prstGeom prst="rect">
            <a:avLst/>
          </a:prstGeom>
        </p:spPr>
        <p:txBody>
          <a:bodyPr vert="horz" lIns="91440" tIns="45720" rIns="91440" bIns="45720" rtlCol="0" anchor="ctr"/>
          <a:lstStyle>
            <a:lvl1pPr algn="l">
              <a:defRPr sz="900">
                <a:solidFill>
                  <a:schemeClr val="tx1"/>
                </a:solidFill>
              </a:defRPr>
            </a:lvl1pPr>
          </a:lstStyle>
          <a:p>
            <a:fld id="{81B8F32D-D8B6-4B9E-9CBF-DCAC30B7B93D}" type="datetimeFigureOut">
              <a:rPr lang="en-US" smtClean="0"/>
              <a:pPr/>
              <a:t>11/12/2025</a:t>
            </a:fld>
            <a:endParaRPr lang="en-US" dirty="0"/>
          </a:p>
        </p:txBody>
      </p:sp>
      <p:sp>
        <p:nvSpPr>
          <p:cNvPr id="5" name="Footer Placeholder 4">
            <a:extLst>
              <a:ext uri="{FF2B5EF4-FFF2-40B4-BE49-F238E27FC236}">
                <a16:creationId xmlns:a16="http://schemas.microsoft.com/office/drawing/2014/main" id="{0FE63D50-6D0B-4963-97B9-A32AE63235B8}"/>
              </a:ext>
            </a:extLst>
          </p:cNvPr>
          <p:cNvSpPr>
            <a:spLocks noGrp="1"/>
          </p:cNvSpPr>
          <p:nvPr>
            <p:ph type="ftr" sz="quarter" idx="3"/>
          </p:nvPr>
        </p:nvSpPr>
        <p:spPr>
          <a:xfrm>
            <a:off x="484632" y="6419088"/>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6B5E08-CAC3-4C87-B143-5F8956AE905D}"/>
              </a:ext>
            </a:extLst>
          </p:cNvPr>
          <p:cNvSpPr>
            <a:spLocks noGrp="1"/>
          </p:cNvSpPr>
          <p:nvPr>
            <p:ph type="sldNum" sz="quarter" idx="4"/>
          </p:nvPr>
        </p:nvSpPr>
        <p:spPr>
          <a:xfrm>
            <a:off x="10989591" y="100584"/>
            <a:ext cx="640080" cy="365125"/>
          </a:xfrm>
          <a:prstGeom prst="rect">
            <a:avLst/>
          </a:prstGeom>
        </p:spPr>
        <p:txBody>
          <a:bodyPr vert="horz" lIns="91440" tIns="45720" rIns="91440" bIns="45720" rtlCol="0" anchor="ctr"/>
          <a:lstStyle>
            <a:lvl1pPr algn="r">
              <a:defRPr sz="900">
                <a:solidFill>
                  <a:schemeClr val="tx1"/>
                </a:solidFill>
              </a:defRPr>
            </a:lvl1pPr>
          </a:lstStyle>
          <a:p>
            <a:fld id="{60553ECD-7F6D-420D-93CA-D8D15EB427AC}" type="slidenum">
              <a:rPr lang="en-US" smtClean="0"/>
              <a:pPr/>
              <a:t>‹#›</a:t>
            </a:fld>
            <a:endParaRPr lang="en-US" dirty="0"/>
          </a:p>
        </p:txBody>
      </p:sp>
      <p:cxnSp>
        <p:nvCxnSpPr>
          <p:cNvPr id="8" name="Straight Connector 7">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04697651"/>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xStyles>
    <p:titleStyle>
      <a:lvl1pPr algn="l" defTabSz="914400" rtl="0" eaLnBrk="1" latinLnBrk="0" hangingPunct="1">
        <a:lnSpc>
          <a:spcPct val="100000"/>
        </a:lnSpc>
        <a:spcBef>
          <a:spcPct val="0"/>
        </a:spcBef>
        <a:buNone/>
        <a:defRPr sz="66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cevr.tuftsmedicalcenter.org/databases/cea-registry"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cihi.ca/en/patient-cost-estimator"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health-products.canada.ca/dpd-bdpp/"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Background Fill">
            <a:extLst>
              <a:ext uri="{FF2B5EF4-FFF2-40B4-BE49-F238E27FC236}">
                <a16:creationId xmlns:a16="http://schemas.microsoft.com/office/drawing/2014/main" id="{B6D694DB-A3FC-4F14-A225-17BEBA44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9525" cap="flat">
            <a:noFill/>
            <a:prstDash val="solid"/>
            <a:miter/>
          </a:ln>
        </p:spPr>
        <p:txBody>
          <a:bodyPr rtlCol="0" anchor="ctr"/>
          <a:lstStyle/>
          <a:p>
            <a:endParaRPr lang="en-US">
              <a:solidFill>
                <a:schemeClr val="tx1"/>
              </a:solidFill>
            </a:endParaRPr>
          </a:p>
        </p:txBody>
      </p:sp>
      <p:pic>
        <p:nvPicPr>
          <p:cNvPr id="4" name="Picture 3">
            <a:extLst>
              <a:ext uri="{FF2B5EF4-FFF2-40B4-BE49-F238E27FC236}">
                <a16:creationId xmlns:a16="http://schemas.microsoft.com/office/drawing/2014/main" id="{FD914C8D-3DB1-C1A7-6E7E-D775B424B8F7}"/>
              </a:ext>
            </a:extLst>
          </p:cNvPr>
          <p:cNvPicPr>
            <a:picLocks noChangeAspect="1"/>
          </p:cNvPicPr>
          <p:nvPr/>
        </p:nvPicPr>
        <p:blipFill>
          <a:blip r:embed="rId2">
            <a:alphaModFix/>
          </a:blip>
          <a:srcRect t="7422" r="-1" b="8287"/>
          <a:stretch>
            <a:fillRect/>
          </a:stretch>
        </p:blipFill>
        <p:spPr>
          <a:xfrm>
            <a:off x="3059" y="10"/>
            <a:ext cx="12188941" cy="6857990"/>
          </a:xfrm>
          <a:prstGeom prst="rect">
            <a:avLst/>
          </a:prstGeom>
          <a:solidFill>
            <a:schemeClr val="accent1"/>
          </a:solidFill>
        </p:spPr>
      </p:pic>
      <p:sp>
        <p:nvSpPr>
          <p:cNvPr id="33" name="Rectangle 32">
            <a:extLst>
              <a:ext uri="{FF2B5EF4-FFF2-40B4-BE49-F238E27FC236}">
                <a16:creationId xmlns:a16="http://schemas.microsoft.com/office/drawing/2014/main" id="{6233B4D5-2565-4CC0-A9B1-C9EA9E9DE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0FB50-B90C-9526-E834-006C790BE732}"/>
              </a:ext>
            </a:extLst>
          </p:cNvPr>
          <p:cNvSpPr>
            <a:spLocks noGrp="1"/>
          </p:cNvSpPr>
          <p:nvPr>
            <p:ph type="ctrTitle"/>
          </p:nvPr>
        </p:nvSpPr>
        <p:spPr>
          <a:xfrm>
            <a:off x="457199" y="1122363"/>
            <a:ext cx="5638801" cy="1868487"/>
          </a:xfrm>
        </p:spPr>
        <p:txBody>
          <a:bodyPr>
            <a:normAutofit/>
          </a:bodyPr>
          <a:lstStyle/>
          <a:p>
            <a:pPr>
              <a:lnSpc>
                <a:spcPct val="90000"/>
              </a:lnSpc>
            </a:pPr>
            <a:r>
              <a:rPr lang="en-CA" sz="5100" dirty="0">
                <a:solidFill>
                  <a:srgbClr val="FFFFFF"/>
                </a:solidFill>
                <a:effectLst>
                  <a:outerShdw blurRad="50800" dist="38100" dir="2700000" algn="tl" rotWithShape="0">
                    <a:prstClr val="black">
                      <a:alpha val="40000"/>
                    </a:prstClr>
                  </a:outerShdw>
                </a:effectLst>
              </a:rPr>
              <a:t>Health Economics</a:t>
            </a:r>
            <a:br>
              <a:rPr lang="en-CA" sz="5100" dirty="0">
                <a:solidFill>
                  <a:srgbClr val="FFFFFF"/>
                </a:solidFill>
                <a:effectLst>
                  <a:outerShdw blurRad="50800" dist="38100" dir="2700000" algn="tl" rotWithShape="0">
                    <a:prstClr val="black">
                      <a:alpha val="40000"/>
                    </a:prstClr>
                  </a:outerShdw>
                </a:effectLst>
              </a:rPr>
            </a:br>
            <a:r>
              <a:rPr lang="en-CA" sz="5100" dirty="0">
                <a:solidFill>
                  <a:srgbClr val="FFFFFF"/>
                </a:solidFill>
                <a:effectLst>
                  <a:outerShdw blurRad="50800" dist="38100" dir="2700000" algn="tl" rotWithShape="0">
                    <a:prstClr val="black">
                      <a:alpha val="40000"/>
                    </a:prstClr>
                  </a:outerShdw>
                </a:effectLst>
              </a:rPr>
              <a:t>Lecture #8</a:t>
            </a:r>
          </a:p>
        </p:txBody>
      </p:sp>
      <p:sp>
        <p:nvSpPr>
          <p:cNvPr id="3" name="Subtitle 2">
            <a:extLst>
              <a:ext uri="{FF2B5EF4-FFF2-40B4-BE49-F238E27FC236}">
                <a16:creationId xmlns:a16="http://schemas.microsoft.com/office/drawing/2014/main" id="{74F9C7FB-3F59-5796-DCA9-B54919671C78}"/>
              </a:ext>
            </a:extLst>
          </p:cNvPr>
          <p:cNvSpPr>
            <a:spLocks noGrp="1"/>
          </p:cNvSpPr>
          <p:nvPr>
            <p:ph type="subTitle" idx="1"/>
          </p:nvPr>
        </p:nvSpPr>
        <p:spPr>
          <a:xfrm>
            <a:off x="457199" y="3623356"/>
            <a:ext cx="5638801" cy="1634443"/>
          </a:xfrm>
        </p:spPr>
        <p:txBody>
          <a:bodyPr>
            <a:normAutofit/>
          </a:bodyPr>
          <a:lstStyle/>
          <a:p>
            <a:r>
              <a:rPr lang="en-CA" b="1" dirty="0">
                <a:ln w="6350">
                  <a:noFill/>
                  <a:prstDash val="solid"/>
                </a:ln>
                <a:solidFill>
                  <a:schemeClr val="bg1"/>
                </a:solidFill>
                <a:effectLst>
                  <a:outerShdw blurRad="50800" dist="38100" dir="5400000" algn="t" rotWithShape="0">
                    <a:prstClr val="black">
                      <a:alpha val="40000"/>
                    </a:prstClr>
                  </a:outerShdw>
                </a:effectLst>
              </a:rPr>
              <a:t>Topic: Measuring Costs and Effects in Economic Evaluation</a:t>
            </a:r>
          </a:p>
        </p:txBody>
      </p:sp>
      <p:cxnSp>
        <p:nvCxnSpPr>
          <p:cNvPr id="34" name="Straight Connector 33">
            <a:extLst>
              <a:ext uri="{FF2B5EF4-FFF2-40B4-BE49-F238E27FC236}">
                <a16:creationId xmlns:a16="http://schemas.microsoft.com/office/drawing/2014/main" id="{6D02D326-F829-4915-A540-3A4D5ADFC3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D528E080-CC35-4F6C-9D3C-949904DC4D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pic>
        <p:nvPicPr>
          <p:cNvPr id="1028" name="Picture 4" descr="image">
            <a:extLst>
              <a:ext uri="{FF2B5EF4-FFF2-40B4-BE49-F238E27FC236}">
                <a16:creationId xmlns:a16="http://schemas.microsoft.com/office/drawing/2014/main" id="{07EDE8EE-97B2-4FFC-8019-3B0C8C737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3241" y="5934750"/>
            <a:ext cx="2857500" cy="8667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FA484E-AC5D-C709-0DD9-E23DB796CAD2}"/>
              </a:ext>
            </a:extLst>
          </p:cNvPr>
          <p:cNvSpPr txBox="1"/>
          <p:nvPr/>
        </p:nvSpPr>
        <p:spPr>
          <a:xfrm>
            <a:off x="482600" y="6428403"/>
            <a:ext cx="4334072" cy="369332"/>
          </a:xfrm>
          <a:prstGeom prst="rect">
            <a:avLst/>
          </a:prstGeom>
          <a:noFill/>
        </p:spPr>
        <p:txBody>
          <a:bodyPr wrap="none" rtlCol="0">
            <a:spAutoFit/>
          </a:bodyPr>
          <a:lstStyle/>
          <a:p>
            <a:r>
              <a:rPr lang="en-CA" i="1" dirty="0">
                <a:solidFill>
                  <a:schemeClr val="bg1"/>
                </a:solidFill>
              </a:rPr>
              <a:t>Prepared by Jacob Smith, Trent University</a:t>
            </a:r>
          </a:p>
        </p:txBody>
      </p:sp>
    </p:spTree>
    <p:extLst>
      <p:ext uri="{BB962C8B-B14F-4D97-AF65-F5344CB8AC3E}">
        <p14:creationId xmlns:p14="http://schemas.microsoft.com/office/powerpoint/2010/main" val="3267180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5715-D549-5DFA-82EB-2573E410C0DA}"/>
              </a:ext>
            </a:extLst>
          </p:cNvPr>
          <p:cNvSpPr>
            <a:spLocks noGrp="1"/>
          </p:cNvSpPr>
          <p:nvPr>
            <p:ph type="title"/>
          </p:nvPr>
        </p:nvSpPr>
        <p:spPr>
          <a:xfrm>
            <a:off x="482600" y="645033"/>
            <a:ext cx="10280650" cy="840867"/>
          </a:xfrm>
        </p:spPr>
        <p:txBody>
          <a:bodyPr/>
          <a:lstStyle/>
          <a:p>
            <a:r>
              <a:rPr lang="en-CA" dirty="0"/>
              <a:t>Learning Objectives</a:t>
            </a:r>
          </a:p>
        </p:txBody>
      </p:sp>
      <p:sp>
        <p:nvSpPr>
          <p:cNvPr id="3" name="Content Placeholder 2">
            <a:extLst>
              <a:ext uri="{FF2B5EF4-FFF2-40B4-BE49-F238E27FC236}">
                <a16:creationId xmlns:a16="http://schemas.microsoft.com/office/drawing/2014/main" id="{EA804CF6-59F3-1BC6-3F09-48554FD0B0E7}"/>
              </a:ext>
            </a:extLst>
          </p:cNvPr>
          <p:cNvSpPr>
            <a:spLocks noGrp="1"/>
          </p:cNvSpPr>
          <p:nvPr>
            <p:ph idx="1"/>
          </p:nvPr>
        </p:nvSpPr>
        <p:spPr>
          <a:xfrm>
            <a:off x="482600" y="1676400"/>
            <a:ext cx="10506991" cy="4203191"/>
          </a:xfrm>
        </p:spPr>
        <p:txBody>
          <a:bodyPr>
            <a:normAutofit/>
          </a:bodyPr>
          <a:lstStyle/>
          <a:p>
            <a:r>
              <a:rPr lang="en-CA" dirty="0"/>
              <a:t>In this lecture we will discuss:</a:t>
            </a:r>
          </a:p>
          <a:p>
            <a:pPr marL="457200" indent="-457200">
              <a:buFont typeface="+mj-lt"/>
              <a:buAutoNum type="arabicPeriod"/>
            </a:pPr>
            <a:r>
              <a:rPr lang="en-CA" dirty="0"/>
              <a:t>the Quality Adjusted Life Year (QALY)</a:t>
            </a:r>
          </a:p>
          <a:p>
            <a:pPr marL="457200" indent="-457200">
              <a:buFont typeface="+mj-lt"/>
              <a:buAutoNum type="arabicPeriod"/>
            </a:pPr>
            <a:r>
              <a:rPr lang="en-CA" dirty="0"/>
              <a:t>QALY Measurement: VAS, Standard Gamble and TTO</a:t>
            </a:r>
          </a:p>
          <a:p>
            <a:pPr marL="457200" indent="-457200">
              <a:buFont typeface="+mj-lt"/>
              <a:buAutoNum type="arabicPeriod"/>
            </a:pPr>
            <a:r>
              <a:rPr lang="en-CA" dirty="0"/>
              <a:t>Data Sources for Economic Evaluation</a:t>
            </a:r>
            <a:br>
              <a:rPr lang="en-CA" dirty="0"/>
            </a:br>
            <a:endParaRPr lang="en-CA" dirty="0"/>
          </a:p>
          <a:p>
            <a:endParaRPr lang="en-CA" dirty="0"/>
          </a:p>
          <a:p>
            <a:pPr marL="342900" indent="-342900">
              <a:buFont typeface="Wingdings" panose="05000000000000000000" pitchFamily="2" charset="2"/>
              <a:buChar char="§"/>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p:txBody>
      </p:sp>
      <p:sp>
        <p:nvSpPr>
          <p:cNvPr id="4" name="Rectangle: Rounded Corners 3">
            <a:extLst>
              <a:ext uri="{FF2B5EF4-FFF2-40B4-BE49-F238E27FC236}">
                <a16:creationId xmlns:a16="http://schemas.microsoft.com/office/drawing/2014/main" id="{842C93A9-61D0-70D3-75C4-A43F2AB757B8}"/>
              </a:ext>
            </a:extLst>
          </p:cNvPr>
          <p:cNvSpPr/>
          <p:nvPr/>
        </p:nvSpPr>
        <p:spPr>
          <a:xfrm>
            <a:off x="1748341" y="4929780"/>
            <a:ext cx="9014909" cy="1140311"/>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CA" b="1" i="1" u="sng" dirty="0">
                <a:solidFill>
                  <a:schemeClr val="tx1"/>
                </a:solidFill>
              </a:rPr>
              <a:t>Goal of this Lecture: </a:t>
            </a:r>
          </a:p>
          <a:p>
            <a:pPr marL="285750" indent="-285750">
              <a:buFont typeface="Wingdings" panose="05000000000000000000" pitchFamily="2" charset="2"/>
              <a:buChar char="Ø"/>
            </a:pPr>
            <a:r>
              <a:rPr lang="en-CA" b="1" i="1" dirty="0">
                <a:solidFill>
                  <a:schemeClr val="tx1"/>
                </a:solidFill>
              </a:rPr>
              <a:t>Introduce the concept of the QALY and how it is measured.</a:t>
            </a:r>
          </a:p>
          <a:p>
            <a:pPr marL="285750" indent="-285750">
              <a:buFont typeface="Wingdings" panose="05000000000000000000" pitchFamily="2" charset="2"/>
              <a:buChar char="Ø"/>
            </a:pPr>
            <a:r>
              <a:rPr lang="en-CA" b="1" i="1" dirty="0">
                <a:solidFill>
                  <a:schemeClr val="tx1"/>
                </a:solidFill>
              </a:rPr>
              <a:t>Introduce students to data sources for conducting economic evaluation.</a:t>
            </a:r>
          </a:p>
        </p:txBody>
      </p:sp>
    </p:spTree>
    <p:extLst>
      <p:ext uri="{BB962C8B-B14F-4D97-AF65-F5344CB8AC3E}">
        <p14:creationId xmlns:p14="http://schemas.microsoft.com/office/powerpoint/2010/main" val="1175725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83772-8F50-0C15-A99D-CA530ADFC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410D3-D223-B9ED-AB38-306819ECAF31}"/>
              </a:ext>
            </a:extLst>
          </p:cNvPr>
          <p:cNvSpPr>
            <a:spLocks noGrp="1"/>
          </p:cNvSpPr>
          <p:nvPr>
            <p:ph type="title"/>
          </p:nvPr>
        </p:nvSpPr>
        <p:spPr/>
        <p:txBody>
          <a:bodyPr/>
          <a:lstStyle/>
          <a:p>
            <a:r>
              <a:rPr lang="en-CA" dirty="0"/>
              <a:t>Quality Adjusted Life Year (QALY)</a:t>
            </a:r>
          </a:p>
        </p:txBody>
      </p:sp>
      <p:sp>
        <p:nvSpPr>
          <p:cNvPr id="3" name="Text Placeholder 2">
            <a:extLst>
              <a:ext uri="{FF2B5EF4-FFF2-40B4-BE49-F238E27FC236}">
                <a16:creationId xmlns:a16="http://schemas.microsoft.com/office/drawing/2014/main" id="{956A3E3E-0F53-428D-056B-DEE05FFBB033}"/>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4252702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3EAC0-FD41-06D0-EBC3-81564C17D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C03E9-A397-28C0-8850-291F51BD62CE}"/>
              </a:ext>
            </a:extLst>
          </p:cNvPr>
          <p:cNvSpPr>
            <a:spLocks noGrp="1"/>
          </p:cNvSpPr>
          <p:nvPr>
            <p:ph type="title"/>
          </p:nvPr>
        </p:nvSpPr>
        <p:spPr>
          <a:xfrm>
            <a:off x="482600" y="597408"/>
            <a:ext cx="10634472" cy="1117092"/>
          </a:xfrm>
        </p:spPr>
        <p:txBody>
          <a:bodyPr/>
          <a:lstStyle/>
          <a:p>
            <a:r>
              <a:rPr lang="en-CA" sz="4800" dirty="0"/>
              <a:t>The comparability problem in economic evaluation</a:t>
            </a:r>
          </a:p>
        </p:txBody>
      </p:sp>
      <p:sp>
        <p:nvSpPr>
          <p:cNvPr id="3" name="Content Placeholder 2">
            <a:extLst>
              <a:ext uri="{FF2B5EF4-FFF2-40B4-BE49-F238E27FC236}">
                <a16:creationId xmlns:a16="http://schemas.microsoft.com/office/drawing/2014/main" id="{035C723D-FC79-017C-5D33-E4882D81C4F9}"/>
              </a:ext>
            </a:extLst>
          </p:cNvPr>
          <p:cNvSpPr>
            <a:spLocks noGrp="1"/>
          </p:cNvSpPr>
          <p:nvPr>
            <p:ph idx="1"/>
          </p:nvPr>
        </p:nvSpPr>
        <p:spPr>
          <a:xfrm>
            <a:off x="482600" y="1943100"/>
            <a:ext cx="10506991" cy="3936491"/>
          </a:xfrm>
        </p:spPr>
        <p:txBody>
          <a:bodyPr>
            <a:normAutofit fontScale="92500" lnSpcReduction="10000"/>
          </a:bodyPr>
          <a:lstStyle/>
          <a:p>
            <a:pPr marL="342900" indent="-342900">
              <a:buFont typeface="Wingdings" panose="05000000000000000000" pitchFamily="2" charset="2"/>
              <a:buChar char="§"/>
            </a:pPr>
            <a:r>
              <a:rPr lang="en-CA" dirty="0"/>
              <a:t>Economic evaluation is used as a tool for evaluating the cost effectiveness of new drugs or medical interventions.</a:t>
            </a:r>
          </a:p>
          <a:p>
            <a:pPr marL="342900" indent="-342900">
              <a:buFont typeface="Wingdings" panose="05000000000000000000" pitchFamily="2" charset="2"/>
              <a:buChar char="§"/>
            </a:pPr>
            <a:r>
              <a:rPr lang="en-CA" dirty="0"/>
              <a:t>In the context of cost effectiveness analysis which measures improvement along some medical outcome, the utilization of the computed ICER is impossible to use when comparing other treatments.</a:t>
            </a:r>
          </a:p>
          <a:p>
            <a:pPr marL="342900" indent="-342900">
              <a:buFont typeface="Wingdings" panose="05000000000000000000" pitchFamily="2" charset="2"/>
              <a:buChar char="§"/>
            </a:pPr>
            <a:r>
              <a:rPr lang="en-CA" dirty="0"/>
              <a:t>i.e. if one treatment is valued in dollars per change in mobility score and another treatment is valued in dollars per change in blood pressure, how do we determine which treatment to fund?</a:t>
            </a:r>
          </a:p>
          <a:p>
            <a:pPr marL="342900" indent="-342900">
              <a:buFont typeface="Wingdings" panose="05000000000000000000" pitchFamily="2" charset="2"/>
              <a:buChar char="§"/>
            </a:pPr>
            <a:r>
              <a:rPr lang="en-CA" dirty="0"/>
              <a:t>The issue with valuing the cost effectiveness of different interventions is that without a universal measure of health, it is impossible to compare and rank very different treatments. </a:t>
            </a:r>
          </a:p>
        </p:txBody>
      </p:sp>
    </p:spTree>
    <p:extLst>
      <p:ext uri="{BB962C8B-B14F-4D97-AF65-F5344CB8AC3E}">
        <p14:creationId xmlns:p14="http://schemas.microsoft.com/office/powerpoint/2010/main" val="1144315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B3CCB-FE92-5AFB-B398-04A6735C2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EDDFA-64AB-8807-1E9B-CB24013CB2DA}"/>
              </a:ext>
            </a:extLst>
          </p:cNvPr>
          <p:cNvSpPr>
            <a:spLocks noGrp="1"/>
          </p:cNvSpPr>
          <p:nvPr>
            <p:ph type="title"/>
          </p:nvPr>
        </p:nvSpPr>
        <p:spPr>
          <a:xfrm>
            <a:off x="482600" y="597408"/>
            <a:ext cx="10634472" cy="1117092"/>
          </a:xfrm>
        </p:spPr>
        <p:txBody>
          <a:bodyPr/>
          <a:lstStyle/>
          <a:p>
            <a:r>
              <a:rPr lang="en-CA" sz="4800" dirty="0"/>
              <a:t>The Quality Adjusted Life Year</a:t>
            </a:r>
          </a:p>
        </p:txBody>
      </p:sp>
      <p:sp>
        <p:nvSpPr>
          <p:cNvPr id="3" name="Content Placeholder 2">
            <a:extLst>
              <a:ext uri="{FF2B5EF4-FFF2-40B4-BE49-F238E27FC236}">
                <a16:creationId xmlns:a16="http://schemas.microsoft.com/office/drawing/2014/main" id="{8AB73CCE-F2A6-82F6-F706-43ACC4FA810A}"/>
              </a:ext>
            </a:extLst>
          </p:cNvPr>
          <p:cNvSpPr>
            <a:spLocks noGrp="1"/>
          </p:cNvSpPr>
          <p:nvPr>
            <p:ph idx="1"/>
          </p:nvPr>
        </p:nvSpPr>
        <p:spPr>
          <a:xfrm>
            <a:off x="482600" y="1943100"/>
            <a:ext cx="10506991" cy="3936491"/>
          </a:xfrm>
        </p:spPr>
        <p:txBody>
          <a:bodyPr>
            <a:normAutofit fontScale="92500" lnSpcReduction="10000"/>
          </a:bodyPr>
          <a:lstStyle/>
          <a:p>
            <a:pPr marL="342900" indent="-342900">
              <a:buFont typeface="Wingdings" panose="05000000000000000000" pitchFamily="2" charset="2"/>
              <a:buChar char="§"/>
            </a:pPr>
            <a:r>
              <a:rPr lang="en-CA" dirty="0"/>
              <a:t>Health Economists solve this issue by using a universal Quality of Life (QoL) index which values the health outcomes in question.</a:t>
            </a:r>
          </a:p>
          <a:p>
            <a:pPr marL="342900" indent="-342900">
              <a:buFont typeface="Wingdings" panose="05000000000000000000" pitchFamily="2" charset="2"/>
              <a:buChar char="§"/>
            </a:pPr>
            <a:r>
              <a:rPr lang="en-CA" dirty="0"/>
              <a:t>The most popular Quality of Life measurement used in economic evaluation is the </a:t>
            </a:r>
            <a:r>
              <a:rPr lang="en-CA" b="1" dirty="0"/>
              <a:t>Quality Adjusted Life Year (QALY)</a:t>
            </a:r>
            <a:r>
              <a:rPr lang="en-CA" dirty="0"/>
              <a:t>.</a:t>
            </a:r>
          </a:p>
          <a:p>
            <a:pPr marL="342900" indent="-342900">
              <a:buFont typeface="Wingdings" panose="05000000000000000000" pitchFamily="2" charset="2"/>
              <a:buChar char="§"/>
            </a:pPr>
            <a:r>
              <a:rPr lang="en-CA" dirty="0"/>
              <a:t>The reason why it is powerful is because it values life based on both an </a:t>
            </a:r>
            <a:r>
              <a:rPr lang="en-CA" dirty="0" err="1"/>
              <a:t>individals</a:t>
            </a:r>
            <a:r>
              <a:rPr lang="en-CA" dirty="0"/>
              <a:t> quality of life at a particular point in time and how long the individual lives in that state.</a:t>
            </a:r>
          </a:p>
          <a:p>
            <a:pPr marL="342900" indent="-342900">
              <a:buFont typeface="Wingdings" panose="05000000000000000000" pitchFamily="2" charset="2"/>
              <a:buChar char="§"/>
            </a:pPr>
            <a:r>
              <a:rPr lang="en-CA" dirty="0"/>
              <a:t>There is the following saying about QALYs in Economic Evaluation.</a:t>
            </a:r>
            <a:br>
              <a:rPr lang="en-CA" dirty="0"/>
            </a:br>
            <a:r>
              <a:rPr lang="en-CA" b="1" i="1" dirty="0"/>
              <a:t>		“A QALY IS A QALY IS A QALY”</a:t>
            </a:r>
          </a:p>
          <a:p>
            <a:r>
              <a:rPr lang="en-CA" dirty="0"/>
              <a:t>This means that regardless of the treatment in question the QALY has the ability to make very different treatments comparable through their index.</a:t>
            </a:r>
          </a:p>
        </p:txBody>
      </p:sp>
    </p:spTree>
    <p:extLst>
      <p:ext uri="{BB962C8B-B14F-4D97-AF65-F5344CB8AC3E}">
        <p14:creationId xmlns:p14="http://schemas.microsoft.com/office/powerpoint/2010/main" val="2171345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913BF-EF40-4BFA-8851-3841D2D0C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020DA-FFDF-151E-67E0-BD0816A5F975}"/>
              </a:ext>
            </a:extLst>
          </p:cNvPr>
          <p:cNvSpPr>
            <a:spLocks noGrp="1"/>
          </p:cNvSpPr>
          <p:nvPr>
            <p:ph type="title"/>
          </p:nvPr>
        </p:nvSpPr>
        <p:spPr>
          <a:xfrm>
            <a:off x="482600" y="597408"/>
            <a:ext cx="10634472" cy="1117092"/>
          </a:xfrm>
        </p:spPr>
        <p:txBody>
          <a:bodyPr/>
          <a:lstStyle/>
          <a:p>
            <a:r>
              <a:rPr lang="en-CA" sz="4800" dirty="0"/>
              <a:t>Technical Properties of the QALY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31E991-02D4-2DD0-85A0-94EACB815E05}"/>
                  </a:ext>
                </a:extLst>
              </p:cNvPr>
              <p:cNvSpPr>
                <a:spLocks noGrp="1"/>
              </p:cNvSpPr>
              <p:nvPr>
                <p:ph idx="1"/>
              </p:nvPr>
            </p:nvSpPr>
            <p:spPr>
              <a:xfrm>
                <a:off x="482600" y="1619251"/>
                <a:ext cx="11328400" cy="4327016"/>
              </a:xfrm>
            </p:spPr>
            <p:txBody>
              <a:bodyPr>
                <a:normAutofit/>
              </a:bodyPr>
              <a:lstStyle/>
              <a:p>
                <a:pPr/>
                <a:r>
                  <a:rPr lang="en-CA" dirty="0"/>
                  <a:t>To discuss the QALY, its better to think about it in terms of QALYs. The number of quality adjusted life years an individual in state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oMath>
                </a14:m>
                <a:r>
                  <a:rPr lang="en-CA" dirty="0"/>
                  <a:t> with lifespan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oMath>
                </a14:m>
                <a:r>
                  <a:rPr lang="en-CA" dirty="0"/>
                  <a:t> has is:</a:t>
                </a:r>
                <a:br>
                  <a:rPr lang="en-CA" dirty="0"/>
                </a:br>
                <a:br>
                  <a:rPr lang="en-CA" dirty="0"/>
                </a:b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𝑄𝐴𝐿𝑌𝑠</m:t>
                      </m:r>
                      <m:r>
                        <a:rPr lang="en-CA" i="1">
                          <a:latin typeface="Cambria Math" panose="02040503050406030204" pitchFamily="18" charset="0"/>
                        </a:rPr>
                        <m:t>=</m:t>
                      </m:r>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oMath>
                  </m:oMathPara>
                </a14:m>
                <a:br>
                  <a:rPr lang="en-CA" dirty="0"/>
                </a:br>
                <a:endParaRPr lang="en-CA" dirty="0"/>
              </a:p>
              <a:p>
                <a:endParaRPr lang="en-CA" dirty="0"/>
              </a:p>
              <a:p>
                <a:r>
                  <a:rPr lang="en-CA" dirty="0"/>
                  <a:t>When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r>
                      <a:rPr lang="en-CA" i="1">
                        <a:latin typeface="Cambria Math" panose="02040503050406030204" pitchFamily="18" charset="0"/>
                      </a:rPr>
                      <m:t>=1</m:t>
                    </m:r>
                  </m:oMath>
                </a14:m>
                <a:r>
                  <a:rPr lang="en-CA" dirty="0"/>
                  <a:t> we define our QALY as just </a:t>
                </a:r>
                <a14:m>
                  <m:oMath xmlns:m="http://schemas.openxmlformats.org/officeDocument/2006/math">
                    <m:r>
                      <a:rPr lang="en-CA" i="1">
                        <a:latin typeface="Cambria Math" panose="02040503050406030204" pitchFamily="18" charset="0"/>
                      </a:rPr>
                      <m:t>𝑈</m:t>
                    </m:r>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r>
                      <a:rPr lang="en-CA" i="1">
                        <a:latin typeface="Cambria Math" panose="02040503050406030204" pitchFamily="18" charset="0"/>
                      </a:rPr>
                      <m:t>)</m:t>
                    </m:r>
                  </m:oMath>
                </a14:m>
                <a:r>
                  <a:rPr lang="en-CA" dirty="0"/>
                  <a:t> is the valuation of one year of life in state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r>
                      <a:rPr lang="en-CA">
                        <a:latin typeface="Cambria Math" panose="02040503050406030204" pitchFamily="18" charset="0"/>
                      </a:rPr>
                      <m:t>.</m:t>
                    </m:r>
                  </m:oMath>
                </a14:m>
                <a:endParaRPr lang="en-CA" dirty="0"/>
              </a:p>
              <a:p>
                <a:endParaRPr lang="en-CA" dirty="0"/>
              </a:p>
            </p:txBody>
          </p:sp>
        </mc:Choice>
        <mc:Fallback xmlns="">
          <p:sp>
            <p:nvSpPr>
              <p:cNvPr id="3" name="Content Placeholder 2">
                <a:extLst>
                  <a:ext uri="{FF2B5EF4-FFF2-40B4-BE49-F238E27FC236}">
                    <a16:creationId xmlns:a16="http://schemas.microsoft.com/office/drawing/2014/main" id="{DB31E991-02D4-2DD0-85A0-94EACB815E05}"/>
                  </a:ext>
                </a:extLst>
              </p:cNvPr>
              <p:cNvSpPr>
                <a:spLocks noGrp="1" noRot="1" noChangeAspect="1" noMove="1" noResize="1" noEditPoints="1" noAdjustHandles="1" noChangeArrowheads="1" noChangeShapeType="1" noTextEdit="1"/>
              </p:cNvSpPr>
              <p:nvPr>
                <p:ph idx="1"/>
              </p:nvPr>
            </p:nvSpPr>
            <p:spPr>
              <a:xfrm>
                <a:off x="482600" y="1619251"/>
                <a:ext cx="11328400" cy="4327016"/>
              </a:xfrm>
              <a:blipFill>
                <a:blip r:embed="rId2"/>
                <a:stretch>
                  <a:fillRect l="-807" t="-1128" r="-215"/>
                </a:stretch>
              </a:blipFill>
            </p:spPr>
            <p:txBody>
              <a:bodyPr/>
              <a:lstStyle/>
              <a:p>
                <a:r>
                  <a:rPr lang="en-CA">
                    <a:noFill/>
                  </a:rPr>
                  <a:t> </a:t>
                </a:r>
              </a:p>
            </p:txBody>
          </p:sp>
        </mc:Fallback>
      </mc:AlternateContent>
    </p:spTree>
    <p:extLst>
      <p:ext uri="{BB962C8B-B14F-4D97-AF65-F5344CB8AC3E}">
        <p14:creationId xmlns:p14="http://schemas.microsoft.com/office/powerpoint/2010/main" val="961366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E9C31-F828-03E4-EE40-8E975DE9A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5C982-FD5A-7501-65AC-C3D798B83D62}"/>
              </a:ext>
            </a:extLst>
          </p:cNvPr>
          <p:cNvSpPr>
            <a:spLocks noGrp="1"/>
          </p:cNvSpPr>
          <p:nvPr>
            <p:ph type="title"/>
          </p:nvPr>
        </p:nvSpPr>
        <p:spPr>
          <a:xfrm>
            <a:off x="482600" y="597408"/>
            <a:ext cx="10634472" cy="1117092"/>
          </a:xfrm>
        </p:spPr>
        <p:txBody>
          <a:bodyPr/>
          <a:lstStyle/>
          <a:p>
            <a:r>
              <a:rPr lang="en-CA" sz="4800" dirty="0"/>
              <a:t>Technical Properties of the QALY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F30E9-09F0-0B9A-9E57-3936F7DAC268}"/>
                  </a:ext>
                </a:extLst>
              </p:cNvPr>
              <p:cNvSpPr>
                <a:spLocks noGrp="1"/>
              </p:cNvSpPr>
              <p:nvPr>
                <p:ph idx="1"/>
              </p:nvPr>
            </p:nvSpPr>
            <p:spPr>
              <a:xfrm>
                <a:off x="482600" y="1619251"/>
                <a:ext cx="11328400" cy="4327016"/>
              </a:xfrm>
            </p:spPr>
            <p:txBody>
              <a:bodyPr>
                <a:normAutofit fontScale="92500" lnSpcReduction="10000"/>
              </a:bodyPr>
              <a:lstStyle/>
              <a:p>
                <a:pPr/>
                <a:br>
                  <a:rPr lang="en-CA" dirty="0"/>
                </a:b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𝑄𝐴𝐿𝑌𝑠</m:t>
                      </m:r>
                      <m:r>
                        <a:rPr lang="en-CA" i="1">
                          <a:latin typeface="Cambria Math" panose="02040503050406030204" pitchFamily="18" charset="0"/>
                        </a:rPr>
                        <m:t>=</m:t>
                      </m:r>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oMath>
                  </m:oMathPara>
                </a14:m>
                <a:endParaRPr lang="en-CA" dirty="0"/>
              </a:p>
              <a:p>
                <a:r>
                  <a:rPr lang="en-CA" dirty="0"/>
                  <a:t>The measurement theoretic considerations we wish to impose are the following:</a:t>
                </a:r>
                <a:br>
                  <a:rPr lang="en-CA" dirty="0"/>
                </a:br>
                <a:r>
                  <a:rPr lang="en-CA" i="1" dirty="0"/>
                  <a:t>1) Utilities from all health states are bounded on the interval of </a:t>
                </a:r>
                <a14:m>
                  <m:oMath xmlns:m="http://schemas.openxmlformats.org/officeDocument/2006/math">
                    <m:r>
                      <a:rPr lang="en-CA" i="1" dirty="0">
                        <a:latin typeface="Cambria Math" panose="02040503050406030204" pitchFamily="18" charset="0"/>
                      </a:rPr>
                      <m:t>[0,1] </m:t>
                    </m:r>
                  </m:oMath>
                </a14:m>
                <a:r>
                  <a:rPr lang="en-CA" i="1" dirty="0"/>
                  <a:t>with perfect health taking on the value of </a:t>
                </a:r>
                <a14:m>
                  <m:oMath xmlns:m="http://schemas.openxmlformats.org/officeDocument/2006/math">
                    <m:r>
                      <a:rPr lang="en-CA" i="1">
                        <a:latin typeface="Cambria Math" panose="02040503050406030204" pitchFamily="18" charset="0"/>
                      </a:rPr>
                      <m:t>1</m:t>
                    </m:r>
                  </m:oMath>
                </a14:m>
                <a:r>
                  <a:rPr lang="en-CA" i="1" dirty="0"/>
                  <a:t> and death taking on the value of zero.</a:t>
                </a:r>
                <a:br>
                  <a:rPr lang="en-CA" i="1" dirty="0"/>
                </a:br>
                <a:br>
                  <a:rPr lang="en-CA" i="1" dirty="0"/>
                </a:br>
                <a:r>
                  <a:rPr lang="en-CA" i="1" dirty="0"/>
                  <a:t>2) Utility indexes satisfy the </a:t>
                </a:r>
                <a:r>
                  <a:rPr lang="en-CA" b="1" i="1" dirty="0"/>
                  <a:t>interval property </a:t>
                </a:r>
                <a:r>
                  <a:rPr lang="en-CA" i="1" dirty="0"/>
                  <a:t>(a health state change from 0.2 to 0.4 is viewed in the same manner as a health state change from 0.6 to 0.8).</a:t>
                </a:r>
                <a:br>
                  <a:rPr lang="en-CA" i="1" dirty="0"/>
                </a:br>
                <a:br>
                  <a:rPr lang="en-CA" i="1" dirty="0"/>
                </a:br>
                <a:r>
                  <a:rPr lang="en-CA" i="1" dirty="0"/>
                  <a:t>3) There are no outcomes worse than death.</a:t>
                </a:r>
              </a:p>
              <a:p>
                <a:r>
                  <a:rPr lang="en-CA" i="1" dirty="0"/>
                  <a:t>4) Individuals are </a:t>
                </a:r>
                <a:r>
                  <a:rPr lang="en-CA" b="1" i="1" dirty="0"/>
                  <a:t>Risk Neutral</a:t>
                </a:r>
                <a:r>
                  <a:rPr lang="en-CA" i="1" dirty="0"/>
                  <a:t> with respect to the length of life, i.e.  This means an individual is indifferent between living 5 years in perfect health  and facing a 50-50 gamble of living 10 years or immediate death.</a:t>
                </a:r>
              </a:p>
              <a:p>
                <a:endParaRPr lang="en-CA" dirty="0"/>
              </a:p>
              <a:p>
                <a:pPr marL="342900" indent="-342900">
                  <a:buFont typeface="Wingdings" panose="05000000000000000000" pitchFamily="2" charset="2"/>
                  <a:buChar char="§"/>
                </a:pPr>
                <a:endParaRPr lang="en-CA" dirty="0"/>
              </a:p>
            </p:txBody>
          </p:sp>
        </mc:Choice>
        <mc:Fallback xmlns="">
          <p:sp>
            <p:nvSpPr>
              <p:cNvPr id="3" name="Content Placeholder 2">
                <a:extLst>
                  <a:ext uri="{FF2B5EF4-FFF2-40B4-BE49-F238E27FC236}">
                    <a16:creationId xmlns:a16="http://schemas.microsoft.com/office/drawing/2014/main" id="{2F7F30E9-09F0-0B9A-9E57-3936F7DAC268}"/>
                  </a:ext>
                </a:extLst>
              </p:cNvPr>
              <p:cNvSpPr>
                <a:spLocks noGrp="1" noRot="1" noChangeAspect="1" noMove="1" noResize="1" noEditPoints="1" noAdjustHandles="1" noChangeArrowheads="1" noChangeShapeType="1" noTextEdit="1"/>
              </p:cNvSpPr>
              <p:nvPr>
                <p:ph idx="1"/>
              </p:nvPr>
            </p:nvSpPr>
            <p:spPr>
              <a:xfrm>
                <a:off x="482600" y="1619251"/>
                <a:ext cx="11328400" cy="4327016"/>
              </a:xfrm>
              <a:blipFill>
                <a:blip r:embed="rId2"/>
                <a:stretch>
                  <a:fillRect l="-699" r="-430" b="-1551"/>
                </a:stretch>
              </a:blipFill>
            </p:spPr>
            <p:txBody>
              <a:bodyPr/>
              <a:lstStyle/>
              <a:p>
                <a:r>
                  <a:rPr lang="en-CA">
                    <a:noFill/>
                  </a:rPr>
                  <a:t> </a:t>
                </a:r>
              </a:p>
            </p:txBody>
          </p:sp>
        </mc:Fallback>
      </mc:AlternateContent>
    </p:spTree>
    <p:extLst>
      <p:ext uri="{BB962C8B-B14F-4D97-AF65-F5344CB8AC3E}">
        <p14:creationId xmlns:p14="http://schemas.microsoft.com/office/powerpoint/2010/main" val="46906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D4FF0-B958-85C4-3570-40BC02283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3C818-C2F4-1CDB-9B69-9AFE23074A77}"/>
              </a:ext>
            </a:extLst>
          </p:cNvPr>
          <p:cNvSpPr>
            <a:spLocks noGrp="1"/>
          </p:cNvSpPr>
          <p:nvPr>
            <p:ph type="title"/>
          </p:nvPr>
        </p:nvSpPr>
        <p:spPr>
          <a:xfrm>
            <a:off x="482600" y="597408"/>
            <a:ext cx="10634472" cy="1117092"/>
          </a:xfrm>
        </p:spPr>
        <p:txBody>
          <a:bodyPr/>
          <a:lstStyle/>
          <a:p>
            <a:r>
              <a:rPr lang="en-CA" sz="4800" dirty="0"/>
              <a:t>Example of Risk </a:t>
            </a:r>
            <a:r>
              <a:rPr lang="en-CA" sz="4800" dirty="0" err="1"/>
              <a:t>Neturality</a:t>
            </a:r>
            <a:r>
              <a:rPr lang="en-CA" sz="4800" dirty="0"/>
              <a:t> in Length of Life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A5A7CB-DF9B-12E9-26AD-CC4E4FC4E66B}"/>
                  </a:ext>
                </a:extLst>
              </p:cNvPr>
              <p:cNvSpPr>
                <a:spLocks noGrp="1"/>
              </p:cNvSpPr>
              <p:nvPr>
                <p:ph idx="1"/>
              </p:nvPr>
            </p:nvSpPr>
            <p:spPr>
              <a:xfrm>
                <a:off x="482600" y="1619251"/>
                <a:ext cx="11328400" cy="4327016"/>
              </a:xfrm>
            </p:spPr>
            <p:txBody>
              <a:bodyPr>
                <a:normAutofit/>
              </a:bodyPr>
              <a:lstStyle/>
              <a:p>
                <a:pPr/>
                <a:br>
                  <a:rPr lang="en-CA" dirty="0"/>
                </a:br>
                <a:endParaRPr lang="en-CA" dirty="0"/>
              </a:p>
              <a:p>
                <a:pPr marL="342900" indent="-342900">
                  <a:buFont typeface="Wingdings" panose="05000000000000000000" pitchFamily="2" charset="2"/>
                  <a:buChar char="§"/>
                </a:pPr>
                <a:r>
                  <a:rPr lang="en-CA" dirty="0"/>
                  <a:t>What we are really saying is that:</a:t>
                </a:r>
                <a:br>
                  <a:rPr lang="en-CA" dirty="0"/>
                </a:br>
                <a14:m>
                  <m:oMath xmlns:m="http://schemas.openxmlformats.org/officeDocument/2006/math">
                    <m:r>
                      <a:rPr lang="en-CA" b="0" i="1" smtClean="0">
                        <a:latin typeface="Cambria Math" panose="02040503050406030204" pitchFamily="18" charset="0"/>
                      </a:rPr>
                      <m:t>𝑝𝑈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1</m:t>
                        </m:r>
                      </m:sub>
                    </m:sSub>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𝑝</m:t>
                        </m:r>
                      </m:e>
                    </m:d>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2</m:t>
                        </m:r>
                      </m:sub>
                    </m:sSub>
                    <m:r>
                      <a:rPr lang="en-CA" b="0" i="1" smtClean="0">
                        <a:latin typeface="Cambria Math" panose="02040503050406030204" pitchFamily="18" charset="0"/>
                      </a:rPr>
                      <m:t>=</m:t>
                    </m:r>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𝑝</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1</m:t>
                            </m:r>
                          </m:sub>
                        </m:sSub>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𝑝</m:t>
                            </m:r>
                          </m:e>
                        </m:d>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2</m:t>
                            </m:r>
                          </m:sub>
                        </m:sSub>
                      </m:e>
                    </m:d>
                  </m:oMath>
                </a14:m>
                <a:endParaRPr lang="en-CA" dirty="0"/>
              </a:p>
              <a:p>
                <a:pPr marL="342900" indent="-342900">
                  <a:buFont typeface="Wingdings" panose="05000000000000000000" pitchFamily="2" charset="2"/>
                  <a:buChar char="§"/>
                </a:pPr>
                <a:r>
                  <a:rPr lang="en-CA" dirty="0"/>
                  <a:t>To illustrate suppose:</a:t>
                </a:r>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=0.6</m:t>
                    </m:r>
                  </m:oMath>
                </a14:m>
                <a:br>
                  <a:rPr lang="en-CA" b="0" dirty="0"/>
                </a:br>
                <a14:m>
                  <m:oMath xmlns:m="http://schemas.openxmlformats.org/officeDocument/2006/math">
                    <m:r>
                      <a:rPr lang="en-CA" b="0" i="1" smtClean="0">
                        <a:latin typeface="Cambria Math" panose="02040503050406030204" pitchFamily="18" charset="0"/>
                      </a:rPr>
                      <m:t>𝑝</m:t>
                    </m:r>
                    <m:r>
                      <a:rPr lang="en-CA" b="0" i="1" smtClean="0">
                        <a:latin typeface="Cambria Math" panose="02040503050406030204" pitchFamily="18" charset="0"/>
                      </a:rPr>
                      <m:t>=0.5</m:t>
                    </m:r>
                  </m:oMath>
                </a14:m>
                <a:br>
                  <a:rPr lang="en-CA" b="0" dirty="0"/>
                </a:b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1</m:t>
                        </m:r>
                      </m:sub>
                    </m:sSub>
                    <m:r>
                      <a:rPr lang="en-CA" b="0" i="1" smtClean="0">
                        <a:latin typeface="Cambria Math" panose="02040503050406030204" pitchFamily="18" charset="0"/>
                      </a:rPr>
                      <m:t>=10</m:t>
                    </m:r>
                  </m:oMath>
                </a14:m>
                <a:br>
                  <a:rPr lang="en-CA" b="0" dirty="0"/>
                </a:b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2</m:t>
                        </m:r>
                      </m:sub>
                    </m:sSub>
                    <m:r>
                      <a:rPr lang="en-CA" b="0" i="1" smtClean="0">
                        <a:latin typeface="Cambria Math" panose="02040503050406030204" pitchFamily="18" charset="0"/>
                      </a:rPr>
                      <m:t>=0</m:t>
                    </m:r>
                  </m:oMath>
                </a14:m>
                <a:br>
                  <a:rPr lang="en-CA" dirty="0"/>
                </a:br>
                <a14:m>
                  <m:oMath xmlns:m="http://schemas.openxmlformats.org/officeDocument/2006/math">
                    <m:d>
                      <m:dPr>
                        <m:ctrlPr>
                          <a:rPr lang="en-CA" b="0" i="0" smtClean="0">
                            <a:latin typeface="Cambria Math" panose="02040503050406030204" pitchFamily="18" charset="0"/>
                          </a:rPr>
                        </m:ctrlPr>
                      </m:dPr>
                      <m:e>
                        <m:r>
                          <a:rPr lang="en-CA" b="0" i="0" smtClean="0">
                            <a:latin typeface="Cambria Math" panose="02040503050406030204" pitchFamily="18" charset="0"/>
                          </a:rPr>
                          <m:t>0.5</m:t>
                        </m:r>
                      </m:e>
                    </m:d>
                    <m:r>
                      <a:rPr lang="en-CA" b="0" i="1" smtClean="0">
                        <a:latin typeface="Cambria Math" panose="02040503050406030204" pitchFamily="18" charset="0"/>
                      </a:rPr>
                      <m:t>×0.6</m:t>
                    </m:r>
                    <m:r>
                      <a:rPr lang="en-CA" i="1">
                        <a:latin typeface="Cambria Math" panose="02040503050406030204" pitchFamily="18" charset="0"/>
                      </a:rPr>
                      <m:t>×</m:t>
                    </m:r>
                    <m:r>
                      <a:rPr lang="en-CA" b="0" i="1" smtClean="0">
                        <a:latin typeface="Cambria Math" panose="02040503050406030204" pitchFamily="18" charset="0"/>
                      </a:rPr>
                      <m:t>10+0.5×0.6</m:t>
                    </m:r>
                    <m:r>
                      <a:rPr lang="en-CA" i="1">
                        <a:latin typeface="Cambria Math" panose="02040503050406030204" pitchFamily="18" charset="0"/>
                      </a:rPr>
                      <m:t>×</m:t>
                    </m:r>
                    <m:r>
                      <a:rPr lang="en-CA" b="0" i="1" smtClean="0">
                        <a:latin typeface="Cambria Math" panose="02040503050406030204" pitchFamily="18" charset="0"/>
                      </a:rPr>
                      <m:t>0</m:t>
                    </m:r>
                    <m:r>
                      <a:rPr lang="en-CA" i="1">
                        <a:latin typeface="Cambria Math" panose="02040503050406030204" pitchFamily="18" charset="0"/>
                      </a:rPr>
                      <m:t>=</m:t>
                    </m:r>
                    <m:r>
                      <a:rPr lang="en-CA" b="0" i="1" smtClean="0">
                        <a:latin typeface="Cambria Math" panose="02040503050406030204" pitchFamily="18" charset="0"/>
                      </a:rPr>
                      <m:t>0.6</m:t>
                    </m:r>
                    <m:d>
                      <m:dPr>
                        <m:begChr m:val="["/>
                        <m:endChr m:val="]"/>
                        <m:ctrlPr>
                          <a:rPr lang="en-CA" i="1">
                            <a:latin typeface="Cambria Math" panose="02040503050406030204" pitchFamily="18" charset="0"/>
                          </a:rPr>
                        </m:ctrlPr>
                      </m:dPr>
                      <m:e>
                        <m:r>
                          <a:rPr lang="en-CA" b="0" i="1" smtClean="0">
                            <a:latin typeface="Cambria Math" panose="02040503050406030204" pitchFamily="18" charset="0"/>
                          </a:rPr>
                          <m:t>0.5</m:t>
                        </m:r>
                        <m:r>
                          <a:rPr lang="en-CA" i="1">
                            <a:latin typeface="Cambria Math" panose="02040503050406030204" pitchFamily="18" charset="0"/>
                          </a:rPr>
                          <m:t>×</m:t>
                        </m:r>
                        <m:r>
                          <a:rPr lang="en-CA" b="0" i="1" smtClean="0">
                            <a:latin typeface="Cambria Math" panose="02040503050406030204" pitchFamily="18" charset="0"/>
                          </a:rPr>
                          <m:t>10+0.5</m:t>
                        </m:r>
                        <m:r>
                          <a:rPr lang="en-CA" i="1">
                            <a:latin typeface="Cambria Math" panose="02040503050406030204" pitchFamily="18" charset="0"/>
                          </a:rPr>
                          <m:t>×</m:t>
                        </m:r>
                        <m:r>
                          <a:rPr lang="en-CA" b="0" i="1" smtClean="0">
                            <a:latin typeface="Cambria Math" panose="02040503050406030204" pitchFamily="18" charset="0"/>
                          </a:rPr>
                          <m:t>0</m:t>
                        </m:r>
                      </m:e>
                    </m:d>
                  </m:oMath>
                </a14:m>
                <a:endParaRPr lang="en-CA" dirty="0"/>
              </a:p>
            </p:txBody>
          </p:sp>
        </mc:Choice>
        <mc:Fallback>
          <p:sp>
            <p:nvSpPr>
              <p:cNvPr id="3" name="Content Placeholder 2">
                <a:extLst>
                  <a:ext uri="{FF2B5EF4-FFF2-40B4-BE49-F238E27FC236}">
                    <a16:creationId xmlns:a16="http://schemas.microsoft.com/office/drawing/2014/main" id="{59A5A7CB-DF9B-12E9-26AD-CC4E4FC4E66B}"/>
                  </a:ext>
                </a:extLst>
              </p:cNvPr>
              <p:cNvSpPr>
                <a:spLocks noGrp="1" noRot="1" noChangeAspect="1" noMove="1" noResize="1" noEditPoints="1" noAdjustHandles="1" noChangeArrowheads="1" noChangeShapeType="1" noTextEdit="1"/>
              </p:cNvSpPr>
              <p:nvPr>
                <p:ph idx="1"/>
              </p:nvPr>
            </p:nvSpPr>
            <p:spPr>
              <a:xfrm>
                <a:off x="482600" y="1619251"/>
                <a:ext cx="11328400" cy="4327016"/>
              </a:xfrm>
              <a:blipFill>
                <a:blip r:embed="rId2"/>
                <a:stretch>
                  <a:fillRect l="-699"/>
                </a:stretch>
              </a:blipFill>
            </p:spPr>
            <p:txBody>
              <a:bodyPr/>
              <a:lstStyle/>
              <a:p>
                <a:r>
                  <a:rPr lang="en-CA">
                    <a:noFill/>
                  </a:rPr>
                  <a:t> </a:t>
                </a:r>
              </a:p>
            </p:txBody>
          </p:sp>
        </mc:Fallback>
      </mc:AlternateContent>
    </p:spTree>
    <p:extLst>
      <p:ext uri="{BB962C8B-B14F-4D97-AF65-F5344CB8AC3E}">
        <p14:creationId xmlns:p14="http://schemas.microsoft.com/office/powerpoint/2010/main" val="748063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BDD88-FD65-B4D9-F529-8AB94638F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FA35D-A86F-2024-EA0D-455978812E86}"/>
              </a:ext>
            </a:extLst>
          </p:cNvPr>
          <p:cNvSpPr>
            <a:spLocks noGrp="1"/>
          </p:cNvSpPr>
          <p:nvPr>
            <p:ph type="title"/>
          </p:nvPr>
        </p:nvSpPr>
        <p:spPr/>
        <p:txBody>
          <a:bodyPr/>
          <a:lstStyle/>
          <a:p>
            <a:r>
              <a:rPr lang="en-CA" dirty="0"/>
              <a:t>QALY Measurement: VAS, Standard Gamble and TTO</a:t>
            </a:r>
          </a:p>
        </p:txBody>
      </p:sp>
      <p:sp>
        <p:nvSpPr>
          <p:cNvPr id="3" name="Text Placeholder 2">
            <a:extLst>
              <a:ext uri="{FF2B5EF4-FFF2-40B4-BE49-F238E27FC236}">
                <a16:creationId xmlns:a16="http://schemas.microsoft.com/office/drawing/2014/main" id="{EB982726-01CC-D629-558E-7BFA5390818B}"/>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595989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80502-1D08-BB30-4D2E-FFFD72F0C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BD059-B44F-E2DB-1801-B308B0A2937C}"/>
              </a:ext>
            </a:extLst>
          </p:cNvPr>
          <p:cNvSpPr>
            <a:spLocks noGrp="1"/>
          </p:cNvSpPr>
          <p:nvPr>
            <p:ph type="title"/>
          </p:nvPr>
        </p:nvSpPr>
        <p:spPr>
          <a:xfrm>
            <a:off x="482600" y="597408"/>
            <a:ext cx="10634472" cy="1117092"/>
          </a:xfrm>
        </p:spPr>
        <p:txBody>
          <a:bodyPr/>
          <a:lstStyle/>
          <a:p>
            <a:r>
              <a:rPr lang="en-CA" sz="4800" dirty="0"/>
              <a:t>Utility Measurement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08A0BD-627C-EE3A-71F1-2BC3FCAF9090}"/>
                  </a:ext>
                </a:extLst>
              </p:cNvPr>
              <p:cNvSpPr>
                <a:spLocks noGrp="1"/>
              </p:cNvSpPr>
              <p:nvPr>
                <p:ph idx="1"/>
              </p:nvPr>
            </p:nvSpPr>
            <p:spPr>
              <a:xfrm>
                <a:off x="482600" y="1943100"/>
                <a:ext cx="10506991" cy="3936491"/>
              </a:xfrm>
            </p:spPr>
            <p:txBody>
              <a:bodyPr>
                <a:normAutofit lnSpcReduction="10000"/>
              </a:bodyPr>
              <a:lstStyle/>
              <a:p>
                <a:pPr marL="342900" indent="-342900">
                  <a:buFont typeface="Wingdings" panose="05000000000000000000" pitchFamily="2" charset="2"/>
                  <a:buChar char="§"/>
                </a:pPr>
                <a:r>
                  <a:rPr lang="en-CA" dirty="0"/>
                  <a:t>Recall the way we define QALYs is as follows:</a:t>
                </a:r>
              </a:p>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𝑄𝐴𝐿𝑌𝑠</m:t>
                      </m:r>
                      <m:r>
                        <a:rPr lang="en-CA" i="1">
                          <a:latin typeface="Cambria Math" panose="02040503050406030204" pitchFamily="18" charset="0"/>
                        </a:rPr>
                        <m:t>=</m:t>
                      </m:r>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𝑖</m:t>
                          </m:r>
                        </m:sub>
                      </m:sSub>
                    </m:oMath>
                  </m:oMathPara>
                </a14:m>
                <a:br>
                  <a:rPr lang="en-CA" dirty="0"/>
                </a:br>
                <a:endParaRPr lang="en-CA" dirty="0"/>
              </a:p>
              <a:p>
                <a:r>
                  <a:rPr lang="en-CA" dirty="0"/>
                  <a:t>Where </a:t>
                </a:r>
                <a14:m>
                  <m:oMath xmlns:m="http://schemas.openxmlformats.org/officeDocument/2006/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a14:m>
                <a:r>
                  <a:rPr lang="en-CA" dirty="0"/>
                  <a:t> is the utility from health status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oMath>
                </a14:m>
                <a:r>
                  <a:rPr lang="en-CA" dirty="0"/>
                  <a:t> and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𝑖</m:t>
                        </m:r>
                      </m:sub>
                    </m:sSub>
                  </m:oMath>
                </a14:m>
                <a:r>
                  <a:rPr lang="en-CA" dirty="0"/>
                  <a:t> is the time spent in that health status.</a:t>
                </a:r>
              </a:p>
              <a:p>
                <a:pPr marL="342900" indent="-342900">
                  <a:buFont typeface="Wingdings" panose="05000000000000000000" pitchFamily="2" charset="2"/>
                  <a:buChar char="§"/>
                </a:pPr>
                <a:r>
                  <a:rPr lang="en-CA" dirty="0"/>
                  <a:t>How is utility measured in practice?</a:t>
                </a:r>
              </a:p>
              <a:p>
                <a:pPr marL="342900" indent="-342900">
                  <a:buFont typeface="Wingdings" panose="05000000000000000000" pitchFamily="2" charset="2"/>
                  <a:buChar char="§"/>
                </a:pPr>
                <a:r>
                  <a:rPr lang="en-CA" dirty="0"/>
                  <a:t>There are three ways utility is measured:</a:t>
                </a:r>
                <a:br>
                  <a:rPr lang="en-CA" dirty="0"/>
                </a:br>
                <a:r>
                  <a:rPr lang="en-CA" dirty="0"/>
                  <a:t>1. Visual Analogue Scale (VAS)</a:t>
                </a:r>
                <a:br>
                  <a:rPr lang="en-CA" dirty="0"/>
                </a:br>
                <a:r>
                  <a:rPr lang="en-CA" dirty="0"/>
                  <a:t>2. Standard Gamble</a:t>
                </a:r>
                <a:br>
                  <a:rPr lang="en-CA" dirty="0"/>
                </a:br>
                <a:r>
                  <a:rPr lang="en-CA" dirty="0"/>
                  <a:t>3. Time Trade Off.</a:t>
                </a:r>
                <a:br>
                  <a:rPr lang="en-CA" dirty="0"/>
                </a:br>
                <a:endParaRPr lang="en-CA" dirty="0"/>
              </a:p>
            </p:txBody>
          </p:sp>
        </mc:Choice>
        <mc:Fallback xmlns="">
          <p:sp>
            <p:nvSpPr>
              <p:cNvPr id="3" name="Content Placeholder 2">
                <a:extLst>
                  <a:ext uri="{FF2B5EF4-FFF2-40B4-BE49-F238E27FC236}">
                    <a16:creationId xmlns:a16="http://schemas.microsoft.com/office/drawing/2014/main" id="{C308A0BD-627C-EE3A-71F1-2BC3FCAF9090}"/>
                  </a:ext>
                </a:extLst>
              </p:cNvPr>
              <p:cNvSpPr>
                <a:spLocks noGrp="1" noRot="1" noChangeAspect="1" noMove="1" noResize="1" noEditPoints="1" noAdjustHandles="1" noChangeArrowheads="1" noChangeShapeType="1" noTextEdit="1"/>
              </p:cNvSpPr>
              <p:nvPr>
                <p:ph idx="1"/>
              </p:nvPr>
            </p:nvSpPr>
            <p:spPr>
              <a:xfrm>
                <a:off x="482600" y="1943100"/>
                <a:ext cx="10506991" cy="3936491"/>
              </a:xfrm>
              <a:blipFill>
                <a:blip r:embed="rId2"/>
                <a:stretch>
                  <a:fillRect l="-870" t="-2171"/>
                </a:stretch>
              </a:blipFill>
            </p:spPr>
            <p:txBody>
              <a:bodyPr/>
              <a:lstStyle/>
              <a:p>
                <a:r>
                  <a:rPr lang="en-CA">
                    <a:noFill/>
                  </a:rPr>
                  <a:t> </a:t>
                </a:r>
              </a:p>
            </p:txBody>
          </p:sp>
        </mc:Fallback>
      </mc:AlternateContent>
    </p:spTree>
    <p:extLst>
      <p:ext uri="{BB962C8B-B14F-4D97-AF65-F5344CB8AC3E}">
        <p14:creationId xmlns:p14="http://schemas.microsoft.com/office/powerpoint/2010/main" val="1498565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C9B7B-46FA-902C-E5DC-BFF8C19FE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51F1A-7D39-315D-47A1-63353F3D69AE}"/>
              </a:ext>
            </a:extLst>
          </p:cNvPr>
          <p:cNvSpPr>
            <a:spLocks noGrp="1"/>
          </p:cNvSpPr>
          <p:nvPr>
            <p:ph type="title"/>
          </p:nvPr>
        </p:nvSpPr>
        <p:spPr>
          <a:xfrm>
            <a:off x="482600" y="597408"/>
            <a:ext cx="10634472" cy="1117092"/>
          </a:xfrm>
        </p:spPr>
        <p:txBody>
          <a:bodyPr/>
          <a:lstStyle/>
          <a:p>
            <a:r>
              <a:rPr lang="en-CA" sz="4800" dirty="0"/>
              <a:t>Visual Analogue Scale</a:t>
            </a:r>
          </a:p>
        </p:txBody>
      </p:sp>
      <p:sp>
        <p:nvSpPr>
          <p:cNvPr id="3" name="Content Placeholder 2">
            <a:extLst>
              <a:ext uri="{FF2B5EF4-FFF2-40B4-BE49-F238E27FC236}">
                <a16:creationId xmlns:a16="http://schemas.microsoft.com/office/drawing/2014/main" id="{3EDD9A86-76D5-64C5-3A62-99EEAC5621C3}"/>
              </a:ext>
            </a:extLst>
          </p:cNvPr>
          <p:cNvSpPr>
            <a:spLocks noGrp="1"/>
          </p:cNvSpPr>
          <p:nvPr>
            <p:ph idx="1"/>
          </p:nvPr>
        </p:nvSpPr>
        <p:spPr>
          <a:xfrm>
            <a:off x="482600" y="1552575"/>
            <a:ext cx="10506991" cy="3936491"/>
          </a:xfrm>
        </p:spPr>
        <p:txBody>
          <a:bodyPr/>
          <a:lstStyle/>
          <a:p>
            <a:pPr marL="342900" indent="-342900">
              <a:buFont typeface="Wingdings" panose="05000000000000000000" pitchFamily="2" charset="2"/>
              <a:buChar char="§"/>
            </a:pPr>
            <a:r>
              <a:rPr lang="en-CA" dirty="0"/>
              <a:t>To employ the use of the Visual Analogue Scale, patients are simply shown a feeling thermometer and asked how to rank their quality of life.</a:t>
            </a:r>
          </a:p>
          <a:p>
            <a:pPr marL="342900" indent="-342900">
              <a:buFont typeface="Wingdings" panose="05000000000000000000" pitchFamily="2" charset="2"/>
              <a:buChar char="§"/>
            </a:pPr>
            <a:r>
              <a:rPr lang="en-CA" dirty="0"/>
              <a:t>This method is crude, but it explicitly satisfies the measurement theoretic properties required of QALYs.</a:t>
            </a:r>
          </a:p>
          <a:p>
            <a:pPr marL="342900" indent="-342900">
              <a:buFont typeface="Wingdings" panose="05000000000000000000" pitchFamily="2" charset="2"/>
              <a:buChar char="§"/>
            </a:pPr>
            <a:r>
              <a:rPr lang="en-CA" dirty="0"/>
              <a:t>Alternatively, this valuation can involve a series of questions and score on a rubric.</a:t>
            </a:r>
            <a:br>
              <a:rPr lang="en-CA" dirty="0"/>
            </a:br>
            <a:br>
              <a:rPr lang="en-CA" dirty="0"/>
            </a:br>
            <a:endParaRPr lang="en-CA" dirty="0"/>
          </a:p>
        </p:txBody>
      </p:sp>
      <p:cxnSp>
        <p:nvCxnSpPr>
          <p:cNvPr id="4" name="Straight Connector 3">
            <a:extLst>
              <a:ext uri="{FF2B5EF4-FFF2-40B4-BE49-F238E27FC236}">
                <a16:creationId xmlns:a16="http://schemas.microsoft.com/office/drawing/2014/main" id="{D702A610-F904-58FC-4283-9FB3237FDD60}"/>
              </a:ext>
            </a:extLst>
          </p:cNvPr>
          <p:cNvCxnSpPr>
            <a:cxnSpLocks/>
          </p:cNvCxnSpPr>
          <p:nvPr/>
        </p:nvCxnSpPr>
        <p:spPr>
          <a:xfrm>
            <a:off x="2224051" y="4307811"/>
            <a:ext cx="7260336"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3B9D0C3-D69E-C89C-6BDE-12723A70338C}"/>
              </a:ext>
            </a:extLst>
          </p:cNvPr>
          <p:cNvCxnSpPr/>
          <p:nvPr/>
        </p:nvCxnSpPr>
        <p:spPr>
          <a:xfrm>
            <a:off x="2224051" y="4024347"/>
            <a:ext cx="0" cy="566928"/>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5016376-C097-8FA5-83CB-FFAF2A49869F}"/>
              </a:ext>
            </a:extLst>
          </p:cNvPr>
          <p:cNvCxnSpPr/>
          <p:nvPr/>
        </p:nvCxnSpPr>
        <p:spPr>
          <a:xfrm>
            <a:off x="9484387" y="4024347"/>
            <a:ext cx="0" cy="566928"/>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5DB5B41-6733-5F4E-E0C5-A160CF5DFE0B}"/>
              </a:ext>
            </a:extLst>
          </p:cNvPr>
          <p:cNvSpPr txBox="1"/>
          <p:nvPr/>
        </p:nvSpPr>
        <p:spPr>
          <a:xfrm>
            <a:off x="1390686" y="4565736"/>
            <a:ext cx="1824666" cy="923330"/>
          </a:xfrm>
          <a:prstGeom prst="rect">
            <a:avLst/>
          </a:prstGeom>
          <a:noFill/>
        </p:spPr>
        <p:txBody>
          <a:bodyPr wrap="none" rtlCol="0">
            <a:spAutoFit/>
          </a:bodyPr>
          <a:lstStyle/>
          <a:p>
            <a:pPr algn="ctr"/>
            <a:r>
              <a:rPr lang="en-CA" dirty="0"/>
              <a:t>0 </a:t>
            </a:r>
            <a:br>
              <a:rPr lang="en-CA" dirty="0"/>
            </a:br>
            <a:r>
              <a:rPr lang="en-CA" dirty="0"/>
              <a:t>Worst Imaginable</a:t>
            </a:r>
            <a:br>
              <a:rPr lang="en-CA" dirty="0"/>
            </a:br>
            <a:r>
              <a:rPr lang="en-CA" dirty="0"/>
              <a:t> Health State</a:t>
            </a:r>
          </a:p>
        </p:txBody>
      </p:sp>
      <p:sp>
        <p:nvSpPr>
          <p:cNvPr id="8" name="TextBox 7">
            <a:extLst>
              <a:ext uri="{FF2B5EF4-FFF2-40B4-BE49-F238E27FC236}">
                <a16:creationId xmlns:a16="http://schemas.microsoft.com/office/drawing/2014/main" id="{92C44EE7-76DC-516F-A425-AE5176F032AE}"/>
              </a:ext>
            </a:extLst>
          </p:cNvPr>
          <p:cNvSpPr txBox="1"/>
          <p:nvPr/>
        </p:nvSpPr>
        <p:spPr>
          <a:xfrm>
            <a:off x="8787975" y="4718136"/>
            <a:ext cx="1526380" cy="646331"/>
          </a:xfrm>
          <a:prstGeom prst="rect">
            <a:avLst/>
          </a:prstGeom>
          <a:noFill/>
        </p:spPr>
        <p:txBody>
          <a:bodyPr wrap="none" rtlCol="0">
            <a:spAutoFit/>
          </a:bodyPr>
          <a:lstStyle/>
          <a:p>
            <a:pPr algn="ctr"/>
            <a:r>
              <a:rPr lang="en-CA" dirty="0"/>
              <a:t>100 </a:t>
            </a:r>
            <a:br>
              <a:rPr lang="en-CA" dirty="0"/>
            </a:br>
            <a:r>
              <a:rPr lang="en-CA" dirty="0"/>
              <a:t>Perfect Health</a:t>
            </a:r>
          </a:p>
        </p:txBody>
      </p:sp>
      <p:sp>
        <p:nvSpPr>
          <p:cNvPr id="10" name="TextBox 9">
            <a:extLst>
              <a:ext uri="{FF2B5EF4-FFF2-40B4-BE49-F238E27FC236}">
                <a16:creationId xmlns:a16="http://schemas.microsoft.com/office/drawing/2014/main" id="{C0AD291C-4A0B-A3B0-769E-FA70C2212C10}"/>
              </a:ext>
            </a:extLst>
          </p:cNvPr>
          <p:cNvSpPr txBox="1"/>
          <p:nvPr/>
        </p:nvSpPr>
        <p:spPr>
          <a:xfrm>
            <a:off x="758108" y="5576224"/>
            <a:ext cx="9452972" cy="646331"/>
          </a:xfrm>
          <a:prstGeom prst="rect">
            <a:avLst/>
          </a:prstGeom>
          <a:noFill/>
        </p:spPr>
        <p:txBody>
          <a:bodyPr wrap="none" rtlCol="0">
            <a:spAutoFit/>
          </a:bodyPr>
          <a:lstStyle/>
          <a:p>
            <a:r>
              <a:rPr lang="en-CA" dirty="0"/>
              <a:t>*To satisfy our measurement properties, we renormalize any score to be on the [0,1] interval</a:t>
            </a:r>
            <a:br>
              <a:rPr lang="en-CA" dirty="0"/>
            </a:br>
            <a:endParaRPr lang="en-CA" dirty="0"/>
          </a:p>
        </p:txBody>
      </p:sp>
    </p:spTree>
    <p:extLst>
      <p:ext uri="{BB962C8B-B14F-4D97-AF65-F5344CB8AC3E}">
        <p14:creationId xmlns:p14="http://schemas.microsoft.com/office/powerpoint/2010/main" val="1387605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470CF-E0FA-708E-821D-E9AC9865E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FBFC1-FDBA-1DC5-473D-2EFB79B075D2}"/>
              </a:ext>
            </a:extLst>
          </p:cNvPr>
          <p:cNvSpPr>
            <a:spLocks noGrp="1"/>
          </p:cNvSpPr>
          <p:nvPr>
            <p:ph type="title"/>
          </p:nvPr>
        </p:nvSpPr>
        <p:spPr>
          <a:xfrm>
            <a:off x="425450" y="206883"/>
            <a:ext cx="10634472" cy="1117092"/>
          </a:xfrm>
        </p:spPr>
        <p:txBody>
          <a:bodyPr/>
          <a:lstStyle/>
          <a:p>
            <a:r>
              <a:rPr lang="en-CA" sz="4800" dirty="0"/>
              <a:t>An Example of a VAS: the EQ-5D-5L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CFCFAD-D106-F450-E167-A448F16CDC0C}"/>
                  </a:ext>
                </a:extLst>
              </p:cNvPr>
              <p:cNvSpPr>
                <a:spLocks noGrp="1"/>
              </p:cNvSpPr>
              <p:nvPr>
                <p:ph idx="1"/>
              </p:nvPr>
            </p:nvSpPr>
            <p:spPr>
              <a:xfrm>
                <a:off x="7461508" y="1627703"/>
                <a:ext cx="4187567" cy="4329161"/>
              </a:xfrm>
            </p:spPr>
            <p:txBody>
              <a:bodyPr/>
              <a:lstStyle/>
              <a:p>
                <a:pPr marL="342900" indent="-342900">
                  <a:buFont typeface="Wingdings" panose="05000000000000000000" pitchFamily="2" charset="2"/>
                  <a:buChar char="§"/>
                </a:pPr>
                <a:r>
                  <a:rPr lang="en-CA" dirty="0"/>
                  <a:t>The following is an example of a visual analogue scale provided to patients.</a:t>
                </a:r>
              </a:p>
              <a:p>
                <a:pPr marL="342900" indent="-342900">
                  <a:buFont typeface="Wingdings" panose="05000000000000000000" pitchFamily="2" charset="2"/>
                  <a:buChar char="§"/>
                </a:pPr>
                <a:r>
                  <a:rPr lang="en-CA" dirty="0"/>
                  <a:t>While this scale looks simple, this tool can provide 3125 unique health state scores.</a:t>
                </a:r>
              </a:p>
              <a:p>
                <a:pPr marL="342900" indent="-342900">
                  <a:buFont typeface="Wingdings" panose="05000000000000000000" pitchFamily="2" charset="2"/>
                  <a:buChar char="§"/>
                </a:pPr>
                <a:r>
                  <a:rPr lang="en-CA" dirty="0"/>
                  <a:t>This is because:</a:t>
                </a:r>
                <a:br>
                  <a:rPr lang="en-CA" dirty="0"/>
                </a:br>
                <a14:m>
                  <m:oMath xmlns:m="http://schemas.openxmlformats.org/officeDocument/2006/math">
                    <m:r>
                      <a:rPr lang="en-CA" b="0" i="1" smtClean="0">
                        <a:latin typeface="Cambria Math" panose="02040503050406030204" pitchFamily="18" charset="0"/>
                      </a:rPr>
                      <m:t>5×5×5×5×5=3125</m:t>
                    </m:r>
                  </m:oMath>
                </a14:m>
                <a:endParaRPr lang="en-CA" dirty="0"/>
              </a:p>
            </p:txBody>
          </p:sp>
        </mc:Choice>
        <mc:Fallback xmlns="">
          <p:sp>
            <p:nvSpPr>
              <p:cNvPr id="3" name="Content Placeholder 2">
                <a:extLst>
                  <a:ext uri="{FF2B5EF4-FFF2-40B4-BE49-F238E27FC236}">
                    <a16:creationId xmlns:a16="http://schemas.microsoft.com/office/drawing/2014/main" id="{70CFCFAD-D106-F450-E167-A448F16CDC0C}"/>
                  </a:ext>
                </a:extLst>
              </p:cNvPr>
              <p:cNvSpPr>
                <a:spLocks noGrp="1" noRot="1" noChangeAspect="1" noMove="1" noResize="1" noEditPoints="1" noAdjustHandles="1" noChangeArrowheads="1" noChangeShapeType="1" noTextEdit="1"/>
              </p:cNvSpPr>
              <p:nvPr>
                <p:ph idx="1"/>
              </p:nvPr>
            </p:nvSpPr>
            <p:spPr>
              <a:xfrm>
                <a:off x="7461508" y="1627703"/>
                <a:ext cx="4187567" cy="4329161"/>
              </a:xfrm>
              <a:blipFill>
                <a:blip r:embed="rId2"/>
                <a:stretch>
                  <a:fillRect l="-1892" t="-1127" r="-2038"/>
                </a:stretch>
              </a:blipFill>
            </p:spPr>
            <p:txBody>
              <a:bodyPr/>
              <a:lstStyle/>
              <a:p>
                <a:r>
                  <a:rPr lang="en-CA">
                    <a:noFill/>
                  </a:rPr>
                  <a:t> </a:t>
                </a:r>
              </a:p>
            </p:txBody>
          </p:sp>
        </mc:Fallback>
      </mc:AlternateContent>
      <p:pic>
        <p:nvPicPr>
          <p:cNvPr id="7" name="Picture 6">
            <a:extLst>
              <a:ext uri="{FF2B5EF4-FFF2-40B4-BE49-F238E27FC236}">
                <a16:creationId xmlns:a16="http://schemas.microsoft.com/office/drawing/2014/main" id="{E7CCC8ED-372A-EF00-0D86-A93D89729A19}"/>
              </a:ext>
            </a:extLst>
          </p:cNvPr>
          <p:cNvPicPr>
            <a:picLocks noChangeAspect="1"/>
          </p:cNvPicPr>
          <p:nvPr/>
        </p:nvPicPr>
        <p:blipFill>
          <a:blip r:embed="rId3"/>
          <a:stretch>
            <a:fillRect/>
          </a:stretch>
        </p:blipFill>
        <p:spPr>
          <a:xfrm>
            <a:off x="323850" y="1023983"/>
            <a:ext cx="3638551" cy="5236609"/>
          </a:xfrm>
          <a:prstGeom prst="rect">
            <a:avLst/>
          </a:prstGeom>
        </p:spPr>
      </p:pic>
      <p:pic>
        <p:nvPicPr>
          <p:cNvPr id="9" name="Picture 8">
            <a:extLst>
              <a:ext uri="{FF2B5EF4-FFF2-40B4-BE49-F238E27FC236}">
                <a16:creationId xmlns:a16="http://schemas.microsoft.com/office/drawing/2014/main" id="{F72CFB1D-CC5E-AF83-551C-64A1E4E2F77D}"/>
              </a:ext>
            </a:extLst>
          </p:cNvPr>
          <p:cNvPicPr>
            <a:picLocks noChangeAspect="1"/>
          </p:cNvPicPr>
          <p:nvPr/>
        </p:nvPicPr>
        <p:blipFill>
          <a:blip r:embed="rId4"/>
          <a:stretch>
            <a:fillRect/>
          </a:stretch>
        </p:blipFill>
        <p:spPr>
          <a:xfrm>
            <a:off x="3962400" y="1262657"/>
            <a:ext cx="3327657" cy="4997935"/>
          </a:xfrm>
          <a:prstGeom prst="rect">
            <a:avLst/>
          </a:prstGeom>
        </p:spPr>
      </p:pic>
    </p:spTree>
    <p:extLst>
      <p:ext uri="{BB962C8B-B14F-4D97-AF65-F5344CB8AC3E}">
        <p14:creationId xmlns:p14="http://schemas.microsoft.com/office/powerpoint/2010/main" val="710504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3DD05-7CC8-5911-A742-8ED1A693B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F64E0-5C9D-3078-3893-FC10E8432E8F}"/>
              </a:ext>
            </a:extLst>
          </p:cNvPr>
          <p:cNvSpPr>
            <a:spLocks noGrp="1"/>
          </p:cNvSpPr>
          <p:nvPr>
            <p:ph type="title"/>
          </p:nvPr>
        </p:nvSpPr>
        <p:spPr>
          <a:xfrm>
            <a:off x="482600" y="597408"/>
            <a:ext cx="10634472" cy="1117092"/>
          </a:xfrm>
        </p:spPr>
        <p:txBody>
          <a:bodyPr/>
          <a:lstStyle/>
          <a:p>
            <a:r>
              <a:rPr lang="en-CA" sz="4800" dirty="0"/>
              <a:t>Standard Gamble</a:t>
            </a:r>
          </a:p>
        </p:txBody>
      </p:sp>
      <p:sp>
        <p:nvSpPr>
          <p:cNvPr id="17" name="Rectangle 16">
            <a:extLst>
              <a:ext uri="{FF2B5EF4-FFF2-40B4-BE49-F238E27FC236}">
                <a16:creationId xmlns:a16="http://schemas.microsoft.com/office/drawing/2014/main" id="{BBBB6C0B-D85B-2323-6F3E-1A4D515473F6}"/>
              </a:ext>
            </a:extLst>
          </p:cNvPr>
          <p:cNvSpPr/>
          <p:nvPr/>
        </p:nvSpPr>
        <p:spPr>
          <a:xfrm>
            <a:off x="1476756" y="4238245"/>
            <a:ext cx="448056" cy="466344"/>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8" name="Straight Connector 17">
            <a:extLst>
              <a:ext uri="{FF2B5EF4-FFF2-40B4-BE49-F238E27FC236}">
                <a16:creationId xmlns:a16="http://schemas.microsoft.com/office/drawing/2014/main" id="{3DF2F8F4-6B35-0D69-D53E-73AB2CA19335}"/>
              </a:ext>
            </a:extLst>
          </p:cNvPr>
          <p:cNvCxnSpPr>
            <a:cxnSpLocks/>
            <a:stCxn id="17" idx="3"/>
            <a:endCxn id="21" idx="2"/>
          </p:cNvCxnSpPr>
          <p:nvPr/>
        </p:nvCxnSpPr>
        <p:spPr>
          <a:xfrm flipV="1">
            <a:off x="1924812" y="3319273"/>
            <a:ext cx="1723644" cy="115214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EE9D941-4DB7-ED5E-713C-6A6432F780DF}"/>
              </a:ext>
            </a:extLst>
          </p:cNvPr>
          <p:cNvCxnSpPr>
            <a:cxnSpLocks/>
            <a:stCxn id="17" idx="3"/>
          </p:cNvCxnSpPr>
          <p:nvPr/>
        </p:nvCxnSpPr>
        <p:spPr>
          <a:xfrm>
            <a:off x="1924812" y="4471417"/>
            <a:ext cx="1019556" cy="1353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ADB380-C4B9-C1AB-8532-EE843DFD16DE}"/>
              </a:ext>
            </a:extLst>
          </p:cNvPr>
          <p:cNvCxnSpPr>
            <a:cxnSpLocks/>
          </p:cNvCxnSpPr>
          <p:nvPr/>
        </p:nvCxnSpPr>
        <p:spPr>
          <a:xfrm>
            <a:off x="2944368" y="5824729"/>
            <a:ext cx="4700016" cy="0"/>
          </a:xfrm>
          <a:prstGeom prst="line">
            <a:avLst/>
          </a:prstGeom>
          <a:ln w="57150"/>
        </p:spPr>
        <p:style>
          <a:lnRef idx="1">
            <a:schemeClr val="dk1"/>
          </a:lnRef>
          <a:fillRef idx="0">
            <a:schemeClr val="dk1"/>
          </a:fillRef>
          <a:effectRef idx="0">
            <a:schemeClr val="dk1"/>
          </a:effectRef>
          <a:fontRef idx="minor">
            <a:schemeClr val="tx1"/>
          </a:fontRef>
        </p:style>
      </p:cxnSp>
      <p:sp>
        <p:nvSpPr>
          <p:cNvPr id="21" name="Oval 20">
            <a:extLst>
              <a:ext uri="{FF2B5EF4-FFF2-40B4-BE49-F238E27FC236}">
                <a16:creationId xmlns:a16="http://schemas.microsoft.com/office/drawing/2014/main" id="{24028598-F5C4-DC3E-1E43-1CBECD0D8B90}"/>
              </a:ext>
            </a:extLst>
          </p:cNvPr>
          <p:cNvSpPr/>
          <p:nvPr/>
        </p:nvSpPr>
        <p:spPr>
          <a:xfrm>
            <a:off x="3648456" y="3032380"/>
            <a:ext cx="557784" cy="573786"/>
          </a:xfrm>
          <a:prstGeom prst="ellipse">
            <a:avLst/>
          </a:prstGeom>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Freeform: Shape 21">
            <a:extLst>
              <a:ext uri="{FF2B5EF4-FFF2-40B4-BE49-F238E27FC236}">
                <a16:creationId xmlns:a16="http://schemas.microsoft.com/office/drawing/2014/main" id="{F8557679-A846-47A2-48CB-EA391BD63D3C}"/>
              </a:ext>
            </a:extLst>
          </p:cNvPr>
          <p:cNvSpPr/>
          <p:nvPr/>
        </p:nvSpPr>
        <p:spPr>
          <a:xfrm>
            <a:off x="4206240" y="2596894"/>
            <a:ext cx="3099816" cy="713234"/>
          </a:xfrm>
          <a:custGeom>
            <a:avLst/>
            <a:gdLst>
              <a:gd name="connsiteX0" fmla="*/ 0 w 2651760"/>
              <a:gd name="connsiteY0" fmla="*/ 941832 h 941832"/>
              <a:gd name="connsiteX1" fmla="*/ 713232 w 2651760"/>
              <a:gd name="connsiteY1" fmla="*/ 27432 h 941832"/>
              <a:gd name="connsiteX2" fmla="*/ 2651760 w 2651760"/>
              <a:gd name="connsiteY2" fmla="*/ 0 h 941832"/>
            </a:gdLst>
            <a:ahLst/>
            <a:cxnLst>
              <a:cxn ang="0">
                <a:pos x="connsiteX0" y="connsiteY0"/>
              </a:cxn>
              <a:cxn ang="0">
                <a:pos x="connsiteX1" y="connsiteY1"/>
              </a:cxn>
              <a:cxn ang="0">
                <a:pos x="connsiteX2" y="connsiteY2"/>
              </a:cxn>
            </a:cxnLst>
            <a:rect l="l" t="t" r="r" b="b"/>
            <a:pathLst>
              <a:path w="2651760" h="941832">
                <a:moveTo>
                  <a:pt x="0" y="941832"/>
                </a:moveTo>
                <a:lnTo>
                  <a:pt x="713232" y="27432"/>
                </a:lnTo>
                <a:lnTo>
                  <a:pt x="2651760" y="0"/>
                </a:ln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Freeform: Shape 22">
            <a:extLst>
              <a:ext uri="{FF2B5EF4-FFF2-40B4-BE49-F238E27FC236}">
                <a16:creationId xmlns:a16="http://schemas.microsoft.com/office/drawing/2014/main" id="{DD1C9A43-DA5F-6DFB-6AE3-5F8932D45344}"/>
              </a:ext>
            </a:extLst>
          </p:cNvPr>
          <p:cNvSpPr/>
          <p:nvPr/>
        </p:nvSpPr>
        <p:spPr>
          <a:xfrm flipV="1">
            <a:off x="4184904" y="3310128"/>
            <a:ext cx="3121152" cy="713234"/>
          </a:xfrm>
          <a:custGeom>
            <a:avLst/>
            <a:gdLst>
              <a:gd name="connsiteX0" fmla="*/ 0 w 2651760"/>
              <a:gd name="connsiteY0" fmla="*/ 941832 h 941832"/>
              <a:gd name="connsiteX1" fmla="*/ 713232 w 2651760"/>
              <a:gd name="connsiteY1" fmla="*/ 27432 h 941832"/>
              <a:gd name="connsiteX2" fmla="*/ 2651760 w 2651760"/>
              <a:gd name="connsiteY2" fmla="*/ 0 h 941832"/>
            </a:gdLst>
            <a:ahLst/>
            <a:cxnLst>
              <a:cxn ang="0">
                <a:pos x="connsiteX0" y="connsiteY0"/>
              </a:cxn>
              <a:cxn ang="0">
                <a:pos x="connsiteX1" y="connsiteY1"/>
              </a:cxn>
              <a:cxn ang="0">
                <a:pos x="connsiteX2" y="connsiteY2"/>
              </a:cxn>
            </a:cxnLst>
            <a:rect l="l" t="t" r="r" b="b"/>
            <a:pathLst>
              <a:path w="2651760" h="941832">
                <a:moveTo>
                  <a:pt x="0" y="941832"/>
                </a:moveTo>
                <a:lnTo>
                  <a:pt x="713232" y="27432"/>
                </a:lnTo>
                <a:lnTo>
                  <a:pt x="2651760" y="0"/>
                </a:ln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TextBox 23">
            <a:extLst>
              <a:ext uri="{FF2B5EF4-FFF2-40B4-BE49-F238E27FC236}">
                <a16:creationId xmlns:a16="http://schemas.microsoft.com/office/drawing/2014/main" id="{00BDC8B5-8349-E734-189F-6D67CC218903}"/>
              </a:ext>
            </a:extLst>
          </p:cNvPr>
          <p:cNvSpPr txBox="1"/>
          <p:nvPr/>
        </p:nvSpPr>
        <p:spPr>
          <a:xfrm>
            <a:off x="5564124" y="2264140"/>
            <a:ext cx="1526380" cy="369332"/>
          </a:xfrm>
          <a:prstGeom prst="rect">
            <a:avLst/>
          </a:prstGeom>
          <a:noFill/>
        </p:spPr>
        <p:txBody>
          <a:bodyPr wrap="none" rtlCol="0">
            <a:spAutoFit/>
          </a:bodyPr>
          <a:lstStyle/>
          <a:p>
            <a:r>
              <a:rPr lang="en-CA" dirty="0"/>
              <a:t>Perfect Health</a:t>
            </a:r>
          </a:p>
        </p:txBody>
      </p:sp>
      <p:sp>
        <p:nvSpPr>
          <p:cNvPr id="25" name="TextBox 24">
            <a:extLst>
              <a:ext uri="{FF2B5EF4-FFF2-40B4-BE49-F238E27FC236}">
                <a16:creationId xmlns:a16="http://schemas.microsoft.com/office/drawing/2014/main" id="{2281516D-ED3D-0F58-65B3-3396F268EB51}"/>
              </a:ext>
            </a:extLst>
          </p:cNvPr>
          <p:cNvSpPr txBox="1"/>
          <p:nvPr/>
        </p:nvSpPr>
        <p:spPr>
          <a:xfrm>
            <a:off x="5948043" y="3654030"/>
            <a:ext cx="758541" cy="369332"/>
          </a:xfrm>
          <a:prstGeom prst="rect">
            <a:avLst/>
          </a:prstGeom>
          <a:noFill/>
        </p:spPr>
        <p:txBody>
          <a:bodyPr wrap="none" rtlCol="0">
            <a:spAutoFit/>
          </a:bodyPr>
          <a:lstStyle/>
          <a:p>
            <a:r>
              <a:rPr lang="en-CA" dirty="0"/>
              <a:t>Death</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B978437-667D-9548-AAF1-30ED91B2D290}"/>
                  </a:ext>
                </a:extLst>
              </p:cNvPr>
              <p:cNvSpPr txBox="1"/>
              <p:nvPr/>
            </p:nvSpPr>
            <p:spPr>
              <a:xfrm>
                <a:off x="7327392" y="2448806"/>
                <a:ext cx="12082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=1</m:t>
                      </m:r>
                    </m:oMath>
                  </m:oMathPara>
                </a14:m>
                <a:endParaRPr lang="en-CA" dirty="0"/>
              </a:p>
            </p:txBody>
          </p:sp>
        </mc:Choice>
        <mc:Fallback xmlns="">
          <p:sp>
            <p:nvSpPr>
              <p:cNvPr id="26" name="TextBox 25">
                <a:extLst>
                  <a:ext uri="{FF2B5EF4-FFF2-40B4-BE49-F238E27FC236}">
                    <a16:creationId xmlns:a16="http://schemas.microsoft.com/office/drawing/2014/main" id="{EB978437-667D-9548-AAF1-30ED91B2D290}"/>
                  </a:ext>
                </a:extLst>
              </p:cNvPr>
              <p:cNvSpPr txBox="1">
                <a:spLocks noRot="1" noChangeAspect="1" noMove="1" noResize="1" noEditPoints="1" noAdjustHandles="1" noChangeArrowheads="1" noChangeShapeType="1" noTextEdit="1"/>
              </p:cNvSpPr>
              <p:nvPr/>
            </p:nvSpPr>
            <p:spPr>
              <a:xfrm>
                <a:off x="7327392" y="2448806"/>
                <a:ext cx="12082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7B98C11-F971-5D21-CEFA-511806BD4129}"/>
                  </a:ext>
                </a:extLst>
              </p:cNvPr>
              <p:cNvSpPr txBox="1"/>
              <p:nvPr/>
            </p:nvSpPr>
            <p:spPr>
              <a:xfrm>
                <a:off x="7261507" y="3799334"/>
                <a:ext cx="1223989" cy="404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bar>
                            <m:barPr>
                              <m:ctrlPr>
                                <a:rPr lang="en-CA" b="0" i="1" smtClean="0">
                                  <a:latin typeface="Cambria Math" panose="02040503050406030204" pitchFamily="18" charset="0"/>
                                </a:rPr>
                              </m:ctrlPr>
                            </m:barPr>
                            <m:e>
                              <m:r>
                                <a:rPr lang="en-CA" b="0" i="1" smtClean="0">
                                  <a:latin typeface="Cambria Math" panose="02040503050406030204" pitchFamily="18" charset="0"/>
                                </a:rPr>
                                <m:t>𝐻</m:t>
                              </m:r>
                            </m:e>
                          </m:bar>
                        </m:e>
                      </m:d>
                      <m:r>
                        <a:rPr lang="en-CA" b="0" i="1" smtClean="0">
                          <a:latin typeface="Cambria Math" panose="02040503050406030204" pitchFamily="18" charset="0"/>
                        </a:rPr>
                        <m:t>=0</m:t>
                      </m:r>
                    </m:oMath>
                  </m:oMathPara>
                </a14:m>
                <a:endParaRPr lang="en-CA" dirty="0"/>
              </a:p>
            </p:txBody>
          </p:sp>
        </mc:Choice>
        <mc:Fallback xmlns="">
          <p:sp>
            <p:nvSpPr>
              <p:cNvPr id="27" name="TextBox 26">
                <a:extLst>
                  <a:ext uri="{FF2B5EF4-FFF2-40B4-BE49-F238E27FC236}">
                    <a16:creationId xmlns:a16="http://schemas.microsoft.com/office/drawing/2014/main" id="{C7B98C11-F971-5D21-CEFA-511806BD4129}"/>
                  </a:ext>
                </a:extLst>
              </p:cNvPr>
              <p:cNvSpPr txBox="1">
                <a:spLocks noRot="1" noChangeAspect="1" noMove="1" noResize="1" noEditPoints="1" noAdjustHandles="1" noChangeArrowheads="1" noChangeShapeType="1" noTextEdit="1"/>
              </p:cNvSpPr>
              <p:nvPr/>
            </p:nvSpPr>
            <p:spPr>
              <a:xfrm>
                <a:off x="7261507" y="3799334"/>
                <a:ext cx="1223989" cy="404983"/>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88D15F9-F769-7A3F-8390-AF0395B9266B}"/>
                  </a:ext>
                </a:extLst>
              </p:cNvPr>
              <p:cNvSpPr txBox="1"/>
              <p:nvPr/>
            </p:nvSpPr>
            <p:spPr>
              <a:xfrm>
                <a:off x="4379976" y="2514315"/>
                <a:ext cx="3798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𝑝</m:t>
                      </m:r>
                    </m:oMath>
                  </m:oMathPara>
                </a14:m>
                <a:endParaRPr lang="en-CA" dirty="0"/>
              </a:p>
            </p:txBody>
          </p:sp>
        </mc:Choice>
        <mc:Fallback xmlns="">
          <p:sp>
            <p:nvSpPr>
              <p:cNvPr id="28" name="TextBox 27">
                <a:extLst>
                  <a:ext uri="{FF2B5EF4-FFF2-40B4-BE49-F238E27FC236}">
                    <a16:creationId xmlns:a16="http://schemas.microsoft.com/office/drawing/2014/main" id="{988D15F9-F769-7A3F-8390-AF0395B9266B}"/>
                  </a:ext>
                </a:extLst>
              </p:cNvPr>
              <p:cNvSpPr txBox="1">
                <a:spLocks noRot="1" noChangeAspect="1" noMove="1" noResize="1" noEditPoints="1" noAdjustHandles="1" noChangeArrowheads="1" noChangeShapeType="1" noTextEdit="1"/>
              </p:cNvSpPr>
              <p:nvPr/>
            </p:nvSpPr>
            <p:spPr>
              <a:xfrm>
                <a:off x="4379976" y="2514315"/>
                <a:ext cx="379848" cy="369332"/>
              </a:xfrm>
              <a:prstGeom prst="rect">
                <a:avLst/>
              </a:prstGeom>
              <a:blipFill>
                <a:blip r:embed="rId4"/>
                <a:stretch>
                  <a:fillRect b="-983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D81D8BF-B997-E82E-4FD6-948823DFA1C4}"/>
                  </a:ext>
                </a:extLst>
              </p:cNvPr>
              <p:cNvSpPr txBox="1"/>
              <p:nvPr/>
            </p:nvSpPr>
            <p:spPr>
              <a:xfrm>
                <a:off x="4079252" y="3682249"/>
                <a:ext cx="78380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1−</m:t>
                      </m:r>
                      <m:r>
                        <a:rPr lang="en-CA" b="0" i="1" smtClean="0">
                          <a:latin typeface="Cambria Math" panose="02040503050406030204" pitchFamily="18" charset="0"/>
                        </a:rPr>
                        <m:t>𝑝</m:t>
                      </m:r>
                    </m:oMath>
                  </m:oMathPara>
                </a14:m>
                <a:endParaRPr lang="en-CA" dirty="0"/>
              </a:p>
            </p:txBody>
          </p:sp>
        </mc:Choice>
        <mc:Fallback xmlns="">
          <p:sp>
            <p:nvSpPr>
              <p:cNvPr id="29" name="TextBox 28">
                <a:extLst>
                  <a:ext uri="{FF2B5EF4-FFF2-40B4-BE49-F238E27FC236}">
                    <a16:creationId xmlns:a16="http://schemas.microsoft.com/office/drawing/2014/main" id="{0D81D8BF-B997-E82E-4FD6-948823DFA1C4}"/>
                  </a:ext>
                </a:extLst>
              </p:cNvPr>
              <p:cNvSpPr txBox="1">
                <a:spLocks noRot="1" noChangeAspect="1" noMove="1" noResize="1" noEditPoints="1" noAdjustHandles="1" noChangeArrowheads="1" noChangeShapeType="1" noTextEdit="1"/>
              </p:cNvSpPr>
              <p:nvPr/>
            </p:nvSpPr>
            <p:spPr>
              <a:xfrm>
                <a:off x="4079252" y="3682249"/>
                <a:ext cx="783804" cy="369332"/>
              </a:xfrm>
              <a:prstGeom prst="rect">
                <a:avLst/>
              </a:prstGeom>
              <a:blipFill>
                <a:blip r:embed="rId5"/>
                <a:stretch>
                  <a:fillRect b="-983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0DEA73E-4ED7-D8C4-4065-0C7810F506B1}"/>
                  </a:ext>
                </a:extLst>
              </p:cNvPr>
              <p:cNvSpPr txBox="1"/>
              <p:nvPr/>
            </p:nvSpPr>
            <p:spPr>
              <a:xfrm>
                <a:off x="7514623" y="5665573"/>
                <a:ext cx="8337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m:oMathPara>
                </a14:m>
                <a:endParaRPr lang="en-CA" dirty="0"/>
              </a:p>
            </p:txBody>
          </p:sp>
        </mc:Choice>
        <mc:Fallback xmlns="">
          <p:sp>
            <p:nvSpPr>
              <p:cNvPr id="30" name="TextBox 29">
                <a:extLst>
                  <a:ext uri="{FF2B5EF4-FFF2-40B4-BE49-F238E27FC236}">
                    <a16:creationId xmlns:a16="http://schemas.microsoft.com/office/drawing/2014/main" id="{D0DEA73E-4ED7-D8C4-4065-0C7810F506B1}"/>
                  </a:ext>
                </a:extLst>
              </p:cNvPr>
              <p:cNvSpPr txBox="1">
                <a:spLocks noRot="1" noChangeAspect="1" noMove="1" noResize="1" noEditPoints="1" noAdjustHandles="1" noChangeArrowheads="1" noChangeShapeType="1" noTextEdit="1"/>
              </p:cNvSpPr>
              <p:nvPr/>
            </p:nvSpPr>
            <p:spPr>
              <a:xfrm>
                <a:off x="7514623" y="5665573"/>
                <a:ext cx="833754" cy="369332"/>
              </a:xfrm>
              <a:prstGeom prst="rect">
                <a:avLst/>
              </a:prstGeom>
              <a:blipFill>
                <a:blip r:embed="rId6"/>
                <a:stretch>
                  <a:fillRect b="-1639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272F02E-357A-B48E-AF65-4EE8F7F2814B}"/>
                  </a:ext>
                </a:extLst>
              </p:cNvPr>
              <p:cNvSpPr txBox="1"/>
              <p:nvPr/>
            </p:nvSpPr>
            <p:spPr>
              <a:xfrm>
                <a:off x="4633813" y="5362315"/>
                <a:ext cx="1482393" cy="369332"/>
              </a:xfrm>
              <a:prstGeom prst="rect">
                <a:avLst/>
              </a:prstGeom>
              <a:noFill/>
            </p:spPr>
            <p:txBody>
              <a:bodyPr wrap="none" rtlCol="0">
                <a:spAutoFit/>
              </a:bodyPr>
              <a:lstStyle/>
              <a:p>
                <a:r>
                  <a:rPr lang="en-CA" dirty="0"/>
                  <a:t>Health State </a:t>
                </a:r>
                <a14:m>
                  <m:oMath xmlns:m="http://schemas.openxmlformats.org/officeDocument/2006/math">
                    <m:r>
                      <a:rPr lang="en-CA" b="0" i="1" smtClean="0">
                        <a:latin typeface="Cambria Math" panose="02040503050406030204" pitchFamily="18" charset="0"/>
                      </a:rPr>
                      <m:t>𝑖</m:t>
                    </m:r>
                  </m:oMath>
                </a14:m>
                <a:endParaRPr lang="en-CA" dirty="0"/>
              </a:p>
            </p:txBody>
          </p:sp>
        </mc:Choice>
        <mc:Fallback xmlns="">
          <p:sp>
            <p:nvSpPr>
              <p:cNvPr id="31" name="TextBox 30">
                <a:extLst>
                  <a:ext uri="{FF2B5EF4-FFF2-40B4-BE49-F238E27FC236}">
                    <a16:creationId xmlns:a16="http://schemas.microsoft.com/office/drawing/2014/main" id="{C272F02E-357A-B48E-AF65-4EE8F7F2814B}"/>
                  </a:ext>
                </a:extLst>
              </p:cNvPr>
              <p:cNvSpPr txBox="1">
                <a:spLocks noRot="1" noChangeAspect="1" noMove="1" noResize="1" noEditPoints="1" noAdjustHandles="1" noChangeArrowheads="1" noChangeShapeType="1" noTextEdit="1"/>
              </p:cNvSpPr>
              <p:nvPr/>
            </p:nvSpPr>
            <p:spPr>
              <a:xfrm>
                <a:off x="4633813" y="5362315"/>
                <a:ext cx="1482393" cy="369332"/>
              </a:xfrm>
              <a:prstGeom prst="rect">
                <a:avLst/>
              </a:prstGeom>
              <a:blipFill>
                <a:blip r:embed="rId7"/>
                <a:stretch>
                  <a:fillRect l="-3292" t="-10000" r="-5761" b="-2666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71B7230-7B35-3468-7963-C15BB98A7BFC}"/>
                  </a:ext>
                </a:extLst>
              </p:cNvPr>
              <p:cNvSpPr txBox="1"/>
              <p:nvPr/>
            </p:nvSpPr>
            <p:spPr>
              <a:xfrm>
                <a:off x="8853643" y="2448806"/>
                <a:ext cx="3203121" cy="2031325"/>
              </a:xfrm>
              <a:prstGeom prst="rect">
                <a:avLst/>
              </a:prstGeom>
              <a:noFill/>
              <a:ln w="57150">
                <a:solidFill>
                  <a:schemeClr val="tx1"/>
                </a:solidFill>
              </a:ln>
            </p:spPr>
            <p:txBody>
              <a:bodyPr wrap="none" rtlCol="0">
                <a:spAutoFit/>
              </a:bodyPr>
              <a:lstStyle/>
              <a:p>
                <a:r>
                  <a:rPr lang="en-CA" dirty="0"/>
                  <a:t>We seek the value </a:t>
                </a:r>
                <a:br>
                  <a:rPr lang="en-CA" dirty="0"/>
                </a:br>
                <a:r>
                  <a:rPr lang="en-CA" dirty="0"/>
                  <a:t>of </a:t>
                </a:r>
                <a14:m>
                  <m:oMath xmlns:m="http://schemas.openxmlformats.org/officeDocument/2006/math">
                    <m:r>
                      <a:rPr lang="en-CA" b="0" i="1" smtClean="0">
                        <a:latin typeface="Cambria Math" panose="02040503050406030204" pitchFamily="18" charset="0"/>
                      </a:rPr>
                      <m:t>𝑝</m:t>
                    </m:r>
                  </m:oMath>
                </a14:m>
                <a:r>
                  <a:rPr lang="en-CA" dirty="0"/>
                  <a:t> which places our </a:t>
                </a:r>
                <a:br>
                  <a:rPr lang="en-CA" dirty="0"/>
                </a:br>
                <a:r>
                  <a:rPr lang="en-CA" dirty="0"/>
                  <a:t>survey participant indifferent</a:t>
                </a:r>
                <a:br>
                  <a:rPr lang="en-CA" dirty="0"/>
                </a:br>
                <a:r>
                  <a:rPr lang="en-CA" dirty="0"/>
                  <a:t> between the two outcomes.</a:t>
                </a:r>
                <a:br>
                  <a:rPr lang="en-CA" dirty="0"/>
                </a:br>
                <a:br>
                  <a:rPr lang="en-CA" dirty="0"/>
                </a:br>
                <a:r>
                  <a:rPr lang="en-CA" dirty="0"/>
                  <a:t>Naturally we elicit a valuation of</a:t>
                </a:r>
                <a:br>
                  <a:rPr lang="en-CA" dirty="0"/>
                </a:br>
                <a14:m>
                  <m:oMath xmlns:m="http://schemas.openxmlformats.org/officeDocument/2006/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a14:m>
                <a:r>
                  <a:rPr lang="en-CA" dirty="0"/>
                  <a:t> from the choice of </a:t>
                </a:r>
                <a14:m>
                  <m:oMath xmlns:m="http://schemas.openxmlformats.org/officeDocument/2006/math">
                    <m:r>
                      <a:rPr lang="en-CA" b="0" i="1" smtClean="0">
                        <a:latin typeface="Cambria Math" panose="02040503050406030204" pitchFamily="18" charset="0"/>
                      </a:rPr>
                      <m:t>𝑝</m:t>
                    </m:r>
                  </m:oMath>
                </a14:m>
                <a:endParaRPr lang="en-CA" dirty="0"/>
              </a:p>
            </p:txBody>
          </p:sp>
        </mc:Choice>
        <mc:Fallback xmlns="">
          <p:sp>
            <p:nvSpPr>
              <p:cNvPr id="32" name="TextBox 31">
                <a:extLst>
                  <a:ext uri="{FF2B5EF4-FFF2-40B4-BE49-F238E27FC236}">
                    <a16:creationId xmlns:a16="http://schemas.microsoft.com/office/drawing/2014/main" id="{671B7230-7B35-3468-7963-C15BB98A7BFC}"/>
                  </a:ext>
                </a:extLst>
              </p:cNvPr>
              <p:cNvSpPr txBox="1">
                <a:spLocks noRot="1" noChangeAspect="1" noMove="1" noResize="1" noEditPoints="1" noAdjustHandles="1" noChangeArrowheads="1" noChangeShapeType="1" noTextEdit="1"/>
              </p:cNvSpPr>
              <p:nvPr/>
            </p:nvSpPr>
            <p:spPr>
              <a:xfrm>
                <a:off x="8853643" y="2448806"/>
                <a:ext cx="3203121" cy="2031325"/>
              </a:xfrm>
              <a:prstGeom prst="rect">
                <a:avLst/>
              </a:prstGeom>
              <a:blipFill>
                <a:blip r:embed="rId8"/>
                <a:stretch>
                  <a:fillRect l="-748" t="-585" r="-6355" b="-2339"/>
                </a:stretch>
              </a:blipFill>
              <a:ln w="57150">
                <a:solidFill>
                  <a:schemeClr val="tx1"/>
                </a:solidFill>
              </a:ln>
            </p:spPr>
            <p:txBody>
              <a:bodyPr/>
              <a:lstStyle/>
              <a:p>
                <a:r>
                  <a:rPr lang="en-CA">
                    <a:noFill/>
                  </a:rPr>
                  <a:t> </a:t>
                </a:r>
              </a:p>
            </p:txBody>
          </p:sp>
        </mc:Fallback>
      </mc:AlternateContent>
    </p:spTree>
    <p:extLst>
      <p:ext uri="{BB962C8B-B14F-4D97-AF65-F5344CB8AC3E}">
        <p14:creationId xmlns:p14="http://schemas.microsoft.com/office/powerpoint/2010/main" val="2383206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F4F23-5142-AFAD-1B7E-D43021C74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3392F-FA90-6506-3E99-34CAFC272359}"/>
              </a:ext>
            </a:extLst>
          </p:cNvPr>
          <p:cNvSpPr>
            <a:spLocks noGrp="1"/>
          </p:cNvSpPr>
          <p:nvPr>
            <p:ph type="title"/>
          </p:nvPr>
        </p:nvSpPr>
        <p:spPr>
          <a:xfrm>
            <a:off x="482600" y="597408"/>
            <a:ext cx="10634472" cy="1117092"/>
          </a:xfrm>
        </p:spPr>
        <p:txBody>
          <a:bodyPr/>
          <a:lstStyle/>
          <a:p>
            <a:r>
              <a:rPr lang="en-CA" sz="4800" dirty="0"/>
              <a:t>Standard Gamble Algebraically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56DDB4B-F9AC-D3B3-9BFB-9193F9DD815A}"/>
                  </a:ext>
                </a:extLst>
              </p:cNvPr>
              <p:cNvSpPr>
                <a:spLocks noGrp="1"/>
              </p:cNvSpPr>
              <p:nvPr>
                <p:ph idx="1"/>
              </p:nvPr>
            </p:nvSpPr>
            <p:spPr>
              <a:xfrm>
                <a:off x="482600" y="1885950"/>
                <a:ext cx="11177397" cy="3936491"/>
              </a:xfrm>
            </p:spPr>
            <p:txBody>
              <a:bodyPr>
                <a:normAutofit/>
              </a:bodyPr>
              <a:lstStyle/>
              <a:p>
                <a:endParaRPr lang="en-CA" dirty="0"/>
              </a:p>
              <a:p>
                <a:pPr marL="342900" indent="-342900">
                  <a:buFont typeface="Wingdings" panose="05000000000000000000" pitchFamily="2" charset="2"/>
                  <a:buChar char="§"/>
                </a:pPr>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𝑝𝑈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𝑝</m:t>
                        </m:r>
                      </m:e>
                    </m:d>
                    <m:r>
                      <a:rPr lang="en-CA" b="0" i="1" smtClean="0">
                        <a:latin typeface="Cambria Math" panose="02040503050406030204" pitchFamily="18" charset="0"/>
                      </a:rPr>
                      <m:t>𝑈</m:t>
                    </m:r>
                    <m:d>
                      <m:dPr>
                        <m:ctrlPr>
                          <a:rPr lang="en-CA" b="0" i="1" smtClean="0">
                            <a:latin typeface="Cambria Math" panose="02040503050406030204" pitchFamily="18" charset="0"/>
                          </a:rPr>
                        </m:ctrlPr>
                      </m:dPr>
                      <m:e>
                        <m:bar>
                          <m:barPr>
                            <m:ctrlPr>
                              <a:rPr lang="en-CA" b="0" i="1" smtClean="0">
                                <a:latin typeface="Cambria Math" panose="02040503050406030204" pitchFamily="18" charset="0"/>
                              </a:rPr>
                            </m:ctrlPr>
                          </m:barPr>
                          <m:e>
                            <m:r>
                              <a:rPr lang="en-CA" b="0" i="1" smtClean="0">
                                <a:latin typeface="Cambria Math" panose="02040503050406030204" pitchFamily="18" charset="0"/>
                              </a:rPr>
                              <m:t>𝐻</m:t>
                            </m:r>
                          </m:e>
                        </m:bar>
                      </m:e>
                    </m:d>
                  </m:oMath>
                </a14:m>
                <a:endParaRPr lang="en-CA" b="0" dirty="0"/>
              </a:p>
              <a:p>
                <a:pPr marL="342900" indent="-342900">
                  <a:buFont typeface="Wingdings" panose="05000000000000000000" pitchFamily="2" charset="2"/>
                  <a:buChar char="§"/>
                </a:pPr>
                <a:r>
                  <a:rPr lang="en-CA" dirty="0"/>
                  <a:t>We know:</a:t>
                </a:r>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=1</m:t>
                    </m:r>
                  </m:oMath>
                </a14:m>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bar>
                          <m:barPr>
                            <m:ctrlPr>
                              <a:rPr lang="en-CA" b="0" i="1" smtClean="0">
                                <a:latin typeface="Cambria Math" panose="02040503050406030204" pitchFamily="18" charset="0"/>
                              </a:rPr>
                            </m:ctrlPr>
                          </m:barPr>
                          <m:e>
                            <m:r>
                              <a:rPr lang="en-CA" b="0" i="1" smtClean="0">
                                <a:latin typeface="Cambria Math" panose="02040503050406030204" pitchFamily="18" charset="0"/>
                              </a:rPr>
                              <m:t>𝐻</m:t>
                            </m:r>
                          </m:e>
                        </m:bar>
                      </m:e>
                    </m:d>
                    <m:r>
                      <a:rPr lang="en-CA" b="0" i="1" smtClean="0">
                        <a:latin typeface="Cambria Math" panose="02040503050406030204" pitchFamily="18" charset="0"/>
                      </a:rPr>
                      <m:t>=0</m:t>
                    </m:r>
                  </m:oMath>
                </a14:m>
                <a:endParaRPr lang="en-CA" b="0" dirty="0"/>
              </a:p>
              <a:p>
                <a:pPr marL="342900" indent="-342900">
                  <a:buFont typeface="Wingdings" panose="05000000000000000000" pitchFamily="2" charset="2"/>
                  <a:buChar char="§"/>
                </a:pPr>
                <a:r>
                  <a:rPr lang="en-CA" dirty="0"/>
                  <a:t>This gives us:</a:t>
                </a:r>
                <a:endParaRPr lang="en-CA" b="0" dirty="0"/>
              </a:p>
              <a:p>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r>
                        <a:rPr lang="en-CA" i="1">
                          <a:latin typeface="Cambria Math" panose="02040503050406030204" pitchFamily="18" charset="0"/>
                        </a:rPr>
                        <m:t>𝑝</m:t>
                      </m:r>
                    </m:oMath>
                  </m:oMathPara>
                </a14:m>
                <a:endParaRPr lang="en-CA" dirty="0"/>
              </a:p>
            </p:txBody>
          </p:sp>
        </mc:Choice>
        <mc:Fallback>
          <p:sp>
            <p:nvSpPr>
              <p:cNvPr id="3" name="Content Placeholder 2">
                <a:extLst>
                  <a:ext uri="{FF2B5EF4-FFF2-40B4-BE49-F238E27FC236}">
                    <a16:creationId xmlns:a16="http://schemas.microsoft.com/office/drawing/2014/main" id="{B56DDB4B-F9AC-D3B3-9BFB-9193F9DD815A}"/>
                  </a:ext>
                </a:extLst>
              </p:cNvPr>
              <p:cNvSpPr>
                <a:spLocks noGrp="1" noRot="1" noChangeAspect="1" noMove="1" noResize="1" noEditPoints="1" noAdjustHandles="1" noChangeArrowheads="1" noChangeShapeType="1" noTextEdit="1"/>
              </p:cNvSpPr>
              <p:nvPr>
                <p:ph idx="1"/>
              </p:nvPr>
            </p:nvSpPr>
            <p:spPr>
              <a:xfrm>
                <a:off x="482600" y="1885950"/>
                <a:ext cx="11177397" cy="3936491"/>
              </a:xfrm>
              <a:blipFill>
                <a:blip r:embed="rId2"/>
                <a:stretch>
                  <a:fillRect l="-709"/>
                </a:stretch>
              </a:blipFill>
            </p:spPr>
            <p:txBody>
              <a:bodyPr/>
              <a:lstStyle/>
              <a:p>
                <a:r>
                  <a:rPr lang="en-CA">
                    <a:noFill/>
                  </a:rPr>
                  <a:t> </a:t>
                </a:r>
              </a:p>
            </p:txBody>
          </p:sp>
        </mc:Fallback>
      </mc:AlternateContent>
    </p:spTree>
    <p:extLst>
      <p:ext uri="{BB962C8B-B14F-4D97-AF65-F5344CB8AC3E}">
        <p14:creationId xmlns:p14="http://schemas.microsoft.com/office/powerpoint/2010/main" val="3974755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17F97-9BDD-DB29-4CCF-69C641D1D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403E7-0CB1-6248-B308-5931FAB96812}"/>
              </a:ext>
            </a:extLst>
          </p:cNvPr>
          <p:cNvSpPr>
            <a:spLocks noGrp="1"/>
          </p:cNvSpPr>
          <p:nvPr>
            <p:ph type="title"/>
          </p:nvPr>
        </p:nvSpPr>
        <p:spPr>
          <a:xfrm>
            <a:off x="482600" y="597408"/>
            <a:ext cx="10634472" cy="1117092"/>
          </a:xfrm>
        </p:spPr>
        <p:txBody>
          <a:bodyPr/>
          <a:lstStyle/>
          <a:p>
            <a:r>
              <a:rPr lang="en-CA" sz="4800" dirty="0"/>
              <a:t>Standard Gamble Algebraically: Back Pain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4B5D806-7AC7-A072-0113-BD02100D9788}"/>
                  </a:ext>
                </a:extLst>
              </p:cNvPr>
              <p:cNvSpPr>
                <a:spLocks noGrp="1"/>
              </p:cNvSpPr>
              <p:nvPr>
                <p:ph idx="1"/>
              </p:nvPr>
            </p:nvSpPr>
            <p:spPr>
              <a:xfrm>
                <a:off x="482600" y="1885950"/>
                <a:ext cx="11177397" cy="3936491"/>
              </a:xfrm>
            </p:spPr>
            <p:txBody>
              <a:bodyPr>
                <a:normAutofit lnSpcReduction="10000"/>
              </a:bodyPr>
              <a:lstStyle/>
              <a:p>
                <a:endParaRPr lang="en-CA" dirty="0"/>
              </a:p>
              <a:p>
                <a:pPr marL="342900" indent="-342900">
                  <a:buFont typeface="Wingdings" panose="05000000000000000000" pitchFamily="2" charset="2"/>
                  <a:buChar char="§"/>
                </a:pPr>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𝑝𝑈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𝑝</m:t>
                        </m:r>
                      </m:e>
                    </m:d>
                    <m:r>
                      <a:rPr lang="en-CA" b="0" i="1" smtClean="0">
                        <a:latin typeface="Cambria Math" panose="02040503050406030204" pitchFamily="18" charset="0"/>
                      </a:rPr>
                      <m:t>𝑈</m:t>
                    </m:r>
                    <m:d>
                      <m:dPr>
                        <m:ctrlPr>
                          <a:rPr lang="en-CA" b="0" i="1" smtClean="0">
                            <a:latin typeface="Cambria Math" panose="02040503050406030204" pitchFamily="18" charset="0"/>
                          </a:rPr>
                        </m:ctrlPr>
                      </m:dPr>
                      <m:e>
                        <m:bar>
                          <m:barPr>
                            <m:ctrlPr>
                              <a:rPr lang="en-CA" b="0" i="1" smtClean="0">
                                <a:latin typeface="Cambria Math" panose="02040503050406030204" pitchFamily="18" charset="0"/>
                              </a:rPr>
                            </m:ctrlPr>
                          </m:barPr>
                          <m:e>
                            <m:r>
                              <a:rPr lang="en-CA" b="0" i="1" smtClean="0">
                                <a:latin typeface="Cambria Math" panose="02040503050406030204" pitchFamily="18" charset="0"/>
                              </a:rPr>
                              <m:t>𝐻</m:t>
                            </m:r>
                          </m:e>
                        </m:bar>
                      </m:e>
                    </m:d>
                  </m:oMath>
                </a14:m>
                <a:endParaRPr lang="en-CA" b="0" dirty="0"/>
              </a:p>
              <a:p>
                <a:pPr marL="342900" indent="-342900">
                  <a:buFont typeface="Wingdings" panose="05000000000000000000" pitchFamily="2" charset="2"/>
                  <a:buChar char="§"/>
                </a:pPr>
                <a:r>
                  <a:rPr lang="en-CA" dirty="0"/>
                  <a:t>We know:</a:t>
                </a:r>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=1</m:t>
                    </m:r>
                  </m:oMath>
                </a14:m>
                <a:br>
                  <a:rPr lang="en-CA" dirty="0"/>
                </a:br>
                <a14:m>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𝐵𝑃</m:t>
                            </m:r>
                          </m:sub>
                        </m:sSub>
                      </m:e>
                    </m:d>
                    <m:r>
                      <a:rPr lang="en-CA" b="0" i="1" smtClean="0">
                        <a:latin typeface="Cambria Math" panose="02040503050406030204" pitchFamily="18" charset="0"/>
                      </a:rPr>
                      <m:t>=0.7</m:t>
                    </m:r>
                  </m:oMath>
                </a14:m>
                <a:endParaRPr lang="en-CA" b="0" dirty="0"/>
              </a:p>
              <a:p>
                <a:pPr marL="342900" indent="-342900">
                  <a:buFont typeface="Wingdings" panose="05000000000000000000" pitchFamily="2" charset="2"/>
                  <a:buChar char="§"/>
                </a:pPr>
                <a:r>
                  <a:rPr lang="en-CA" dirty="0"/>
                  <a:t>This gives us:</a:t>
                </a:r>
                <a:endParaRPr lang="en-CA" b="0" dirty="0"/>
              </a:p>
              <a:p>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𝑖</m:t>
                              </m:r>
                            </m:sub>
                          </m:sSub>
                        </m:e>
                      </m:d>
                      <m:r>
                        <a:rPr lang="en-CA" i="1">
                          <a:latin typeface="Cambria Math" panose="02040503050406030204" pitchFamily="18" charset="0"/>
                        </a:rPr>
                        <m:t>=</m:t>
                      </m:r>
                      <m:r>
                        <a:rPr lang="en-CA" b="0" i="1" smtClean="0">
                          <a:latin typeface="Cambria Math" panose="02040503050406030204" pitchFamily="18" charset="0"/>
                        </a:rPr>
                        <m:t>𝑝</m:t>
                      </m:r>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1−</m:t>
                          </m:r>
                          <m:r>
                            <a:rPr lang="en-CA" b="0" i="1" smtClean="0">
                              <a:latin typeface="Cambria Math" panose="02040503050406030204" pitchFamily="18" charset="0"/>
                            </a:rPr>
                            <m:t>𝑝</m:t>
                          </m:r>
                        </m:e>
                      </m:d>
                      <m:r>
                        <a:rPr lang="en-CA" b="0" i="1" smtClean="0">
                          <a:latin typeface="Cambria Math" panose="02040503050406030204" pitchFamily="18" charset="0"/>
                        </a:rPr>
                        <m:t>0.7</m:t>
                      </m:r>
                    </m:oMath>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𝑝</m:t>
                      </m:r>
                      <m:r>
                        <a:rPr lang="en-CA" b="0" i="1" smtClean="0">
                          <a:latin typeface="Cambria Math" panose="02040503050406030204" pitchFamily="18" charset="0"/>
                        </a:rPr>
                        <m:t>+0.7−</m:t>
                      </m:r>
                      <m:r>
                        <a:rPr lang="en-CA" b="0" i="1" smtClean="0">
                          <a:latin typeface="Cambria Math" panose="02040503050406030204" pitchFamily="18" charset="0"/>
                        </a:rPr>
                        <m:t>𝑝</m:t>
                      </m:r>
                      <m:r>
                        <a:rPr lang="en-CA" b="0" i="1" smtClean="0">
                          <a:latin typeface="Cambria Math" panose="02040503050406030204" pitchFamily="18" charset="0"/>
                        </a:rPr>
                        <m:t>0.7</m:t>
                      </m:r>
                    </m:oMath>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e>
                      </m:d>
                      <m:r>
                        <a:rPr lang="en-CA" b="0" i="1" smtClean="0">
                          <a:latin typeface="Cambria Math" panose="02040503050406030204" pitchFamily="18" charset="0"/>
                        </a:rPr>
                        <m:t>=0.3</m:t>
                      </m:r>
                      <m:r>
                        <a:rPr lang="en-CA" b="0" i="1" smtClean="0">
                          <a:latin typeface="Cambria Math" panose="02040503050406030204" pitchFamily="18" charset="0"/>
                        </a:rPr>
                        <m:t>𝑝</m:t>
                      </m:r>
                      <m:r>
                        <a:rPr lang="en-CA" b="0" i="1" smtClean="0">
                          <a:latin typeface="Cambria Math" panose="02040503050406030204" pitchFamily="18" charset="0"/>
                        </a:rPr>
                        <m:t>+0.7</m:t>
                      </m:r>
                    </m:oMath>
                  </m:oMathPara>
                </a14:m>
                <a:endParaRPr lang="en-CA" dirty="0"/>
              </a:p>
            </p:txBody>
          </p:sp>
        </mc:Choice>
        <mc:Fallback>
          <p:sp>
            <p:nvSpPr>
              <p:cNvPr id="3" name="Content Placeholder 2">
                <a:extLst>
                  <a:ext uri="{FF2B5EF4-FFF2-40B4-BE49-F238E27FC236}">
                    <a16:creationId xmlns:a16="http://schemas.microsoft.com/office/drawing/2014/main" id="{44B5D806-7AC7-A072-0113-BD02100D9788}"/>
                  </a:ext>
                </a:extLst>
              </p:cNvPr>
              <p:cNvSpPr>
                <a:spLocks noGrp="1" noRot="1" noChangeAspect="1" noMove="1" noResize="1" noEditPoints="1" noAdjustHandles="1" noChangeArrowheads="1" noChangeShapeType="1" noTextEdit="1"/>
              </p:cNvSpPr>
              <p:nvPr>
                <p:ph idx="1"/>
              </p:nvPr>
            </p:nvSpPr>
            <p:spPr>
              <a:xfrm>
                <a:off x="482600" y="1885950"/>
                <a:ext cx="11177397" cy="3936491"/>
              </a:xfrm>
              <a:blipFill>
                <a:blip r:embed="rId2"/>
                <a:stretch>
                  <a:fillRect l="-709" b="-1858"/>
                </a:stretch>
              </a:blipFill>
            </p:spPr>
            <p:txBody>
              <a:bodyPr/>
              <a:lstStyle/>
              <a:p>
                <a:r>
                  <a:rPr lang="en-CA">
                    <a:noFill/>
                  </a:rPr>
                  <a:t> </a:t>
                </a:r>
              </a:p>
            </p:txBody>
          </p:sp>
        </mc:Fallback>
      </mc:AlternateContent>
    </p:spTree>
    <p:extLst>
      <p:ext uri="{BB962C8B-B14F-4D97-AF65-F5344CB8AC3E}">
        <p14:creationId xmlns:p14="http://schemas.microsoft.com/office/powerpoint/2010/main" val="665006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BFCF-C877-CC10-10CA-6455B0717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C707F-FD03-91BD-531C-A6D3D6C117B7}"/>
              </a:ext>
            </a:extLst>
          </p:cNvPr>
          <p:cNvSpPr>
            <a:spLocks noGrp="1"/>
          </p:cNvSpPr>
          <p:nvPr>
            <p:ph type="title"/>
          </p:nvPr>
        </p:nvSpPr>
        <p:spPr>
          <a:xfrm>
            <a:off x="482600" y="597408"/>
            <a:ext cx="10634472" cy="1117092"/>
          </a:xfrm>
        </p:spPr>
        <p:txBody>
          <a:bodyPr/>
          <a:lstStyle/>
          <a:p>
            <a:r>
              <a:rPr lang="en-CA" sz="4800" dirty="0"/>
              <a:t>Standard Gamble: without death</a:t>
            </a:r>
          </a:p>
        </p:txBody>
      </p:sp>
      <p:sp>
        <p:nvSpPr>
          <p:cNvPr id="4" name="Rectangle 3">
            <a:extLst>
              <a:ext uri="{FF2B5EF4-FFF2-40B4-BE49-F238E27FC236}">
                <a16:creationId xmlns:a16="http://schemas.microsoft.com/office/drawing/2014/main" id="{B317CA80-8A3D-4865-044E-DDAE3D451054}"/>
              </a:ext>
            </a:extLst>
          </p:cNvPr>
          <p:cNvSpPr/>
          <p:nvPr/>
        </p:nvSpPr>
        <p:spPr>
          <a:xfrm>
            <a:off x="1476756" y="4238245"/>
            <a:ext cx="448056" cy="466344"/>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5" name="Straight Connector 4">
            <a:extLst>
              <a:ext uri="{FF2B5EF4-FFF2-40B4-BE49-F238E27FC236}">
                <a16:creationId xmlns:a16="http://schemas.microsoft.com/office/drawing/2014/main" id="{1611532E-C206-184D-860B-C6AE4E1C0D92}"/>
              </a:ext>
            </a:extLst>
          </p:cNvPr>
          <p:cNvCxnSpPr>
            <a:cxnSpLocks/>
            <a:stCxn id="4" idx="3"/>
            <a:endCxn id="8" idx="2"/>
          </p:cNvCxnSpPr>
          <p:nvPr/>
        </p:nvCxnSpPr>
        <p:spPr>
          <a:xfrm flipV="1">
            <a:off x="1924812" y="3319273"/>
            <a:ext cx="1723644" cy="115214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5E8CDAF-C6D5-22BD-1E45-834E9672A72B}"/>
              </a:ext>
            </a:extLst>
          </p:cNvPr>
          <p:cNvCxnSpPr>
            <a:cxnSpLocks/>
            <a:stCxn id="4" idx="3"/>
          </p:cNvCxnSpPr>
          <p:nvPr/>
        </p:nvCxnSpPr>
        <p:spPr>
          <a:xfrm>
            <a:off x="1924812" y="4471417"/>
            <a:ext cx="1019556" cy="1353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2ABD555-CF5D-A71F-0F34-C9EEA984AA90}"/>
              </a:ext>
            </a:extLst>
          </p:cNvPr>
          <p:cNvCxnSpPr>
            <a:cxnSpLocks/>
          </p:cNvCxnSpPr>
          <p:nvPr/>
        </p:nvCxnSpPr>
        <p:spPr>
          <a:xfrm>
            <a:off x="2944368" y="5824729"/>
            <a:ext cx="4700016" cy="0"/>
          </a:xfrm>
          <a:prstGeom prst="line">
            <a:avLst/>
          </a:prstGeom>
          <a:ln w="57150"/>
        </p:spPr>
        <p:style>
          <a:lnRef idx="1">
            <a:schemeClr val="dk1"/>
          </a:lnRef>
          <a:fillRef idx="0">
            <a:schemeClr val="dk1"/>
          </a:fillRef>
          <a:effectRef idx="0">
            <a:schemeClr val="dk1"/>
          </a:effectRef>
          <a:fontRef idx="minor">
            <a:schemeClr val="tx1"/>
          </a:fontRef>
        </p:style>
      </p:cxnSp>
      <p:sp>
        <p:nvSpPr>
          <p:cNvPr id="8" name="Oval 7">
            <a:extLst>
              <a:ext uri="{FF2B5EF4-FFF2-40B4-BE49-F238E27FC236}">
                <a16:creationId xmlns:a16="http://schemas.microsoft.com/office/drawing/2014/main" id="{377E5763-E2A1-AC62-503F-C091AB5CE60E}"/>
              </a:ext>
            </a:extLst>
          </p:cNvPr>
          <p:cNvSpPr/>
          <p:nvPr/>
        </p:nvSpPr>
        <p:spPr>
          <a:xfrm>
            <a:off x="3648456" y="3032380"/>
            <a:ext cx="557784" cy="573786"/>
          </a:xfrm>
          <a:prstGeom prst="ellipse">
            <a:avLst/>
          </a:prstGeom>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Freeform: Shape 8">
            <a:extLst>
              <a:ext uri="{FF2B5EF4-FFF2-40B4-BE49-F238E27FC236}">
                <a16:creationId xmlns:a16="http://schemas.microsoft.com/office/drawing/2014/main" id="{13783DD6-A884-06D8-48B7-2214E3125568}"/>
              </a:ext>
            </a:extLst>
          </p:cNvPr>
          <p:cNvSpPr/>
          <p:nvPr/>
        </p:nvSpPr>
        <p:spPr>
          <a:xfrm>
            <a:off x="4206240" y="2615184"/>
            <a:ext cx="3099816" cy="713234"/>
          </a:xfrm>
          <a:custGeom>
            <a:avLst/>
            <a:gdLst>
              <a:gd name="connsiteX0" fmla="*/ 0 w 2651760"/>
              <a:gd name="connsiteY0" fmla="*/ 941832 h 941832"/>
              <a:gd name="connsiteX1" fmla="*/ 713232 w 2651760"/>
              <a:gd name="connsiteY1" fmla="*/ 27432 h 941832"/>
              <a:gd name="connsiteX2" fmla="*/ 2651760 w 2651760"/>
              <a:gd name="connsiteY2" fmla="*/ 0 h 941832"/>
            </a:gdLst>
            <a:ahLst/>
            <a:cxnLst>
              <a:cxn ang="0">
                <a:pos x="connsiteX0" y="connsiteY0"/>
              </a:cxn>
              <a:cxn ang="0">
                <a:pos x="connsiteX1" y="connsiteY1"/>
              </a:cxn>
              <a:cxn ang="0">
                <a:pos x="connsiteX2" y="connsiteY2"/>
              </a:cxn>
            </a:cxnLst>
            <a:rect l="l" t="t" r="r" b="b"/>
            <a:pathLst>
              <a:path w="2651760" h="941832">
                <a:moveTo>
                  <a:pt x="0" y="941832"/>
                </a:moveTo>
                <a:lnTo>
                  <a:pt x="713232" y="27432"/>
                </a:lnTo>
                <a:lnTo>
                  <a:pt x="2651760" y="0"/>
                </a:ln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Freeform: Shape 9">
            <a:extLst>
              <a:ext uri="{FF2B5EF4-FFF2-40B4-BE49-F238E27FC236}">
                <a16:creationId xmlns:a16="http://schemas.microsoft.com/office/drawing/2014/main" id="{8D008B9E-2F7E-FA32-4E94-E21FD07249E2}"/>
              </a:ext>
            </a:extLst>
          </p:cNvPr>
          <p:cNvSpPr/>
          <p:nvPr/>
        </p:nvSpPr>
        <p:spPr>
          <a:xfrm flipV="1">
            <a:off x="4184904" y="3310128"/>
            <a:ext cx="3121152" cy="713234"/>
          </a:xfrm>
          <a:custGeom>
            <a:avLst/>
            <a:gdLst>
              <a:gd name="connsiteX0" fmla="*/ 0 w 2651760"/>
              <a:gd name="connsiteY0" fmla="*/ 941832 h 941832"/>
              <a:gd name="connsiteX1" fmla="*/ 713232 w 2651760"/>
              <a:gd name="connsiteY1" fmla="*/ 27432 h 941832"/>
              <a:gd name="connsiteX2" fmla="*/ 2651760 w 2651760"/>
              <a:gd name="connsiteY2" fmla="*/ 0 h 941832"/>
            </a:gdLst>
            <a:ahLst/>
            <a:cxnLst>
              <a:cxn ang="0">
                <a:pos x="connsiteX0" y="connsiteY0"/>
              </a:cxn>
              <a:cxn ang="0">
                <a:pos x="connsiteX1" y="connsiteY1"/>
              </a:cxn>
              <a:cxn ang="0">
                <a:pos x="connsiteX2" y="connsiteY2"/>
              </a:cxn>
            </a:cxnLst>
            <a:rect l="l" t="t" r="r" b="b"/>
            <a:pathLst>
              <a:path w="2651760" h="941832">
                <a:moveTo>
                  <a:pt x="0" y="941832"/>
                </a:moveTo>
                <a:lnTo>
                  <a:pt x="713232" y="27432"/>
                </a:lnTo>
                <a:lnTo>
                  <a:pt x="2651760" y="0"/>
                </a:ln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TextBox 10">
            <a:extLst>
              <a:ext uri="{FF2B5EF4-FFF2-40B4-BE49-F238E27FC236}">
                <a16:creationId xmlns:a16="http://schemas.microsoft.com/office/drawing/2014/main" id="{872FE70E-F55C-9667-FA9B-A932BB1C2977}"/>
              </a:ext>
            </a:extLst>
          </p:cNvPr>
          <p:cNvSpPr txBox="1"/>
          <p:nvPr/>
        </p:nvSpPr>
        <p:spPr>
          <a:xfrm>
            <a:off x="5564124" y="2264140"/>
            <a:ext cx="1526380" cy="369332"/>
          </a:xfrm>
          <a:prstGeom prst="rect">
            <a:avLst/>
          </a:prstGeom>
          <a:noFill/>
        </p:spPr>
        <p:txBody>
          <a:bodyPr wrap="none" rtlCol="0">
            <a:spAutoFit/>
          </a:bodyPr>
          <a:lstStyle/>
          <a:p>
            <a:r>
              <a:rPr lang="en-CA" dirty="0"/>
              <a:t>Perfect Health</a:t>
            </a:r>
          </a:p>
        </p:txBody>
      </p:sp>
      <p:sp>
        <p:nvSpPr>
          <p:cNvPr id="12" name="TextBox 11">
            <a:extLst>
              <a:ext uri="{FF2B5EF4-FFF2-40B4-BE49-F238E27FC236}">
                <a16:creationId xmlns:a16="http://schemas.microsoft.com/office/drawing/2014/main" id="{99E7548C-EDFC-E758-A468-A9B1B26B709B}"/>
              </a:ext>
            </a:extLst>
          </p:cNvPr>
          <p:cNvSpPr txBox="1"/>
          <p:nvPr/>
        </p:nvSpPr>
        <p:spPr>
          <a:xfrm>
            <a:off x="5357657" y="3597021"/>
            <a:ext cx="1939313" cy="369332"/>
          </a:xfrm>
          <a:prstGeom prst="rect">
            <a:avLst/>
          </a:prstGeom>
          <a:noFill/>
        </p:spPr>
        <p:txBody>
          <a:bodyPr wrap="none" rtlCol="0">
            <a:spAutoFit/>
          </a:bodyPr>
          <a:lstStyle/>
          <a:p>
            <a:r>
              <a:rPr lang="en-CA" dirty="0"/>
              <a:t>Life with Back Pain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FC40017-E731-BCB9-A23F-9FAB6647714D}"/>
                  </a:ext>
                </a:extLst>
              </p:cNvPr>
              <p:cNvSpPr txBox="1"/>
              <p:nvPr/>
            </p:nvSpPr>
            <p:spPr>
              <a:xfrm>
                <a:off x="7327392" y="2448806"/>
                <a:ext cx="12082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=1</m:t>
                      </m:r>
                    </m:oMath>
                  </m:oMathPara>
                </a14:m>
                <a:endParaRPr lang="en-CA" dirty="0"/>
              </a:p>
            </p:txBody>
          </p:sp>
        </mc:Choice>
        <mc:Fallback xmlns="">
          <p:sp>
            <p:nvSpPr>
              <p:cNvPr id="13" name="TextBox 12">
                <a:extLst>
                  <a:ext uri="{FF2B5EF4-FFF2-40B4-BE49-F238E27FC236}">
                    <a16:creationId xmlns:a16="http://schemas.microsoft.com/office/drawing/2014/main" id="{5FC40017-E731-BCB9-A23F-9FAB6647714D}"/>
                  </a:ext>
                </a:extLst>
              </p:cNvPr>
              <p:cNvSpPr txBox="1">
                <a:spLocks noRot="1" noChangeAspect="1" noMove="1" noResize="1" noEditPoints="1" noAdjustHandles="1" noChangeArrowheads="1" noChangeShapeType="1" noTextEdit="1"/>
              </p:cNvSpPr>
              <p:nvPr/>
            </p:nvSpPr>
            <p:spPr>
              <a:xfrm>
                <a:off x="7327392" y="2448806"/>
                <a:ext cx="1208216" cy="369332"/>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9204414-6F3F-1E17-DD90-F8C2DB11F10C}"/>
                  </a:ext>
                </a:extLst>
              </p:cNvPr>
              <p:cNvSpPr txBox="1"/>
              <p:nvPr/>
            </p:nvSpPr>
            <p:spPr>
              <a:xfrm>
                <a:off x="7261507" y="3799334"/>
                <a:ext cx="1400319" cy="404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𝑈</m:t>
                      </m:r>
                      <m:d>
                        <m:dPr>
                          <m:ctrlPr>
                            <a:rPr lang="en-CA" b="0" i="1" smtClean="0">
                              <a:latin typeface="Cambria Math" panose="02040503050406030204" pitchFamily="18" charset="0"/>
                            </a:rPr>
                          </m:ctrlPr>
                        </m:d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𝐻</m:t>
                              </m:r>
                            </m:e>
                          </m:acc>
                        </m:e>
                      </m:d>
                      <m:r>
                        <a:rPr lang="en-CA" b="0" i="1" smtClean="0">
                          <a:latin typeface="Cambria Math" panose="02040503050406030204" pitchFamily="18" charset="0"/>
                        </a:rPr>
                        <m:t>=0.7</m:t>
                      </m:r>
                    </m:oMath>
                  </m:oMathPara>
                </a14:m>
                <a:endParaRPr lang="en-CA" dirty="0"/>
              </a:p>
            </p:txBody>
          </p:sp>
        </mc:Choice>
        <mc:Fallback xmlns="">
          <p:sp>
            <p:nvSpPr>
              <p:cNvPr id="14" name="TextBox 13">
                <a:extLst>
                  <a:ext uri="{FF2B5EF4-FFF2-40B4-BE49-F238E27FC236}">
                    <a16:creationId xmlns:a16="http://schemas.microsoft.com/office/drawing/2014/main" id="{89204414-6F3F-1E17-DD90-F8C2DB11F10C}"/>
                  </a:ext>
                </a:extLst>
              </p:cNvPr>
              <p:cNvSpPr txBox="1">
                <a:spLocks noRot="1" noChangeAspect="1" noMove="1" noResize="1" noEditPoints="1" noAdjustHandles="1" noChangeArrowheads="1" noChangeShapeType="1" noTextEdit="1"/>
              </p:cNvSpPr>
              <p:nvPr/>
            </p:nvSpPr>
            <p:spPr>
              <a:xfrm>
                <a:off x="7261507" y="3799334"/>
                <a:ext cx="1400319" cy="404983"/>
              </a:xfrm>
              <a:prstGeom prst="rect">
                <a:avLst/>
              </a:prstGeom>
              <a:blipFill>
                <a:blip r:embed="rId3"/>
                <a:stretch>
                  <a:fillRect t="-4478"/>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D81A205-6939-1B91-419D-C4AD88826E04}"/>
                  </a:ext>
                </a:extLst>
              </p:cNvPr>
              <p:cNvSpPr txBox="1"/>
              <p:nvPr/>
            </p:nvSpPr>
            <p:spPr>
              <a:xfrm>
                <a:off x="4379976" y="2514315"/>
                <a:ext cx="3798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𝑝</m:t>
                      </m:r>
                    </m:oMath>
                  </m:oMathPara>
                </a14:m>
                <a:endParaRPr lang="en-CA" dirty="0"/>
              </a:p>
            </p:txBody>
          </p:sp>
        </mc:Choice>
        <mc:Fallback xmlns="">
          <p:sp>
            <p:nvSpPr>
              <p:cNvPr id="15" name="TextBox 14">
                <a:extLst>
                  <a:ext uri="{FF2B5EF4-FFF2-40B4-BE49-F238E27FC236}">
                    <a16:creationId xmlns:a16="http://schemas.microsoft.com/office/drawing/2014/main" id="{0D81A205-6939-1B91-419D-C4AD88826E04}"/>
                  </a:ext>
                </a:extLst>
              </p:cNvPr>
              <p:cNvSpPr txBox="1">
                <a:spLocks noRot="1" noChangeAspect="1" noMove="1" noResize="1" noEditPoints="1" noAdjustHandles="1" noChangeArrowheads="1" noChangeShapeType="1" noTextEdit="1"/>
              </p:cNvSpPr>
              <p:nvPr/>
            </p:nvSpPr>
            <p:spPr>
              <a:xfrm>
                <a:off x="4379976" y="2514315"/>
                <a:ext cx="379848" cy="369332"/>
              </a:xfrm>
              <a:prstGeom prst="rect">
                <a:avLst/>
              </a:prstGeom>
              <a:blipFill>
                <a:blip r:embed="rId4"/>
                <a:stretch>
                  <a:fillRect b="-983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01156D1-1AAF-2790-7EE2-B2AD59321ABF}"/>
                  </a:ext>
                </a:extLst>
              </p:cNvPr>
              <p:cNvSpPr txBox="1"/>
              <p:nvPr/>
            </p:nvSpPr>
            <p:spPr>
              <a:xfrm>
                <a:off x="4079252" y="3682249"/>
                <a:ext cx="78380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1−</m:t>
                      </m:r>
                      <m:r>
                        <a:rPr lang="en-CA" b="0" i="1" smtClean="0">
                          <a:latin typeface="Cambria Math" panose="02040503050406030204" pitchFamily="18" charset="0"/>
                        </a:rPr>
                        <m:t>𝑝</m:t>
                      </m:r>
                    </m:oMath>
                  </m:oMathPara>
                </a14:m>
                <a:endParaRPr lang="en-CA" dirty="0"/>
              </a:p>
            </p:txBody>
          </p:sp>
        </mc:Choice>
        <mc:Fallback xmlns="">
          <p:sp>
            <p:nvSpPr>
              <p:cNvPr id="16" name="TextBox 15">
                <a:extLst>
                  <a:ext uri="{FF2B5EF4-FFF2-40B4-BE49-F238E27FC236}">
                    <a16:creationId xmlns:a16="http://schemas.microsoft.com/office/drawing/2014/main" id="{F01156D1-1AAF-2790-7EE2-B2AD59321ABF}"/>
                  </a:ext>
                </a:extLst>
              </p:cNvPr>
              <p:cNvSpPr txBox="1">
                <a:spLocks noRot="1" noChangeAspect="1" noMove="1" noResize="1" noEditPoints="1" noAdjustHandles="1" noChangeArrowheads="1" noChangeShapeType="1" noTextEdit="1"/>
              </p:cNvSpPr>
              <p:nvPr/>
            </p:nvSpPr>
            <p:spPr>
              <a:xfrm>
                <a:off x="4079252" y="3682249"/>
                <a:ext cx="783804" cy="369332"/>
              </a:xfrm>
              <a:prstGeom prst="rect">
                <a:avLst/>
              </a:prstGeom>
              <a:blipFill>
                <a:blip r:embed="rId5"/>
                <a:stretch>
                  <a:fillRect b="-983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3CA160F-F8C0-40F0-0157-5B08DA65CD72}"/>
                  </a:ext>
                </a:extLst>
              </p:cNvPr>
              <p:cNvSpPr txBox="1"/>
              <p:nvPr/>
            </p:nvSpPr>
            <p:spPr>
              <a:xfrm>
                <a:off x="7514623" y="5665573"/>
                <a:ext cx="8337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m:oMathPara>
                </a14:m>
                <a:endParaRPr lang="en-CA" dirty="0"/>
              </a:p>
            </p:txBody>
          </p:sp>
        </mc:Choice>
        <mc:Fallback xmlns="">
          <p:sp>
            <p:nvSpPr>
              <p:cNvPr id="17" name="TextBox 16">
                <a:extLst>
                  <a:ext uri="{FF2B5EF4-FFF2-40B4-BE49-F238E27FC236}">
                    <a16:creationId xmlns:a16="http://schemas.microsoft.com/office/drawing/2014/main" id="{53CA160F-F8C0-40F0-0157-5B08DA65CD72}"/>
                  </a:ext>
                </a:extLst>
              </p:cNvPr>
              <p:cNvSpPr txBox="1">
                <a:spLocks noRot="1" noChangeAspect="1" noMove="1" noResize="1" noEditPoints="1" noAdjustHandles="1" noChangeArrowheads="1" noChangeShapeType="1" noTextEdit="1"/>
              </p:cNvSpPr>
              <p:nvPr/>
            </p:nvSpPr>
            <p:spPr>
              <a:xfrm>
                <a:off x="7514623" y="5665573"/>
                <a:ext cx="833754" cy="369332"/>
              </a:xfrm>
              <a:prstGeom prst="rect">
                <a:avLst/>
              </a:prstGeom>
              <a:blipFill>
                <a:blip r:embed="rId6"/>
                <a:stretch>
                  <a:fillRect b="-1639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D7833CF-1D97-6951-7B97-47CCA7D8CAF3}"/>
                  </a:ext>
                </a:extLst>
              </p:cNvPr>
              <p:cNvSpPr txBox="1"/>
              <p:nvPr/>
            </p:nvSpPr>
            <p:spPr>
              <a:xfrm>
                <a:off x="4633813" y="5362315"/>
                <a:ext cx="1482393" cy="369332"/>
              </a:xfrm>
              <a:prstGeom prst="rect">
                <a:avLst/>
              </a:prstGeom>
              <a:noFill/>
            </p:spPr>
            <p:txBody>
              <a:bodyPr wrap="none" rtlCol="0">
                <a:spAutoFit/>
              </a:bodyPr>
              <a:lstStyle/>
              <a:p>
                <a:r>
                  <a:rPr lang="en-CA" dirty="0"/>
                  <a:t>Health State </a:t>
                </a:r>
                <a14:m>
                  <m:oMath xmlns:m="http://schemas.openxmlformats.org/officeDocument/2006/math">
                    <m:r>
                      <a:rPr lang="en-CA" b="0" i="1" smtClean="0">
                        <a:latin typeface="Cambria Math" panose="02040503050406030204" pitchFamily="18" charset="0"/>
                      </a:rPr>
                      <m:t>𝑖</m:t>
                    </m:r>
                  </m:oMath>
                </a14:m>
                <a:endParaRPr lang="en-CA" dirty="0"/>
              </a:p>
            </p:txBody>
          </p:sp>
        </mc:Choice>
        <mc:Fallback xmlns="">
          <p:sp>
            <p:nvSpPr>
              <p:cNvPr id="18" name="TextBox 17">
                <a:extLst>
                  <a:ext uri="{FF2B5EF4-FFF2-40B4-BE49-F238E27FC236}">
                    <a16:creationId xmlns:a16="http://schemas.microsoft.com/office/drawing/2014/main" id="{1D7833CF-1D97-6951-7B97-47CCA7D8CAF3}"/>
                  </a:ext>
                </a:extLst>
              </p:cNvPr>
              <p:cNvSpPr txBox="1">
                <a:spLocks noRot="1" noChangeAspect="1" noMove="1" noResize="1" noEditPoints="1" noAdjustHandles="1" noChangeArrowheads="1" noChangeShapeType="1" noTextEdit="1"/>
              </p:cNvSpPr>
              <p:nvPr/>
            </p:nvSpPr>
            <p:spPr>
              <a:xfrm>
                <a:off x="4633813" y="5362315"/>
                <a:ext cx="1482393" cy="369332"/>
              </a:xfrm>
              <a:prstGeom prst="rect">
                <a:avLst/>
              </a:prstGeom>
              <a:blipFill>
                <a:blip r:embed="rId7"/>
                <a:stretch>
                  <a:fillRect l="-3292" t="-10000" r="-5761" b="-2666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A6C8955-7DA6-DA19-8E94-07A0F707712D}"/>
                  </a:ext>
                </a:extLst>
              </p:cNvPr>
              <p:cNvSpPr txBox="1"/>
              <p:nvPr/>
            </p:nvSpPr>
            <p:spPr>
              <a:xfrm>
                <a:off x="8994354" y="2514315"/>
                <a:ext cx="2691002" cy="1200329"/>
              </a:xfrm>
              <a:prstGeom prst="rect">
                <a:avLst/>
              </a:prstGeom>
              <a:noFill/>
              <a:ln w="57150">
                <a:solidFill>
                  <a:schemeClr val="tx1"/>
                </a:solidFill>
              </a:ln>
            </p:spPr>
            <p:txBody>
              <a:bodyPr wrap="square" rtlCol="0">
                <a:spAutoFit/>
              </a:bodyPr>
              <a:lstStyle/>
              <a:p>
                <a:r>
                  <a:rPr lang="en-CA" dirty="0"/>
                  <a:t>In this case whatever utilities we will measure for  </a:t>
                </a:r>
                <a14:m>
                  <m:oMath xmlns:m="http://schemas.openxmlformats.org/officeDocument/2006/math">
                    <m:r>
                      <a:rPr lang="en-CA" b="0" i="1" smtClean="0">
                        <a:latin typeface="Cambria Math" panose="02040503050406030204" pitchFamily="18" charset="0"/>
                      </a:rPr>
                      <m:t>𝑈</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𝑖</m:t>
                        </m:r>
                      </m:sub>
                    </m:sSub>
                    <m:r>
                      <a:rPr lang="en-CA" b="0" i="1" smtClean="0">
                        <a:latin typeface="Cambria Math" panose="02040503050406030204" pitchFamily="18" charset="0"/>
                      </a:rPr>
                      <m:t>)</m:t>
                    </m:r>
                  </m:oMath>
                </a14:m>
                <a:r>
                  <a:rPr lang="en-CA" dirty="0"/>
                  <a:t> will be on the interval of </a:t>
                </a:r>
                <a14:m>
                  <m:oMath xmlns:m="http://schemas.openxmlformats.org/officeDocument/2006/math">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0.7,1</m:t>
                        </m:r>
                      </m:e>
                    </m:d>
                    <m:r>
                      <a:rPr lang="en-CA" b="0" i="0" smtClean="0">
                        <a:latin typeface="Cambria Math" panose="02040503050406030204" pitchFamily="18" charset="0"/>
                      </a:rPr>
                      <m:t>.</m:t>
                    </m:r>
                  </m:oMath>
                </a14:m>
                <a:r>
                  <a:rPr lang="en-CA" dirty="0"/>
                  <a:t> </a:t>
                </a:r>
              </a:p>
            </p:txBody>
          </p:sp>
        </mc:Choice>
        <mc:Fallback xmlns="">
          <p:sp>
            <p:nvSpPr>
              <p:cNvPr id="19" name="TextBox 18">
                <a:extLst>
                  <a:ext uri="{FF2B5EF4-FFF2-40B4-BE49-F238E27FC236}">
                    <a16:creationId xmlns:a16="http://schemas.microsoft.com/office/drawing/2014/main" id="{7A6C8955-7DA6-DA19-8E94-07A0F707712D}"/>
                  </a:ext>
                </a:extLst>
              </p:cNvPr>
              <p:cNvSpPr txBox="1">
                <a:spLocks noRot="1" noChangeAspect="1" noMove="1" noResize="1" noEditPoints="1" noAdjustHandles="1" noChangeArrowheads="1" noChangeShapeType="1" noTextEdit="1"/>
              </p:cNvSpPr>
              <p:nvPr/>
            </p:nvSpPr>
            <p:spPr>
              <a:xfrm>
                <a:off x="8994354" y="2514315"/>
                <a:ext cx="2691002" cy="1200329"/>
              </a:xfrm>
              <a:prstGeom prst="rect">
                <a:avLst/>
              </a:prstGeom>
              <a:blipFill>
                <a:blip r:embed="rId8"/>
                <a:stretch>
                  <a:fillRect l="-887" t="-485" b="-4369"/>
                </a:stretch>
              </a:blipFill>
              <a:ln w="57150">
                <a:solidFill>
                  <a:schemeClr val="tx1"/>
                </a:solidFill>
              </a:ln>
            </p:spPr>
            <p:txBody>
              <a:bodyPr/>
              <a:lstStyle/>
              <a:p>
                <a:r>
                  <a:rPr lang="en-CA">
                    <a:noFill/>
                  </a:rPr>
                  <a:t> </a:t>
                </a:r>
              </a:p>
            </p:txBody>
          </p:sp>
        </mc:Fallback>
      </mc:AlternateContent>
    </p:spTree>
    <p:extLst>
      <p:ext uri="{BB962C8B-B14F-4D97-AF65-F5344CB8AC3E}">
        <p14:creationId xmlns:p14="http://schemas.microsoft.com/office/powerpoint/2010/main" val="3769862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7FD62-DDF8-8907-5F4E-BFBCE00B2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1B697-E7F1-FD04-CC4A-FDB12E692280}"/>
              </a:ext>
            </a:extLst>
          </p:cNvPr>
          <p:cNvSpPr>
            <a:spLocks noGrp="1"/>
          </p:cNvSpPr>
          <p:nvPr>
            <p:ph type="title"/>
          </p:nvPr>
        </p:nvSpPr>
        <p:spPr>
          <a:xfrm>
            <a:off x="482600" y="597408"/>
            <a:ext cx="10634472" cy="1117092"/>
          </a:xfrm>
        </p:spPr>
        <p:txBody>
          <a:bodyPr/>
          <a:lstStyle/>
          <a:p>
            <a:r>
              <a:rPr lang="en-CA" sz="4800" dirty="0"/>
              <a:t>Time Trade Off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EE7D96-24F1-DDA4-2ED2-0CC9BB700961}"/>
                  </a:ext>
                </a:extLst>
              </p:cNvPr>
              <p:cNvSpPr>
                <a:spLocks noGrp="1"/>
              </p:cNvSpPr>
              <p:nvPr>
                <p:ph idx="1"/>
              </p:nvPr>
            </p:nvSpPr>
            <p:spPr>
              <a:xfrm>
                <a:off x="482600" y="1885950"/>
                <a:ext cx="11177397" cy="3936491"/>
              </a:xfrm>
            </p:spPr>
            <p:txBody>
              <a:bodyPr>
                <a:normAutofit fontScale="92500"/>
              </a:bodyPr>
              <a:lstStyle/>
              <a:p>
                <a:r>
                  <a:rPr lang="en-CA" dirty="0"/>
                  <a:t>The way the time trade off way of valuing health involves the determination of how many years of life in perfect health is equivalent to N many years in the health state of interest.</a:t>
                </a:r>
              </a:p>
              <a:p>
                <a:endParaRPr lang="en-CA" dirty="0"/>
              </a:p>
              <a:p>
                <a:r>
                  <a:rPr lang="en-CA" dirty="0"/>
                  <a:t>Example: “How many years of perfect health is equivalent to 20 years with a liver condition”</a:t>
                </a:r>
              </a:p>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𝐿𝐶</m:t>
                              </m:r>
                            </m:sub>
                          </m:sSub>
                        </m:e>
                      </m:d>
                      <m:r>
                        <a:rPr lang="en-CA" i="1">
                          <a:latin typeface="Cambria Math" panose="02040503050406030204" pitchFamily="18" charset="0"/>
                        </a:rPr>
                        <m:t>×20=</m:t>
                      </m:r>
                      <m:r>
                        <a:rPr lang="en-CA" i="1">
                          <a:latin typeface="Cambria Math" panose="02040503050406030204" pitchFamily="18" charset="0"/>
                        </a:rPr>
                        <m:t>𝑈</m:t>
                      </m:r>
                      <m:d>
                        <m:dPr>
                          <m:ctrlPr>
                            <a:rPr lang="en-CA" i="1">
                              <a:latin typeface="Cambria Math" panose="02040503050406030204" pitchFamily="18" charset="0"/>
                            </a:rPr>
                          </m:ctrlPr>
                        </m:dPr>
                        <m:e>
                          <m:acc>
                            <m:accPr>
                              <m:chr m:val="̅"/>
                              <m:ctrlPr>
                                <a:rPr lang="en-CA" i="1">
                                  <a:latin typeface="Cambria Math" panose="02040503050406030204" pitchFamily="18" charset="0"/>
                                </a:rPr>
                              </m:ctrlPr>
                            </m:accPr>
                            <m:e>
                              <m:r>
                                <a:rPr lang="en-CA" i="1">
                                  <a:latin typeface="Cambria Math" panose="02040503050406030204" pitchFamily="18" charset="0"/>
                                </a:rPr>
                                <m:t>𝐻</m:t>
                              </m:r>
                            </m:e>
                          </m:acc>
                        </m:e>
                      </m:d>
                      <m:r>
                        <a:rPr lang="en-CA" i="1">
                          <a:latin typeface="Cambria Math" panose="02040503050406030204" pitchFamily="18" charset="0"/>
                        </a:rPr>
                        <m:t>×</m:t>
                      </m:r>
                      <m:r>
                        <a:rPr lang="en-CA" i="1">
                          <a:latin typeface="Cambria Math" panose="02040503050406030204" pitchFamily="18" charset="0"/>
                        </a:rPr>
                        <m:t>𝑌</m:t>
                      </m:r>
                    </m:oMath>
                  </m:oMathPara>
                </a14:m>
                <a:endParaRPr lang="en-CA" dirty="0"/>
              </a:p>
              <a:p>
                <a:r>
                  <a:rPr lang="en-CA" dirty="0"/>
                  <a:t>Noting that </a:t>
                </a:r>
                <a14:m>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acc>
                          <m:accPr>
                            <m:chr m:val="̅"/>
                            <m:ctrlPr>
                              <a:rPr lang="en-CA" i="1">
                                <a:latin typeface="Cambria Math" panose="02040503050406030204" pitchFamily="18" charset="0"/>
                              </a:rPr>
                            </m:ctrlPr>
                          </m:accPr>
                          <m:e>
                            <m:r>
                              <a:rPr lang="en-CA" i="1">
                                <a:latin typeface="Cambria Math" panose="02040503050406030204" pitchFamily="18" charset="0"/>
                              </a:rPr>
                              <m:t>𝐻</m:t>
                            </m:r>
                          </m:e>
                        </m:acc>
                      </m:e>
                    </m:d>
                    <m:r>
                      <a:rPr lang="en-CA" i="1">
                        <a:latin typeface="Cambria Math" panose="02040503050406030204" pitchFamily="18" charset="0"/>
                      </a:rPr>
                      <m:t>=1</m:t>
                    </m:r>
                  </m:oMath>
                </a14:m>
                <a:r>
                  <a:rPr lang="en-CA" dirty="0"/>
                  <a:t> we write:</a:t>
                </a:r>
              </a:p>
              <a:p>
                <a:pPr/>
                <a:br>
                  <a:rPr lang="en-CA" dirty="0"/>
                </a:b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𝑈</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𝐿𝐶</m:t>
                              </m:r>
                            </m:sub>
                          </m:sSub>
                        </m:e>
                      </m:d>
                      <m:r>
                        <a:rPr lang="en-CA" i="1">
                          <a:latin typeface="Cambria Math" panose="02040503050406030204" pitchFamily="18" charset="0"/>
                        </a:rPr>
                        <m:t>=</m:t>
                      </m:r>
                      <m:f>
                        <m:fPr>
                          <m:ctrlPr>
                            <a:rPr lang="en-CA" i="1">
                              <a:latin typeface="Cambria Math" panose="02040503050406030204" pitchFamily="18" charset="0"/>
                            </a:rPr>
                          </m:ctrlPr>
                        </m:fPr>
                        <m:num>
                          <m:r>
                            <a:rPr lang="en-CA" i="1">
                              <a:latin typeface="Cambria Math" panose="02040503050406030204" pitchFamily="18" charset="0"/>
                            </a:rPr>
                            <m:t>𝑌</m:t>
                          </m:r>
                        </m:num>
                        <m:den>
                          <m:r>
                            <a:rPr lang="en-CA" i="1">
                              <a:latin typeface="Cambria Math" panose="02040503050406030204" pitchFamily="18" charset="0"/>
                            </a:rPr>
                            <m:t>20</m:t>
                          </m:r>
                        </m:den>
                      </m:f>
                    </m:oMath>
                  </m:oMathPara>
                </a14:m>
                <a:endParaRPr lang="en-CA" dirty="0"/>
              </a:p>
              <a:p>
                <a:pPr marL="342900" indent="-342900">
                  <a:buFont typeface="Wingdings" panose="05000000000000000000" pitchFamily="2" charset="2"/>
                  <a:buChar char="§"/>
                </a:pPr>
                <a:endParaRPr lang="en-CA" dirty="0"/>
              </a:p>
            </p:txBody>
          </p:sp>
        </mc:Choice>
        <mc:Fallback xmlns="">
          <p:sp>
            <p:nvSpPr>
              <p:cNvPr id="3" name="Content Placeholder 2">
                <a:extLst>
                  <a:ext uri="{FF2B5EF4-FFF2-40B4-BE49-F238E27FC236}">
                    <a16:creationId xmlns:a16="http://schemas.microsoft.com/office/drawing/2014/main" id="{48EE7D96-24F1-DDA4-2ED2-0CC9BB700961}"/>
                  </a:ext>
                </a:extLst>
              </p:cNvPr>
              <p:cNvSpPr>
                <a:spLocks noGrp="1" noRot="1" noChangeAspect="1" noMove="1" noResize="1" noEditPoints="1" noAdjustHandles="1" noChangeArrowheads="1" noChangeShapeType="1" noTextEdit="1"/>
              </p:cNvSpPr>
              <p:nvPr>
                <p:ph idx="1"/>
              </p:nvPr>
            </p:nvSpPr>
            <p:spPr>
              <a:xfrm>
                <a:off x="482600" y="1885950"/>
                <a:ext cx="11177397" cy="3936491"/>
              </a:xfrm>
              <a:blipFill>
                <a:blip r:embed="rId2"/>
                <a:stretch>
                  <a:fillRect l="-709" t="-929"/>
                </a:stretch>
              </a:blipFill>
            </p:spPr>
            <p:txBody>
              <a:bodyPr/>
              <a:lstStyle/>
              <a:p>
                <a:r>
                  <a:rPr lang="en-CA">
                    <a:noFill/>
                  </a:rPr>
                  <a:t> </a:t>
                </a:r>
              </a:p>
            </p:txBody>
          </p:sp>
        </mc:Fallback>
      </mc:AlternateContent>
    </p:spTree>
    <p:extLst>
      <p:ext uri="{BB962C8B-B14F-4D97-AF65-F5344CB8AC3E}">
        <p14:creationId xmlns:p14="http://schemas.microsoft.com/office/powerpoint/2010/main" val="3186661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62AB4-952C-5D8D-2705-C2D31AAAE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F06AF-82E7-788F-C277-DB540CD90B92}"/>
              </a:ext>
            </a:extLst>
          </p:cNvPr>
          <p:cNvSpPr>
            <a:spLocks noGrp="1"/>
          </p:cNvSpPr>
          <p:nvPr>
            <p:ph type="title"/>
          </p:nvPr>
        </p:nvSpPr>
        <p:spPr/>
        <p:txBody>
          <a:bodyPr/>
          <a:lstStyle/>
          <a:p>
            <a:r>
              <a:rPr lang="en-CA" dirty="0"/>
              <a:t>Data Sources for Economic Evaluation</a:t>
            </a:r>
          </a:p>
        </p:txBody>
      </p:sp>
      <p:sp>
        <p:nvSpPr>
          <p:cNvPr id="3" name="Text Placeholder 2">
            <a:extLst>
              <a:ext uri="{FF2B5EF4-FFF2-40B4-BE49-F238E27FC236}">
                <a16:creationId xmlns:a16="http://schemas.microsoft.com/office/drawing/2014/main" id="{1A7FD9E3-3AC6-0052-9A05-614CFF76F700}"/>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895292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F9E0D-7E26-417E-BCC8-03F4E5527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A8F86-228F-13DB-5650-B93FEAFA69E5}"/>
              </a:ext>
            </a:extLst>
          </p:cNvPr>
          <p:cNvSpPr>
            <a:spLocks noGrp="1"/>
          </p:cNvSpPr>
          <p:nvPr>
            <p:ph type="title"/>
          </p:nvPr>
        </p:nvSpPr>
        <p:spPr>
          <a:xfrm>
            <a:off x="482600" y="597408"/>
            <a:ext cx="10634472" cy="1117092"/>
          </a:xfrm>
        </p:spPr>
        <p:txBody>
          <a:bodyPr/>
          <a:lstStyle/>
          <a:p>
            <a:r>
              <a:rPr lang="en-CA" sz="4800" dirty="0"/>
              <a:t>Database for Utilities</a:t>
            </a:r>
          </a:p>
        </p:txBody>
      </p:sp>
      <p:sp>
        <p:nvSpPr>
          <p:cNvPr id="3" name="Content Placeholder 2">
            <a:extLst>
              <a:ext uri="{FF2B5EF4-FFF2-40B4-BE49-F238E27FC236}">
                <a16:creationId xmlns:a16="http://schemas.microsoft.com/office/drawing/2014/main" id="{6122867F-B364-DC54-018A-1AF0D5B7E3CD}"/>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CA" dirty="0"/>
              <a:t>In practice analysts do not do primary data collection on patient health status when conducting an a cost effectiveness analysis.</a:t>
            </a:r>
          </a:p>
          <a:p>
            <a:pPr marL="342900" indent="-342900">
              <a:buFont typeface="Wingdings" panose="05000000000000000000" pitchFamily="2" charset="2"/>
              <a:buChar char="§"/>
            </a:pPr>
            <a:r>
              <a:rPr lang="en-CA" dirty="0"/>
              <a:t>Rather they use knowledge of the clinical pathway and employ the use of supporting literature.</a:t>
            </a:r>
          </a:p>
          <a:p>
            <a:pPr marL="342900" indent="-342900">
              <a:buFont typeface="Wingdings" panose="05000000000000000000" pitchFamily="2" charset="2"/>
              <a:buChar char="§"/>
            </a:pPr>
            <a:r>
              <a:rPr lang="en-CA" dirty="0"/>
              <a:t>One powerful source for utilities is the </a:t>
            </a:r>
            <a:r>
              <a:rPr lang="en-CA" b="1" dirty="0">
                <a:hlinkClick r:id="rId2"/>
              </a:rPr>
              <a:t>CEA REGISTRY</a:t>
            </a:r>
            <a:r>
              <a:rPr lang="en-CA" b="1" dirty="0"/>
              <a:t> </a:t>
            </a:r>
            <a:r>
              <a:rPr lang="en-CA" dirty="0"/>
              <a:t>by Tufts Center for Evaluation of Risk in Health.</a:t>
            </a:r>
          </a:p>
        </p:txBody>
      </p:sp>
    </p:spTree>
    <p:extLst>
      <p:ext uri="{BB962C8B-B14F-4D97-AF65-F5344CB8AC3E}">
        <p14:creationId xmlns:p14="http://schemas.microsoft.com/office/powerpoint/2010/main" val="7902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ABAC2-DE1A-19FE-4AA6-CAF526FFA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4C819-64FA-A5AD-B4E7-B0E1ED2C1AD8}"/>
              </a:ext>
            </a:extLst>
          </p:cNvPr>
          <p:cNvSpPr>
            <a:spLocks noGrp="1"/>
          </p:cNvSpPr>
          <p:nvPr>
            <p:ph type="title"/>
          </p:nvPr>
        </p:nvSpPr>
        <p:spPr>
          <a:xfrm>
            <a:off x="482600" y="597408"/>
            <a:ext cx="10634472" cy="1117092"/>
          </a:xfrm>
        </p:spPr>
        <p:txBody>
          <a:bodyPr/>
          <a:lstStyle/>
          <a:p>
            <a:r>
              <a:rPr lang="en-CA" sz="4800" dirty="0"/>
              <a:t>Database for Costs</a:t>
            </a:r>
          </a:p>
        </p:txBody>
      </p:sp>
      <p:sp>
        <p:nvSpPr>
          <p:cNvPr id="3" name="Content Placeholder 2">
            <a:extLst>
              <a:ext uri="{FF2B5EF4-FFF2-40B4-BE49-F238E27FC236}">
                <a16:creationId xmlns:a16="http://schemas.microsoft.com/office/drawing/2014/main" id="{4D8E2650-04A9-F10D-3A00-88DAE6D552F9}"/>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CA" dirty="0"/>
              <a:t>Obtaining inputs on costs for a cost effectiveness model is more difficult in a global sense. </a:t>
            </a:r>
          </a:p>
          <a:p>
            <a:pPr marL="342900" indent="-342900">
              <a:buFont typeface="Wingdings" panose="05000000000000000000" pitchFamily="2" charset="2"/>
              <a:buChar char="§"/>
            </a:pPr>
            <a:r>
              <a:rPr lang="en-CA" dirty="0"/>
              <a:t>A useful resource is the </a:t>
            </a:r>
            <a:r>
              <a:rPr lang="en-CA" b="1" dirty="0">
                <a:hlinkClick r:id="rId2"/>
              </a:rPr>
              <a:t>CIHI patient cost estimator</a:t>
            </a:r>
            <a:r>
              <a:rPr lang="en-CA" b="1" dirty="0"/>
              <a:t>.</a:t>
            </a:r>
            <a:endParaRPr lang="en-CA" dirty="0"/>
          </a:p>
          <a:p>
            <a:pPr marL="342900" indent="-342900">
              <a:buFont typeface="Wingdings" panose="05000000000000000000" pitchFamily="2" charset="2"/>
              <a:buChar char="§"/>
            </a:pPr>
            <a:r>
              <a:rPr lang="en-CA" dirty="0"/>
              <a:t>This resource details patient costs for the treatment of 816 distinct hospital-based services based on patient age.</a:t>
            </a:r>
          </a:p>
        </p:txBody>
      </p:sp>
    </p:spTree>
    <p:extLst>
      <p:ext uri="{BB962C8B-B14F-4D97-AF65-F5344CB8AC3E}">
        <p14:creationId xmlns:p14="http://schemas.microsoft.com/office/powerpoint/2010/main" val="2225429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3AB9-9FB9-8445-5223-913CE9666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E227F-65E0-AEF5-62B6-8DD56D0F146F}"/>
              </a:ext>
            </a:extLst>
          </p:cNvPr>
          <p:cNvSpPr>
            <a:spLocks noGrp="1"/>
          </p:cNvSpPr>
          <p:nvPr>
            <p:ph type="title"/>
          </p:nvPr>
        </p:nvSpPr>
        <p:spPr>
          <a:xfrm>
            <a:off x="482600" y="597408"/>
            <a:ext cx="10634472" cy="1117092"/>
          </a:xfrm>
        </p:spPr>
        <p:txBody>
          <a:bodyPr/>
          <a:lstStyle/>
          <a:p>
            <a:r>
              <a:rPr lang="en-CA" sz="4800" dirty="0"/>
              <a:t>Database for Treatments</a:t>
            </a:r>
          </a:p>
        </p:txBody>
      </p:sp>
      <p:sp>
        <p:nvSpPr>
          <p:cNvPr id="3" name="Content Placeholder 2">
            <a:extLst>
              <a:ext uri="{FF2B5EF4-FFF2-40B4-BE49-F238E27FC236}">
                <a16:creationId xmlns:a16="http://schemas.microsoft.com/office/drawing/2014/main" id="{9129EAC9-DEEC-065B-393F-46D8889C9554}"/>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CA" dirty="0"/>
              <a:t>When getting started with economic evaluation, it can be difficult to discover drugs to assess.</a:t>
            </a:r>
          </a:p>
          <a:p>
            <a:pPr marL="342900" indent="-342900">
              <a:buFont typeface="Wingdings" panose="05000000000000000000" pitchFamily="2" charset="2"/>
              <a:buChar char="§"/>
            </a:pPr>
            <a:r>
              <a:rPr lang="en-CA" dirty="0"/>
              <a:t>A good first cut for searching the </a:t>
            </a:r>
            <a:r>
              <a:rPr lang="en-CA" b="1" dirty="0">
                <a:hlinkClick r:id="rId2"/>
              </a:rPr>
              <a:t>Canadian</a:t>
            </a:r>
            <a:r>
              <a:rPr lang="en-CA" dirty="0">
                <a:hlinkClick r:id="rId2"/>
              </a:rPr>
              <a:t> </a:t>
            </a:r>
            <a:r>
              <a:rPr lang="en-CA" b="1" dirty="0">
                <a:hlinkClick r:id="rId2"/>
              </a:rPr>
              <a:t>Drug Product Database</a:t>
            </a:r>
            <a:r>
              <a:rPr lang="en-CA" b="1" dirty="0"/>
              <a:t>.</a:t>
            </a:r>
          </a:p>
          <a:p>
            <a:pPr marL="342900" indent="-342900">
              <a:buFont typeface="Wingdings" panose="05000000000000000000" pitchFamily="2" charset="2"/>
              <a:buChar char="§"/>
            </a:pPr>
            <a:r>
              <a:rPr lang="en-CA" dirty="0"/>
              <a:t>This database provides a list of drugs which have applied for approval, rejected and drugs active on the market.</a:t>
            </a:r>
          </a:p>
          <a:p>
            <a:pPr marL="342900" indent="-342900">
              <a:buFont typeface="Wingdings" panose="05000000000000000000" pitchFamily="2" charset="2"/>
              <a:buChar char="§"/>
            </a:pPr>
            <a:r>
              <a:rPr lang="en-CA" dirty="0"/>
              <a:t> While the documentation appears complex, note that we are just trying to figure out where a drug is used in a clinical pathway.</a:t>
            </a:r>
          </a:p>
          <a:p>
            <a:pPr marL="342900" indent="-342900">
              <a:buFont typeface="Wingdings" panose="05000000000000000000" pitchFamily="2" charset="2"/>
              <a:buChar char="§"/>
            </a:pPr>
            <a:r>
              <a:rPr lang="en-CA" dirty="0"/>
              <a:t>This is where we get started! Once we have a topic a more thorough search of the literature is necessary.</a:t>
            </a:r>
          </a:p>
        </p:txBody>
      </p:sp>
    </p:spTree>
    <p:extLst>
      <p:ext uri="{BB962C8B-B14F-4D97-AF65-F5344CB8AC3E}">
        <p14:creationId xmlns:p14="http://schemas.microsoft.com/office/powerpoint/2010/main" val="2157492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8CABE-1604-2B93-5B01-E064BFDD4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939D9-D6A5-031F-21FD-242CF4ACA72A}"/>
              </a:ext>
            </a:extLst>
          </p:cNvPr>
          <p:cNvSpPr>
            <a:spLocks noGrp="1"/>
          </p:cNvSpPr>
          <p:nvPr>
            <p:ph type="title"/>
          </p:nvPr>
        </p:nvSpPr>
        <p:spPr>
          <a:xfrm>
            <a:off x="482600" y="597408"/>
            <a:ext cx="10634472" cy="1117092"/>
          </a:xfrm>
        </p:spPr>
        <p:txBody>
          <a:bodyPr/>
          <a:lstStyle/>
          <a:p>
            <a:r>
              <a:rPr lang="en-CA" sz="4800" dirty="0"/>
              <a:t>Summary</a:t>
            </a:r>
          </a:p>
        </p:txBody>
      </p:sp>
      <p:sp>
        <p:nvSpPr>
          <p:cNvPr id="3" name="Content Placeholder 2">
            <a:extLst>
              <a:ext uri="{FF2B5EF4-FFF2-40B4-BE49-F238E27FC236}">
                <a16:creationId xmlns:a16="http://schemas.microsoft.com/office/drawing/2014/main" id="{3EA6F984-1C60-5C8F-320D-1491A7015BDD}"/>
              </a:ext>
            </a:extLst>
          </p:cNvPr>
          <p:cNvSpPr>
            <a:spLocks noGrp="1"/>
          </p:cNvSpPr>
          <p:nvPr>
            <p:ph idx="1"/>
          </p:nvPr>
        </p:nvSpPr>
        <p:spPr>
          <a:xfrm>
            <a:off x="482600" y="1943100"/>
            <a:ext cx="10506991" cy="3936491"/>
          </a:xfrm>
        </p:spPr>
        <p:txBody>
          <a:bodyPr>
            <a:normAutofit lnSpcReduction="10000"/>
          </a:bodyPr>
          <a:lstStyle/>
          <a:p>
            <a:pPr marL="342900" indent="-342900">
              <a:buFont typeface="Wingdings" panose="05000000000000000000" pitchFamily="2" charset="2"/>
              <a:buChar char="§"/>
            </a:pPr>
            <a:r>
              <a:rPr lang="en-CA" dirty="0"/>
              <a:t>With these data sources, the tools needed to develop and conduct economic evaluations of new treatments are in reach!</a:t>
            </a:r>
          </a:p>
          <a:p>
            <a:pPr marL="342900" indent="-342900">
              <a:buFont typeface="Wingdings" panose="05000000000000000000" pitchFamily="2" charset="2"/>
              <a:buChar char="§"/>
            </a:pPr>
            <a:r>
              <a:rPr lang="en-CA" dirty="0"/>
              <a:t>All we need to know is:</a:t>
            </a:r>
          </a:p>
          <a:p>
            <a:pPr marL="457200" indent="-457200">
              <a:buAutoNum type="arabicParenR"/>
            </a:pPr>
            <a:r>
              <a:rPr lang="en-CA" dirty="0"/>
              <a:t>The model structure (Decision tree/Markov model and Transition values).</a:t>
            </a:r>
          </a:p>
          <a:p>
            <a:pPr marL="457200" indent="-457200">
              <a:buAutoNum type="arabicParenR"/>
            </a:pPr>
            <a:r>
              <a:rPr lang="en-CA" dirty="0"/>
              <a:t>The costs experienced in each health state.</a:t>
            </a:r>
          </a:p>
          <a:p>
            <a:pPr marL="457200" indent="-457200">
              <a:buAutoNum type="arabicParenR"/>
            </a:pPr>
            <a:r>
              <a:rPr lang="en-CA" dirty="0"/>
              <a:t>The defined utilities in each health state.</a:t>
            </a:r>
          </a:p>
          <a:p>
            <a:pPr marL="457200" indent="-457200">
              <a:buFont typeface="Wingdings" panose="05000000000000000000" pitchFamily="2" charset="2"/>
              <a:buChar char="§"/>
            </a:pPr>
            <a:r>
              <a:rPr lang="en-CA" dirty="0"/>
              <a:t>In general its always a good idea to have some clinical contact to discuss your work with as the strength of your analysis will lie in the proper representation of the clinical pathway.</a:t>
            </a:r>
          </a:p>
        </p:txBody>
      </p:sp>
    </p:spTree>
    <p:extLst>
      <p:ext uri="{BB962C8B-B14F-4D97-AF65-F5344CB8AC3E}">
        <p14:creationId xmlns:p14="http://schemas.microsoft.com/office/powerpoint/2010/main" val="3133227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98966-750F-9FE9-AC4E-716B72D76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6CAD0-B1F0-BC6E-A55D-D6A1EA445941}"/>
              </a:ext>
            </a:extLst>
          </p:cNvPr>
          <p:cNvSpPr>
            <a:spLocks noGrp="1"/>
          </p:cNvSpPr>
          <p:nvPr>
            <p:ph type="title"/>
          </p:nvPr>
        </p:nvSpPr>
        <p:spPr>
          <a:xfrm>
            <a:off x="482600" y="645033"/>
            <a:ext cx="10280650" cy="840867"/>
          </a:xfrm>
        </p:spPr>
        <p:txBody>
          <a:bodyPr/>
          <a:lstStyle/>
          <a:p>
            <a:r>
              <a:rPr lang="en-CA" dirty="0"/>
              <a:t>Learning Objectives</a:t>
            </a:r>
          </a:p>
        </p:txBody>
      </p:sp>
      <p:sp>
        <p:nvSpPr>
          <p:cNvPr id="3" name="Content Placeholder 2">
            <a:extLst>
              <a:ext uri="{FF2B5EF4-FFF2-40B4-BE49-F238E27FC236}">
                <a16:creationId xmlns:a16="http://schemas.microsoft.com/office/drawing/2014/main" id="{33D9813A-9095-5A97-FF46-E03EC632E30F}"/>
              </a:ext>
            </a:extLst>
          </p:cNvPr>
          <p:cNvSpPr>
            <a:spLocks noGrp="1"/>
          </p:cNvSpPr>
          <p:nvPr>
            <p:ph idx="1"/>
          </p:nvPr>
        </p:nvSpPr>
        <p:spPr>
          <a:xfrm>
            <a:off x="482600" y="1676400"/>
            <a:ext cx="10506991" cy="4203191"/>
          </a:xfrm>
        </p:spPr>
        <p:txBody>
          <a:bodyPr>
            <a:normAutofit/>
          </a:bodyPr>
          <a:lstStyle/>
          <a:p>
            <a:r>
              <a:rPr lang="en-CA" dirty="0"/>
              <a:t>In this lecture we will discuss:</a:t>
            </a:r>
          </a:p>
          <a:p>
            <a:pPr marL="457200" indent="-457200">
              <a:buFont typeface="+mj-lt"/>
              <a:buAutoNum type="arabicPeriod"/>
            </a:pPr>
            <a:r>
              <a:rPr lang="en-CA" dirty="0"/>
              <a:t>the Quality Adjusted Life Year (QALY)</a:t>
            </a:r>
          </a:p>
          <a:p>
            <a:pPr marL="457200" indent="-457200">
              <a:buFont typeface="+mj-lt"/>
              <a:buAutoNum type="arabicPeriod"/>
            </a:pPr>
            <a:r>
              <a:rPr lang="en-CA" dirty="0"/>
              <a:t>QALY Measurement: VAS, Standard Gamble and TTO</a:t>
            </a:r>
          </a:p>
          <a:p>
            <a:pPr marL="457200" indent="-457200">
              <a:buFont typeface="+mj-lt"/>
              <a:buAutoNum type="arabicPeriod"/>
            </a:pPr>
            <a:r>
              <a:rPr lang="en-CA" dirty="0"/>
              <a:t>Data Sources for Economic Evaluation</a:t>
            </a:r>
            <a:br>
              <a:rPr lang="en-CA" dirty="0"/>
            </a:br>
            <a:endParaRPr lang="en-CA" dirty="0"/>
          </a:p>
          <a:p>
            <a:endParaRPr lang="en-CA" dirty="0"/>
          </a:p>
          <a:p>
            <a:pPr marL="342900" indent="-342900">
              <a:buFont typeface="Wingdings" panose="05000000000000000000" pitchFamily="2" charset="2"/>
              <a:buChar char="§"/>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p:txBody>
      </p:sp>
      <p:sp>
        <p:nvSpPr>
          <p:cNvPr id="4" name="Rectangle: Rounded Corners 3">
            <a:extLst>
              <a:ext uri="{FF2B5EF4-FFF2-40B4-BE49-F238E27FC236}">
                <a16:creationId xmlns:a16="http://schemas.microsoft.com/office/drawing/2014/main" id="{CE2740C1-E90E-8A33-10A2-5C56B50EECE7}"/>
              </a:ext>
            </a:extLst>
          </p:cNvPr>
          <p:cNvSpPr/>
          <p:nvPr/>
        </p:nvSpPr>
        <p:spPr>
          <a:xfrm>
            <a:off x="1748341" y="4929780"/>
            <a:ext cx="9014909" cy="1140311"/>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CA" b="1" i="1" u="sng" dirty="0">
                <a:solidFill>
                  <a:schemeClr val="tx1"/>
                </a:solidFill>
              </a:rPr>
              <a:t>Goal of this Lecture: </a:t>
            </a:r>
          </a:p>
          <a:p>
            <a:pPr marL="285750" indent="-285750">
              <a:buFont typeface="Wingdings" panose="05000000000000000000" pitchFamily="2" charset="2"/>
              <a:buChar char="Ø"/>
            </a:pPr>
            <a:r>
              <a:rPr lang="en-CA" b="1" i="1" dirty="0">
                <a:solidFill>
                  <a:schemeClr val="tx1"/>
                </a:solidFill>
              </a:rPr>
              <a:t>Introduce the concept of the QALY and how it is measured.</a:t>
            </a:r>
          </a:p>
          <a:p>
            <a:pPr marL="285750" indent="-285750">
              <a:buFont typeface="Wingdings" panose="05000000000000000000" pitchFamily="2" charset="2"/>
              <a:buChar char="Ø"/>
            </a:pPr>
            <a:r>
              <a:rPr lang="en-CA" b="1" i="1" dirty="0">
                <a:solidFill>
                  <a:schemeClr val="tx1"/>
                </a:solidFill>
              </a:rPr>
              <a:t>Introduce students to data sources for conducting economic evaluation.</a:t>
            </a:r>
          </a:p>
        </p:txBody>
      </p:sp>
    </p:spTree>
    <p:extLst>
      <p:ext uri="{BB962C8B-B14F-4D97-AF65-F5344CB8AC3E}">
        <p14:creationId xmlns:p14="http://schemas.microsoft.com/office/powerpoint/2010/main" val="1719337259"/>
      </p:ext>
    </p:extLst>
  </p:cSld>
  <p:clrMapOvr>
    <a:masterClrMapping/>
  </p:clrMapOvr>
</p:sld>
</file>

<file path=ppt/theme/theme1.xml><?xml version="1.0" encoding="utf-8"?>
<a:theme xmlns:a="http://schemas.openxmlformats.org/drawingml/2006/main" name="LevelVTI">
  <a:themeElements>
    <a:clrScheme name="Custom 88">
      <a:dk1>
        <a:sysClr val="windowText" lastClr="000000"/>
      </a:dk1>
      <a:lt1>
        <a:sysClr val="window" lastClr="FFFFFF"/>
      </a:lt1>
      <a:dk2>
        <a:srgbClr val="182230"/>
      </a:dk2>
      <a:lt2>
        <a:srgbClr val="F2F2F2"/>
      </a:lt2>
      <a:accent1>
        <a:srgbClr val="00BAC8"/>
      </a:accent1>
      <a:accent2>
        <a:srgbClr val="794DFF"/>
      </a:accent2>
      <a:accent3>
        <a:srgbClr val="00D17D"/>
      </a:accent3>
      <a:accent4>
        <a:srgbClr val="E69500"/>
      </a:accent4>
      <a:accent5>
        <a:srgbClr val="FE5D21"/>
      </a:accent5>
      <a:accent6>
        <a:srgbClr val="939393"/>
      </a:accent6>
      <a:hlink>
        <a:srgbClr val="3E8FF1"/>
      </a:hlink>
      <a:folHlink>
        <a:srgbClr val="939393"/>
      </a:folHlink>
    </a:clrScheme>
    <a:fontScheme name="Seaford">
      <a:majorFont>
        <a:latin typeface="Seaford"/>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velVTI" id="{64F43929-0387-4D33-907F-72B939BCAF99}" vid="{D804DF84-3298-4A39-BA0E-21F83D68BC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4959</TotalTime>
  <Words>1508</Words>
  <Application>Microsoft Office PowerPoint</Application>
  <PresentationFormat>Widescreen</PresentationFormat>
  <Paragraphs>133</Paragraphs>
  <Slides>23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Cambria Math</vt:lpstr>
      <vt:lpstr>Seaford</vt:lpstr>
      <vt:lpstr>Wingdings</vt:lpstr>
      <vt:lpstr>LevelVTI</vt:lpstr>
      <vt:lpstr>Health Economics Lecture #8</vt:lpstr>
      <vt:lpstr>Learning Objectives</vt:lpstr>
      <vt:lpstr>Quality Adjusted Life Year (QALY)</vt:lpstr>
      <vt:lpstr>The comparability problem in economic evaluation</vt:lpstr>
      <vt:lpstr>The Quality Adjusted Life Year</vt:lpstr>
      <vt:lpstr>Technical Properties of the QALY</vt:lpstr>
      <vt:lpstr>Technical Properties of the QALY</vt:lpstr>
      <vt:lpstr>Example of Risk Neturality in Length of Life</vt:lpstr>
      <vt:lpstr>QALY Measurement: VAS, Standard Gamble and TTO</vt:lpstr>
      <vt:lpstr>Utility Measurement</vt:lpstr>
      <vt:lpstr>Visual Analogue Scale</vt:lpstr>
      <vt:lpstr>An Example of a VAS: the EQ-5D-5L</vt:lpstr>
      <vt:lpstr>Standard Gamble</vt:lpstr>
      <vt:lpstr>Standard Gamble Algebraically</vt:lpstr>
      <vt:lpstr>Standard Gamble Algebraically: Back Pain Example</vt:lpstr>
      <vt:lpstr>Standard Gamble: without death</vt:lpstr>
      <vt:lpstr>Time Trade Off</vt:lpstr>
      <vt:lpstr>Data Sources for Economic Evaluation</vt:lpstr>
      <vt:lpstr>Database for Utilities</vt:lpstr>
      <vt:lpstr>Database for Costs</vt:lpstr>
      <vt:lpstr>Database for Treatments</vt:lpstr>
      <vt:lpstr>Summary</vt:lpstr>
      <vt:lpstr>Learning Objectives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Smith</dc:creator>
  <cp:lastModifiedBy>Yakov Smith</cp:lastModifiedBy>
  <cp:revision>39</cp:revision>
  <dcterms:created xsi:type="dcterms:W3CDTF">2025-07-13T05:00:08Z</dcterms:created>
  <dcterms:modified xsi:type="dcterms:W3CDTF">2025-11-12T16:05:31Z</dcterms:modified>
</cp:coreProperties>
</file>